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presentation introduces The Collaborative Advocate — both the nonprofit Foundation (501(c)(3)) and the consulting LLC, which is a Veteran-Owned Small Business. Together they operate RPLICE and the ThriveUp ecosystem. The tagline "Empowering People, Building Relationships, Measuring What Matters" captures the core mission: we don't just build technology — we build systems that prove whether interventions are actually working in the communities they're designed to serve. Dr. Terry Flood holds a Doctorate in Health Administration, and he co-founded the organization with Meredith Sisnett. Both are veterans.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Collaborative Advocate operates as a dual structure. The Foundation handles community programs, grant-funded research, and direct services. The LLC handles consulting, technology development, and government contracts through VOSB status. The key differentiator is what we build: technology that bridges the research-to-practice gap. Academic research produces evidence-based interventions, but most never get implemented correctly in real communities. Our 24 platforms span six domains — health, education, workforce, criminal justice, housing, and safety — and every single platform is measured, every intervention tracked, and every outcome verified. This isn't aspirational — it's operational today.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RPLICE stands for Research-to-Practice Implementation with fidelity for all stakeholders. It is the quality gate for the entire ThriveUp ecosystem. It operationalizes three established implementation science frameworks: CFIR 2.0 (Consolidated Framework for Implementation Research), RE-AIM (Reach, Effectiveness, Adoption, Implementation, Maintenance), and EPIS (Exploration, Preparation, Implementation, Sustainment). The MAP-GAP governance cycle is our original methodology — Orient, Map, Gap, Act, Track, Reflect — that drives continuous improvement. The Three Realities Diagnostic compares what was designed to happen vs. what is actually happening vs. what stakeholders experience. The AI architecture runs four engines in parallel: GPT for structured analysis, Claude for nuanced reasoning, live scholarly research from six academic databases, and an ecosystem-aware RAG system. Every AI response includes anti-hallucination guardrails and APA citations. When a funder asks "how do you measure outcomes?" — RPLICE is the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ThriveUp ecosystem consists of 24 interconnected platforms organized across eight domains. This is not a list of separate apps — it is a living network connected through a heartbeat architecture and event bus. When something happens on one platform, it can trigger responses across the entire ecosystem. For example, a veteran on M2C flagged for traumatic brain injury automatically activates CogniCare for cognitive health support. When a school flags a family need through ISSS, LifeBridge responds with housing resources. Sankofa Health Network is a suite of three platforms specifically addressing health disparities in Black communities — maternal health, holistic feminine health, and men's health. AGOS is the governance operating system that connects 12 organizations. RPLICE sits at the center as the research and quality gate. No competitor can replicate this by building a single platform — the value is in the interconnection.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heartbeat architecture is how the ecosystem stays alive and responsive. Every platform sends a pulse every five minutes. ThriveUp Hub receives and monitors all heartbeats — if any platform goes silent, we know immediately and can respond. The event bus enables cross-platform responses in real time. The example on this slide shows how a breast cancer screening on Sankofa can trigger family history checks on HealthyBlackMen, mental health support through WholeMind, and fidelity tracking through RPLICE — all automatically. This architecture also makes us highly competitive for grants because each grant activates a different combination of platforms. CDC Drug-Free Communities uses ThriveUp, LifeBridge, Sankofa, and RPLICE. Department of Justice grants use ThriveUp, LifeBridge, SafeReport, and CogniCare. WIOA workforce grants use ThriveUp, M2C, Incubator, and RPLICE. Grant reviewers see a complete system, not a single tool.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MAP-GAP is our original governance methodology and represents publishable intellectual property. The cycle has six phases: ORIENT (understand yourself, the external environment, stakeholder behaviors, and history), MAP (document what was designed to happen), GAP (measure what actually happened and identify the distance from design), ACT (close the gaps with evidence-based strategies), TRACK (monitor continuously — not just at evaluation endpoints), and REFLECT (learn, adapt, and improve). The cycle then repeats. The Three Realities Diagnostic is embedded within MAP-GAP: Designed Reality is what we planned, Operational Reality is what is actually happening on the ground, and Experienced Reality is what stakeholders report feeling and experiencing. The gap between these three realities is where every implementation fails. Most organizations never even know these gaps exist — MAP-GAP makes them visible and actionable. This methodology goes beyond any existing implementation science model and is an original academic contribution.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shows the breadth of services across all six domains. In healthcare, we address maternal health disparities, mental health navigation with over 20,000 resources, cognitive health and aging, medication adherence, men's health equity, substance use prevention, and social determinants of health. In education, ISSS provides K-12 implementation science, Perfectly Different supports neurodiversity, and we are building HBCU partnerships. Criminal justice includes 50-state mandatory reporting with tamper-evident audit trails. Workforce covers veteran transition, minority business empowerment, grant finding, small business incubation, and federal contracting. Housing provides resource navigation with 300+ resources in bilingual format with GIS mapping across 21 social determinant categories. Community includes regional hubs in Austin, Manor, and Pflugerville. What connects all of these is implementation science frameworks, MAP-GAP governance, an equity-conscious AI lens, and measurable outcomes tied to every intervention.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ISSS — Schools Addressing Multiple Issues — is the only K-12 implementation science platform on the market. It uses a five-layer progressive unlock model and provides seven role-specific portals for district leaders, principals, teachers, counselors, parents, students, and coaches. Schools adopt evidence-based programs constantly — anti-bullying programs, social-emotional learning curricula, substance abuse prevention. Most fail not because the program is bad, but because implementation drifts over time. Teachers modify delivery, counselors skip components, principals lose focus. ISSS tracks whether interventions are being delivered as designed, measures outcomes at every level, and gives each stakeholder the view they need. It also connects to the broader ecosystem — a student flagged for home instability triggers LifeBridge housing resources, a parent screening showing mental health needs connects to WholeMind, and substance use concerns are tracked through RPLICE for DFC coalition fidelity. This is particularly relevant for Drug-Free Communities grants.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core partnership slide. MEASURE brings what we cannot build with technology alone: deep community trust, established relationships, the CARE Model for equity-centered evaluation, the Ignite data collection platform, participatory action research expertise, over 3,000 hours of free data support already delivered to community organizations, a physical presence in Austin and Pflugerville, the Huston-Tillotson University HBCU partnership, policy advocacy credentials including the CROWN Act, and MIT Solve backing. Founded by Jameila "Meme" Styles. We bring what MEASURE needs to scale impact: 24-platform technology infrastructure, RPLICE for implementation fidelity tracking, MAP-GAP governance methodology, AI-powered analysis across four engines, scholarly research integration from six academic databases, grant combinatorics across federal funding streams, 167 database tables of implementation data, cross-platform event bus architecture, and federal contracting capability through VOSB status. The key insight: MEASURE collects the community data. RPLICE tells you whether the interventions that data is driving are working as designed. Together, we close the full loop.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MEASURE found that 79% of Black-led organizations have no systems for collecting data — that statistic is what led them to build Ignite. But data collection is only step one. The harder questions are: Is the intervention being delivered the way it was designed? Are outcomes actually improving? What is the gap between what we planned and what is happening? How do we know the gains will sustain after the grant ends? MEASURE provides the front end of this loop — community voice, data collection, advocacy, and policy change. RPLICE provides the engine — implementation design, fidelity tracking, outcome measurement, and sustainment planning. Combined, the full loop works like this: community voice drives the intervention design, the intervention is tracked with fidelity, outcomes are measured and verified, data feeds back to the community, and the cycle continuously improves. Nobody else in Central Texas — or frankly, most of the country — has this complete loop from community voice to verified outcomes.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puts the two organizations' core beliefs side by side. MEASURE's belief centers on the fact that lived experience and quantitative data about complex social problems in Black, Brown, and Multiracial communities are not used effectively for justice — because of racism, a lack of equitable data tools, and insufficient community support. Our belief centers on the principle that nothing happens in a silo, collaboration is key, and implementation must be done with fidelity by knowing stakeholders and building with the user experience in mind. The alignment points are fundamental, not surface-level: data must serve communities rather than extract from them, equity must be structural rather than decorative, lived experience is valid evidence, measurement without action is meaningless, and the people most impacted by inequity should lead the design of solutions. Both organizations were built from these beliefs — the alignment is foundational, not aspirational.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slide outlines specific grant opportunities where a joint application would be stronger than either organization applying alone. The active pipeline includes: Drug-Free Communities through CDC at $625,000 with an April 14, 2026 deadline using ThriveUp, LifeBridge, Sankofa, and RPLICE; WIOA Title I Youth at $200K-$500K on a rolling basis using ThriveUp, M2C, Incubator, and RPLICE; NBA Foundation at $100K-$500K through rolling Letters of Intent for Black economic empowerment and youth pipeline; St. David's Foundation up to $1 million for Central Texas health equity; and SSG Fox Foundation up to $750K for veteran services. MEASURE brings community relationships that funders trust, participatory research methodology, policy advocacy credentials, and MIT Solve credibility. We bring technology infrastructure across 24 platforms, implementation science rigor, federal contracting capability through VOSB, and AI-powered analysis and reporting. Every grant we pursue together is stronger because reviewers see a complete system from community voice to verified outcomes.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Partnership can start immediately with joint grant applications where MEASURE serves as the community partner and we provide the technology and measurement infrastructure. RPLICE's UNDERSTAND Tool is specifically designed to integrate MEASURE's CARE Model data — surveys, demographics, focus groups, and lived experience data all flow into a structured analysis. We share regional focus in Austin, Manor, and Pflugerville, and our ecosystem already includes regional hub pages for each area. Longer-term opportunities include data sharing between Ignite and RPLICE, joint research publications using MAP-GAP methodology, shared training programs through ThriveUp Academy, and combined policy advocacy using verified outcome data. The partnership model is flexible — MEASURE can engage at whatever level makes sense, from a single joint grant application to full strategic integration. The technology is ready now, and RPLICE already has MEASURE seeded as a strategic partner in the Community Partner Hub.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the closing slide with direct contact information. Dr. Terry Flood can be reached at mr.terryflood@gmail.com and Meredith Sisnett at sisnett.meredith@gmail.com. RPLICE is live and accessible for a walkthrough at any time. The next step we are proposing is a conversation — not a commitment. We want to understand MEASURE's current priorities, upcoming grant deadlines, and where a collaboration would deliver the most value for the communities both organizations serve. The door is open.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914400" y="1097280"/>
            <a:ext cx="10058400" cy="914400"/>
          </a:xfrm>
          <a:prstGeom prst="rect">
            <a:avLst/>
          </a:prstGeom>
          <a:noFill/>
          <a:ln/>
        </p:spPr>
        <p:txBody>
          <a:bodyPr wrap="square" rtlCol="0" anchor="ctr"/>
          <a:lstStyle/>
          <a:p>
            <a:pPr algn="ctr" indent="0" marL="0">
              <a:buNone/>
            </a:pPr>
            <a:r>
              <a:rPr lang="en-US" sz="4200" b="1" dirty="0">
                <a:solidFill>
                  <a:srgbClr val="C49A2A"/>
                </a:solidFill>
                <a:latin typeface="Calibri" pitchFamily="34" charset="0"/>
                <a:ea typeface="Calibri" pitchFamily="34" charset="-122"/>
                <a:cs typeface="Calibri" pitchFamily="34" charset="-120"/>
              </a:rPr>
              <a:t>THE COLLABORATIVE ADVOCATE</a:t>
            </a:r>
            <a:endParaRPr lang="en-US" sz="4200" dirty="0"/>
          </a:p>
        </p:txBody>
      </p:sp>
      <p:sp>
        <p:nvSpPr>
          <p:cNvPr id="3" name="Text 1"/>
          <p:cNvSpPr/>
          <p:nvPr/>
        </p:nvSpPr>
        <p:spPr>
          <a:xfrm>
            <a:off x="914400" y="2103120"/>
            <a:ext cx="10058400" cy="54864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Foundation (501(c)(3)) &amp; LLC (VOSB)</a:t>
            </a:r>
            <a:endParaRPr lang="en-US" sz="2200" dirty="0"/>
          </a:p>
        </p:txBody>
      </p:sp>
      <p:sp>
        <p:nvSpPr>
          <p:cNvPr id="4" name="Text 2"/>
          <p:cNvSpPr/>
          <p:nvPr/>
        </p:nvSpPr>
        <p:spPr>
          <a:xfrm>
            <a:off x="914400" y="3017520"/>
            <a:ext cx="10058400" cy="731520"/>
          </a:xfrm>
          <a:prstGeom prst="rect">
            <a:avLst/>
          </a:prstGeom>
          <a:noFill/>
          <a:ln/>
        </p:spPr>
        <p:txBody>
          <a:bodyPr wrap="square" rtlCol="0" anchor="ctr"/>
          <a:lstStyle/>
          <a:p>
            <a:pPr algn="ctr" indent="0" marL="0">
              <a:buNone/>
            </a:pPr>
            <a:r>
              <a:rPr lang="en-US" sz="3400" b="1" dirty="0">
                <a:solidFill>
                  <a:srgbClr val="FFFFFF"/>
                </a:solidFill>
                <a:latin typeface="Calibri" pitchFamily="34" charset="0"/>
                <a:ea typeface="Calibri" pitchFamily="34" charset="-122"/>
                <a:cs typeface="Calibri" pitchFamily="34" charset="-120"/>
              </a:rPr>
              <a:t>RPLICE + ThriveUp Ecosystem</a:t>
            </a:r>
            <a:endParaRPr lang="en-US" sz="3400" dirty="0"/>
          </a:p>
        </p:txBody>
      </p:sp>
      <p:sp>
        <p:nvSpPr>
          <p:cNvPr id="5" name="Text 3"/>
          <p:cNvSpPr/>
          <p:nvPr/>
        </p:nvSpPr>
        <p:spPr>
          <a:xfrm>
            <a:off x="914400" y="4114800"/>
            <a:ext cx="10058400" cy="731520"/>
          </a:xfrm>
          <a:prstGeom prst="rect">
            <a:avLst/>
          </a:prstGeom>
          <a:noFill/>
          <a:ln/>
        </p:spPr>
        <p:txBody>
          <a:bodyPr wrap="square" rtlCol="0" anchor="ctr"/>
          <a:lstStyle/>
          <a:p>
            <a:pPr algn="ctr" indent="0" marL="0">
              <a:buNone/>
            </a:pPr>
            <a:r>
              <a:rPr lang="en-US" sz="2000" dirty="0">
                <a:solidFill>
                  <a:srgbClr val="C49A2A"/>
                </a:solidFill>
                <a:latin typeface="Calibri" pitchFamily="34" charset="0"/>
                <a:ea typeface="Calibri" pitchFamily="34" charset="-122"/>
                <a:cs typeface="Calibri" pitchFamily="34" charset="-120"/>
              </a:rPr>
              <a:t>Empowering People, Building Relationships,</a:t>
            </a:r>
            <a:endParaRPr lang="en-US" sz="2000" dirty="0"/>
          </a:p>
          <a:p>
            <a:pPr algn="ctr" indent="0" marL="0">
              <a:buNone/>
            </a:pPr>
            <a:r>
              <a:rPr lang="en-US" sz="2000" dirty="0">
                <a:solidFill>
                  <a:srgbClr val="C49A2A"/>
                </a:solidFill>
                <a:latin typeface="Calibri" pitchFamily="34" charset="0"/>
                <a:ea typeface="Calibri" pitchFamily="34" charset="-122"/>
                <a:cs typeface="Calibri" pitchFamily="34" charset="-120"/>
              </a:rPr>
              <a:t>Measuring What Matters</a:t>
            </a:r>
            <a:endParaRPr lang="en-US" sz="2000" dirty="0"/>
          </a:p>
        </p:txBody>
      </p:sp>
      <p:sp>
        <p:nvSpPr>
          <p:cNvPr id="6" name="Text 4"/>
          <p:cNvSpPr/>
          <p:nvPr/>
        </p:nvSpPr>
        <p:spPr>
          <a:xfrm>
            <a:off x="914400" y="5303520"/>
            <a:ext cx="10058400" cy="45720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Dr. Terry Flood, DHA  &amp;  Meredith Sisnett  |  Co-Founders</a:t>
            </a:r>
            <a:endParaRPr lang="en-US" sz="1600" dirty="0"/>
          </a:p>
        </p:txBody>
      </p:sp>
      <p:sp>
        <p:nvSpPr>
          <p:cNvPr id="7" name="Text 5"/>
          <p:cNvSpPr/>
          <p:nvPr/>
        </p:nvSpPr>
        <p:spPr>
          <a:xfrm>
            <a:off x="914400" y="5760720"/>
            <a:ext cx="10058400" cy="365760"/>
          </a:xfrm>
          <a:prstGeom prst="rect">
            <a:avLst/>
          </a:prstGeom>
          <a:noFill/>
          <a:ln/>
        </p:spPr>
        <p:txBody>
          <a:bodyPr wrap="square" rtlCol="0" anchor="ctr"/>
          <a:lstStyle/>
          <a:p>
            <a:pPr algn="ctr" indent="0" marL="0">
              <a:buNone/>
            </a:pPr>
            <a:r>
              <a:rPr lang="en-US" sz="1400" dirty="0">
                <a:solidFill>
                  <a:srgbClr val="AAAAAA"/>
                </a:solidFill>
                <a:latin typeface="Calibri" pitchFamily="34" charset="0"/>
                <a:ea typeface="Calibri" pitchFamily="34" charset="-122"/>
                <a:cs typeface="Calibri" pitchFamily="34" charset="-120"/>
              </a:rPr>
              <a:t>Veteran-Owned Small Business (VOSB)  |  Austin, TX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Who We Are</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700" b="1" dirty="0">
                <a:solidFill>
                  <a:srgbClr val="C49A2A"/>
                </a:solidFill>
                <a:latin typeface="Calibri" pitchFamily="34" charset="0"/>
                <a:ea typeface="Calibri" pitchFamily="34" charset="-122"/>
                <a:cs typeface="Calibri" pitchFamily="34" charset="-120"/>
              </a:rPr>
              <a:t>The Collaborative Advocate Foundation (501(c)(3))
</a:t>
            </a:r>
            <a:pPr indent="0" marL="0">
              <a:buNone/>
            </a:pPr>
            <a:r>
              <a:rPr lang="en-US" sz="1500" dirty="0">
                <a:solidFill>
                  <a:srgbClr val="FFFFFF"/>
                </a:solidFill>
                <a:latin typeface="Calibri" pitchFamily="34" charset="0"/>
                <a:ea typeface="Calibri" pitchFamily="34" charset="-122"/>
                <a:cs typeface="Calibri" pitchFamily="34" charset="-120"/>
              </a:rPr>
              <a:t>Nonprofit arm — community programs, grants, research
</a:t>
            </a:r>
            <a:pPr indent="0" marL="0">
              <a:buNone/>
            </a:pPr>
            <a:r>
              <a:rPr lang="en-US" sz="1700" b="1" dirty="0">
                <a:solidFill>
                  <a:srgbClr val="C49A2A"/>
                </a:solidFill>
                <a:latin typeface="Calibri" pitchFamily="34" charset="0"/>
                <a:ea typeface="Calibri" pitchFamily="34" charset="-122"/>
                <a:cs typeface="Calibri" pitchFamily="34" charset="-120"/>
              </a:rPr>
              <a:t>The Collaborative Advocate LLC (VOSB)
</a:t>
            </a:r>
            <a:pPr indent="0" marL="0">
              <a:buNone/>
            </a:pPr>
            <a:r>
              <a:rPr lang="en-US" sz="1500" dirty="0">
                <a:solidFill>
                  <a:srgbClr val="FFFFFF"/>
                </a:solidFill>
                <a:latin typeface="Calibri" pitchFamily="34" charset="0"/>
                <a:ea typeface="Calibri" pitchFamily="34" charset="-122"/>
                <a:cs typeface="Calibri" pitchFamily="34" charset="-120"/>
              </a:rPr>
              <a:t>Consulting, technology, government contracting
</a:t>
            </a:r>
            <a:pPr indent="0" marL="0">
              <a:buNone/>
            </a:pPr>
            <a:r>
              <a:rPr lang="en-US" sz="1700" b="1" dirty="0">
                <a:solidFill>
                  <a:srgbClr val="C49A2A"/>
                </a:solidFill>
                <a:latin typeface="Calibri" pitchFamily="34" charset="0"/>
                <a:ea typeface="Calibri" pitchFamily="34" charset="-122"/>
                <a:cs typeface="Calibri" pitchFamily="34" charset="-120"/>
              </a:rPr>
              <a:t>Co-founded by Dr. Terry Flood, DHA &amp; Meredith Sisnett
</a:t>
            </a:r>
            <a:pPr indent="0" marL="0">
              <a:buNone/>
            </a:pPr>
            <a:r>
              <a:rPr lang="en-US" sz="1500" dirty="0">
                <a:solidFill>
                  <a:srgbClr val="FFFFFF"/>
                </a:solidFill>
                <a:latin typeface="Calibri" pitchFamily="34" charset="0"/>
                <a:ea typeface="Calibri" pitchFamily="34" charset="-122"/>
                <a:cs typeface="Calibri" pitchFamily="34" charset="-120"/>
              </a:rPr>
              <a:t>Veterans  |  Implementation Scientists  |  Builders
</a:t>
            </a:r>
            <a:pPr indent="0" marL="0">
              <a:buNone/>
            </a:pPr>
            <a:r>
              <a:rPr lang="en-US" sz="1500" dirty="0">
                <a:solidFill>
                  <a:srgbClr val="FFFFFF"/>
                </a:solidFill>
                <a:latin typeface="Calibri" pitchFamily="34" charset="0"/>
                <a:ea typeface="Calibri" pitchFamily="34" charset="-122"/>
                <a:cs typeface="Calibri" pitchFamily="34" charset="-120"/>
              </a:rPr>
              <a:t>Based in Austin, TX — serving Austin, Manor, Pflugerville</a:t>
            </a:r>
            <a:endParaRPr lang="en-US" sz="17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700" b="1" dirty="0">
                <a:solidFill>
                  <a:srgbClr val="C49A2A"/>
                </a:solidFill>
                <a:latin typeface="Calibri" pitchFamily="34" charset="0"/>
                <a:ea typeface="Calibri" pitchFamily="34" charset="-122"/>
                <a:cs typeface="Calibri" pitchFamily="34" charset="-120"/>
              </a:rPr>
              <a:t>What We Do:
</a:t>
            </a:r>
            <a:pPr indent="0" marL="0">
              <a:buNone/>
            </a:pPr>
            <a:r>
              <a:rPr lang="en-US" sz="1500" dirty="0">
                <a:solidFill>
                  <a:srgbClr val="FFFFFF"/>
                </a:solidFill>
                <a:latin typeface="Calibri" pitchFamily="34" charset="0"/>
                <a:ea typeface="Calibri" pitchFamily="34" charset="-122"/>
                <a:cs typeface="Calibri" pitchFamily="34" charset="-120"/>
              </a:rPr>
              <a:t>Build technology that bridges the gap between research and practice — so what works in studies actually works in communities
</a:t>
            </a:r>
            <a:pPr indent="0" marL="0">
              <a:buNone/>
            </a:pPr>
            <a:r>
              <a:rPr lang="en-US" sz="1500" b="1" dirty="0">
                <a:solidFill>
                  <a:srgbClr val="FFFFFF"/>
                </a:solidFill>
                <a:latin typeface="Calibri" pitchFamily="34" charset="0"/>
                <a:ea typeface="Calibri" pitchFamily="34" charset="-122"/>
                <a:cs typeface="Calibri" pitchFamily="34" charset="-120"/>
              </a:rPr>
              <a:t>24 interconnected platforms spanning:
</a:t>
            </a:r>
            <a:pPr indent="0" marL="0">
              <a:buNone/>
            </a:pPr>
            <a:r>
              <a:rPr lang="en-US" sz="1500" dirty="0">
                <a:solidFill>
                  <a:srgbClr val="C49A2A"/>
                </a:solidFill>
                <a:latin typeface="Calibri" pitchFamily="34" charset="0"/>
                <a:ea typeface="Calibri" pitchFamily="34" charset="-122"/>
                <a:cs typeface="Calibri" pitchFamily="34" charset="-120"/>
              </a:rPr>
              <a:t>Health  |  Education  |  Workforce
Criminal Justice  |  Housing  |  Safety
</a:t>
            </a:r>
            <a:pPr indent="0" marL="0">
              <a:buNone/>
            </a:pPr>
            <a:r>
              <a:rPr lang="en-US" sz="1600" b="1" dirty="0">
                <a:solidFill>
                  <a:srgbClr val="FFFFFF"/>
                </a:solidFill>
                <a:latin typeface="Calibri" pitchFamily="34" charset="0"/>
                <a:ea typeface="Calibri" pitchFamily="34" charset="-122"/>
                <a:cs typeface="Calibri" pitchFamily="34" charset="-120"/>
              </a:rPr>
              <a:t>Every platform measured.</a:t>
            </a:r>
            <a:endParaRPr lang="en-US" sz="1700" dirty="0"/>
          </a:p>
          <a:p>
            <a:pPr indent="0" marL="0">
              <a:buNone/>
            </a:pPr>
            <a:r>
              <a:rPr lang="en-US" sz="1600" b="1" dirty="0">
                <a:solidFill>
                  <a:srgbClr val="FFFFFF"/>
                </a:solidFill>
                <a:latin typeface="Calibri" pitchFamily="34" charset="0"/>
                <a:ea typeface="Calibri" pitchFamily="34" charset="-122"/>
                <a:cs typeface="Calibri" pitchFamily="34" charset="-120"/>
              </a:rPr>
              <a:t>Every intervention tracked.</a:t>
            </a:r>
            <a:endParaRPr lang="en-US" sz="1700" dirty="0"/>
          </a:p>
          <a:p>
            <a:pPr indent="0" marL="0">
              <a:buNone/>
            </a:pPr>
            <a:r>
              <a:rPr lang="en-US" sz="1600" b="1" dirty="0">
                <a:solidFill>
                  <a:srgbClr val="FFFFFF"/>
                </a:solidFill>
                <a:latin typeface="Calibri" pitchFamily="34" charset="0"/>
                <a:ea typeface="Calibri" pitchFamily="34" charset="-122"/>
                <a:cs typeface="Calibri" pitchFamily="34" charset="-120"/>
              </a:rPr>
              <a:t>Every outcome verified.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RPLICE — The Implementation Science Engine</a:t>
            </a:r>
            <a:endParaRPr lang="en-US" sz="3400" dirty="0"/>
          </a:p>
        </p:txBody>
      </p:sp>
      <p:sp>
        <p:nvSpPr>
          <p:cNvPr id="3" name="Text 1"/>
          <p:cNvSpPr/>
          <p:nvPr/>
        </p:nvSpPr>
        <p:spPr>
          <a:xfrm>
            <a:off x="731520" y="1005840"/>
            <a:ext cx="10515600" cy="365760"/>
          </a:xfrm>
          <a:prstGeom prst="rect">
            <a:avLst/>
          </a:prstGeom>
          <a:noFill/>
          <a:ln/>
        </p:spPr>
        <p:txBody>
          <a:bodyPr wrap="square"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Research-to-Practice Implementation with fidelity for all stakeholders</a:t>
            </a:r>
            <a:endParaRPr lang="en-US" sz="1700" dirty="0"/>
          </a:p>
        </p:txBody>
      </p:sp>
      <p:sp>
        <p:nvSpPr>
          <p:cNvPr id="4" name="Text 2"/>
          <p:cNvSpPr/>
          <p:nvPr/>
        </p:nvSpPr>
        <p:spPr>
          <a:xfrm>
            <a:off x="73152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What RPLICE Does:
</a:t>
            </a:r>
            <a:pPr indent="0" marL="0">
              <a:buNone/>
            </a:pPr>
            <a:r>
              <a:rPr lang="en-US" sz="1400" dirty="0">
                <a:solidFill>
                  <a:srgbClr val="FFFFFF"/>
                </a:solidFill>
                <a:latin typeface="Calibri" pitchFamily="34" charset="0"/>
                <a:ea typeface="Calibri" pitchFamily="34" charset="-122"/>
                <a:cs typeface="Calibri" pitchFamily="34" charset="-120"/>
              </a:rPr>
              <a:t>• Operationalizes CFIR 2.0, RE-AIM, EPIS frameworks
</a:t>
            </a:r>
            <a:pPr indent="0" marL="0">
              <a:buNone/>
            </a:pPr>
            <a:r>
              <a:rPr lang="en-US" sz="1400" dirty="0">
                <a:solidFill>
                  <a:srgbClr val="FFFFFF"/>
                </a:solidFill>
                <a:latin typeface="Calibri" pitchFamily="34" charset="0"/>
                <a:ea typeface="Calibri" pitchFamily="34" charset="-122"/>
                <a:cs typeface="Calibri" pitchFamily="34" charset="-120"/>
              </a:rPr>
              <a:t>• MAP-GAP Governance Cycle:
   Orient → Map → Gap → Act → Track → Reflect
</a:t>
            </a:r>
            <a:pPr indent="0" marL="0">
              <a:buNone/>
            </a:pPr>
            <a:r>
              <a:rPr lang="en-US" sz="1400" dirty="0">
                <a:solidFill>
                  <a:srgbClr val="FFFFFF"/>
                </a:solidFill>
                <a:latin typeface="Calibri" pitchFamily="34" charset="0"/>
                <a:ea typeface="Calibri" pitchFamily="34" charset="-122"/>
                <a:cs typeface="Calibri" pitchFamily="34" charset="-120"/>
              </a:rPr>
              <a:t>• Three Realities Diagnostic:
   Designed vs. Operational vs. Experienced
</a:t>
            </a:r>
            <a:pPr indent="0" marL="0">
              <a:buNone/>
            </a:pPr>
            <a:r>
              <a:rPr lang="en-US" sz="1400" dirty="0">
                <a:solidFill>
                  <a:srgbClr val="FFFFFF"/>
                </a:solidFill>
                <a:latin typeface="Calibri" pitchFamily="34" charset="0"/>
                <a:ea typeface="Calibri" pitchFamily="34" charset="-122"/>
                <a:cs typeface="Calibri" pitchFamily="34" charset="-120"/>
              </a:rPr>
              <a:t>• 6-Step Project Wizard with AI recommendations
</a:t>
            </a:r>
            <a:pPr indent="0" marL="0">
              <a:buNone/>
            </a:pPr>
            <a:r>
              <a:rPr lang="en-US" sz="1400" dirty="0">
                <a:solidFill>
                  <a:srgbClr val="FFFFFF"/>
                </a:solidFill>
                <a:latin typeface="Calibri" pitchFamily="34" charset="0"/>
                <a:ea typeface="Calibri" pitchFamily="34" charset="-122"/>
                <a:cs typeface="Calibri" pitchFamily="34" charset="-120"/>
              </a:rPr>
              <a:t>• Validation &amp; Fidelity Hub
</a:t>
            </a:r>
            <a:pPr indent="0" marL="0">
              <a:buNone/>
            </a:pPr>
            <a:r>
              <a:rPr lang="en-US" sz="1400" dirty="0">
                <a:solidFill>
                  <a:srgbClr val="FFFFFF"/>
                </a:solidFill>
                <a:latin typeface="Calibri" pitchFamily="34" charset="0"/>
                <a:ea typeface="Calibri" pitchFamily="34" charset="-122"/>
                <a:cs typeface="Calibri" pitchFamily="34" charset="-120"/>
              </a:rPr>
              <a:t>• SALP continuous monitoring engine
</a:t>
            </a:r>
            <a:pPr indent="0" marL="0">
              <a:buNone/>
            </a:pPr>
            <a:r>
              <a:rPr lang="en-US" sz="1400" dirty="0">
                <a:solidFill>
                  <a:srgbClr val="FFFFFF"/>
                </a:solidFill>
                <a:latin typeface="Calibri" pitchFamily="34" charset="0"/>
                <a:ea typeface="Calibri" pitchFamily="34" charset="-122"/>
                <a:cs typeface="Calibri" pitchFamily="34" charset="-120"/>
              </a:rPr>
              <a:t>• Grant compliance tracking
</a:t>
            </a:r>
            <a:pPr indent="0" marL="0">
              <a:buNone/>
            </a:pPr>
            <a:r>
              <a:rPr lang="en-US" sz="1400" dirty="0">
                <a:solidFill>
                  <a:srgbClr val="FFFFFF"/>
                </a:solidFill>
                <a:latin typeface="Calibri" pitchFamily="34" charset="0"/>
                <a:ea typeface="Calibri" pitchFamily="34" charset="-122"/>
                <a:cs typeface="Calibri" pitchFamily="34" charset="-120"/>
              </a:rPr>
              <a:t>• 167 database tables | 223+ pages</a:t>
            </a:r>
            <a:endParaRPr lang="en-US" sz="1600" dirty="0"/>
          </a:p>
        </p:txBody>
      </p:sp>
      <p:sp>
        <p:nvSpPr>
          <p:cNvPr id="5" name="Text 3"/>
          <p:cNvSpPr/>
          <p:nvPr/>
        </p:nvSpPr>
        <p:spPr>
          <a:xfrm>
            <a:off x="640080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AI Architecture (4 engines):
</a:t>
            </a:r>
            <a:pPr indent="0" marL="0">
              <a:buNone/>
            </a:pPr>
            <a:r>
              <a:rPr lang="en-US" sz="1400" dirty="0">
                <a:solidFill>
                  <a:srgbClr val="FFFFFF"/>
                </a:solidFill>
                <a:latin typeface="Calibri" pitchFamily="34" charset="0"/>
                <a:ea typeface="Calibri" pitchFamily="34" charset="-122"/>
                <a:cs typeface="Calibri" pitchFamily="34" charset="-120"/>
              </a:rPr>
              <a:t>• GPT-5 — structured analysis &amp; recommendations
</a:t>
            </a:r>
            <a:pPr indent="0" marL="0">
              <a:buNone/>
            </a:pPr>
            <a:r>
              <a:rPr lang="en-US" sz="1400" dirty="0">
                <a:solidFill>
                  <a:srgbClr val="FFFFFF"/>
                </a:solidFill>
                <a:latin typeface="Calibri" pitchFamily="34" charset="0"/>
                <a:ea typeface="Calibri" pitchFamily="34" charset="-122"/>
                <a:cs typeface="Calibri" pitchFamily="34" charset="-120"/>
              </a:rPr>
              <a:t>• Claude Sonnet — nuanced reasoning
</a:t>
            </a:r>
            <a:pPr indent="0" marL="0">
              <a:buNone/>
            </a:pPr>
            <a:r>
              <a:rPr lang="en-US" sz="1400" dirty="0">
                <a:solidFill>
                  <a:srgbClr val="FFFFFF"/>
                </a:solidFill>
                <a:latin typeface="Calibri" pitchFamily="34" charset="0"/>
                <a:ea typeface="Calibri" pitchFamily="34" charset="-122"/>
                <a:cs typeface="Calibri" pitchFamily="34" charset="-120"/>
              </a:rPr>
              <a:t>• Scholarly Research — 6 live academic databases
</a:t>
            </a:r>
            <a:pPr indent="0" marL="0">
              <a:buNone/>
            </a:pPr>
            <a:r>
              <a:rPr lang="en-US" sz="1300" dirty="0">
                <a:solidFill>
                  <a:srgbClr val="AAAAAA"/>
                </a:solidFill>
                <a:latin typeface="Calibri" pitchFamily="34" charset="0"/>
                <a:ea typeface="Calibri" pitchFamily="34" charset="-122"/>
                <a:cs typeface="Calibri" pitchFamily="34" charset="-120"/>
              </a:rPr>
              <a:t>   PubMed | Semantic Scholar | CrossRef
</a:t>
            </a:r>
            <a:pPr indent="0" marL="0">
              <a:buNone/>
            </a:pPr>
            <a:r>
              <a:rPr lang="en-US" sz="1300" dirty="0">
                <a:solidFill>
                  <a:srgbClr val="AAAAAA"/>
                </a:solidFill>
                <a:latin typeface="Calibri" pitchFamily="34" charset="0"/>
                <a:ea typeface="Calibri" pitchFamily="34" charset="-122"/>
                <a:cs typeface="Calibri" pitchFamily="34" charset="-120"/>
              </a:rPr>
              <a:t>   Europe PMC | medRxiv | bioRxiv
</a:t>
            </a:r>
            <a:pPr indent="0" marL="0">
              <a:buNone/>
            </a:pPr>
            <a:r>
              <a:rPr lang="en-US" sz="1400" dirty="0">
                <a:solidFill>
                  <a:srgbClr val="FFFFFF"/>
                </a:solidFill>
                <a:latin typeface="Calibri" pitchFamily="34" charset="0"/>
                <a:ea typeface="Calibri" pitchFamily="34" charset="-122"/>
                <a:cs typeface="Calibri" pitchFamily="34" charset="-120"/>
              </a:rPr>
              <a:t>• Ecosystem RAG — platform-aware context
</a:t>
            </a:r>
            <a:pPr indent="0" marL="0">
              <a:buNone/>
            </a:pPr>
            <a:r>
              <a:rPr lang="en-US" sz="1400" i="1" dirty="0">
                <a:solidFill>
                  <a:srgbClr val="C49A2A"/>
                </a:solidFill>
                <a:latin typeface="Calibri" pitchFamily="34" charset="0"/>
                <a:ea typeface="Calibri" pitchFamily="34" charset="-122"/>
                <a:cs typeface="Calibri" pitchFamily="34" charset="-120"/>
              </a:rPr>
              <a:t>"All" mode fires all engines in parallel,
then synthesizes into one unified response
</a:t>
            </a:r>
            <a:pPr indent="0" marL="0">
              <a:buNone/>
            </a:pPr>
            <a:r>
              <a:rPr lang="en-US" sz="1400" dirty="0">
                <a:solidFill>
                  <a:srgbClr val="FFFFFF"/>
                </a:solidFill>
                <a:latin typeface="Calibri" pitchFamily="34" charset="0"/>
                <a:ea typeface="Calibri" pitchFamily="34" charset="-122"/>
                <a:cs typeface="Calibri" pitchFamily="34" charset="-120"/>
              </a:rPr>
              <a:t>Anti-hallucination guardrails</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APA citations on every response</a:t>
            </a:r>
            <a:endParaRPr lang="en-US" sz="1600" dirty="0"/>
          </a:p>
        </p:txBody>
      </p:sp>
      <p:sp>
        <p:nvSpPr>
          <p:cNvPr id="6" name="Text 4"/>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RPLICE is the quality gate for the entire ecosystem. When a funder asks "how do you measure outcomes?" — this is the answer.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200" b="1" dirty="0">
                <a:solidFill>
                  <a:srgbClr val="C49A2A"/>
                </a:solidFill>
                <a:latin typeface="Calibri" pitchFamily="34" charset="0"/>
                <a:ea typeface="Calibri" pitchFamily="34" charset="-122"/>
                <a:cs typeface="Calibri" pitchFamily="34" charset="-120"/>
              </a:rPr>
              <a:t>ThriveUp — 24-Platform Ecosystem</a:t>
            </a:r>
            <a:endParaRPr lang="en-US" sz="3200" dirty="0"/>
          </a:p>
        </p:txBody>
      </p:sp>
      <p:sp>
        <p:nvSpPr>
          <p:cNvPr id="3" name="Text 1"/>
          <p:cNvSpPr/>
          <p:nvPr/>
        </p:nvSpPr>
        <p:spPr>
          <a:xfrm>
            <a:off x="731520" y="960120"/>
            <a:ext cx="10515600" cy="320040"/>
          </a:xfrm>
          <a:prstGeom prst="rect">
            <a:avLst/>
          </a:prstGeom>
          <a:noFill/>
          <a:ln/>
        </p:spPr>
        <p:txBody>
          <a:bodyPr wrap="square"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Interconnected platforms via heartbeat architecture — every platform talks to every other</a:t>
            </a:r>
            <a:endParaRPr lang="en-US" sz="1400" dirty="0"/>
          </a:p>
        </p:txBody>
      </p:sp>
      <p:sp>
        <p:nvSpPr>
          <p:cNvPr id="4" name="Text 2"/>
          <p:cNvSpPr/>
          <p:nvPr/>
        </p:nvSpPr>
        <p:spPr>
          <a:xfrm>
            <a:off x="548640" y="1371600"/>
            <a:ext cx="3474720" cy="457200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HEALTH (8 platforms)
</a:t>
            </a:r>
            <a:pPr indent="0" marL="0">
              <a:buNone/>
            </a:pPr>
            <a:r>
              <a:rPr lang="en-US" sz="1200" b="1" dirty="0">
                <a:solidFill>
                  <a:srgbClr val="FFFFFF"/>
                </a:solidFill>
                <a:latin typeface="Calibri" pitchFamily="34" charset="0"/>
                <a:ea typeface="Calibri" pitchFamily="34" charset="-122"/>
                <a:cs typeface="Calibri" pitchFamily="34" charset="-120"/>
              </a:rPr>
              <a:t>  Sankofa Health Network:
</a:t>
            </a:r>
            <a:pPr indent="0" marL="0">
              <a:buNone/>
            </a:pPr>
            <a:r>
              <a:rPr lang="en-US" sz="1200" dirty="0">
                <a:solidFill>
                  <a:srgbClr val="FFFFFF"/>
                </a:solidFill>
                <a:latin typeface="Calibri" pitchFamily="34" charset="0"/>
                <a:ea typeface="Calibri" pitchFamily="34" charset="-122"/>
                <a:cs typeface="Calibri" pitchFamily="34" charset="-120"/>
              </a:rPr>
              <a:t>    Black Maternal Health Network
    Holistic Black Feminine Health
    Black Men's Health Hub
</a:t>
            </a:r>
            <a:pPr indent="0" marL="0">
              <a:buNone/>
            </a:pPr>
            <a:r>
              <a:rPr lang="en-US" sz="1200" b="1" dirty="0">
                <a:solidFill>
                  <a:srgbClr val="FFFFFF"/>
                </a:solidFill>
                <a:latin typeface="Calibri" pitchFamily="34" charset="0"/>
                <a:ea typeface="Calibri" pitchFamily="34" charset="-122"/>
                <a:cs typeface="Calibri" pitchFamily="34" charset="-120"/>
              </a:rPr>
              <a:t>  Whole-Person Health / Mental Wellness
</a:t>
            </a:r>
            <a:pPr indent="0" marL="0">
              <a:buNone/>
            </a:pPr>
            <a:r>
              <a:rPr lang="en-US" sz="1200" dirty="0">
                <a:solidFill>
                  <a:srgbClr val="FFFFFF"/>
                </a:solidFill>
                <a:latin typeface="Calibri" pitchFamily="34" charset="0"/>
                <a:ea typeface="Calibri" pitchFamily="34" charset="-122"/>
                <a:cs typeface="Calibri" pitchFamily="34" charset="-120"/>
              </a:rPr>
              <a:t>    20,670 resources | 2,091 support groups
    50 states + DC | All populations
</a:t>
            </a:r>
            <a:pPr indent="0" marL="0">
              <a:buNone/>
            </a:pPr>
            <a:r>
              <a:rPr lang="en-US" sz="1200" dirty="0">
                <a:solidFill>
                  <a:srgbClr val="FFFFFF"/>
                </a:solidFill>
                <a:latin typeface="Calibri" pitchFamily="34" charset="0"/>
                <a:ea typeface="Calibri" pitchFamily="34" charset="-122"/>
                <a:cs typeface="Calibri" pitchFamily="34" charset="-120"/>
              </a:rPr>
              <a:t>  WholeMind — behavioral health
  CogniCare — cognitive health &amp; aging
  SA Connect — community health
  MCE — Minority Community Empowerment
</a:t>
            </a:r>
            <a:endParaRPr lang="en-US" sz="1400" dirty="0"/>
          </a:p>
        </p:txBody>
      </p:sp>
      <p:sp>
        <p:nvSpPr>
          <p:cNvPr id="5" name="Text 3"/>
          <p:cNvSpPr/>
          <p:nvPr/>
        </p:nvSpPr>
        <p:spPr>
          <a:xfrm>
            <a:off x="4206240" y="1371600"/>
            <a:ext cx="3474720" cy="457200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EDUCATION (3)
</a:t>
            </a:r>
            <a:pPr indent="0" marL="0">
              <a:buNone/>
            </a:pPr>
            <a:r>
              <a:rPr lang="en-US" sz="1200" dirty="0">
                <a:solidFill>
                  <a:srgbClr val="FFFFFF"/>
                </a:solidFill>
                <a:latin typeface="Calibri" pitchFamily="34" charset="0"/>
                <a:ea typeface="Calibri" pitchFamily="34" charset="-122"/>
                <a:cs typeface="Calibri" pitchFamily="34" charset="-120"/>
              </a:rPr>
              <a:t>  ISSS — K-12 implementation science
    5-layer model | 7 role portals
  Perfectly Different — neurodiversity
    50-state directory | IEP analyzer
  ThriveUp Academy — training hub
</a:t>
            </a:r>
            <a:pPr indent="0" marL="0">
              <a:buNone/>
            </a:pPr>
            <a:r>
              <a:rPr lang="en-US" sz="1400" b="1" dirty="0">
                <a:solidFill>
                  <a:srgbClr val="C49A2A"/>
                </a:solidFill>
                <a:latin typeface="Calibri" pitchFamily="34" charset="0"/>
                <a:ea typeface="Calibri" pitchFamily="34" charset="-122"/>
                <a:cs typeface="Calibri" pitchFamily="34" charset="-120"/>
              </a:rPr>
              <a:t>WORKFORCE (4)
</a:t>
            </a:r>
            <a:pPr indent="0" marL="0">
              <a:buNone/>
            </a:pPr>
            <a:r>
              <a:rPr lang="en-US" sz="1200" dirty="0">
                <a:solidFill>
                  <a:srgbClr val="FFFFFF"/>
                </a:solidFill>
                <a:latin typeface="Calibri" pitchFamily="34" charset="0"/>
                <a:ea typeface="Calibri" pitchFamily="34" charset="-122"/>
                <a:cs typeface="Calibri" pitchFamily="34" charset="-120"/>
              </a:rPr>
              <a:t>  M2C — veteran transition
  The Incubator — federal opportunity finder
  Pinnacle Business — grant execution
  Collaborative Advocate — VOSB consulting
</a:t>
            </a:r>
            <a:pPr indent="0" marL="0">
              <a:buNone/>
            </a:pPr>
            <a:r>
              <a:rPr lang="en-US" sz="1400" b="1" dirty="0">
                <a:solidFill>
                  <a:srgbClr val="C49A2A"/>
                </a:solidFill>
                <a:latin typeface="Calibri" pitchFamily="34" charset="0"/>
                <a:ea typeface="Calibri" pitchFamily="34" charset="-122"/>
                <a:cs typeface="Calibri" pitchFamily="34" charset="-120"/>
              </a:rPr>
              <a:t>COMMUNITY (1)
</a:t>
            </a:r>
            <a:pPr indent="0" marL="0">
              <a:buNone/>
            </a:pPr>
            <a:r>
              <a:rPr lang="en-US" sz="1200" dirty="0">
                <a:solidFill>
                  <a:srgbClr val="FFFFFF"/>
                </a:solidFill>
                <a:latin typeface="Calibri" pitchFamily="34" charset="0"/>
                <a:ea typeface="Calibri" pitchFamily="34" charset="-122"/>
                <a:cs typeface="Calibri" pitchFamily="34" charset="-120"/>
              </a:rPr>
              <a:t>  Voices of Austin — community advocacy
</a:t>
            </a:r>
            <a:endParaRPr lang="en-US" sz="1400" dirty="0"/>
          </a:p>
        </p:txBody>
      </p:sp>
      <p:sp>
        <p:nvSpPr>
          <p:cNvPr id="6" name="Text 4"/>
          <p:cNvSpPr/>
          <p:nvPr/>
        </p:nvSpPr>
        <p:spPr>
          <a:xfrm>
            <a:off x="7863840" y="1371600"/>
            <a:ext cx="3657600" cy="457200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SAFETY &amp; JUSTICE (2)
</a:t>
            </a:r>
            <a:pPr indent="0" marL="0">
              <a:buNone/>
            </a:pPr>
            <a:r>
              <a:rPr lang="en-US" sz="1200" dirty="0">
                <a:solidFill>
                  <a:srgbClr val="FFFFFF"/>
                </a:solidFill>
                <a:latin typeface="Calibri" pitchFamily="34" charset="0"/>
                <a:ea typeface="Calibri" pitchFamily="34" charset="-122"/>
                <a:cs typeface="Calibri" pitchFamily="34" charset="-120"/>
              </a:rPr>
              <a:t>  SafeReport — 50-state mandatory reporting
    Tamper-evident audit trails
  SHIELD/ATLAS — cybersecurity training
</a:t>
            </a:r>
            <a:pPr indent="0" marL="0">
              <a:buNone/>
            </a:pPr>
            <a:r>
              <a:rPr lang="en-US" sz="1400" b="1" dirty="0">
                <a:solidFill>
                  <a:srgbClr val="C49A2A"/>
                </a:solidFill>
                <a:latin typeface="Calibri" pitchFamily="34" charset="0"/>
                <a:ea typeface="Calibri" pitchFamily="34" charset="-122"/>
                <a:cs typeface="Calibri" pitchFamily="34" charset="-120"/>
              </a:rPr>
              <a:t>HOUSING (1)
</a:t>
            </a:r>
            <a:pPr indent="0" marL="0">
              <a:buNone/>
            </a:pPr>
            <a:r>
              <a:rPr lang="en-US" sz="1200" dirty="0">
                <a:solidFill>
                  <a:srgbClr val="FFFFFF"/>
                </a:solidFill>
                <a:latin typeface="Calibri" pitchFamily="34" charset="0"/>
                <a:ea typeface="Calibri" pitchFamily="34" charset="-122"/>
                <a:cs typeface="Calibri" pitchFamily="34" charset="-120"/>
              </a:rPr>
              <a:t>  LifeBridge — 300+ resources, bilingual
    21 SDOH categories | GIS mapping
</a:t>
            </a:r>
            <a:pPr indent="0" marL="0">
              <a:buNone/>
            </a:pPr>
            <a:r>
              <a:rPr lang="en-US" sz="1400" b="1" dirty="0">
                <a:solidFill>
                  <a:srgbClr val="C49A2A"/>
                </a:solidFill>
                <a:latin typeface="Calibri" pitchFamily="34" charset="0"/>
                <a:ea typeface="Calibri" pitchFamily="34" charset="-122"/>
                <a:cs typeface="Calibri" pitchFamily="34" charset="-120"/>
              </a:rPr>
              <a:t>OPERATIONS (3)
</a:t>
            </a:r>
            <a:pPr indent="0" marL="0">
              <a:buNone/>
            </a:pPr>
            <a:r>
              <a:rPr lang="en-US" sz="1200" dirty="0">
                <a:solidFill>
                  <a:srgbClr val="FFFFFF"/>
                </a:solidFill>
                <a:latin typeface="Calibri" pitchFamily="34" charset="0"/>
                <a:ea typeface="Calibri" pitchFamily="34" charset="-122"/>
                <a:cs typeface="Calibri" pitchFamily="34" charset="-120"/>
              </a:rPr>
              <a:t>  AGOS — governance operating system
    Connects 12 orgs | AI decision arch.
  Ecosystem Nexus — data exchange
  Video Creator AI — content tools
</a:t>
            </a:r>
            <a:pPr indent="0" marL="0">
              <a:buNone/>
            </a:pPr>
            <a:r>
              <a:rPr lang="en-US" sz="1400" b="1" dirty="0">
                <a:solidFill>
                  <a:srgbClr val="C49A2A"/>
                </a:solidFill>
                <a:latin typeface="Calibri" pitchFamily="34" charset="0"/>
                <a:ea typeface="Calibri" pitchFamily="34" charset="-122"/>
                <a:cs typeface="Calibri" pitchFamily="34" charset="-120"/>
              </a:rPr>
              <a:t>RESEARCH (1)
</a:t>
            </a:r>
            <a:pPr indent="0" marL="0">
              <a:buNone/>
            </a:pPr>
            <a:r>
              <a:rPr lang="en-US" sz="1200" dirty="0">
                <a:solidFill>
                  <a:srgbClr val="FFFFFF"/>
                </a:solidFill>
                <a:latin typeface="Calibri" pitchFamily="34" charset="0"/>
                <a:ea typeface="Calibri" pitchFamily="34" charset="-122"/>
                <a:cs typeface="Calibri" pitchFamily="34" charset="-120"/>
              </a:rPr>
              <a:t>  RPLICE — quality gate for everything
</a:t>
            </a:r>
            <a:endParaRPr lang="en-US" sz="1400" dirty="0"/>
          </a:p>
        </p:txBody>
      </p:sp>
      <p:sp>
        <p:nvSpPr>
          <p:cNvPr id="7" name="Text 5"/>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This isn't a list of apps. It's a living network — when a veteran on M2C gets flagged for TBI, CogniCare activates. When a school flags a family need, LifeBridge responds.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How the Ecosystem Works</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Heartbeat Architecture:
</a:t>
            </a:r>
            <a:pPr indent="0" marL="0">
              <a:buNone/>
            </a:pPr>
            <a:r>
              <a:rPr lang="en-US" sz="1500" dirty="0">
                <a:solidFill>
                  <a:srgbClr val="FFFFFF"/>
                </a:solidFill>
                <a:latin typeface="Calibri" pitchFamily="34" charset="0"/>
                <a:ea typeface="Calibri" pitchFamily="34" charset="-122"/>
                <a:cs typeface="Calibri" pitchFamily="34" charset="-120"/>
              </a:rPr>
              <a:t>• Every platform pulses every 5 minutes
</a:t>
            </a:r>
            <a:pPr indent="0" marL="0">
              <a:buNone/>
            </a:pPr>
            <a:r>
              <a:rPr lang="en-US" sz="1500" dirty="0">
                <a:solidFill>
                  <a:srgbClr val="FFFFFF"/>
                </a:solidFill>
                <a:latin typeface="Calibri" pitchFamily="34" charset="0"/>
                <a:ea typeface="Calibri" pitchFamily="34" charset="-122"/>
                <a:cs typeface="Calibri" pitchFamily="34" charset="-120"/>
              </a:rPr>
              <a:t>• ThriveUp Hub receives and tracks all heartbeats
</a:t>
            </a:r>
            <a:pPr indent="0" marL="0">
              <a:buNone/>
            </a:pPr>
            <a:r>
              <a:rPr lang="en-US" sz="1500" dirty="0">
                <a:solidFill>
                  <a:srgbClr val="FFFFFF"/>
                </a:solidFill>
                <a:latin typeface="Calibri" pitchFamily="34" charset="0"/>
                <a:ea typeface="Calibri" pitchFamily="34" charset="-122"/>
                <a:cs typeface="Calibri" pitchFamily="34" charset="-120"/>
              </a:rPr>
              <a:t>• If a platform goes silent — we know immediately
</a:t>
            </a:r>
            <a:pPr indent="0" marL="0">
              <a:buNone/>
            </a:pPr>
            <a:r>
              <a:rPr lang="en-US" sz="1600" b="1" dirty="0">
                <a:solidFill>
                  <a:srgbClr val="C49A2A"/>
                </a:solidFill>
                <a:latin typeface="Calibri" pitchFamily="34" charset="0"/>
                <a:ea typeface="Calibri" pitchFamily="34" charset="-122"/>
                <a:cs typeface="Calibri" pitchFamily="34" charset="-120"/>
              </a:rPr>
              <a:t>Event Bus:
</a:t>
            </a:r>
            <a:pPr indent="0" marL="0">
              <a:buNone/>
            </a:pPr>
            <a:r>
              <a:rPr lang="en-US" sz="1500" dirty="0">
                <a:solidFill>
                  <a:srgbClr val="FFFFFF"/>
                </a:solidFill>
                <a:latin typeface="Calibri" pitchFamily="34" charset="0"/>
                <a:ea typeface="Calibri" pitchFamily="34" charset="-122"/>
                <a:cs typeface="Calibri" pitchFamily="34" charset="-120"/>
              </a:rPr>
              <a:t>• When something happens on one platform,
  the entire ecosystem can respond
</a:t>
            </a:r>
            <a:pPr indent="0" marL="0">
              <a:buNone/>
            </a:pPr>
            <a:r>
              <a:rPr lang="en-US" sz="1600" b="1" dirty="0">
                <a:solidFill>
                  <a:srgbClr val="C49A2A"/>
                </a:solidFill>
                <a:latin typeface="Calibri" pitchFamily="34" charset="0"/>
                <a:ea typeface="Calibri" pitchFamily="34" charset="-122"/>
                <a:cs typeface="Calibri" pitchFamily="34" charset="-120"/>
              </a:rPr>
              <a:t>Example:
</a:t>
            </a:r>
            <a:pPr indent="0" marL="0">
              <a:buNone/>
            </a:pPr>
            <a:r>
              <a:rPr lang="en-US" sz="1500" dirty="0">
                <a:solidFill>
                  <a:srgbClr val="FFFFFF"/>
                </a:solidFill>
                <a:latin typeface="Calibri" pitchFamily="34" charset="0"/>
                <a:ea typeface="Calibri" pitchFamily="34" charset="-122"/>
                <a:cs typeface="Calibri" pitchFamily="34" charset="-120"/>
              </a:rPr>
              <a:t>  Breast cancer screening on Sankofa</a:t>
            </a:r>
            <a:endParaRPr lang="en-US" sz="1600" dirty="0"/>
          </a:p>
          <a:p>
            <a:pPr indent="0" marL="0">
              <a:buNone/>
            </a:pPr>
            <a:r>
              <a:rPr lang="en-US" sz="1500" dirty="0">
                <a:solidFill>
                  <a:srgbClr val="FFFFFF"/>
                </a:solidFill>
                <a:latin typeface="Calibri" pitchFamily="34" charset="0"/>
                <a:ea typeface="Calibri" pitchFamily="34" charset="-122"/>
                <a:cs typeface="Calibri" pitchFamily="34" charset="-120"/>
              </a:rPr>
              <a:t>  → Family history flags HealthyBlackMen</a:t>
            </a:r>
            <a:endParaRPr lang="en-US" sz="1600" dirty="0"/>
          </a:p>
          <a:p>
            <a:pPr indent="0" marL="0">
              <a:buNone/>
            </a:pPr>
            <a:r>
              <a:rPr lang="en-US" sz="1500" dirty="0">
                <a:solidFill>
                  <a:srgbClr val="FFFFFF"/>
                </a:solidFill>
                <a:latin typeface="Calibri" pitchFamily="34" charset="0"/>
                <a:ea typeface="Calibri" pitchFamily="34" charset="-122"/>
                <a:cs typeface="Calibri" pitchFamily="34" charset="-120"/>
              </a:rPr>
              <a:t>  → Mental health support via WholeMind</a:t>
            </a:r>
            <a:endParaRPr lang="en-US" sz="1600" dirty="0"/>
          </a:p>
          <a:p>
            <a:pPr indent="0" marL="0">
              <a:buNone/>
            </a:pPr>
            <a:r>
              <a:rPr lang="en-US" sz="1500" dirty="0">
                <a:solidFill>
                  <a:srgbClr val="FFFFFF"/>
                </a:solidFill>
                <a:latin typeface="Calibri" pitchFamily="34" charset="0"/>
                <a:ea typeface="Calibri" pitchFamily="34" charset="-122"/>
                <a:cs typeface="Calibri" pitchFamily="34" charset="-120"/>
              </a:rPr>
              <a:t>  → All tracked through RPLICE with fidelity</a:t>
            </a:r>
            <a:endParaRPr lang="en-US" sz="16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Why This Matters:
</a:t>
            </a:r>
            <a:pPr indent="0" marL="0">
              <a:buNone/>
            </a:pPr>
            <a:r>
              <a:rPr lang="en-US" sz="1500" dirty="0">
                <a:solidFill>
                  <a:srgbClr val="FFFFFF"/>
                </a:solidFill>
                <a:latin typeface="Calibri" pitchFamily="34" charset="0"/>
                <a:ea typeface="Calibri" pitchFamily="34" charset="-122"/>
                <a:cs typeface="Calibri" pitchFamily="34" charset="-120"/>
              </a:rPr>
              <a:t>• No competitor can replicate one platform
  and match us — they'd need all 24
</a:t>
            </a:r>
            <a:pPr indent="0" marL="0">
              <a:buNone/>
            </a:pPr>
            <a:r>
              <a:rPr lang="en-US" sz="1500" dirty="0">
                <a:solidFill>
                  <a:srgbClr val="FFFFFF"/>
                </a:solidFill>
                <a:latin typeface="Calibri" pitchFamily="34" charset="0"/>
                <a:ea typeface="Calibri" pitchFamily="34" charset="-122"/>
                <a:cs typeface="Calibri" pitchFamily="34" charset="-120"/>
              </a:rPr>
              <a:t>• Every new platform increases the value
  of every existing platform
</a:t>
            </a:r>
            <a:pPr indent="0" marL="0">
              <a:buNone/>
            </a:pPr>
            <a:r>
              <a:rPr lang="en-US" sz="1500" dirty="0">
                <a:solidFill>
                  <a:srgbClr val="FFFFFF"/>
                </a:solidFill>
                <a:latin typeface="Calibri" pitchFamily="34" charset="0"/>
                <a:ea typeface="Calibri" pitchFamily="34" charset="-122"/>
                <a:cs typeface="Calibri" pitchFamily="34" charset="-120"/>
              </a:rPr>
              <a:t>• Grant reviewers see a complete system,
  not a single tool with a prayer
</a:t>
            </a:r>
            <a:pPr indent="0" marL="0">
              <a:buNone/>
            </a:pPr>
            <a:r>
              <a:rPr lang="en-US" sz="1400" b="1" dirty="0">
                <a:solidFill>
                  <a:srgbClr val="C49A2A"/>
                </a:solidFill>
                <a:latin typeface="Calibri" pitchFamily="34" charset="0"/>
                <a:ea typeface="Calibri" pitchFamily="34" charset="-122"/>
                <a:cs typeface="Calibri" pitchFamily="34" charset="-120"/>
              </a:rPr>
              <a:t>Each grant activates a different combination:
</a:t>
            </a:r>
            <a:pPr indent="0" marL="0">
              <a:buNone/>
            </a:pPr>
            <a:r>
              <a:rPr lang="en-US" sz="1400" dirty="0">
                <a:solidFill>
                  <a:srgbClr val="FFFFFF"/>
                </a:solidFill>
                <a:latin typeface="Calibri" pitchFamily="34" charset="0"/>
                <a:ea typeface="Calibri" pitchFamily="34" charset="-122"/>
                <a:cs typeface="Calibri" pitchFamily="34" charset="-120"/>
              </a:rPr>
              <a:t>  CDC DFC → ThriveUp + LifeBridge + Sankofa + RPLICE</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DOJ → ThriveUp + LifeBridge + SafeReport + CogniCare</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WIOA → ThriveUp + M2C + Incubator + RPLICE</a:t>
            </a:r>
            <a:endParaRPr lang="en-US" sz="1600" dirty="0"/>
          </a:p>
        </p:txBody>
      </p:sp>
      <p:sp>
        <p:nvSpPr>
          <p:cNvPr id="5" name="Text 3"/>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Research to implementation with fidelity — for all stakeholders, all perspectives — tied to measurable outcomes.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MAP-GAP — Our Governance Methodology</a:t>
            </a:r>
            <a:endParaRPr lang="en-US" sz="3400" dirty="0"/>
          </a:p>
        </p:txBody>
      </p:sp>
      <p:sp>
        <p:nvSpPr>
          <p:cNvPr id="3" name="Text 1"/>
          <p:cNvSpPr/>
          <p:nvPr/>
        </p:nvSpPr>
        <p:spPr>
          <a:xfrm>
            <a:off x="731520" y="1005840"/>
            <a:ext cx="10515600" cy="365760"/>
          </a:xfrm>
          <a:prstGeom prst="rect">
            <a:avLst/>
          </a:prstGeom>
          <a:noFill/>
          <a:ln/>
        </p:spPr>
        <p:txBody>
          <a:bodyPr wrap="square"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Nothing happens in a silo. Collaboration is key.</a:t>
            </a:r>
            <a:endParaRPr lang="en-US" sz="1700" dirty="0"/>
          </a:p>
        </p:txBody>
      </p:sp>
      <p:sp>
        <p:nvSpPr>
          <p:cNvPr id="4" name="Text 2"/>
          <p:cNvSpPr/>
          <p:nvPr/>
        </p:nvSpPr>
        <p:spPr>
          <a:xfrm>
            <a:off x="73152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The MAP-GAP Cycle:
</a:t>
            </a:r>
            <a:pPr indent="0" marL="0">
              <a:buNone/>
            </a:pPr>
            <a:r>
              <a:rPr lang="en-US" sz="1500" b="1" dirty="0">
                <a:solidFill>
                  <a:srgbClr val="C49A2A"/>
                </a:solidFill>
                <a:latin typeface="Calibri" pitchFamily="34" charset="0"/>
                <a:ea typeface="Calibri" pitchFamily="34" charset="-122"/>
                <a:cs typeface="Calibri" pitchFamily="34" charset="-120"/>
              </a:rPr>
              <a:t>ORIENT</a:t>
            </a:r>
            <a:pPr indent="0" marL="0">
              <a:buNone/>
            </a:pPr>
            <a:r>
              <a:rPr lang="en-US" sz="1500" dirty="0">
                <a:solidFill>
                  <a:srgbClr val="FFFFFF"/>
                </a:solidFill>
                <a:latin typeface="Calibri" pitchFamily="34" charset="0"/>
                <a:ea typeface="Calibri" pitchFamily="34" charset="-122"/>
                <a:cs typeface="Calibri" pitchFamily="34" charset="-120"/>
              </a:rPr>
              <a:t> — Know yourself, the outside world,
   behaviors, history, and your stakeholders
</a:t>
            </a:r>
            <a:pPr indent="0" marL="0">
              <a:buNone/>
            </a:pPr>
            <a:r>
              <a:rPr lang="en-US" sz="1500" b="1" dirty="0">
                <a:solidFill>
                  <a:srgbClr val="C49A2A"/>
                </a:solidFill>
                <a:latin typeface="Calibri" pitchFamily="34" charset="0"/>
                <a:ea typeface="Calibri" pitchFamily="34" charset="-122"/>
                <a:cs typeface="Calibri" pitchFamily="34" charset="-120"/>
              </a:rPr>
              <a:t>MAP</a:t>
            </a:r>
            <a:pPr indent="0" marL="0">
              <a:buNone/>
            </a:pPr>
            <a:r>
              <a:rPr lang="en-US" sz="1500" dirty="0">
                <a:solidFill>
                  <a:srgbClr val="FFFFFF"/>
                </a:solidFill>
                <a:latin typeface="Calibri" pitchFamily="34" charset="0"/>
                <a:ea typeface="Calibri" pitchFamily="34" charset="-122"/>
                <a:cs typeface="Calibri" pitchFamily="34" charset="-120"/>
              </a:rPr>
              <a:t> — Document what was designed to happen
</a:t>
            </a:r>
            <a:pPr indent="0" marL="0">
              <a:buNone/>
            </a:pPr>
            <a:r>
              <a:rPr lang="en-US" sz="1500" b="1" dirty="0">
                <a:solidFill>
                  <a:srgbClr val="C49A2A"/>
                </a:solidFill>
                <a:latin typeface="Calibri" pitchFamily="34" charset="0"/>
                <a:ea typeface="Calibri" pitchFamily="34" charset="-122"/>
                <a:cs typeface="Calibri" pitchFamily="34" charset="-120"/>
              </a:rPr>
              <a:t>GAP</a:t>
            </a:r>
            <a:pPr indent="0" marL="0">
              <a:buNone/>
            </a:pPr>
            <a:r>
              <a:rPr lang="en-US" sz="1500" dirty="0">
                <a:solidFill>
                  <a:srgbClr val="FFFFFF"/>
                </a:solidFill>
                <a:latin typeface="Calibri" pitchFamily="34" charset="0"/>
                <a:ea typeface="Calibri" pitchFamily="34" charset="-122"/>
                <a:cs typeface="Calibri" pitchFamily="34" charset="-120"/>
              </a:rPr>
              <a:t> — Measure what actually happened
</a:t>
            </a:r>
            <a:pPr indent="0" marL="0">
              <a:buNone/>
            </a:pPr>
            <a:r>
              <a:rPr lang="en-US" sz="1500" b="1" dirty="0">
                <a:solidFill>
                  <a:srgbClr val="C49A2A"/>
                </a:solidFill>
                <a:latin typeface="Calibri" pitchFamily="34" charset="0"/>
                <a:ea typeface="Calibri" pitchFamily="34" charset="-122"/>
                <a:cs typeface="Calibri" pitchFamily="34" charset="-120"/>
              </a:rPr>
              <a:t>ACT</a:t>
            </a:r>
            <a:pPr indent="0" marL="0">
              <a:buNone/>
            </a:pPr>
            <a:r>
              <a:rPr lang="en-US" sz="1500" dirty="0">
                <a:solidFill>
                  <a:srgbClr val="FFFFFF"/>
                </a:solidFill>
                <a:latin typeface="Calibri" pitchFamily="34" charset="0"/>
                <a:ea typeface="Calibri" pitchFamily="34" charset="-122"/>
                <a:cs typeface="Calibri" pitchFamily="34" charset="-120"/>
              </a:rPr>
              <a:t> — Close the gaps with evidence
</a:t>
            </a:r>
            <a:pPr indent="0" marL="0">
              <a:buNone/>
            </a:pPr>
            <a:r>
              <a:rPr lang="en-US" sz="1500" b="1" dirty="0">
                <a:solidFill>
                  <a:srgbClr val="C49A2A"/>
                </a:solidFill>
                <a:latin typeface="Calibri" pitchFamily="34" charset="0"/>
                <a:ea typeface="Calibri" pitchFamily="34" charset="-122"/>
                <a:cs typeface="Calibri" pitchFamily="34" charset="-120"/>
              </a:rPr>
              <a:t>TRACK</a:t>
            </a:r>
            <a:pPr indent="0" marL="0">
              <a:buNone/>
            </a:pPr>
            <a:r>
              <a:rPr lang="en-US" sz="1500" dirty="0">
                <a:solidFill>
                  <a:srgbClr val="FFFFFF"/>
                </a:solidFill>
                <a:latin typeface="Calibri" pitchFamily="34" charset="0"/>
                <a:ea typeface="Calibri" pitchFamily="34" charset="-122"/>
                <a:cs typeface="Calibri" pitchFamily="34" charset="-120"/>
              </a:rPr>
              <a:t> — Monitor continuously (not just at the end)
</a:t>
            </a:r>
            <a:pPr indent="0" marL="0">
              <a:buNone/>
            </a:pPr>
            <a:r>
              <a:rPr lang="en-US" sz="1500" b="1" dirty="0">
                <a:solidFill>
                  <a:srgbClr val="C49A2A"/>
                </a:solidFill>
                <a:latin typeface="Calibri" pitchFamily="34" charset="0"/>
                <a:ea typeface="Calibri" pitchFamily="34" charset="-122"/>
                <a:cs typeface="Calibri" pitchFamily="34" charset="-120"/>
              </a:rPr>
              <a:t>REFLECT</a:t>
            </a:r>
            <a:pPr indent="0" marL="0">
              <a:buNone/>
            </a:pPr>
            <a:r>
              <a:rPr lang="en-US" sz="1500" dirty="0">
                <a:solidFill>
                  <a:srgbClr val="FFFFFF"/>
                </a:solidFill>
                <a:latin typeface="Calibri" pitchFamily="34" charset="0"/>
                <a:ea typeface="Calibri" pitchFamily="34" charset="-122"/>
                <a:cs typeface="Calibri" pitchFamily="34" charset="-120"/>
              </a:rPr>
              <a:t> — Learn, adapt, improve</a:t>
            </a:r>
            <a:endParaRPr lang="en-US" sz="1600" dirty="0"/>
          </a:p>
          <a:p>
            <a:pPr indent="0" marL="0">
              <a:buNone/>
            </a:pPr>
            <a:endParaRPr lang="en-US" sz="1600" dirty="0"/>
          </a:p>
          <a:p>
            <a:pPr indent="0" marL="0">
              <a:buNone/>
            </a:pPr>
            <a:r>
              <a:rPr lang="en-US" sz="1500" dirty="0">
                <a:solidFill>
                  <a:srgbClr val="FFFFFF"/>
                </a:solidFill>
                <a:latin typeface="Calibri" pitchFamily="34" charset="0"/>
                <a:ea typeface="Calibri" pitchFamily="34" charset="-122"/>
                <a:cs typeface="Calibri" pitchFamily="34" charset="-120"/>
              </a:rPr>
              <a:t>Then the cycle repeats — continuous improvement</a:t>
            </a:r>
            <a:endParaRPr lang="en-US" sz="1600" dirty="0"/>
          </a:p>
        </p:txBody>
      </p:sp>
      <p:sp>
        <p:nvSpPr>
          <p:cNvPr id="5" name="Text 3"/>
          <p:cNvSpPr/>
          <p:nvPr/>
        </p:nvSpPr>
        <p:spPr>
          <a:xfrm>
            <a:off x="640080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Three Realities Diagnostic:
</a:t>
            </a:r>
            <a:pPr indent="0" marL="0">
              <a:buNone/>
            </a:pPr>
            <a:r>
              <a:rPr lang="en-US" sz="1500" b="1" dirty="0">
                <a:solidFill>
                  <a:srgbClr val="C49A2A"/>
                </a:solidFill>
                <a:latin typeface="Calibri" pitchFamily="34" charset="0"/>
                <a:ea typeface="Calibri" pitchFamily="34" charset="-122"/>
                <a:cs typeface="Calibri" pitchFamily="34" charset="-120"/>
              </a:rPr>
              <a:t>Designed Reality
</a:t>
            </a:r>
            <a:pPr indent="0" marL="0">
              <a:buNone/>
            </a:pPr>
            <a:r>
              <a:rPr lang="en-US" sz="1500" dirty="0">
                <a:solidFill>
                  <a:srgbClr val="FFFFFF"/>
                </a:solidFill>
                <a:latin typeface="Calibri" pitchFamily="34" charset="0"/>
                <a:ea typeface="Calibri" pitchFamily="34" charset="-122"/>
                <a:cs typeface="Calibri" pitchFamily="34" charset="-120"/>
              </a:rPr>
              <a:t>   What we planned to happen
</a:t>
            </a:r>
            <a:pPr indent="0" marL="0">
              <a:buNone/>
            </a:pPr>
            <a:r>
              <a:rPr lang="en-US" sz="1500" b="1" dirty="0">
                <a:solidFill>
                  <a:srgbClr val="C49A2A"/>
                </a:solidFill>
                <a:latin typeface="Calibri" pitchFamily="34" charset="0"/>
                <a:ea typeface="Calibri" pitchFamily="34" charset="-122"/>
                <a:cs typeface="Calibri" pitchFamily="34" charset="-120"/>
              </a:rPr>
              <a:t>Operational Reality
</a:t>
            </a:r>
            <a:pPr indent="0" marL="0">
              <a:buNone/>
            </a:pPr>
            <a:r>
              <a:rPr lang="en-US" sz="1500" dirty="0">
                <a:solidFill>
                  <a:srgbClr val="FFFFFF"/>
                </a:solidFill>
                <a:latin typeface="Calibri" pitchFamily="34" charset="0"/>
                <a:ea typeface="Calibri" pitchFamily="34" charset="-122"/>
                <a:cs typeface="Calibri" pitchFamily="34" charset="-120"/>
              </a:rPr>
              <a:t>   What is actually happening on the ground
</a:t>
            </a:r>
            <a:pPr indent="0" marL="0">
              <a:buNone/>
            </a:pPr>
            <a:r>
              <a:rPr lang="en-US" sz="1500" b="1" dirty="0">
                <a:solidFill>
                  <a:srgbClr val="C49A2A"/>
                </a:solidFill>
                <a:latin typeface="Calibri" pitchFamily="34" charset="0"/>
                <a:ea typeface="Calibri" pitchFamily="34" charset="-122"/>
                <a:cs typeface="Calibri" pitchFamily="34" charset="-120"/>
              </a:rPr>
              <a:t>Experienced Reality
</a:t>
            </a:r>
            <a:pPr indent="0" marL="0">
              <a:buNone/>
            </a:pPr>
            <a:r>
              <a:rPr lang="en-US" sz="1500" dirty="0">
                <a:solidFill>
                  <a:srgbClr val="FFFFFF"/>
                </a:solidFill>
                <a:latin typeface="Calibri" pitchFamily="34" charset="0"/>
                <a:ea typeface="Calibri" pitchFamily="34" charset="-122"/>
                <a:cs typeface="Calibri" pitchFamily="34" charset="-120"/>
              </a:rPr>
              <a:t>   What stakeholders actually feel and report
</a:t>
            </a:r>
            <a:pPr indent="0" marL="0">
              <a:buNone/>
            </a:pPr>
            <a:r>
              <a:rPr lang="en-US" sz="1500" i="1" dirty="0">
                <a:solidFill>
                  <a:srgbClr val="FFFFFF"/>
                </a:solidFill>
                <a:latin typeface="Calibri" pitchFamily="34" charset="0"/>
                <a:ea typeface="Calibri" pitchFamily="34" charset="-122"/>
                <a:cs typeface="Calibri" pitchFamily="34" charset="-120"/>
              </a:rPr>
              <a:t>The gap between these three realities is where every implementation fails — MAP-GAP makes that gap visible and actionable.</a:t>
            </a:r>
            <a:endParaRPr lang="en-US" sz="1600" dirty="0"/>
          </a:p>
        </p:txBody>
      </p:sp>
      <p:sp>
        <p:nvSpPr>
          <p:cNvPr id="6" name="Text 4"/>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MAP-GAP is original intellectual property — publishable as an academic contribution. The Three Realities Diagnostic goes beyond any existing model.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000" b="1" dirty="0">
                <a:solidFill>
                  <a:srgbClr val="C49A2A"/>
                </a:solidFill>
                <a:latin typeface="Calibri" pitchFamily="34" charset="0"/>
                <a:ea typeface="Calibri" pitchFamily="34" charset="-122"/>
                <a:cs typeface="Calibri" pitchFamily="34" charset="-120"/>
              </a:rPr>
              <a:t>Equitable Tools &amp; Services Across Every Domain</a:t>
            </a:r>
            <a:endParaRPr lang="en-US" sz="3000" dirty="0"/>
          </a:p>
        </p:txBody>
      </p:sp>
      <p:sp>
        <p:nvSpPr>
          <p:cNvPr id="3" name="Text 1"/>
          <p:cNvSpPr/>
          <p:nvPr/>
        </p:nvSpPr>
        <p:spPr>
          <a:xfrm>
            <a:off x="548640" y="1097280"/>
            <a:ext cx="3474720" cy="457200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HEALTHCARE
</a:t>
            </a:r>
            <a:pPr indent="0" marL="0">
              <a:buNone/>
            </a:pPr>
            <a:r>
              <a:rPr lang="en-US" sz="1300" dirty="0">
                <a:solidFill>
                  <a:srgbClr val="FFFFFF"/>
                </a:solidFill>
                <a:latin typeface="Calibri" pitchFamily="34" charset="0"/>
                <a:ea typeface="Calibri" pitchFamily="34" charset="-122"/>
                <a:cs typeface="Calibri" pitchFamily="34" charset="-120"/>
              </a:rPr>
              <a:t>  Maternal health disparities
  Mental health navigation (20K+ resources)
  Cognitive health &amp; aging
  Medication adherence
  Men's health equity
  Substance use prevention
  Social determinants of health
</a:t>
            </a:r>
            <a:pPr indent="0" marL="0">
              <a:buNone/>
            </a:pPr>
            <a:r>
              <a:rPr lang="en-US" sz="1400" b="1" dirty="0">
                <a:solidFill>
                  <a:srgbClr val="C49A2A"/>
                </a:solidFill>
                <a:latin typeface="Calibri" pitchFamily="34" charset="0"/>
                <a:ea typeface="Calibri" pitchFamily="34" charset="-122"/>
                <a:cs typeface="Calibri" pitchFamily="34" charset="-120"/>
              </a:rPr>
              <a:t>EDUCATION
</a:t>
            </a:r>
            <a:pPr indent="0" marL="0">
              <a:buNone/>
            </a:pPr>
            <a:r>
              <a:rPr lang="en-US" sz="1300" dirty="0">
                <a:solidFill>
                  <a:srgbClr val="FFFFFF"/>
                </a:solidFill>
                <a:latin typeface="Calibri" pitchFamily="34" charset="0"/>
                <a:ea typeface="Calibri" pitchFamily="34" charset="-122"/>
                <a:cs typeface="Calibri" pitchFamily="34" charset="-120"/>
              </a:rPr>
              <a:t>  K-12 implementation science (ISSS)</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  Neurodiversity affirming support</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  School mental health programs</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  HBCU ecosystem partnerships</a:t>
            </a:r>
            <a:endParaRPr lang="en-US" sz="1400" dirty="0"/>
          </a:p>
        </p:txBody>
      </p:sp>
      <p:sp>
        <p:nvSpPr>
          <p:cNvPr id="4" name="Text 2"/>
          <p:cNvSpPr/>
          <p:nvPr/>
        </p:nvSpPr>
        <p:spPr>
          <a:xfrm>
            <a:off x="4206240" y="1097280"/>
            <a:ext cx="3474720" cy="457200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CRIMINAL JUSTICE
</a:t>
            </a:r>
            <a:pPr indent="0" marL="0">
              <a:buNone/>
            </a:pPr>
            <a:r>
              <a:rPr lang="en-US" sz="1300" dirty="0">
                <a:solidFill>
                  <a:srgbClr val="FFFFFF"/>
                </a:solidFill>
                <a:latin typeface="Calibri" pitchFamily="34" charset="0"/>
                <a:ea typeface="Calibri" pitchFamily="34" charset="-122"/>
                <a:cs typeface="Calibri" pitchFamily="34" charset="-120"/>
              </a:rPr>
              <a:t>  50-state mandatory reporting
  Incident lifecycle management
  Tamper-evident audit trails
  Community safety reporting
</a:t>
            </a:r>
            <a:pPr indent="0" marL="0">
              <a:buNone/>
            </a:pPr>
            <a:r>
              <a:rPr lang="en-US" sz="1400" b="1" dirty="0">
                <a:solidFill>
                  <a:srgbClr val="C49A2A"/>
                </a:solidFill>
                <a:latin typeface="Calibri" pitchFamily="34" charset="0"/>
                <a:ea typeface="Calibri" pitchFamily="34" charset="-122"/>
                <a:cs typeface="Calibri" pitchFamily="34" charset="-120"/>
              </a:rPr>
              <a:t>WORKFORCE
</a:t>
            </a:r>
            <a:pPr indent="0" marL="0">
              <a:buNone/>
            </a:pPr>
            <a:r>
              <a:rPr lang="en-US" sz="1300" dirty="0">
                <a:solidFill>
                  <a:srgbClr val="FFFFFF"/>
                </a:solidFill>
                <a:latin typeface="Calibri" pitchFamily="34" charset="0"/>
                <a:ea typeface="Calibri" pitchFamily="34" charset="-122"/>
                <a:cs typeface="Calibri" pitchFamily="34" charset="-120"/>
              </a:rPr>
              <a:t>  Veteran transition (M2C)
  Minority business empowerment
  Grant finding &amp; execution
  Small business incubation
  Federal contracting support (VOSB)
</a:t>
            </a:r>
            <a:pPr indent="0" marL="0">
              <a:buNone/>
            </a:pPr>
            <a:r>
              <a:rPr lang="en-US" sz="1400" b="1" dirty="0">
                <a:solidFill>
                  <a:srgbClr val="C49A2A"/>
                </a:solidFill>
                <a:latin typeface="Calibri" pitchFamily="34" charset="0"/>
                <a:ea typeface="Calibri" pitchFamily="34" charset="-122"/>
                <a:cs typeface="Calibri" pitchFamily="34" charset="-120"/>
              </a:rPr>
              <a:t>HOUSING
</a:t>
            </a:r>
            <a:pPr indent="0" marL="0">
              <a:buNone/>
            </a:pPr>
            <a:r>
              <a:rPr lang="en-US" sz="1300" dirty="0">
                <a:solidFill>
                  <a:srgbClr val="FFFFFF"/>
                </a:solidFill>
                <a:latin typeface="Calibri" pitchFamily="34" charset="0"/>
                <a:ea typeface="Calibri" pitchFamily="34" charset="-122"/>
                <a:cs typeface="Calibri" pitchFamily="34" charset="-120"/>
              </a:rPr>
              <a:t>  Resource navigation (300+)</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  Bilingual services</a:t>
            </a:r>
            <a:endParaRPr lang="en-US" sz="1400" dirty="0"/>
          </a:p>
          <a:p>
            <a:pPr indent="0" marL="0">
              <a:buNone/>
            </a:pPr>
            <a:r>
              <a:rPr lang="en-US" sz="1300" dirty="0">
                <a:solidFill>
                  <a:srgbClr val="FFFFFF"/>
                </a:solidFill>
                <a:latin typeface="Calibri" pitchFamily="34" charset="0"/>
                <a:ea typeface="Calibri" pitchFamily="34" charset="-122"/>
                <a:cs typeface="Calibri" pitchFamily="34" charset="-120"/>
              </a:rPr>
              <a:t>  21 SDOH categories | GIS mapping</a:t>
            </a:r>
            <a:endParaRPr lang="en-US" sz="1400" dirty="0"/>
          </a:p>
        </p:txBody>
      </p:sp>
      <p:sp>
        <p:nvSpPr>
          <p:cNvPr id="5" name="Text 3"/>
          <p:cNvSpPr/>
          <p:nvPr/>
        </p:nvSpPr>
        <p:spPr>
          <a:xfrm>
            <a:off x="7863840" y="1097280"/>
            <a:ext cx="3657600" cy="4754880"/>
          </a:xfrm>
          <a:prstGeom prst="rect">
            <a:avLst/>
          </a:prstGeom>
          <a:noFill/>
          <a:ln/>
        </p:spPr>
        <p:txBody>
          <a:bodyPr wrap="square" rtlCol="0" anchor="t"/>
          <a:lstStyle/>
          <a:p>
            <a:pPr indent="0" marL="0">
              <a:buNone/>
            </a:pPr>
            <a:r>
              <a:rPr lang="en-US" sz="1400" b="1" dirty="0">
                <a:solidFill>
                  <a:srgbClr val="C49A2A"/>
                </a:solidFill>
                <a:latin typeface="Calibri" pitchFamily="34" charset="0"/>
                <a:ea typeface="Calibri" pitchFamily="34" charset="-122"/>
                <a:cs typeface="Calibri" pitchFamily="34" charset="-120"/>
              </a:rPr>
              <a:t>COMMUNITY
</a:t>
            </a:r>
            <a:pPr indent="0" marL="0">
              <a:buNone/>
            </a:pPr>
            <a:r>
              <a:rPr lang="en-US" sz="1300" dirty="0">
                <a:solidFill>
                  <a:srgbClr val="FFFFFF"/>
                </a:solidFill>
                <a:latin typeface="Calibri" pitchFamily="34" charset="0"/>
                <a:ea typeface="Calibri" pitchFamily="34" charset="-122"/>
                <a:cs typeface="Calibri" pitchFamily="34" charset="-120"/>
              </a:rPr>
              <a:t>  Community voice &amp; advocacy
  Regional hubs: Austin | Manor | Pflugerville
  Coalition management
  Ecosystem governance
</a:t>
            </a:r>
            <a:pPr indent="0" marL="0">
              <a:buNone/>
            </a:pPr>
            <a:r>
              <a:rPr lang="en-US" sz="1400" b="1" dirty="0">
                <a:solidFill>
                  <a:srgbClr val="C49A2A"/>
                </a:solidFill>
                <a:latin typeface="Calibri" pitchFamily="34" charset="0"/>
                <a:ea typeface="Calibri" pitchFamily="34" charset="-122"/>
                <a:cs typeface="Calibri" pitchFamily="34" charset="-120"/>
              </a:rPr>
              <a:t>WHAT CONNECTS THEM ALL:
</a:t>
            </a:r>
            <a:pPr indent="0" marL="0">
              <a:buNone/>
            </a:pPr>
            <a:r>
              <a:rPr lang="en-US" sz="1300" dirty="0">
                <a:solidFill>
                  <a:srgbClr val="FFFFFF"/>
                </a:solidFill>
                <a:latin typeface="Calibri" pitchFamily="34" charset="0"/>
                <a:ea typeface="Calibri" pitchFamily="34" charset="-122"/>
                <a:cs typeface="Calibri" pitchFamily="34" charset="-120"/>
              </a:rPr>
              <a:t>  Implementation science frameworks
  (CFIR 2.0, RE-AIM, EPIS)
  MAP-GAP governance cycle
  Equity-conscious AI lens
  Measurable outcomes tied to
  every intervention
</a:t>
            </a:r>
            <a:pPr indent="0" marL="0">
              <a:buNone/>
            </a:pPr>
            <a:r>
              <a:rPr lang="en-US" sz="1400" b="1" i="1" dirty="0">
                <a:solidFill>
                  <a:srgbClr val="C49A2A"/>
                </a:solidFill>
                <a:latin typeface="Calibri" pitchFamily="34" charset="0"/>
                <a:ea typeface="Calibri" pitchFamily="34" charset="-122"/>
                <a:cs typeface="Calibri" pitchFamily="34" charset="-120"/>
              </a:rPr>
              <a:t>  We empower people,</a:t>
            </a:r>
            <a:endParaRPr lang="en-US" sz="1400" dirty="0"/>
          </a:p>
          <a:p>
            <a:pPr indent="0" marL="0">
              <a:buNone/>
            </a:pPr>
            <a:r>
              <a:rPr lang="en-US" sz="1400" b="1" i="1" dirty="0">
                <a:solidFill>
                  <a:srgbClr val="C49A2A"/>
                </a:solidFill>
                <a:latin typeface="Calibri" pitchFamily="34" charset="0"/>
                <a:ea typeface="Calibri" pitchFamily="34" charset="-122"/>
                <a:cs typeface="Calibri" pitchFamily="34" charset="-120"/>
              </a:rPr>
              <a:t>  build relationships, and</a:t>
            </a:r>
            <a:endParaRPr lang="en-US" sz="1400" dirty="0"/>
          </a:p>
          <a:p>
            <a:pPr indent="0" marL="0">
              <a:buNone/>
            </a:pPr>
            <a:r>
              <a:rPr lang="en-US" sz="1400" b="1" i="1" dirty="0">
                <a:solidFill>
                  <a:srgbClr val="C49A2A"/>
                </a:solidFill>
                <a:latin typeface="Calibri" pitchFamily="34" charset="0"/>
                <a:ea typeface="Calibri" pitchFamily="34" charset="-122"/>
                <a:cs typeface="Calibri" pitchFamily="34" charset="-120"/>
              </a:rPr>
              <a:t>  measure whether it works.</a:t>
            </a:r>
            <a:endParaRPr lang="en-US" sz="1400" dirty="0"/>
          </a:p>
        </p:txBody>
      </p:sp>
      <p:sp>
        <p:nvSpPr>
          <p:cNvPr id="6" name="Text 4"/>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We don't just serve communities — we empower people, build relationships, and measure whether what we're doing is actually working.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ISSS — Schools Addressing Multiple Issues</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What ISSS Does:
</a:t>
            </a:r>
            <a:pPr indent="0" marL="0">
              <a:buNone/>
            </a:pPr>
            <a:r>
              <a:rPr lang="en-US" sz="1500" dirty="0">
                <a:solidFill>
                  <a:srgbClr val="FFFFFF"/>
                </a:solidFill>
                <a:latin typeface="Calibri" pitchFamily="34" charset="0"/>
                <a:ea typeface="Calibri" pitchFamily="34" charset="-122"/>
                <a:cs typeface="Calibri" pitchFamily="34" charset="-120"/>
              </a:rPr>
              <a:t>• K-12 implementation science platform
</a:t>
            </a:r>
            <a:pPr indent="0" marL="0">
              <a:buNone/>
            </a:pPr>
            <a:r>
              <a:rPr lang="en-US" sz="1500" dirty="0">
                <a:solidFill>
                  <a:srgbClr val="FFFFFF"/>
                </a:solidFill>
                <a:latin typeface="Calibri" pitchFamily="34" charset="0"/>
                <a:ea typeface="Calibri" pitchFamily="34" charset="-122"/>
                <a:cs typeface="Calibri" pitchFamily="34" charset="-120"/>
              </a:rPr>
              <a:t>• 5-layer progressive unlock model
</a:t>
            </a:r>
            <a:pPr indent="0" marL="0">
              <a:buNone/>
            </a:pPr>
            <a:r>
              <a:rPr lang="en-US" sz="1500" dirty="0">
                <a:solidFill>
                  <a:srgbClr val="FFFFFF"/>
                </a:solidFill>
                <a:latin typeface="Calibri" pitchFamily="34" charset="0"/>
                <a:ea typeface="Calibri" pitchFamily="34" charset="-122"/>
                <a:cs typeface="Calibri" pitchFamily="34" charset="-120"/>
              </a:rPr>
              <a:t>• 7 role-specific portals:
   District leaders | Principals | Teachers
   Counselors | Parents | Students | Coaches
</a:t>
            </a:r>
            <a:pPr indent="0" marL="0">
              <a:buNone/>
            </a:pPr>
            <a:r>
              <a:rPr lang="en-US" sz="1600" b="1" dirty="0">
                <a:solidFill>
                  <a:srgbClr val="C49A2A"/>
                </a:solidFill>
                <a:latin typeface="Calibri" pitchFamily="34" charset="0"/>
                <a:ea typeface="Calibri" pitchFamily="34" charset="-122"/>
                <a:cs typeface="Calibri" pitchFamily="34" charset="-120"/>
              </a:rPr>
              <a:t>Issues ISSS Addresses:
</a:t>
            </a:r>
            <a:pPr indent="0" marL="0">
              <a:buNone/>
            </a:pPr>
            <a:r>
              <a:rPr lang="en-US" sz="1400" dirty="0">
                <a:solidFill>
                  <a:srgbClr val="FFFFFF"/>
                </a:solidFill>
                <a:latin typeface="Calibri" pitchFamily="34" charset="0"/>
                <a:ea typeface="Calibri" pitchFamily="34" charset="-122"/>
                <a:cs typeface="Calibri" pitchFamily="34" charset="-120"/>
              </a:rPr>
              <a:t>• Substance abuse prevention (DFC coalitions)
</a:t>
            </a:r>
            <a:pPr indent="0" marL="0">
              <a:buNone/>
            </a:pPr>
            <a:r>
              <a:rPr lang="en-US" sz="1400" dirty="0">
                <a:solidFill>
                  <a:srgbClr val="FFFFFF"/>
                </a:solidFill>
                <a:latin typeface="Calibri" pitchFamily="34" charset="0"/>
                <a:ea typeface="Calibri" pitchFamily="34" charset="-122"/>
                <a:cs typeface="Calibri" pitchFamily="34" charset="-120"/>
              </a:rPr>
              <a:t>• School mental health programs
</a:t>
            </a:r>
            <a:pPr indent="0" marL="0">
              <a:buNone/>
            </a:pPr>
            <a:r>
              <a:rPr lang="en-US" sz="1400" dirty="0">
                <a:solidFill>
                  <a:srgbClr val="FFFFFF"/>
                </a:solidFill>
                <a:latin typeface="Calibri" pitchFamily="34" charset="0"/>
                <a:ea typeface="Calibri" pitchFamily="34" charset="-122"/>
                <a:cs typeface="Calibri" pitchFamily="34" charset="-120"/>
              </a:rPr>
              <a:t>• Bullying &amp; school safety
</a:t>
            </a:r>
            <a:pPr indent="0" marL="0">
              <a:buNone/>
            </a:pPr>
            <a:r>
              <a:rPr lang="en-US" sz="1400" dirty="0">
                <a:solidFill>
                  <a:srgbClr val="FFFFFF"/>
                </a:solidFill>
                <a:latin typeface="Calibri" pitchFamily="34" charset="0"/>
                <a:ea typeface="Calibri" pitchFamily="34" charset="-122"/>
                <a:cs typeface="Calibri" pitchFamily="34" charset="-120"/>
              </a:rPr>
              <a:t>• MTSS compliance &amp; truancy
</a:t>
            </a:r>
            <a:pPr indent="0" marL="0">
              <a:buNone/>
            </a:pPr>
            <a:r>
              <a:rPr lang="en-US" sz="1400" dirty="0">
                <a:solidFill>
                  <a:srgbClr val="FFFFFF"/>
                </a:solidFill>
                <a:latin typeface="Calibri" pitchFamily="34" charset="0"/>
                <a:ea typeface="Calibri" pitchFamily="34" charset="-122"/>
                <a:cs typeface="Calibri" pitchFamily="34" charset="-120"/>
              </a:rPr>
              <a:t>• Special education support
</a:t>
            </a:r>
            <a:pPr indent="0" marL="0">
              <a:buNone/>
            </a:pPr>
            <a:r>
              <a:rPr lang="en-US" sz="1400" dirty="0">
                <a:solidFill>
                  <a:srgbClr val="FFFFFF"/>
                </a:solidFill>
                <a:latin typeface="Calibri" pitchFamily="34" charset="0"/>
                <a:ea typeface="Calibri" pitchFamily="34" charset="-122"/>
                <a:cs typeface="Calibri" pitchFamily="34" charset="-120"/>
              </a:rPr>
              <a:t>• Social-emotional learning
</a:t>
            </a:r>
            <a:pPr indent="0" marL="0">
              <a:buNone/>
            </a:pPr>
            <a:r>
              <a:rPr lang="en-US" sz="1400" dirty="0">
                <a:solidFill>
                  <a:srgbClr val="FFFFFF"/>
                </a:solidFill>
                <a:latin typeface="Calibri" pitchFamily="34" charset="0"/>
                <a:ea typeface="Calibri" pitchFamily="34" charset="-122"/>
                <a:cs typeface="Calibri" pitchFamily="34" charset="-120"/>
              </a:rPr>
              <a:t>• Equity &amp; inclusion initiatives</a:t>
            </a:r>
            <a:endParaRPr lang="en-US" sz="16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Why Schools Need Implementation Science:
</a:t>
            </a:r>
            <a:pPr indent="0" marL="0">
              <a:buNone/>
            </a:pPr>
            <a:r>
              <a:rPr lang="en-US" sz="1500" dirty="0">
                <a:solidFill>
                  <a:srgbClr val="FFFFFF"/>
                </a:solidFill>
                <a:latin typeface="Calibri" pitchFamily="34" charset="0"/>
                <a:ea typeface="Calibri" pitchFamily="34" charset="-122"/>
                <a:cs typeface="Calibri" pitchFamily="34" charset="-120"/>
              </a:rPr>
              <a:t>Schools adopt programs all the time.
</a:t>
            </a:r>
            <a:pPr indent="0" marL="0">
              <a:buNone/>
            </a:pPr>
            <a:r>
              <a:rPr lang="en-US" sz="1500" dirty="0">
                <a:solidFill>
                  <a:srgbClr val="FFFFFF"/>
                </a:solidFill>
                <a:latin typeface="Calibri" pitchFamily="34" charset="0"/>
                <a:ea typeface="Calibri" pitchFamily="34" charset="-122"/>
                <a:cs typeface="Calibri" pitchFamily="34" charset="-120"/>
              </a:rPr>
              <a:t>Most fail — not because the program is bad,
but because implementation drifts.
</a:t>
            </a:r>
            <a:pPr indent="0" marL="0">
              <a:buNone/>
            </a:pPr>
            <a:r>
              <a:rPr lang="en-US" sz="1500" dirty="0">
                <a:solidFill>
                  <a:srgbClr val="FFFFFF"/>
                </a:solidFill>
                <a:latin typeface="Calibri" pitchFamily="34" charset="0"/>
                <a:ea typeface="Calibri" pitchFamily="34" charset="-122"/>
                <a:cs typeface="Calibri" pitchFamily="34" charset="-120"/>
              </a:rPr>
              <a:t>ISSS tracks whether interventions are
delivered as designed, measures outcomes
at every level, and gives each stakeholder
the view they need.
</a:t>
            </a:r>
            <a:pPr indent="0" marL="0">
              <a:buNone/>
            </a:pPr>
            <a:r>
              <a:rPr lang="en-US" sz="1600" b="1" dirty="0">
                <a:solidFill>
                  <a:srgbClr val="C49A2A"/>
                </a:solidFill>
                <a:latin typeface="Calibri" pitchFamily="34" charset="0"/>
                <a:ea typeface="Calibri" pitchFamily="34" charset="-122"/>
                <a:cs typeface="Calibri" pitchFamily="34" charset="-120"/>
              </a:rPr>
              <a:t>Connection to Ecosystem:
</a:t>
            </a:r>
            <a:pPr indent="0" marL="0">
              <a:buNone/>
            </a:pPr>
            <a:r>
              <a:rPr lang="en-US" sz="1400" dirty="0">
                <a:solidFill>
                  <a:srgbClr val="FFFFFF"/>
                </a:solidFill>
                <a:latin typeface="Calibri" pitchFamily="34" charset="0"/>
                <a:ea typeface="Calibri" pitchFamily="34" charset="-122"/>
                <a:cs typeface="Calibri" pitchFamily="34" charset="-120"/>
              </a:rPr>
              <a:t>• Student flagged for home instability?
  → LifeBridge activates housing resources
</a:t>
            </a:r>
            <a:pPr indent="0" marL="0">
              <a:buNone/>
            </a:pPr>
            <a:r>
              <a:rPr lang="en-US" sz="1400" dirty="0">
                <a:solidFill>
                  <a:srgbClr val="FFFFFF"/>
                </a:solidFill>
                <a:latin typeface="Calibri" pitchFamily="34" charset="0"/>
                <a:ea typeface="Calibri" pitchFamily="34" charset="-122"/>
                <a:cs typeface="Calibri" pitchFamily="34" charset="-120"/>
              </a:rPr>
              <a:t>• Parent screening shows mental health need?
  → WholeMind connects family support
</a:t>
            </a:r>
            <a:pPr indent="0" marL="0">
              <a:buNone/>
            </a:pPr>
            <a:r>
              <a:rPr lang="en-US" sz="1400" dirty="0">
                <a:solidFill>
                  <a:srgbClr val="FFFFFF"/>
                </a:solidFill>
                <a:latin typeface="Calibri" pitchFamily="34" charset="0"/>
                <a:ea typeface="Calibri" pitchFamily="34" charset="-122"/>
                <a:cs typeface="Calibri" pitchFamily="34" charset="-120"/>
              </a:rPr>
              <a:t>• Substance use concern?</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 RPLICE tracks DFC coalition fidelity</a:t>
            </a:r>
            <a:endParaRPr lang="en-US" sz="1600" dirty="0"/>
          </a:p>
        </p:txBody>
      </p:sp>
      <p:sp>
        <p:nvSpPr>
          <p:cNvPr id="5" name="Text 3"/>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ISSS is the only K-12 implementation science platform in the market. Schools adopt programs — ISSS ensures those programs actually work as designed.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MEASURE + The Collaborative Advocate</a:t>
            </a:r>
            <a:endParaRPr lang="en-US" sz="3400" dirty="0"/>
          </a:p>
        </p:txBody>
      </p:sp>
      <p:sp>
        <p:nvSpPr>
          <p:cNvPr id="3" name="Text 1"/>
          <p:cNvSpPr/>
          <p:nvPr/>
        </p:nvSpPr>
        <p:spPr>
          <a:xfrm>
            <a:off x="731520" y="1005840"/>
            <a:ext cx="10515600" cy="365760"/>
          </a:xfrm>
          <a:prstGeom prst="rect">
            <a:avLst/>
          </a:prstGeom>
          <a:noFill/>
          <a:ln/>
        </p:spPr>
        <p:txBody>
          <a:bodyPr wrap="square" rtlCol="0" anchor="ctr"/>
          <a:lstStyle/>
          <a:p>
            <a:pPr indent="0" marL="0">
              <a:buNone/>
            </a:pPr>
            <a:r>
              <a:rPr lang="en-US" sz="1700" i="1" dirty="0">
                <a:solidFill>
                  <a:srgbClr val="FFFFFF"/>
                </a:solidFill>
                <a:latin typeface="Calibri" pitchFamily="34" charset="0"/>
                <a:ea typeface="Calibri" pitchFamily="34" charset="-122"/>
                <a:cs typeface="Calibri" pitchFamily="34" charset="-120"/>
              </a:rPr>
              <a:t>Why this partnership makes both organizations stronger</a:t>
            </a:r>
            <a:endParaRPr lang="en-US" sz="1700" dirty="0"/>
          </a:p>
        </p:txBody>
      </p:sp>
      <p:sp>
        <p:nvSpPr>
          <p:cNvPr id="4" name="Text 2"/>
          <p:cNvSpPr/>
          <p:nvPr/>
        </p:nvSpPr>
        <p:spPr>
          <a:xfrm>
            <a:off x="73152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What MEASURE Brings:
</a:t>
            </a:r>
            <a:pPr indent="0" marL="0">
              <a:buNone/>
            </a:pPr>
            <a:r>
              <a:rPr lang="en-US" sz="1500" dirty="0">
                <a:solidFill>
                  <a:srgbClr val="FFFFFF"/>
                </a:solidFill>
                <a:latin typeface="Calibri" pitchFamily="34" charset="0"/>
                <a:ea typeface="Calibri" pitchFamily="34" charset="-122"/>
                <a:cs typeface="Calibri" pitchFamily="34" charset="-120"/>
              </a:rPr>
              <a:t>• Community trust &amp; relationships
</a:t>
            </a:r>
            <a:pPr indent="0" marL="0">
              <a:buNone/>
            </a:pPr>
            <a:r>
              <a:rPr lang="en-US" sz="1500" dirty="0">
                <a:solidFill>
                  <a:srgbClr val="FFFFFF"/>
                </a:solidFill>
                <a:latin typeface="Calibri" pitchFamily="34" charset="0"/>
                <a:ea typeface="Calibri" pitchFamily="34" charset="-122"/>
                <a:cs typeface="Calibri" pitchFamily="34" charset="-120"/>
              </a:rPr>
              <a:t>• CARE Model — equity-centered evaluation
</a:t>
            </a:r>
            <a:pPr indent="0" marL="0">
              <a:buNone/>
            </a:pPr>
            <a:r>
              <a:rPr lang="en-US" sz="1500" dirty="0">
                <a:solidFill>
                  <a:srgbClr val="FFFFFF"/>
                </a:solidFill>
                <a:latin typeface="Calibri" pitchFamily="34" charset="0"/>
                <a:ea typeface="Calibri" pitchFamily="34" charset="-122"/>
                <a:cs typeface="Calibri" pitchFamily="34" charset="-120"/>
              </a:rPr>
              <a:t>• Ignite platform — data collection for orgs
</a:t>
            </a:r>
            <a:pPr indent="0" marL="0">
              <a:buNone/>
            </a:pPr>
            <a:r>
              <a:rPr lang="en-US" sz="1500" dirty="0">
                <a:solidFill>
                  <a:srgbClr val="FFFFFF"/>
                </a:solidFill>
                <a:latin typeface="Calibri" pitchFamily="34" charset="0"/>
                <a:ea typeface="Calibri" pitchFamily="34" charset="-122"/>
                <a:cs typeface="Calibri" pitchFamily="34" charset="-120"/>
              </a:rPr>
              <a:t>• Participatory Action Research expertise
</a:t>
            </a:r>
            <a:pPr indent="0" marL="0">
              <a:buNone/>
            </a:pPr>
            <a:r>
              <a:rPr lang="en-US" sz="1500" dirty="0">
                <a:solidFill>
                  <a:srgbClr val="FFFFFF"/>
                </a:solidFill>
                <a:latin typeface="Calibri" pitchFamily="34" charset="0"/>
                <a:ea typeface="Calibri" pitchFamily="34" charset="-122"/>
                <a:cs typeface="Calibri" pitchFamily="34" charset="-120"/>
              </a:rPr>
              <a:t>• 3,000+ hours of free data support delivered
</a:t>
            </a:r>
            <a:pPr indent="0" marL="0">
              <a:buNone/>
            </a:pPr>
            <a:r>
              <a:rPr lang="en-US" sz="1500" dirty="0">
                <a:solidFill>
                  <a:srgbClr val="FFFFFF"/>
                </a:solidFill>
                <a:latin typeface="Calibri" pitchFamily="34" charset="0"/>
                <a:ea typeface="Calibri" pitchFamily="34" charset="-122"/>
                <a:cs typeface="Calibri" pitchFamily="34" charset="-120"/>
              </a:rPr>
              <a:t>• Austin/Pflugerville community presence
</a:t>
            </a:r>
            <a:pPr indent="0" marL="0">
              <a:buNone/>
            </a:pPr>
            <a:r>
              <a:rPr lang="en-US" sz="1500" dirty="0">
                <a:solidFill>
                  <a:srgbClr val="FFFFFF"/>
                </a:solidFill>
                <a:latin typeface="Calibri" pitchFamily="34" charset="0"/>
                <a:ea typeface="Calibri" pitchFamily="34" charset="-122"/>
                <a:cs typeface="Calibri" pitchFamily="34" charset="-120"/>
              </a:rPr>
              <a:t>• Huston-Tillotson University partnership (HBCU)
</a:t>
            </a:r>
            <a:pPr indent="0" marL="0">
              <a:buNone/>
            </a:pPr>
            <a:r>
              <a:rPr lang="en-US" sz="1500" dirty="0">
                <a:solidFill>
                  <a:srgbClr val="FFFFFF"/>
                </a:solidFill>
                <a:latin typeface="Calibri" pitchFamily="34" charset="0"/>
                <a:ea typeface="Calibri" pitchFamily="34" charset="-122"/>
                <a:cs typeface="Calibri" pitchFamily="34" charset="-120"/>
              </a:rPr>
              <a:t>• Policy advocacy track record (CROWN Act)
</a:t>
            </a:r>
            <a:pPr indent="0" marL="0">
              <a:buNone/>
            </a:pPr>
            <a:r>
              <a:rPr lang="en-US" sz="1500" dirty="0">
                <a:solidFill>
                  <a:srgbClr val="FFFFFF"/>
                </a:solidFill>
                <a:latin typeface="Calibri" pitchFamily="34" charset="0"/>
                <a:ea typeface="Calibri" pitchFamily="34" charset="-122"/>
                <a:cs typeface="Calibri" pitchFamily="34" charset="-120"/>
              </a:rPr>
              <a:t>• MIT Solve backing
</a:t>
            </a:r>
            <a:pPr indent="0" marL="0">
              <a:buNone/>
            </a:pPr>
            <a:r>
              <a:rPr lang="en-US" sz="1500" dirty="0">
                <a:solidFill>
                  <a:srgbClr val="FFFFFF"/>
                </a:solidFill>
                <a:latin typeface="Calibri" pitchFamily="34" charset="0"/>
                <a:ea typeface="Calibri" pitchFamily="34" charset="-122"/>
                <a:cs typeface="Calibri" pitchFamily="34" charset="-120"/>
              </a:rPr>
              <a:t>• Founded by Jameila "Meme" Styles</a:t>
            </a:r>
            <a:endParaRPr lang="en-US" sz="1600" dirty="0"/>
          </a:p>
        </p:txBody>
      </p:sp>
      <p:sp>
        <p:nvSpPr>
          <p:cNvPr id="5" name="Text 3"/>
          <p:cNvSpPr/>
          <p:nvPr/>
        </p:nvSpPr>
        <p:spPr>
          <a:xfrm>
            <a:off x="6400800" y="1554480"/>
            <a:ext cx="5029200" cy="41148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What We Bring:
</a:t>
            </a:r>
            <a:pPr indent="0" marL="0">
              <a:buNone/>
            </a:pPr>
            <a:r>
              <a:rPr lang="en-US" sz="1500" dirty="0">
                <a:solidFill>
                  <a:srgbClr val="FFFFFF"/>
                </a:solidFill>
                <a:latin typeface="Calibri" pitchFamily="34" charset="0"/>
                <a:ea typeface="Calibri" pitchFamily="34" charset="-122"/>
                <a:cs typeface="Calibri" pitchFamily="34" charset="-120"/>
              </a:rPr>
              <a:t>• 24-platform technology ecosystem
</a:t>
            </a:r>
            <a:pPr indent="0" marL="0">
              <a:buNone/>
            </a:pPr>
            <a:r>
              <a:rPr lang="en-US" sz="1500" dirty="0">
                <a:solidFill>
                  <a:srgbClr val="FFFFFF"/>
                </a:solidFill>
                <a:latin typeface="Calibri" pitchFamily="34" charset="0"/>
                <a:ea typeface="Calibri" pitchFamily="34" charset="-122"/>
                <a:cs typeface="Calibri" pitchFamily="34" charset="-120"/>
              </a:rPr>
              <a:t>• RPLICE — implementation fidelity tracking
</a:t>
            </a:r>
            <a:pPr indent="0" marL="0">
              <a:buNone/>
            </a:pPr>
            <a:r>
              <a:rPr lang="en-US" sz="1500" dirty="0">
                <a:solidFill>
                  <a:srgbClr val="FFFFFF"/>
                </a:solidFill>
                <a:latin typeface="Calibri" pitchFamily="34" charset="0"/>
                <a:ea typeface="Calibri" pitchFamily="34" charset="-122"/>
                <a:cs typeface="Calibri" pitchFamily="34" charset="-120"/>
              </a:rPr>
              <a:t>• MAP-GAP governance methodology
</a:t>
            </a:r>
            <a:pPr indent="0" marL="0">
              <a:buNone/>
            </a:pPr>
            <a:r>
              <a:rPr lang="en-US" sz="1500" dirty="0">
                <a:solidFill>
                  <a:srgbClr val="FFFFFF"/>
                </a:solidFill>
                <a:latin typeface="Calibri" pitchFamily="34" charset="0"/>
                <a:ea typeface="Calibri" pitchFamily="34" charset="-122"/>
                <a:cs typeface="Calibri" pitchFamily="34" charset="-120"/>
              </a:rPr>
              <a:t>• AI-powered analysis (4 engines)
</a:t>
            </a:r>
            <a:pPr indent="0" marL="0">
              <a:buNone/>
            </a:pPr>
            <a:r>
              <a:rPr lang="en-US" sz="1500" dirty="0">
                <a:solidFill>
                  <a:srgbClr val="FFFFFF"/>
                </a:solidFill>
                <a:latin typeface="Calibri" pitchFamily="34" charset="0"/>
                <a:ea typeface="Calibri" pitchFamily="34" charset="-122"/>
                <a:cs typeface="Calibri" pitchFamily="34" charset="-120"/>
              </a:rPr>
              <a:t>• Scholarly research integration (6 databases)
</a:t>
            </a:r>
            <a:pPr indent="0" marL="0">
              <a:buNone/>
            </a:pPr>
            <a:r>
              <a:rPr lang="en-US" sz="1500" dirty="0">
                <a:solidFill>
                  <a:srgbClr val="FFFFFF"/>
                </a:solidFill>
                <a:latin typeface="Calibri" pitchFamily="34" charset="0"/>
                <a:ea typeface="Calibri" pitchFamily="34" charset="-122"/>
                <a:cs typeface="Calibri" pitchFamily="34" charset="-120"/>
              </a:rPr>
              <a:t>• Grant combinatorics across federal streams
</a:t>
            </a:r>
            <a:pPr indent="0" marL="0">
              <a:buNone/>
            </a:pPr>
            <a:r>
              <a:rPr lang="en-US" sz="1500" dirty="0">
                <a:solidFill>
                  <a:srgbClr val="FFFFFF"/>
                </a:solidFill>
                <a:latin typeface="Calibri" pitchFamily="34" charset="0"/>
                <a:ea typeface="Calibri" pitchFamily="34" charset="-122"/>
                <a:cs typeface="Calibri" pitchFamily="34" charset="-120"/>
              </a:rPr>
              <a:t>• 167 database tables of implementation data
</a:t>
            </a:r>
            <a:pPr indent="0" marL="0">
              <a:buNone/>
            </a:pPr>
            <a:r>
              <a:rPr lang="en-US" sz="1500" dirty="0">
                <a:solidFill>
                  <a:srgbClr val="FFFFFF"/>
                </a:solidFill>
                <a:latin typeface="Calibri" pitchFamily="34" charset="0"/>
                <a:ea typeface="Calibri" pitchFamily="34" charset="-122"/>
                <a:cs typeface="Calibri" pitchFamily="34" charset="-120"/>
              </a:rPr>
              <a:t>• Cross-platform event bus architecture
</a:t>
            </a:r>
            <a:pPr indent="0" marL="0">
              <a:buNone/>
            </a:pPr>
            <a:r>
              <a:rPr lang="en-US" sz="1500" dirty="0">
                <a:solidFill>
                  <a:srgbClr val="FFFFFF"/>
                </a:solidFill>
                <a:latin typeface="Calibri" pitchFamily="34" charset="0"/>
                <a:ea typeface="Calibri" pitchFamily="34" charset="-122"/>
                <a:cs typeface="Calibri" pitchFamily="34" charset="-120"/>
              </a:rPr>
              <a:t>• Federal contracting capability (VOSB)
</a:t>
            </a:r>
            <a:pPr indent="0" marL="0">
              <a:buNone/>
            </a:pPr>
            <a:r>
              <a:rPr lang="en-US" sz="1500" dirty="0">
                <a:solidFill>
                  <a:srgbClr val="FFFFFF"/>
                </a:solidFill>
                <a:latin typeface="Calibri" pitchFamily="34" charset="0"/>
                <a:ea typeface="Calibri" pitchFamily="34" charset="-122"/>
                <a:cs typeface="Calibri" pitchFamily="34" charset="-120"/>
              </a:rPr>
              <a:t>• Co-founded by Dr. Terry Flood &amp; Meredith Sisnett</a:t>
            </a:r>
            <a:endParaRPr lang="en-US" sz="1600" dirty="0"/>
          </a:p>
        </p:txBody>
      </p:sp>
      <p:sp>
        <p:nvSpPr>
          <p:cNvPr id="6" name="Text 4"/>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MEASURE collects the community data. RPLICE tells you if the interventions that data is driving are working the way they were designed to work. Together, we close the full loop.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The Gap We Fill Together</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800" b="1" dirty="0">
                <a:solidFill>
                  <a:srgbClr val="C49A2A"/>
                </a:solidFill>
                <a:latin typeface="Calibri" pitchFamily="34" charset="0"/>
                <a:ea typeface="Calibri" pitchFamily="34" charset="-122"/>
                <a:cs typeface="Calibri" pitchFamily="34" charset="-120"/>
              </a:rPr>
              <a:t>The Problem:
</a:t>
            </a:r>
            <a:pPr indent="0" marL="0">
              <a:buNone/>
            </a:pPr>
            <a:r>
              <a:rPr lang="en-US" sz="1600" dirty="0">
                <a:solidFill>
                  <a:srgbClr val="FFFFFF"/>
                </a:solidFill>
                <a:latin typeface="Calibri" pitchFamily="34" charset="0"/>
                <a:ea typeface="Calibri" pitchFamily="34" charset="-122"/>
                <a:cs typeface="Calibri" pitchFamily="34" charset="-120"/>
              </a:rPr>
              <a:t>MEASURE found that </a:t>
            </a:r>
            <a:pPr indent="0" marL="0">
              <a:buNone/>
            </a:pPr>
            <a:r>
              <a:rPr lang="en-US" sz="1700" b="1" dirty="0">
                <a:solidFill>
                  <a:srgbClr val="C49A2A"/>
                </a:solidFill>
                <a:latin typeface="Calibri" pitchFamily="34" charset="0"/>
                <a:ea typeface="Calibri" pitchFamily="34" charset="-122"/>
                <a:cs typeface="Calibri" pitchFamily="34" charset="-120"/>
              </a:rPr>
              <a:t>79% of Black-led organizations
have no systems for collecting data.
</a:t>
            </a:r>
            <a:pPr indent="0" marL="0">
              <a:buNone/>
            </a:pPr>
            <a:r>
              <a:rPr lang="en-US" sz="1600" dirty="0">
                <a:solidFill>
                  <a:srgbClr val="FFFFFF"/>
                </a:solidFill>
                <a:latin typeface="Calibri" pitchFamily="34" charset="0"/>
                <a:ea typeface="Calibri" pitchFamily="34" charset="-122"/>
                <a:cs typeface="Calibri" pitchFamily="34" charset="-120"/>
              </a:rPr>
              <a:t>That's why they built Ignite.
</a:t>
            </a:r>
            <a:pPr indent="0" marL="0">
              <a:buNone/>
            </a:pPr>
            <a:r>
              <a:rPr lang="en-US" sz="1600" dirty="0">
                <a:solidFill>
                  <a:srgbClr val="FFFFFF"/>
                </a:solidFill>
                <a:latin typeface="Calibri" pitchFamily="34" charset="0"/>
                <a:ea typeface="Calibri" pitchFamily="34" charset="-122"/>
                <a:cs typeface="Calibri" pitchFamily="34" charset="-120"/>
              </a:rPr>
              <a:t>But collecting data is step one.
</a:t>
            </a:r>
            <a:pPr indent="0" marL="0">
              <a:buNone/>
            </a:pPr>
            <a:r>
              <a:rPr lang="en-US" sz="1600" b="1" dirty="0">
                <a:solidFill>
                  <a:srgbClr val="C49A2A"/>
                </a:solidFill>
                <a:latin typeface="Calibri" pitchFamily="34" charset="0"/>
                <a:ea typeface="Calibri" pitchFamily="34" charset="-122"/>
                <a:cs typeface="Calibri" pitchFamily="34" charset="-120"/>
              </a:rPr>
              <a:t>The harder questions are:
</a:t>
            </a:r>
            <a:pPr indent="0" marL="0">
              <a:buNone/>
            </a:pPr>
            <a:r>
              <a:rPr lang="en-US" sz="1500" dirty="0">
                <a:solidFill>
                  <a:srgbClr val="FFFFFF"/>
                </a:solidFill>
                <a:latin typeface="Calibri" pitchFamily="34" charset="0"/>
                <a:ea typeface="Calibri" pitchFamily="34" charset="-122"/>
                <a:cs typeface="Calibri" pitchFamily="34" charset="-120"/>
              </a:rPr>
              <a:t>  Is the intervention being delivered
  the way it was designed?
</a:t>
            </a:r>
            <a:pPr indent="0" marL="0">
              <a:buNone/>
            </a:pPr>
            <a:r>
              <a:rPr lang="en-US" sz="1500" dirty="0">
                <a:solidFill>
                  <a:srgbClr val="FFFFFF"/>
                </a:solidFill>
                <a:latin typeface="Calibri" pitchFamily="34" charset="0"/>
                <a:ea typeface="Calibri" pitchFamily="34" charset="-122"/>
                <a:cs typeface="Calibri" pitchFamily="34" charset="-120"/>
              </a:rPr>
              <a:t>  Are outcomes improving?
</a:t>
            </a:r>
            <a:pPr indent="0" marL="0">
              <a:buNone/>
            </a:pPr>
            <a:r>
              <a:rPr lang="en-US" sz="1500" dirty="0">
                <a:solidFill>
                  <a:srgbClr val="FFFFFF"/>
                </a:solidFill>
                <a:latin typeface="Calibri" pitchFamily="34" charset="0"/>
                <a:ea typeface="Calibri" pitchFamily="34" charset="-122"/>
                <a:cs typeface="Calibri" pitchFamily="34" charset="-120"/>
              </a:rPr>
              <a:t>  What's the gap between what we planned
  and what's actually happening?
</a:t>
            </a:r>
            <a:pPr indent="0" marL="0">
              <a:buNone/>
            </a:pPr>
            <a:r>
              <a:rPr lang="en-US" sz="1500" dirty="0">
                <a:solidFill>
                  <a:srgbClr val="FFFFFF"/>
                </a:solidFill>
                <a:latin typeface="Calibri" pitchFamily="34" charset="0"/>
                <a:ea typeface="Calibri" pitchFamily="34" charset="-122"/>
                <a:cs typeface="Calibri" pitchFamily="34" charset="-120"/>
              </a:rPr>
              <a:t>  How do we know it will sustain?</a:t>
            </a:r>
            <a:endParaRPr lang="en-US" sz="18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800" b="1" dirty="0">
                <a:solidFill>
                  <a:srgbClr val="C49A2A"/>
                </a:solidFill>
                <a:latin typeface="Calibri" pitchFamily="34" charset="0"/>
                <a:ea typeface="Calibri" pitchFamily="34" charset="-122"/>
                <a:cs typeface="Calibri" pitchFamily="34" charset="-120"/>
              </a:rPr>
              <a:t>Together We Provide the Full Loop:
</a:t>
            </a:r>
            <a:pPr indent="0" marL="0">
              <a:buNone/>
            </a:pPr>
            <a:r>
              <a:rPr lang="en-US" sz="1500" b="1" dirty="0">
                <a:solidFill>
                  <a:srgbClr val="C49A2A"/>
                </a:solidFill>
                <a:latin typeface="Calibri" pitchFamily="34" charset="0"/>
                <a:ea typeface="Calibri" pitchFamily="34" charset="-122"/>
                <a:cs typeface="Calibri" pitchFamily="34" charset="-120"/>
              </a:rPr>
              <a:t>MEASURE:
</a:t>
            </a:r>
            <a:pPr indent="0" marL="0">
              <a:buNone/>
            </a:pPr>
            <a:r>
              <a:rPr lang="en-US" sz="1500" dirty="0">
                <a:solidFill>
                  <a:srgbClr val="FFFFFF"/>
                </a:solidFill>
                <a:latin typeface="Calibri" pitchFamily="34" charset="0"/>
                <a:ea typeface="Calibri" pitchFamily="34" charset="-122"/>
                <a:cs typeface="Calibri" pitchFamily="34" charset="-120"/>
              </a:rPr>
              <a:t>  Community voice → Data collection
  → Advocacy → Policy change
</a:t>
            </a:r>
            <a:pPr indent="0" marL="0">
              <a:buNone/>
            </a:pPr>
            <a:r>
              <a:rPr lang="en-US" sz="1500" b="1" dirty="0">
                <a:solidFill>
                  <a:srgbClr val="C49A2A"/>
                </a:solidFill>
                <a:latin typeface="Calibri" pitchFamily="34" charset="0"/>
                <a:ea typeface="Calibri" pitchFamily="34" charset="-122"/>
                <a:cs typeface="Calibri" pitchFamily="34" charset="-120"/>
              </a:rPr>
              <a:t>RPLICE:
</a:t>
            </a:r>
            <a:pPr indent="0" marL="0">
              <a:buNone/>
            </a:pPr>
            <a:r>
              <a:rPr lang="en-US" sz="1500" dirty="0">
                <a:solidFill>
                  <a:srgbClr val="FFFFFF"/>
                </a:solidFill>
                <a:latin typeface="Calibri" pitchFamily="34" charset="0"/>
                <a:ea typeface="Calibri" pitchFamily="34" charset="-122"/>
                <a:cs typeface="Calibri" pitchFamily="34" charset="-120"/>
              </a:rPr>
              <a:t>  Implementation design → Fidelity tracking
  → Outcome measurement → Sustainment
</a:t>
            </a:r>
            <a:pPr indent="0" marL="0">
              <a:buNone/>
            </a:pPr>
            <a:r>
              <a:rPr lang="en-US" sz="1500" b="1" dirty="0">
                <a:solidFill>
                  <a:srgbClr val="C49A2A"/>
                </a:solidFill>
                <a:latin typeface="Calibri" pitchFamily="34" charset="0"/>
                <a:ea typeface="Calibri" pitchFamily="34" charset="-122"/>
                <a:cs typeface="Calibri" pitchFamily="34" charset="-120"/>
              </a:rPr>
              <a:t>Combined:
</a:t>
            </a:r>
            <a:pPr indent="0" marL="0">
              <a:buNone/>
            </a:pPr>
            <a:r>
              <a:rPr lang="en-US" sz="1500" dirty="0">
                <a:solidFill>
                  <a:srgbClr val="FFFFFF"/>
                </a:solidFill>
                <a:latin typeface="Calibri" pitchFamily="34" charset="0"/>
                <a:ea typeface="Calibri" pitchFamily="34" charset="-122"/>
                <a:cs typeface="Calibri" pitchFamily="34" charset="-120"/>
              </a:rPr>
              <a:t>  Community voice drives intervention
  → Intervention tracked with fidelity
  → Outcomes measured and verified
  → Data feeds back to community
  → Continuous improvement cycle
</a:t>
            </a:r>
            <a:pPr indent="0" marL="0">
              <a:buNone/>
            </a:pPr>
            <a:r>
              <a:rPr lang="en-US" sz="1600" b="1" i="1" dirty="0">
                <a:solidFill>
                  <a:srgbClr val="C49A2A"/>
                </a:solidFill>
                <a:latin typeface="Calibri" pitchFamily="34" charset="0"/>
                <a:ea typeface="Calibri" pitchFamily="34" charset="-122"/>
                <a:cs typeface="Calibri" pitchFamily="34" charset="-120"/>
              </a:rPr>
              <a:t>Nobody else in Central Texas has this.</a:t>
            </a:r>
            <a:endParaRPr lang="en-US" sz="1800" dirty="0"/>
          </a:p>
        </p:txBody>
      </p:sp>
      <p:sp>
        <p:nvSpPr>
          <p:cNvPr id="5" name="Text 3"/>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They are the front end — community trust and data. We are the engine — implementation science and technology. Neither alone does what both together can do.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Shared Values &amp; Alignment</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MEASURE's Core Belief:
</a:t>
            </a:r>
            <a:pPr indent="0" marL="0">
              <a:buNone/>
            </a:pPr>
            <a:r>
              <a:rPr lang="en-US" sz="1400" i="1" dirty="0">
                <a:solidFill>
                  <a:srgbClr val="FFFFFF"/>
                </a:solidFill>
                <a:latin typeface="Calibri" pitchFamily="34" charset="0"/>
                <a:ea typeface="Calibri" pitchFamily="34" charset="-122"/>
                <a:cs typeface="Calibri" pitchFamily="34" charset="-120"/>
              </a:rPr>
              <a:t>"Lived experience and quantitative data about complex social problems impacting Black, Brown, and Multiracial communities are not used effectively for justice due to racism, a lack of equitable data tools, and village support."
</a:t>
            </a:r>
            <a:pPr indent="0" marL="0">
              <a:buNone/>
            </a:pPr>
            <a:r>
              <a:rPr lang="en-US" sz="1600" b="1" dirty="0">
                <a:solidFill>
                  <a:srgbClr val="C49A2A"/>
                </a:solidFill>
                <a:latin typeface="Calibri" pitchFamily="34" charset="0"/>
                <a:ea typeface="Calibri" pitchFamily="34" charset="-122"/>
                <a:cs typeface="Calibri" pitchFamily="34" charset="-120"/>
              </a:rPr>
              <a:t>Our Core Belief:
</a:t>
            </a:r>
            <a:pPr indent="0" marL="0">
              <a:buNone/>
            </a:pPr>
            <a:r>
              <a:rPr lang="en-US" sz="1400" i="1" dirty="0">
                <a:solidFill>
                  <a:srgbClr val="FFFFFF"/>
                </a:solidFill>
                <a:latin typeface="Calibri" pitchFamily="34" charset="0"/>
                <a:ea typeface="Calibri" pitchFamily="34" charset="-122"/>
                <a:cs typeface="Calibri" pitchFamily="34" charset="-120"/>
              </a:rPr>
              <a:t>"Nothing happens in a silo. Collaboration is key. We need to know ourselves, the outside world, behaviors, history, and how to implement with fidelity by knowing our stakeholders and building with the user experience in mind."
</a:t>
            </a:r>
            <a:endParaRPr lang="en-US" sz="16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Where We Align:
</a:t>
            </a:r>
            <a:pPr indent="0" marL="0">
              <a:buNone/>
            </a:pPr>
            <a:r>
              <a:rPr lang="en-US" sz="1500" dirty="0">
                <a:solidFill>
                  <a:srgbClr val="FFFFFF"/>
                </a:solidFill>
                <a:latin typeface="Calibri" pitchFamily="34" charset="0"/>
                <a:ea typeface="Calibri" pitchFamily="34" charset="-122"/>
                <a:cs typeface="Calibri" pitchFamily="34" charset="-120"/>
              </a:rPr>
              <a:t>• Data must serve communities, not extract from them
</a:t>
            </a:r>
            <a:pPr indent="0" marL="0">
              <a:buNone/>
            </a:pPr>
            <a:r>
              <a:rPr lang="en-US" sz="1500" dirty="0">
                <a:solidFill>
                  <a:srgbClr val="FFFFFF"/>
                </a:solidFill>
                <a:latin typeface="Calibri" pitchFamily="34" charset="0"/>
                <a:ea typeface="Calibri" pitchFamily="34" charset="-122"/>
                <a:cs typeface="Calibri" pitchFamily="34" charset="-120"/>
              </a:rPr>
              <a:t>• Equity is structure, not decoration
</a:t>
            </a:r>
            <a:pPr indent="0" marL="0">
              <a:buNone/>
            </a:pPr>
            <a:r>
              <a:rPr lang="en-US" sz="1500" dirty="0">
                <a:solidFill>
                  <a:srgbClr val="FFFFFF"/>
                </a:solidFill>
                <a:latin typeface="Calibri" pitchFamily="34" charset="0"/>
                <a:ea typeface="Calibri" pitchFamily="34" charset="-122"/>
                <a:cs typeface="Calibri" pitchFamily="34" charset="-120"/>
              </a:rPr>
              <a:t>• Lived experience is valid evidence
</a:t>
            </a:r>
            <a:pPr indent="0" marL="0">
              <a:buNone/>
            </a:pPr>
            <a:r>
              <a:rPr lang="en-US" sz="1500" dirty="0">
                <a:solidFill>
                  <a:srgbClr val="FFFFFF"/>
                </a:solidFill>
                <a:latin typeface="Calibri" pitchFamily="34" charset="0"/>
                <a:ea typeface="Calibri" pitchFamily="34" charset="-122"/>
                <a:cs typeface="Calibri" pitchFamily="34" charset="-120"/>
              </a:rPr>
              <a:t>• Measurement without action is meaningless
</a:t>
            </a:r>
            <a:pPr indent="0" marL="0">
              <a:buNone/>
            </a:pPr>
            <a:r>
              <a:rPr lang="en-US" sz="1500" dirty="0">
                <a:solidFill>
                  <a:srgbClr val="FFFFFF"/>
                </a:solidFill>
                <a:latin typeface="Calibri" pitchFamily="34" charset="0"/>
                <a:ea typeface="Calibri" pitchFamily="34" charset="-122"/>
                <a:cs typeface="Calibri" pitchFamily="34" charset="-120"/>
              </a:rPr>
              <a:t>• Community-centered, not institution-centered
</a:t>
            </a:r>
            <a:pPr indent="0" marL="0">
              <a:buNone/>
            </a:pPr>
            <a:r>
              <a:rPr lang="en-US" sz="1500" dirty="0">
                <a:solidFill>
                  <a:srgbClr val="FFFFFF"/>
                </a:solidFill>
                <a:latin typeface="Calibri" pitchFamily="34" charset="0"/>
                <a:ea typeface="Calibri" pitchFamily="34" charset="-122"/>
                <a:cs typeface="Calibri" pitchFamily="34" charset="-120"/>
              </a:rPr>
              <a:t>• Austin / Pflugerville focus
</a:t>
            </a:r>
            <a:pPr indent="0" marL="0">
              <a:buNone/>
            </a:pPr>
            <a:r>
              <a:rPr lang="en-US" sz="1500" b="1" i="1" dirty="0">
                <a:solidFill>
                  <a:srgbClr val="C49A2A"/>
                </a:solidFill>
                <a:latin typeface="Calibri" pitchFamily="34" charset="0"/>
                <a:ea typeface="Calibri" pitchFamily="34" charset="-122"/>
                <a:cs typeface="Calibri" pitchFamily="34" charset="-120"/>
              </a:rPr>
              <a:t>• Both believe that the people most impacted</a:t>
            </a:r>
            <a:endParaRPr lang="en-US" sz="1600" dirty="0"/>
          </a:p>
          <a:p>
            <a:pPr indent="0" marL="0">
              <a:buNone/>
            </a:pPr>
            <a:r>
              <a:rPr lang="en-US" sz="1500" b="1" i="1" dirty="0">
                <a:solidFill>
                  <a:srgbClr val="C49A2A"/>
                </a:solidFill>
                <a:latin typeface="Calibri" pitchFamily="34" charset="0"/>
                <a:ea typeface="Calibri" pitchFamily="34" charset="-122"/>
                <a:cs typeface="Calibri" pitchFamily="34" charset="-120"/>
              </a:rPr>
              <a:t>  by inequity should lead the design of solutions.</a:t>
            </a:r>
            <a:endParaRPr lang="en-US" sz="1600" dirty="0"/>
          </a:p>
        </p:txBody>
      </p:sp>
      <p:sp>
        <p:nvSpPr>
          <p:cNvPr id="5" name="Text 3"/>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These aren't just talking points — this is how both organizations were built from the ground up. The alignment is foundational, not aspirational.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Joint Grant Opportunities</a:t>
            </a:r>
            <a:endParaRPr lang="en-US" sz="3400" dirty="0"/>
          </a:p>
        </p:txBody>
      </p:sp>
      <p:sp>
        <p:nvSpPr>
          <p:cNvPr id="3" name="Text 1"/>
          <p:cNvSpPr/>
          <p:nvPr/>
        </p:nvSpPr>
        <p:spPr>
          <a:xfrm>
            <a:off x="731520" y="1005840"/>
            <a:ext cx="10515600" cy="365760"/>
          </a:xfrm>
          <a:prstGeom prst="rect">
            <a:avLst/>
          </a:prstGeom>
          <a:noFill/>
          <a:ln/>
        </p:spPr>
        <p:txBody>
          <a:bodyPr wrap="square"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Together we are competitive across nearly every federal funding stream</a:t>
            </a:r>
            <a:endParaRPr lang="en-US" sz="1600" dirty="0"/>
          </a:p>
        </p:txBody>
      </p:sp>
      <p:sp>
        <p:nvSpPr>
          <p:cNvPr id="4" name="Text 2"/>
          <p:cNvSpPr/>
          <p:nvPr/>
        </p:nvSpPr>
        <p:spPr>
          <a:xfrm>
            <a:off x="731520" y="1463040"/>
            <a:ext cx="5029200" cy="438912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Active Pipeline:
</a:t>
            </a:r>
            <a:pPr indent="0" marL="0">
              <a:buNone/>
            </a:pPr>
            <a:r>
              <a:rPr lang="en-US" sz="1400" b="1" dirty="0">
                <a:solidFill>
                  <a:srgbClr val="C49A2A"/>
                </a:solidFill>
                <a:latin typeface="Calibri" pitchFamily="34" charset="0"/>
                <a:ea typeface="Calibri" pitchFamily="34" charset="-122"/>
                <a:cs typeface="Calibri" pitchFamily="34" charset="-120"/>
              </a:rPr>
              <a:t>Drug-Free Communities (CDC)
</a:t>
            </a:r>
            <a:pPr indent="0" marL="0">
              <a:buNone/>
            </a:pPr>
            <a:r>
              <a:rPr lang="en-US" sz="1300" dirty="0">
                <a:solidFill>
                  <a:srgbClr val="FFFFFF"/>
                </a:solidFill>
                <a:latin typeface="Calibri" pitchFamily="34" charset="0"/>
                <a:ea typeface="Calibri" pitchFamily="34" charset="-122"/>
                <a:cs typeface="Calibri" pitchFamily="34" charset="-120"/>
              </a:rPr>
              <a:t>  $625K — Apr 14, 2026
  ThriveUp + LifeBridge + Sankofa + RPLICE
</a:t>
            </a:r>
            <a:pPr indent="0" marL="0">
              <a:buNone/>
            </a:pPr>
            <a:r>
              <a:rPr lang="en-US" sz="1400" b="1" dirty="0">
                <a:solidFill>
                  <a:srgbClr val="C49A2A"/>
                </a:solidFill>
                <a:latin typeface="Calibri" pitchFamily="34" charset="0"/>
                <a:ea typeface="Calibri" pitchFamily="34" charset="-122"/>
                <a:cs typeface="Calibri" pitchFamily="34" charset="-120"/>
              </a:rPr>
              <a:t>WIOA Title I Youth
</a:t>
            </a:r>
            <a:pPr indent="0" marL="0">
              <a:buNone/>
            </a:pPr>
            <a:r>
              <a:rPr lang="en-US" sz="1300" dirty="0">
                <a:solidFill>
                  <a:srgbClr val="FFFFFF"/>
                </a:solidFill>
                <a:latin typeface="Calibri" pitchFamily="34" charset="0"/>
                <a:ea typeface="Calibri" pitchFamily="34" charset="-122"/>
                <a:cs typeface="Calibri" pitchFamily="34" charset="-120"/>
              </a:rPr>
              <a:t>  $200K-$500K — Rolling
  ThriveUp + M2C + Incubator + RPLICE
</a:t>
            </a:r>
            <a:pPr indent="0" marL="0">
              <a:buNone/>
            </a:pPr>
            <a:r>
              <a:rPr lang="en-US" sz="1400" b="1" dirty="0">
                <a:solidFill>
                  <a:srgbClr val="C49A2A"/>
                </a:solidFill>
                <a:latin typeface="Calibri" pitchFamily="34" charset="0"/>
                <a:ea typeface="Calibri" pitchFamily="34" charset="-122"/>
                <a:cs typeface="Calibri" pitchFamily="34" charset="-120"/>
              </a:rPr>
              <a:t>NBA Foundation
</a:t>
            </a:r>
            <a:pPr indent="0" marL="0">
              <a:buNone/>
            </a:pPr>
            <a:r>
              <a:rPr lang="en-US" sz="1300" dirty="0">
                <a:solidFill>
                  <a:srgbClr val="FFFFFF"/>
                </a:solidFill>
                <a:latin typeface="Calibri" pitchFamily="34" charset="0"/>
                <a:ea typeface="Calibri" pitchFamily="34" charset="-122"/>
                <a:cs typeface="Calibri" pitchFamily="34" charset="-120"/>
              </a:rPr>
              <a:t>  $100K-$500K — Rolling LOI
  Black economic empowerment + youth pipeline
</a:t>
            </a:r>
            <a:pPr indent="0" marL="0">
              <a:buNone/>
            </a:pPr>
            <a:r>
              <a:rPr lang="en-US" sz="1400" b="1" dirty="0">
                <a:solidFill>
                  <a:srgbClr val="C49A2A"/>
                </a:solidFill>
                <a:latin typeface="Calibri" pitchFamily="34" charset="0"/>
                <a:ea typeface="Calibri" pitchFamily="34" charset="-122"/>
                <a:cs typeface="Calibri" pitchFamily="34" charset="-120"/>
              </a:rPr>
              <a:t>St. David's Foundation
</a:t>
            </a:r>
            <a:pPr indent="0" marL="0">
              <a:buNone/>
            </a:pPr>
            <a:r>
              <a:rPr lang="en-US" sz="1300" dirty="0">
                <a:solidFill>
                  <a:srgbClr val="FFFFFF"/>
                </a:solidFill>
                <a:latin typeface="Calibri" pitchFamily="34" charset="0"/>
                <a:ea typeface="Calibri" pitchFamily="34" charset="-122"/>
                <a:cs typeface="Calibri" pitchFamily="34" charset="-120"/>
              </a:rPr>
              <a:t>  Up to $1M — Central TX health equity
</a:t>
            </a:r>
            <a:pPr indent="0" marL="0">
              <a:buNone/>
            </a:pPr>
            <a:r>
              <a:rPr lang="en-US" sz="1400" b="1" dirty="0">
                <a:solidFill>
                  <a:srgbClr val="C49A2A"/>
                </a:solidFill>
                <a:latin typeface="Calibri" pitchFamily="34" charset="0"/>
                <a:ea typeface="Calibri" pitchFamily="34" charset="-122"/>
                <a:cs typeface="Calibri" pitchFamily="34" charset="-120"/>
              </a:rPr>
              <a:t>SSG Fox Foundation
</a:t>
            </a:r>
            <a:pPr indent="0" marL="0">
              <a:buNone/>
            </a:pPr>
            <a:r>
              <a:rPr lang="en-US" sz="1300" dirty="0">
                <a:solidFill>
                  <a:srgbClr val="FFFFFF"/>
                </a:solidFill>
                <a:latin typeface="Calibri" pitchFamily="34" charset="0"/>
                <a:ea typeface="Calibri" pitchFamily="34" charset="-122"/>
                <a:cs typeface="Calibri" pitchFamily="34" charset="-120"/>
              </a:rPr>
              <a:t>  Up to $750K — Veteran services</a:t>
            </a:r>
            <a:endParaRPr lang="en-US" sz="1600" dirty="0"/>
          </a:p>
        </p:txBody>
      </p:sp>
      <p:sp>
        <p:nvSpPr>
          <p:cNvPr id="5" name="Text 3"/>
          <p:cNvSpPr/>
          <p:nvPr/>
        </p:nvSpPr>
        <p:spPr>
          <a:xfrm>
            <a:off x="6400800" y="1463040"/>
            <a:ext cx="5029200" cy="438912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Why Partners Win Together:
</a:t>
            </a:r>
            <a:pPr indent="0" marL="0">
              <a:buNone/>
            </a:pPr>
            <a:r>
              <a:rPr lang="en-US" sz="1400" b="1" dirty="0">
                <a:solidFill>
                  <a:srgbClr val="C49A2A"/>
                </a:solidFill>
                <a:latin typeface="Calibri" pitchFamily="34" charset="0"/>
                <a:ea typeface="Calibri" pitchFamily="34" charset="-122"/>
                <a:cs typeface="Calibri" pitchFamily="34" charset="-120"/>
              </a:rPr>
              <a:t>MEASURE brings:
</a:t>
            </a:r>
            <a:pPr indent="0" marL="0">
              <a:buNone/>
            </a:pPr>
            <a:r>
              <a:rPr lang="en-US" sz="1400" dirty="0">
                <a:solidFill>
                  <a:srgbClr val="FFFFFF"/>
                </a:solidFill>
                <a:latin typeface="Calibri" pitchFamily="34" charset="0"/>
                <a:ea typeface="Calibri" pitchFamily="34" charset="-122"/>
                <a:cs typeface="Calibri" pitchFamily="34" charset="-120"/>
              </a:rPr>
              <a:t>  Community relationships funders trust
  Participatory research methodology
  Policy advocacy track record
  MIT Solve credibility
</a:t>
            </a:r>
            <a:pPr indent="0" marL="0">
              <a:buNone/>
            </a:pPr>
            <a:r>
              <a:rPr lang="en-US" sz="1400" b="1" dirty="0">
                <a:solidFill>
                  <a:srgbClr val="C49A2A"/>
                </a:solidFill>
                <a:latin typeface="Calibri" pitchFamily="34" charset="0"/>
                <a:ea typeface="Calibri" pitchFamily="34" charset="-122"/>
                <a:cs typeface="Calibri" pitchFamily="34" charset="-120"/>
              </a:rPr>
              <a:t>We bring:
</a:t>
            </a:r>
            <a:pPr indent="0" marL="0">
              <a:buNone/>
            </a:pPr>
            <a:r>
              <a:rPr lang="en-US" sz="1400" dirty="0">
                <a:solidFill>
                  <a:srgbClr val="FFFFFF"/>
                </a:solidFill>
                <a:latin typeface="Calibri" pitchFamily="34" charset="0"/>
                <a:ea typeface="Calibri" pitchFamily="34" charset="-122"/>
                <a:cs typeface="Calibri" pitchFamily="34" charset="-120"/>
              </a:rPr>
              <a:t>  Technology infrastructure (24 platforms)
  Implementation science rigor
  Federal contracting capability (VOSB)
  AI-powered analysis &amp; reporting
</a:t>
            </a:r>
            <a:pPr indent="0" marL="0">
              <a:buNone/>
            </a:pPr>
            <a:r>
              <a:rPr lang="en-US" sz="1400" b="1" dirty="0">
                <a:solidFill>
                  <a:srgbClr val="C49A2A"/>
                </a:solidFill>
                <a:latin typeface="Calibri" pitchFamily="34" charset="0"/>
                <a:ea typeface="Calibri" pitchFamily="34" charset="-122"/>
                <a:cs typeface="Calibri" pitchFamily="34" charset="-120"/>
              </a:rPr>
              <a:t>Combined:
</a:t>
            </a:r>
            <a:pPr indent="0" marL="0">
              <a:buNone/>
            </a:pPr>
            <a:r>
              <a:rPr lang="en-US" sz="1400" dirty="0">
                <a:solidFill>
                  <a:srgbClr val="FFFFFF"/>
                </a:solidFill>
                <a:latin typeface="Calibri" pitchFamily="34" charset="0"/>
                <a:ea typeface="Calibri" pitchFamily="34" charset="-122"/>
                <a:cs typeface="Calibri" pitchFamily="34" charset="-120"/>
              </a:rPr>
              <a:t>  Complete system from community voice</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to verified outcomes — exactly what grant</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reviewers want to see</a:t>
            </a:r>
            <a:endParaRPr lang="en-US" sz="1600" dirty="0"/>
          </a:p>
        </p:txBody>
      </p:sp>
      <p:sp>
        <p:nvSpPr>
          <p:cNvPr id="6" name="Text 4"/>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Every grant we pursue together is stronger because MEASURE provides community credibility and we provide implementation infrastructure. Reviewers see a complete system.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731520" y="274320"/>
            <a:ext cx="10515600" cy="640080"/>
          </a:xfrm>
          <a:prstGeom prst="rect">
            <a:avLst/>
          </a:prstGeom>
          <a:noFill/>
          <a:ln/>
        </p:spPr>
        <p:txBody>
          <a:bodyPr wrap="square" rtlCol="0" anchor="ctr"/>
          <a:lstStyle/>
          <a:p>
            <a:pPr indent="0" marL="0">
              <a:buNone/>
            </a:pPr>
            <a:r>
              <a:rPr lang="en-US" sz="3400" b="1" dirty="0">
                <a:solidFill>
                  <a:srgbClr val="C49A2A"/>
                </a:solidFill>
                <a:latin typeface="Calibri" pitchFamily="34" charset="0"/>
                <a:ea typeface="Calibri" pitchFamily="34" charset="-122"/>
                <a:cs typeface="Calibri" pitchFamily="34" charset="-120"/>
              </a:rPr>
              <a:t>What Partnership Looks Like</a:t>
            </a:r>
            <a:endParaRPr lang="en-US" sz="3400" dirty="0"/>
          </a:p>
        </p:txBody>
      </p:sp>
      <p:sp>
        <p:nvSpPr>
          <p:cNvPr id="3" name="Text 1"/>
          <p:cNvSpPr/>
          <p:nvPr/>
        </p:nvSpPr>
        <p:spPr>
          <a:xfrm>
            <a:off x="73152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Immediate Opportunities:
</a:t>
            </a:r>
            <a:pPr indent="0" marL="0">
              <a:buNone/>
            </a:pPr>
            <a:r>
              <a:rPr lang="en-US" sz="1500" dirty="0">
                <a:solidFill>
                  <a:srgbClr val="FFFFFF"/>
                </a:solidFill>
                <a:latin typeface="Calibri" pitchFamily="34" charset="0"/>
                <a:ea typeface="Calibri" pitchFamily="34" charset="-122"/>
                <a:cs typeface="Calibri" pitchFamily="34" charset="-120"/>
              </a:rPr>
              <a:t>• Joint grant applications
</a:t>
            </a:r>
            <a:pPr indent="0" marL="0">
              <a:buNone/>
            </a:pPr>
            <a:r>
              <a:rPr lang="en-US" sz="1400" dirty="0">
                <a:solidFill>
                  <a:srgbClr val="FFFFFF"/>
                </a:solidFill>
                <a:latin typeface="Calibri" pitchFamily="34" charset="0"/>
                <a:ea typeface="Calibri" pitchFamily="34" charset="-122"/>
                <a:cs typeface="Calibri" pitchFamily="34" charset="-120"/>
              </a:rPr>
              <a:t>   MEASURE as community partner
   Collaborative Advocate as technology partner
   Combined: complete proposal
</a:t>
            </a:r>
            <a:pPr indent="0" marL="0">
              <a:buNone/>
            </a:pPr>
            <a:r>
              <a:rPr lang="en-US" sz="1500" dirty="0">
                <a:solidFill>
                  <a:srgbClr val="FFFFFF"/>
                </a:solidFill>
                <a:latin typeface="Calibri" pitchFamily="34" charset="0"/>
                <a:ea typeface="Calibri" pitchFamily="34" charset="-122"/>
                <a:cs typeface="Calibri" pitchFamily="34" charset="-120"/>
              </a:rPr>
              <a:t>• MEASURE Ignite → RPLICE integration
</a:t>
            </a:r>
            <a:pPr indent="0" marL="0">
              <a:buNone/>
            </a:pPr>
            <a:r>
              <a:rPr lang="en-US" sz="1400" dirty="0">
                <a:solidFill>
                  <a:srgbClr val="FFFFFF"/>
                </a:solidFill>
                <a:latin typeface="Calibri" pitchFamily="34" charset="0"/>
                <a:ea typeface="Calibri" pitchFamily="34" charset="-122"/>
                <a:cs typeface="Calibri" pitchFamily="34" charset="-120"/>
              </a:rPr>
              <a:t>   Data collected through Ignite flows into
   RPLICE for implementation tracking
</a:t>
            </a:r>
            <a:pPr indent="0" marL="0">
              <a:buNone/>
            </a:pPr>
            <a:r>
              <a:rPr lang="en-US" sz="1500" dirty="0">
                <a:solidFill>
                  <a:srgbClr val="FFFFFF"/>
                </a:solidFill>
                <a:latin typeface="Calibri" pitchFamily="34" charset="0"/>
                <a:ea typeface="Calibri" pitchFamily="34" charset="-122"/>
                <a:cs typeface="Calibri" pitchFamily="34" charset="-120"/>
              </a:rPr>
              <a:t>• Shared regional presence
</a:t>
            </a:r>
            <a:pPr indent="0" marL="0">
              <a:buNone/>
            </a:pPr>
            <a:r>
              <a:rPr lang="en-US" sz="1400" dirty="0">
                <a:solidFill>
                  <a:srgbClr val="FFFFFF"/>
                </a:solidFill>
                <a:latin typeface="Calibri" pitchFamily="34" charset="0"/>
                <a:ea typeface="Calibri" pitchFamily="34" charset="-122"/>
                <a:cs typeface="Calibri" pitchFamily="34" charset="-120"/>
              </a:rPr>
              <a:t>   Austin | Manor | Pflugerville
   Same communities, same goals
</a:t>
            </a:r>
            <a:pPr indent="0" marL="0">
              <a:buNone/>
            </a:pPr>
            <a:r>
              <a:rPr lang="en-US" sz="1500" dirty="0">
                <a:solidFill>
                  <a:srgbClr val="FFFFFF"/>
                </a:solidFill>
                <a:latin typeface="Calibri" pitchFamily="34" charset="0"/>
                <a:ea typeface="Calibri" pitchFamily="34" charset="-122"/>
                <a:cs typeface="Calibri" pitchFamily="34" charset="-120"/>
              </a:rPr>
              <a:t>• Huston-Tillotson student research
</a:t>
            </a:r>
            <a:pPr indent="0" marL="0">
              <a:buNone/>
            </a:pPr>
            <a:r>
              <a:rPr lang="en-US" sz="1400" dirty="0">
                <a:solidFill>
                  <a:srgbClr val="FFFFFF"/>
                </a:solidFill>
                <a:latin typeface="Calibri" pitchFamily="34" charset="0"/>
                <a:ea typeface="Calibri" pitchFamily="34" charset="-122"/>
                <a:cs typeface="Calibri" pitchFamily="34" charset="-120"/>
              </a:rPr>
              <a:t>   MEASURE teaches research methodology</a:t>
            </a:r>
            <a:endParaRPr lang="en-US" sz="1600" dirty="0"/>
          </a:p>
          <a:p>
            <a:pPr indent="0" marL="0">
              <a:buNone/>
            </a:pPr>
            <a:r>
              <a:rPr lang="en-US" sz="1400" dirty="0">
                <a:solidFill>
                  <a:srgbClr val="FFFFFF"/>
                </a:solidFill>
                <a:latin typeface="Calibri" pitchFamily="34" charset="0"/>
                <a:ea typeface="Calibri" pitchFamily="34" charset="-122"/>
                <a:cs typeface="Calibri" pitchFamily="34" charset="-120"/>
              </a:rPr>
              <a:t>   RPLICE provides the tools to execute it</a:t>
            </a:r>
            <a:endParaRPr lang="en-US" sz="1600" dirty="0"/>
          </a:p>
        </p:txBody>
      </p:sp>
      <p:sp>
        <p:nvSpPr>
          <p:cNvPr id="4" name="Text 2"/>
          <p:cNvSpPr/>
          <p:nvPr/>
        </p:nvSpPr>
        <p:spPr>
          <a:xfrm>
            <a:off x="6400800" y="1188720"/>
            <a:ext cx="5029200" cy="4572000"/>
          </a:xfrm>
          <a:prstGeom prst="rect">
            <a:avLst/>
          </a:prstGeom>
          <a:noFill/>
          <a:ln/>
        </p:spPr>
        <p:txBody>
          <a:bodyPr wrap="square" rtlCol="0" anchor="t"/>
          <a:lstStyle/>
          <a:p>
            <a:pPr indent="0" marL="0">
              <a:buNone/>
            </a:pPr>
            <a:r>
              <a:rPr lang="en-US" sz="1600" b="1" dirty="0">
                <a:solidFill>
                  <a:srgbClr val="C49A2A"/>
                </a:solidFill>
                <a:latin typeface="Calibri" pitchFamily="34" charset="0"/>
                <a:ea typeface="Calibri" pitchFamily="34" charset="-122"/>
                <a:cs typeface="Calibri" pitchFamily="34" charset="-120"/>
              </a:rPr>
              <a:t>Long-Term Vision:
</a:t>
            </a:r>
            <a:pPr indent="0" marL="0">
              <a:buNone/>
            </a:pPr>
            <a:r>
              <a:rPr lang="en-US" sz="1500" dirty="0">
                <a:solidFill>
                  <a:srgbClr val="FFFFFF"/>
                </a:solidFill>
                <a:latin typeface="Calibri" pitchFamily="34" charset="0"/>
                <a:ea typeface="Calibri" pitchFamily="34" charset="-122"/>
                <a:cs typeface="Calibri" pitchFamily="34" charset="-120"/>
              </a:rPr>
              <a:t>• Build Central Texas into a national model
  for how communities use data +
  implementation science to drive equity
</a:t>
            </a:r>
            <a:pPr indent="0" marL="0">
              <a:buNone/>
            </a:pPr>
            <a:r>
              <a:rPr lang="en-US" sz="1500" dirty="0">
                <a:solidFill>
                  <a:srgbClr val="FFFFFF"/>
                </a:solidFill>
                <a:latin typeface="Calibri" pitchFamily="34" charset="0"/>
                <a:ea typeface="Calibri" pitchFamily="34" charset="-122"/>
                <a:cs typeface="Calibri" pitchFamily="34" charset="-120"/>
              </a:rPr>
              <a:t>• Publish the methodology together:
</a:t>
            </a:r>
            <a:pPr indent="0" marL="0">
              <a:buNone/>
            </a:pPr>
            <a:r>
              <a:rPr lang="en-US" sz="1400" dirty="0">
                <a:solidFill>
                  <a:srgbClr val="C49A2A"/>
                </a:solidFill>
                <a:latin typeface="Calibri" pitchFamily="34" charset="0"/>
                <a:ea typeface="Calibri" pitchFamily="34" charset="-122"/>
                <a:cs typeface="Calibri" pitchFamily="34" charset="-120"/>
              </a:rPr>
              <a:t>   CARE Model (MEASURE) +
   MAP-GAP (Collaborative Advocate) =
   a peer-reviewable framework
</a:t>
            </a:r>
            <a:pPr indent="0" marL="0">
              <a:buNone/>
            </a:pPr>
            <a:r>
              <a:rPr lang="en-US" sz="1500" dirty="0">
                <a:solidFill>
                  <a:srgbClr val="FFFFFF"/>
                </a:solidFill>
                <a:latin typeface="Calibri" pitchFamily="34" charset="0"/>
                <a:ea typeface="Calibri" pitchFamily="34" charset="-122"/>
                <a:cs typeface="Calibri" pitchFamily="34" charset="-120"/>
              </a:rPr>
              <a:t>• Scale beyond Austin:
</a:t>
            </a:r>
            <a:pPr indent="0" marL="0">
              <a:buNone/>
            </a:pPr>
            <a:r>
              <a:rPr lang="en-US" sz="1400" dirty="0">
                <a:solidFill>
                  <a:srgbClr val="FFFFFF"/>
                </a:solidFill>
                <a:latin typeface="Calibri" pitchFamily="34" charset="0"/>
                <a:ea typeface="Calibri" pitchFamily="34" charset="-122"/>
                <a:cs typeface="Calibri" pitchFamily="34" charset="-120"/>
              </a:rPr>
              <a:t>   The ecosystem architecture is replicable
   Any community can adopt the model
   MEASURE's network + our technology = national
</a:t>
            </a:r>
            <a:pPr indent="0" marL="0">
              <a:buNone/>
            </a:pPr>
            <a:r>
              <a:rPr lang="en-US" sz="1500" dirty="0">
                <a:solidFill>
                  <a:srgbClr val="FFFFFF"/>
                </a:solidFill>
                <a:latin typeface="Calibri" pitchFamily="34" charset="0"/>
                <a:ea typeface="Calibri" pitchFamily="34" charset="-122"/>
                <a:cs typeface="Calibri" pitchFamily="34" charset="-120"/>
              </a:rPr>
              <a:t>• Shared advocacy for equitable data policy</a:t>
            </a:r>
            <a:endParaRPr lang="en-US" sz="1600" dirty="0"/>
          </a:p>
        </p:txBody>
      </p:sp>
      <p:sp>
        <p:nvSpPr>
          <p:cNvPr id="5" name="Text 3"/>
          <p:cNvSpPr/>
          <p:nvPr/>
        </p:nvSpPr>
        <p:spPr>
          <a:xfrm>
            <a:off x="731520" y="6035040"/>
            <a:ext cx="10515600" cy="457200"/>
          </a:xfrm>
          <a:prstGeom prst="rect">
            <a:avLst/>
          </a:prstGeom>
          <a:noFill/>
          <a:ln/>
        </p:spPr>
        <p:txBody>
          <a:bodyPr wrap="square" rtlCol="0" anchor="ctr"/>
          <a:lstStyle/>
          <a:p>
            <a:pPr indent="0" marL="0">
              <a:buNone/>
            </a:pPr>
            <a:r>
              <a:rPr lang="en-US" sz="1100" b="1" dirty="0">
                <a:solidFill>
                  <a:srgbClr val="C49A2A"/>
                </a:solidFill>
                <a:latin typeface="Calibri" pitchFamily="34" charset="0"/>
                <a:ea typeface="Calibri" pitchFamily="34" charset="-122"/>
                <a:cs typeface="Calibri" pitchFamily="34" charset="-120"/>
              </a:rPr>
              <a:t>TALKING POINT: </a:t>
            </a:r>
            <a:pPr indent="0" marL="0">
              <a:buNone/>
            </a:pPr>
            <a:r>
              <a:rPr lang="en-US" sz="1100" dirty="0">
                <a:solidFill>
                  <a:srgbClr val="C49A2A"/>
                </a:solidFill>
                <a:latin typeface="Calibri" pitchFamily="34" charset="0"/>
                <a:ea typeface="Calibri" pitchFamily="34" charset="-122"/>
                <a:cs typeface="Calibri" pitchFamily="34" charset="-120"/>
              </a:rPr>
              <a:t>This isn't a vendor pitch. Two organizations with the same mission, same geography, complementary capabilities — let's build this together.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C"/>
        </a:solidFill>
      </p:bgPr>
    </p:bg>
    <p:spTree>
      <p:nvGrpSpPr>
        <p:cNvPr id="1" name=""/>
        <p:cNvGrpSpPr/>
        <p:nvPr/>
      </p:nvGrpSpPr>
      <p:grpSpPr>
        <a:xfrm>
          <a:off x="0" y="0"/>
          <a:ext cx="0" cy="0"/>
          <a:chOff x="0" y="0"/>
          <a:chExt cx="0" cy="0"/>
        </a:xfrm>
      </p:grpSpPr>
      <p:sp>
        <p:nvSpPr>
          <p:cNvPr id="2" name="Text 0"/>
          <p:cNvSpPr/>
          <p:nvPr/>
        </p:nvSpPr>
        <p:spPr>
          <a:xfrm>
            <a:off x="914400" y="1097280"/>
            <a:ext cx="10058400" cy="822960"/>
          </a:xfrm>
          <a:prstGeom prst="rect">
            <a:avLst/>
          </a:prstGeom>
          <a:noFill/>
          <a:ln/>
        </p:spPr>
        <p:txBody>
          <a:bodyPr wrap="square" rtlCol="0" anchor="ctr"/>
          <a:lstStyle/>
          <a:p>
            <a:pPr algn="ctr" indent="0" marL="0">
              <a:buNone/>
            </a:pPr>
            <a:r>
              <a:rPr lang="en-US" sz="3800" b="1" dirty="0">
                <a:solidFill>
                  <a:srgbClr val="C49A2A"/>
                </a:solidFill>
                <a:latin typeface="Calibri" pitchFamily="34" charset="0"/>
                <a:ea typeface="Calibri" pitchFamily="34" charset="-122"/>
                <a:cs typeface="Calibri" pitchFamily="34" charset="-120"/>
              </a:rPr>
              <a:t>Research to Implementation with Fidelity</a:t>
            </a:r>
            <a:endParaRPr lang="en-US" sz="3800" dirty="0"/>
          </a:p>
        </p:txBody>
      </p:sp>
      <p:sp>
        <p:nvSpPr>
          <p:cNvPr id="3" name="Text 1"/>
          <p:cNvSpPr/>
          <p:nvPr/>
        </p:nvSpPr>
        <p:spPr>
          <a:xfrm>
            <a:off x="914400" y="2194560"/>
            <a:ext cx="10058400" cy="73152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For all stakeholders and perspectives — everywhere —</a:t>
            </a:r>
            <a:endParaRPr lang="en-US" sz="2200" dirty="0"/>
          </a:p>
          <a:p>
            <a:pPr algn="ctr" indent="0" marL="0">
              <a:buNone/>
            </a:pPr>
            <a:r>
              <a:rPr lang="en-US" sz="2200" dirty="0">
                <a:solidFill>
                  <a:srgbClr val="FFFFFF"/>
                </a:solidFill>
                <a:latin typeface="Calibri" pitchFamily="34" charset="0"/>
                <a:ea typeface="Calibri" pitchFamily="34" charset="-122"/>
                <a:cs typeface="Calibri" pitchFamily="34" charset="-120"/>
              </a:rPr>
              <a:t>tied to measurable outcomes.</a:t>
            </a:r>
            <a:endParaRPr lang="en-US" sz="2200" dirty="0"/>
          </a:p>
        </p:txBody>
      </p:sp>
      <p:sp>
        <p:nvSpPr>
          <p:cNvPr id="4" name="Text 2"/>
          <p:cNvSpPr/>
          <p:nvPr/>
        </p:nvSpPr>
        <p:spPr>
          <a:xfrm>
            <a:off x="914400" y="3474720"/>
            <a:ext cx="10058400" cy="640080"/>
          </a:xfrm>
          <a:prstGeom prst="rect">
            <a:avLst/>
          </a:prstGeom>
          <a:noFill/>
          <a:ln/>
        </p:spPr>
        <p:txBody>
          <a:bodyPr wrap="square" rtlCol="0" anchor="ctr"/>
          <a:lstStyle/>
          <a:p>
            <a:pPr algn="ctr" indent="0" marL="0">
              <a:buNone/>
            </a:pPr>
            <a:r>
              <a:rPr lang="en-US" sz="2800" b="1" dirty="0">
                <a:solidFill>
                  <a:srgbClr val="C49A2A"/>
                </a:solidFill>
                <a:latin typeface="Calibri" pitchFamily="34" charset="0"/>
                <a:ea typeface="Calibri" pitchFamily="34" charset="-122"/>
                <a:cs typeface="Calibri" pitchFamily="34" charset="-120"/>
              </a:rPr>
              <a:t>Simple. Repeatable. Equitable. Measurable.</a:t>
            </a:r>
            <a:endParaRPr lang="en-US" sz="2800" dirty="0"/>
          </a:p>
        </p:txBody>
      </p:sp>
      <p:sp>
        <p:nvSpPr>
          <p:cNvPr id="5" name="Text 3"/>
          <p:cNvSpPr/>
          <p:nvPr/>
        </p:nvSpPr>
        <p:spPr>
          <a:xfrm>
            <a:off x="914400" y="4297680"/>
            <a:ext cx="10058400" cy="548640"/>
          </a:xfrm>
          <a:prstGeom prst="rect">
            <a:avLst/>
          </a:prstGeom>
          <a:noFill/>
          <a:ln/>
        </p:spPr>
        <p:txBody>
          <a:bodyPr wrap="square"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Empowering People. Building Relationships. Serving Communities.</a:t>
            </a:r>
            <a:endParaRPr lang="en-US" sz="2000" dirty="0"/>
          </a:p>
        </p:txBody>
      </p:sp>
      <p:sp>
        <p:nvSpPr>
          <p:cNvPr id="6" name="Text 4"/>
          <p:cNvSpPr/>
          <p:nvPr/>
        </p:nvSpPr>
        <p:spPr>
          <a:xfrm>
            <a:off x="914400" y="5120640"/>
            <a:ext cx="10058400" cy="64008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Dr. Terry Flood, DHA  &amp;  Meredith Sisnett</a:t>
            </a:r>
            <a:endParaRPr lang="en-US" sz="1600" dirty="0"/>
          </a:p>
          <a:p>
            <a:pPr algn="ctr" indent="0" marL="0">
              <a:buNone/>
            </a:pPr>
            <a:r>
              <a:rPr lang="en-US" sz="1600" dirty="0">
                <a:solidFill>
                  <a:srgbClr val="FFFFFF"/>
                </a:solidFill>
                <a:latin typeface="Calibri" pitchFamily="34" charset="0"/>
                <a:ea typeface="Calibri" pitchFamily="34" charset="-122"/>
                <a:cs typeface="Calibri" pitchFamily="34" charset="-120"/>
              </a:rPr>
              <a:t>Co-Founders, The Collaborative Advocate</a:t>
            </a:r>
            <a:endParaRPr lang="en-US" sz="1600" dirty="0"/>
          </a:p>
        </p:txBody>
      </p:sp>
      <p:sp>
        <p:nvSpPr>
          <p:cNvPr id="7" name="Text 5"/>
          <p:cNvSpPr/>
          <p:nvPr/>
        </p:nvSpPr>
        <p:spPr>
          <a:xfrm>
            <a:off x="914400" y="5669280"/>
            <a:ext cx="10058400" cy="365760"/>
          </a:xfrm>
          <a:prstGeom prst="rect">
            <a:avLst/>
          </a:prstGeom>
          <a:noFill/>
          <a:ln/>
        </p:spPr>
        <p:txBody>
          <a:bodyPr wrap="square" rtlCol="0" anchor="ctr"/>
          <a:lstStyle/>
          <a:p>
            <a:pPr algn="ctr" indent="0" marL="0">
              <a:buNone/>
            </a:pPr>
            <a:r>
              <a:rPr lang="en-US" sz="1400" dirty="0">
                <a:solidFill>
                  <a:srgbClr val="AAAAAA"/>
                </a:solidFill>
                <a:latin typeface="Calibri" pitchFamily="34" charset="0"/>
                <a:ea typeface="Calibri" pitchFamily="34" charset="-122"/>
                <a:cs typeface="Calibri" pitchFamily="34" charset="-120"/>
              </a:rPr>
              <a:t>mr.terryflood@gmail.com  |  sisnett.meredith@gmail.com</a:t>
            </a:r>
            <a:endParaRPr lang="en-US" sz="1400" dirty="0"/>
          </a:p>
        </p:txBody>
      </p:sp>
      <p:sp>
        <p:nvSpPr>
          <p:cNvPr id="8" name="Text 6"/>
          <p:cNvSpPr/>
          <p:nvPr/>
        </p:nvSpPr>
        <p:spPr>
          <a:xfrm>
            <a:off x="914400" y="5943600"/>
            <a:ext cx="10058400" cy="365760"/>
          </a:xfrm>
          <a:prstGeom prst="rect">
            <a:avLst/>
          </a:prstGeom>
          <a:noFill/>
          <a:ln/>
        </p:spPr>
        <p:txBody>
          <a:bodyPr wrap="square" rtlCol="0" anchor="ctr"/>
          <a:lstStyle/>
          <a:p>
            <a:pPr algn="ctr" indent="0" marL="0">
              <a:buNone/>
            </a:pPr>
            <a:r>
              <a:rPr lang="en-US" sz="1400" dirty="0">
                <a:solidFill>
                  <a:srgbClr val="AAAAAA"/>
                </a:solidFill>
                <a:latin typeface="Calibri" pitchFamily="34" charset="0"/>
                <a:ea typeface="Calibri" pitchFamily="34" charset="-122"/>
                <a:cs typeface="Calibri" pitchFamily="34" charset="-120"/>
              </a:rPr>
              <a:t>Veteran-Owned Small Business (VOSB)  |  Austin, TX</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The Collaborative Advocate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 Partnership Presentation</dc:title>
  <dc:subject>RPLICE + ThriveUp Ecosystem Partnership Presentation</dc:subject>
  <dc:creator>Dr. Terry Flood, DHA</dc:creator>
  <cp:lastModifiedBy>Dr. Terry Flood, DHA</cp:lastModifiedBy>
  <cp:revision>1</cp:revision>
  <dcterms:created xsi:type="dcterms:W3CDTF">2026-03-30T05:24:47Z</dcterms:created>
  <dcterms:modified xsi:type="dcterms:W3CDTF">2026-03-30T05:24:47Z</dcterms:modified>
</cp:coreProperties>
</file>