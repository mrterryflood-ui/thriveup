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introduces The Collaborative Advocate — both the nonprofit Foundation (501(c)(3)) and the consulting LLC, a Veteran-Owned Small Business. Together they operate RPLICE and the ThriveUp ecosystem. The tagline captures the core mission: we build AI-powered systems that prove whether interventions actually work in the communities they serve. Dr. Terry Flood holds a Doctorate in Health Administration and co-founded the organization with Meredith Sisnett. Both are veterans. Our 4-engine AI architecture with RAG (Retrieval-Augmented Generation) ensures every recommendation is grounded in real scholarly evidence and real community data — never hallucinated.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Collaborative Advocate operates as a dual structure. The Foundation handles community programs, grant-funded research, and direct services. The LLC handles consulting, technology development, and government contracts through VOSB status. Our 24 platforms span six domains — health, education, workforce, criminal justice, housing, and safety. Every platform is AI-enabled, measured, tracked, and verified. The AI architecture runs 4 engines: GPT-5 for structured analysis, Claude Sonnet for nuanced reasoning, a scholarly research RAG engine querying 6 live databases (PubMed, Semantic Scholar, CrossRef, Europe PMC, medRxiv, bioRxiv), and an ecosystem RAG engine with platform-specific context. Anti-hallucination guardrails ensure every output includes APA citations.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RPLICE is the quality gate for the entire ecosystem. When a funder asks how do you measure outcomes — this is the answer. The AI architecture: 4 engines fire in parallel. GPT-5 handles structured analysis. Claude Sonnet provides nuanced reasoning. The Scholarly Research engine queries 6 live academic databases using RAG to ground every recommendation in peer-reviewed evidence. The Ecosystem RAG engine is platform-aware — it knows your specific data, participants, and interventions. ALL mode fires all engines simultaneously, synthesizes into one unified response with anti-hallucination guardrails and APA citations. This is implementation science AI — trained on real frameworks, grounded in real evidence, producing actionable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RAG pipeline works in practice. When a user asks a question, RPLICE simultaneously queries 6 scholarly databases for peer-reviewed evidence, queries the ecosystem database for platform-specific data, runs combined context through GPT-5 and Claude in parallel, applies anti-hallucination checks, and synthesizes results with APA citations. Practical example: a program manager asks Is my mentoring program working? and gets back specific outcome data, published evidence comparison, where fidelity has drifted, and corrective actions — all cited. This architecture ensures AI is ethical and transparent — sources always cited, bias traceable, community data stays owned by the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24-platform ecosystem is the infrastructure that makes RPLICE meaningful. Without real programs generating real data, implementation science is just theory. Each platform is a live, operational system. The Ecosystem Nexus connects all platforms through a cross-platform event bus. All data flows into RPLICE for fidelity tracking and outcome measurement. The AI layer sits across everything — any platform can invoke the AI, and the RAG pipeline has context about all 24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ISSS — Schools Addressing Multiple Issues — is the only K-12 implementation science platform on the market. Five-layer progressive unlock model, seven role-specific portals. Schools adopt evidence-based programs constantly but most fail because implementation drifts. ISSS uses AI-powered fidelity monitoring through the same RAG pipeline as RPLICE. When a counselor skips a component, the AI flags it. When outcomes plateau, the AI identifies which element drifted and recommends corrective action with citations. ISSS connects to the broader ecosystem — student instability triggers LifeBridge, mental health needs connect to WholeMind, substance use concerns tracked through RPLICE.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partnership pitch — framed as what we bring to the table for any collaboration. We are not asking to join anyone. We are showing what makes us a strong collaborator. Our technology infrastructure is operational — 24 live platforms, not mockups. Our AI architecture is ethical and transparent. We have federal contracting capability through VOSB. Our implementation science methodology (MAP-GAP, Three Realities) is proprietary and proven. We serve the same Central Texas communities. We bring the engineering backbone that community organizations need but cannot build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positions the MEASURE relationship as a mutual opportunity — not us asking to join them or praising them. MEASURE brings community trust and data collection through Ignite. We bring AI-powered implementation tracking through RPLICE. Together, the full loop closes: community voice drives intervention, AI tracks fidelity, outcomes are verified against evidence, data feeds back. Neither organization alone has this complete loop. Meme Styles founded MEASURE and is a leading ethical AI consultant — her CARE Model governance complements our technical AI architecture. The partnership is strategic and mutual.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79% of Black-led organizations have no systems for collecting data — MEASURE built Ignite to address that. But data collection is step one. The harder questions: Is the intervention delivered as designed? Are outcomes improving? What is the gap? How do we sustain? MEASURE provides community voice and data collection. RPLICE provides AI-powered fidelity tracking, RAG-verified outcomes, and sustainment planning. Combined: community voice drives intervention, AI tracks fidelity, outcomes measured against evidence via RAG, data feeds back, continuous improvement. AI makes this scalable — one program manager can run the full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Values alignment matters for any collaboration. Both organizations believe data must serve communities, not extract from them. Equity is structure, not decoration. Lived experience is valid evidence. Measurement without action is meaningless. Both are community-centered. Both serve Austin and Pflugerville. On AI: both believe AI must be ethical, transparent, and bias-auditable. Meme's CARE Model governance combined with our anti-hallucination AI architecture creates trustworthy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Partnership opportunities span immediate to long-term. Immediate: joint grant applications, Ignite data flowing into RPLICE RAG pipeline for AI-powered community analysis, shared regional presence, Huston-Tillotson student research. Long-term: build Central Texas into a national model for community AI + implementation science, publish CARE Model + MAP-GAP as a peer-reviewable framework, scale beyond Austin using MEASURE network plus our technology. This is not a vendor pitch — two organizations, same mission, same geography, complementary capabilities.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regional hubs represent our geographic strategy. Austin Hub: housing crisis response — median home 435K, 3,200+ homeless, 85% cost-burdened. Manor Hub: 400% population growth, critical infrastructure gap, 38% under 18. Pflugerville Hub: 75K population, 52% growth, digital access gap. Each hub generates different data feeding the RAG pipeline. AI cross-references across hubs using MG-PATR replication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with contact info. RPLICE is live and available for walkthrough. Next step is a conversation — not a commitment. We want to understand priorities, upcoming deadlines, and where collaboration delivers the most value. The technology is ready. The communities are the same. The AI is ethical and operational. See the appendix for live links to every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with live links to every platform in the ecosystem. These are all operational, live websites — not mockups. Anyone reviewing this deck can click through and see what we have built. This is the proof that our technology claims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thrivingcommunitiesforall.com" TargetMode="External"/><Relationship Id="rId2" Type="http://schemas.openxmlformats.org/officeDocument/2006/relationships/hyperlink" Target="https://bettersciencelab.com" TargetMode="External"/><Relationship Id="rId3" Type="http://schemas.openxmlformats.org/officeDocument/2006/relationships/hyperlink" Target="https://lifetransitionsaid.org" TargetMode="External"/><Relationship Id="rId4" Type="http://schemas.openxmlformats.org/officeDocument/2006/relationships/hyperlink" Target="https://vetmissiontransition.com" TargetMode="External"/><Relationship Id="rId5" Type="http://schemas.openxmlformats.org/officeDocument/2006/relationships/hyperlink" Target="https://mentalwellnesssupport.net" TargetMode="External"/><Relationship Id="rId6" Type="http://schemas.openxmlformats.org/officeDocument/2006/relationships/hyperlink" Target="https://yourhealthbirthright.net" TargetMode="External"/><Relationship Id="rId7" Type="http://schemas.openxmlformats.org/officeDocument/2006/relationships/hyperlink" Target="https://black-maternal-health-network.replit.app" TargetMode="External"/><Relationship Id="rId8" Type="http://schemas.openxmlformats.org/officeDocument/2006/relationships/hyperlink" Target="https://holistic-black-feminine-health-hub.replit.app" TargetMode="External"/><Relationship Id="rId9" Type="http://schemas.openxmlformats.org/officeDocument/2006/relationships/hyperlink" Target="https://black-men-health.replit.app" TargetMode="External"/><Relationship Id="rId10" Type="http://schemas.openxmlformats.org/officeDocument/2006/relationships/hyperlink" Target="https://autoimmune-thrive.replit.app" TargetMode="External"/><Relationship Id="rId11" Type="http://schemas.openxmlformats.org/officeDocument/2006/relationships/hyperlink" Target="https://safecognicare.com" TargetMode="External"/><Relationship Id="rId12" Type="http://schemas.openxmlformats.org/officeDocument/2006/relationships/hyperlink" Target="https://pillscheduler.net" TargetMode="External"/><Relationship Id="rId13" Type="http://schemas.openxmlformats.org/officeDocument/2006/relationships/hyperlink" Target="https://implementationineducatio.com" TargetMode="External"/><Relationship Id="rId14" Type="http://schemas.openxmlformats.org/officeDocument/2006/relationships/hyperlink" Target="https://life-pals-standalone.replit.app" TargetMode="External"/><Relationship Id="rId15" Type="http://schemas.openxmlformats.org/officeDocument/2006/relationships/hyperlink" Target="https://neurodifferentassistant.app" TargetMode="External"/><Relationship Id="rId16" Type="http://schemas.openxmlformats.org/officeDocument/2006/relationships/hyperlink" Target="https://speech-bridge.replit.app" TargetMode="External"/><Relationship Id="rId17" Type="http://schemas.openxmlformats.org/officeDocument/2006/relationships/hyperlink" Target="https://safereports.net" TargetMode="External"/><Relationship Id="rId18" Type="http://schemas.openxmlformats.org/officeDocument/2006/relationships/hyperlink" Target="https://shield-atlas.replit.app" TargetMode="External"/><Relationship Id="rId19" Type="http://schemas.openxmlformats.org/officeDocument/2006/relationships/hyperlink" Target="https://minoritycenterofexcellence.com" TargetMode="External"/><Relationship Id="rId20" Type="http://schemas.openxmlformats.org/officeDocument/2006/relationships/hyperlink" Target="https://pinnacle-business-conglomerate.replit.app" TargetMode="External"/><Relationship Id="rId21" Type="http://schemas.openxmlformats.org/officeDocument/2006/relationships/hyperlink" Target="https://vetmissiontransition.com" TargetMode="External"/><Relationship Id="rId22" Type="http://schemas.openxmlformats.org/officeDocument/2006/relationships/hyperlink" Target="https://video-creator-ai-mrterryflood.replit.app" TargetMode="External"/><Relationship Id="rId23" Type="http://schemas.openxmlformats.org/officeDocument/2006/relationships/hyperlink" Target="https://ecosystem-nexus.replit.app" TargetMode="External"/><Relationship Id="rId24" Type="http://schemas.openxmlformats.org/officeDocument/2006/relationships/hyperlink" Target="https://advertising-targeting-for-platforms.replit.app" TargetMode="External"/><Relationship Id="rId25" Type="http://schemas.openxmlformats.org/officeDocument/2006/relationships/slideLayout" Target="../slideLayouts/slideLayout1.xml"/><Relationship Id="rId2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3" name="Text 0"/>
          <p:cNvSpPr/>
          <p:nvPr/>
        </p:nvSpPr>
        <p:spPr>
          <a:xfrm>
            <a:off x="731520" y="914400"/>
            <a:ext cx="7680960" cy="731520"/>
          </a:xfrm>
          <a:prstGeom prst="rect">
            <a:avLst/>
          </a:prstGeom>
          <a:noFill/>
          <a:ln/>
        </p:spPr>
        <p:txBody>
          <a:bodyPr wrap="square"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THE COLLABORATIVE ADVOCATE</a:t>
            </a:r>
            <a:endParaRPr lang="en-US" sz="3600" dirty="0"/>
          </a:p>
        </p:txBody>
      </p:sp>
      <p:sp>
        <p:nvSpPr>
          <p:cNvPr id="4" name="Text 1"/>
          <p:cNvSpPr/>
          <p:nvPr/>
        </p:nvSpPr>
        <p:spPr>
          <a:xfrm>
            <a:off x="731520" y="1554480"/>
            <a:ext cx="7680960" cy="365760"/>
          </a:xfrm>
          <a:prstGeom prst="rect">
            <a:avLst/>
          </a:prstGeom>
          <a:noFill/>
          <a:ln/>
        </p:spPr>
        <p:txBody>
          <a:bodyPr wrap="square" rtlCol="0" anchor="ctr"/>
          <a:lstStyle/>
          <a:p>
            <a:pPr indent="0" marL="0">
              <a:buNone/>
            </a:pPr>
            <a:r>
              <a:rPr lang="en-US" sz="1600" dirty="0">
                <a:solidFill>
                  <a:srgbClr val="94A3B8"/>
                </a:solidFill>
                <a:latin typeface="Georgia" pitchFamily="34" charset="0"/>
                <a:ea typeface="Georgia" pitchFamily="34" charset="-122"/>
                <a:cs typeface="Georgia" pitchFamily="34" charset="-120"/>
              </a:rPr>
              <a:t>Foundation (501(c)(3)) &amp; LLC (VOSB)</a:t>
            </a:r>
            <a:endParaRPr lang="en-US" sz="1600" dirty="0"/>
          </a:p>
        </p:txBody>
      </p:sp>
      <p:sp>
        <p:nvSpPr>
          <p:cNvPr id="5" name="Shape 2"/>
          <p:cNvSpPr/>
          <p:nvPr/>
        </p:nvSpPr>
        <p:spPr>
          <a:xfrm>
            <a:off x="731520" y="2103120"/>
            <a:ext cx="2743200" cy="36576"/>
          </a:xfrm>
          <a:prstGeom prst="rect">
            <a:avLst/>
          </a:prstGeom>
          <a:solidFill>
            <a:srgbClr val="6366F1"/>
          </a:solidFill>
          <a:ln/>
        </p:spPr>
      </p:sp>
      <p:sp>
        <p:nvSpPr>
          <p:cNvPr id="6" name="Text 3"/>
          <p:cNvSpPr/>
          <p:nvPr/>
        </p:nvSpPr>
        <p:spPr>
          <a:xfrm>
            <a:off x="731520" y="2377440"/>
            <a:ext cx="7680960" cy="457200"/>
          </a:xfrm>
          <a:prstGeom prst="rect">
            <a:avLst/>
          </a:prstGeom>
          <a:noFill/>
          <a:ln/>
        </p:spPr>
        <p:txBody>
          <a:bodyPr wrap="square" rtlCol="0" anchor="ctr"/>
          <a:lstStyle/>
          <a:p>
            <a:pPr indent="0" marL="0">
              <a:buNone/>
            </a:pPr>
            <a:r>
              <a:rPr lang="en-US" sz="2200" b="1" dirty="0">
                <a:solidFill>
                  <a:srgbClr val="6366F1"/>
                </a:solidFill>
                <a:latin typeface="Georgia" pitchFamily="34" charset="0"/>
                <a:ea typeface="Georgia" pitchFamily="34" charset="-122"/>
                <a:cs typeface="Georgia" pitchFamily="34" charset="-120"/>
              </a:rPr>
              <a:t>RPLICE + ThriveUp Ecosystem</a:t>
            </a:r>
            <a:endParaRPr lang="en-US" sz="2200" dirty="0"/>
          </a:p>
        </p:txBody>
      </p:sp>
      <p:sp>
        <p:nvSpPr>
          <p:cNvPr id="7" name="Text 4"/>
          <p:cNvSpPr/>
          <p:nvPr/>
        </p:nvSpPr>
        <p:spPr>
          <a:xfrm>
            <a:off x="731520" y="2926080"/>
            <a:ext cx="7680960" cy="1097280"/>
          </a:xfrm>
          <a:prstGeom prst="rect">
            <a:avLst/>
          </a:prstGeom>
          <a:noFill/>
          <a:ln/>
        </p:spPr>
        <p:txBody>
          <a:bodyPr wrap="square" rtlCol="0" anchor="ctr"/>
          <a:lstStyle/>
          <a:p>
            <a:pPr indent="0" marL="0">
              <a:lnSpc>
                <a:spcPct val="140000"/>
              </a:lnSpc>
              <a:buNone/>
            </a:pPr>
            <a:r>
              <a:rPr lang="en-US" sz="1600" dirty="0">
                <a:solidFill>
                  <a:srgbClr val="E2E8F0"/>
                </a:solidFill>
                <a:latin typeface="Georgia" pitchFamily="34" charset="0"/>
                <a:ea typeface="Georgia" pitchFamily="34" charset="-122"/>
                <a:cs typeface="Georgia" pitchFamily="34" charset="-120"/>
              </a:rPr>
              <a:t>AI-Powered Implementation Science</a:t>
            </a:r>
            <a:endParaRPr lang="en-US" sz="1600" dirty="0"/>
          </a:p>
          <a:p>
            <a:pPr indent="0" marL="0">
              <a:lnSpc>
                <a:spcPct val="140000"/>
              </a:lnSpc>
              <a:buNone/>
            </a:pPr>
            <a:r>
              <a:rPr lang="en-US" sz="1600" dirty="0">
                <a:solidFill>
                  <a:srgbClr val="E2E8F0"/>
                </a:solidFill>
                <a:latin typeface="Georgia" pitchFamily="34" charset="0"/>
                <a:ea typeface="Georgia" pitchFamily="34" charset="-122"/>
                <a:cs typeface="Georgia" pitchFamily="34" charset="-120"/>
              </a:rPr>
              <a:t>Empowering People, Building Relationships,</a:t>
            </a:r>
            <a:endParaRPr lang="en-US" sz="1600" dirty="0"/>
          </a:p>
          <a:p>
            <a:pPr indent="0" marL="0">
              <a:lnSpc>
                <a:spcPct val="140000"/>
              </a:lnSpc>
              <a:buNone/>
            </a:pPr>
            <a:r>
              <a:rPr lang="en-US" sz="1600" dirty="0">
                <a:solidFill>
                  <a:srgbClr val="E2E8F0"/>
                </a:solidFill>
                <a:latin typeface="Georgia" pitchFamily="34" charset="0"/>
                <a:ea typeface="Georgia" pitchFamily="34" charset="-122"/>
                <a:cs typeface="Georgia" pitchFamily="34" charset="-120"/>
              </a:rPr>
              <a:t>Measuring What Matters</a:t>
            </a:r>
            <a:endParaRPr lang="en-US" sz="1600" dirty="0"/>
          </a:p>
        </p:txBody>
      </p:sp>
      <p:sp>
        <p:nvSpPr>
          <p:cNvPr id="8" name="Text 5"/>
          <p:cNvSpPr/>
          <p:nvPr/>
        </p:nvSpPr>
        <p:spPr>
          <a:xfrm>
            <a:off x="731520" y="4389120"/>
            <a:ext cx="7680960" cy="731520"/>
          </a:xfrm>
          <a:prstGeom prst="rect">
            <a:avLst/>
          </a:prstGeom>
          <a:noFill/>
          <a:ln/>
        </p:spPr>
        <p:txBody>
          <a:bodyPr wrap="square" rtlCol="0" anchor="ctr"/>
          <a:lstStyle/>
          <a:p>
            <a:pPr indent="0" marL="0">
              <a:lnSpc>
                <a:spcPct val="130000"/>
              </a:lnSpc>
              <a:buNone/>
            </a:pPr>
            <a:r>
              <a:rPr lang="en-US" sz="1200" dirty="0">
                <a:solidFill>
                  <a:srgbClr val="94A3B8"/>
                </a:solidFill>
                <a:latin typeface="Georgia" pitchFamily="34" charset="0"/>
                <a:ea typeface="Georgia" pitchFamily="34" charset="-122"/>
                <a:cs typeface="Georgia" pitchFamily="34" charset="-120"/>
              </a:rPr>
              <a:t>Dr. Terry Flood, DHA  &amp;  Meredith Sisnett  |  Co-Founders</a:t>
            </a:r>
            <a:endParaRPr lang="en-US" sz="1200" dirty="0"/>
          </a:p>
          <a:p>
            <a:pPr indent="0" marL="0">
              <a:lnSpc>
                <a:spcPct val="130000"/>
              </a:lnSpc>
              <a:buNone/>
            </a:pPr>
            <a:r>
              <a:rPr lang="en-US" sz="1200" dirty="0">
                <a:solidFill>
                  <a:srgbClr val="94A3B8"/>
                </a:solidFill>
                <a:latin typeface="Georgia" pitchFamily="34" charset="0"/>
                <a:ea typeface="Georgia" pitchFamily="34" charset="-122"/>
                <a:cs typeface="Georgia" pitchFamily="34" charset="-120"/>
              </a:rPr>
              <a:t>Veteran-Owned Small Business (VOSB)  |  Austin, TX</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3" name="Text 0"/>
          <p:cNvSpPr/>
          <p:nvPr/>
        </p:nvSpPr>
        <p:spPr>
          <a:xfrm>
            <a:off x="731520" y="457200"/>
            <a:ext cx="76809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Who We Are</a:t>
            </a:r>
            <a:endParaRPr lang="en-US" sz="2800" dirty="0"/>
          </a:p>
        </p:txBody>
      </p:sp>
      <p:sp>
        <p:nvSpPr>
          <p:cNvPr id="4" name="Text 1"/>
          <p:cNvSpPr/>
          <p:nvPr/>
        </p:nvSpPr>
        <p:spPr>
          <a:xfrm>
            <a:off x="731520" y="1188720"/>
            <a:ext cx="4114800" cy="2743200"/>
          </a:xfrm>
          <a:prstGeom prst="rect">
            <a:avLst/>
          </a:prstGeom>
          <a:noFill/>
          <a:ln/>
        </p:spPr>
        <p:txBody>
          <a:bodyPr wrap="square" rtlCol="0" anchor="ctr"/>
          <a:lstStyle/>
          <a:p>
            <a:pPr indent="0" marL="0">
              <a:lnSpc>
                <a:spcPct val="130000"/>
              </a:lnSpc>
              <a:buNone/>
            </a:pPr>
            <a:r>
              <a:rPr lang="en-US" sz="1100" dirty="0">
                <a:solidFill>
                  <a:srgbClr val="E2E8F0"/>
                </a:solidFill>
                <a:latin typeface="Calibri" pitchFamily="34" charset="0"/>
                <a:ea typeface="Calibri" pitchFamily="34" charset="-122"/>
                <a:cs typeface="Calibri" pitchFamily="34" charset="-120"/>
              </a:rPr>
              <a:t>The Collaborative Advocate Foundation (501(c)(3))</a:t>
            </a:r>
            <a:endParaRPr lang="en-US" sz="1100" dirty="0"/>
          </a:p>
          <a:p>
            <a:pPr indent="0" marL="0">
              <a:lnSpc>
                <a:spcPct val="130000"/>
              </a:lnSpc>
              <a:buNone/>
            </a:pPr>
            <a:r>
              <a:rPr lang="en-US" sz="1100" dirty="0">
                <a:solidFill>
                  <a:srgbClr val="E2E8F0"/>
                </a:solidFill>
                <a:latin typeface="Calibri" pitchFamily="34" charset="0"/>
                <a:ea typeface="Calibri" pitchFamily="34" charset="-122"/>
                <a:cs typeface="Calibri" pitchFamily="34" charset="-120"/>
              </a:rPr>
              <a:t>Nonprofit arm — community programs, grants, research</a:t>
            </a:r>
            <a:endParaRPr lang="en-US" sz="1100" dirty="0"/>
          </a:p>
          <a:p>
            <a:pPr indent="0" marL="0">
              <a:lnSpc>
                <a:spcPct val="130000"/>
              </a:lnSpc>
              <a:buNone/>
            </a:pPr>
            <a:endParaRPr lang="en-US" sz="1100" dirty="0"/>
          </a:p>
          <a:p>
            <a:pPr indent="0" marL="0">
              <a:lnSpc>
                <a:spcPct val="130000"/>
              </a:lnSpc>
              <a:buNone/>
            </a:pPr>
            <a:r>
              <a:rPr lang="en-US" sz="1100" dirty="0">
                <a:solidFill>
                  <a:srgbClr val="E2E8F0"/>
                </a:solidFill>
                <a:latin typeface="Calibri" pitchFamily="34" charset="0"/>
                <a:ea typeface="Calibri" pitchFamily="34" charset="-122"/>
                <a:cs typeface="Calibri" pitchFamily="34" charset="-120"/>
              </a:rPr>
              <a:t>The Collaborative Advocate LLC (VOSB)</a:t>
            </a:r>
            <a:endParaRPr lang="en-US" sz="1100" dirty="0"/>
          </a:p>
          <a:p>
            <a:pPr indent="0" marL="0">
              <a:lnSpc>
                <a:spcPct val="130000"/>
              </a:lnSpc>
              <a:buNone/>
            </a:pPr>
            <a:r>
              <a:rPr lang="en-US" sz="1100" dirty="0">
                <a:solidFill>
                  <a:srgbClr val="E2E8F0"/>
                </a:solidFill>
                <a:latin typeface="Calibri" pitchFamily="34" charset="0"/>
                <a:ea typeface="Calibri" pitchFamily="34" charset="-122"/>
                <a:cs typeface="Calibri" pitchFamily="34" charset="-120"/>
              </a:rPr>
              <a:t>Consulting, technology, government contracting</a:t>
            </a:r>
            <a:endParaRPr lang="en-US" sz="1100" dirty="0"/>
          </a:p>
          <a:p>
            <a:pPr indent="0" marL="0">
              <a:lnSpc>
                <a:spcPct val="130000"/>
              </a:lnSpc>
              <a:buNone/>
            </a:pPr>
            <a:endParaRPr lang="en-US" sz="1100" dirty="0"/>
          </a:p>
          <a:p>
            <a:pPr indent="0" marL="0">
              <a:lnSpc>
                <a:spcPct val="130000"/>
              </a:lnSpc>
              <a:buNone/>
            </a:pPr>
            <a:r>
              <a:rPr lang="en-US" sz="1100" dirty="0">
                <a:solidFill>
                  <a:srgbClr val="E2E8F0"/>
                </a:solidFill>
                <a:latin typeface="Calibri" pitchFamily="34" charset="0"/>
                <a:ea typeface="Calibri" pitchFamily="34" charset="-122"/>
                <a:cs typeface="Calibri" pitchFamily="34" charset="-120"/>
              </a:rPr>
              <a:t>Co-founded by Dr. Terry Flood, DHA &amp; Meredith Sisnett</a:t>
            </a:r>
            <a:endParaRPr lang="en-US" sz="1100" dirty="0"/>
          </a:p>
          <a:p>
            <a:pPr indent="0" marL="0">
              <a:lnSpc>
                <a:spcPct val="130000"/>
              </a:lnSpc>
              <a:buNone/>
            </a:pPr>
            <a:r>
              <a:rPr lang="en-US" sz="1100" dirty="0">
                <a:solidFill>
                  <a:srgbClr val="E2E8F0"/>
                </a:solidFill>
                <a:latin typeface="Calibri" pitchFamily="34" charset="0"/>
                <a:ea typeface="Calibri" pitchFamily="34" charset="-122"/>
                <a:cs typeface="Calibri" pitchFamily="34" charset="-120"/>
              </a:rPr>
              <a:t>Veterans  |  Implementation Scientists  |  Builders</a:t>
            </a:r>
            <a:endParaRPr lang="en-US" sz="1100" dirty="0"/>
          </a:p>
          <a:p>
            <a:pPr indent="0" marL="0">
              <a:lnSpc>
                <a:spcPct val="130000"/>
              </a:lnSpc>
              <a:buNone/>
            </a:pPr>
            <a:endParaRPr lang="en-US" sz="1100" dirty="0"/>
          </a:p>
          <a:p>
            <a:pPr indent="0" marL="0">
              <a:lnSpc>
                <a:spcPct val="130000"/>
              </a:lnSpc>
              <a:buNone/>
            </a:pPr>
            <a:r>
              <a:rPr lang="en-US" sz="1100" dirty="0">
                <a:solidFill>
                  <a:srgbClr val="E2E8F0"/>
                </a:solidFill>
                <a:latin typeface="Calibri" pitchFamily="34" charset="0"/>
                <a:ea typeface="Calibri" pitchFamily="34" charset="-122"/>
                <a:cs typeface="Calibri" pitchFamily="34" charset="-120"/>
              </a:rPr>
              <a:t>Based in Austin, TX — serving Austin, Manor, Pflugerville</a:t>
            </a:r>
            <a:endParaRPr lang="en-US" sz="1100" dirty="0"/>
          </a:p>
        </p:txBody>
      </p:sp>
      <p:sp>
        <p:nvSpPr>
          <p:cNvPr id="5" name="Text 2"/>
          <p:cNvSpPr/>
          <p:nvPr/>
        </p:nvSpPr>
        <p:spPr>
          <a:xfrm>
            <a:off x="5029200" y="1188720"/>
            <a:ext cx="3657600" cy="365760"/>
          </a:xfrm>
          <a:prstGeom prst="rect">
            <a:avLst/>
          </a:prstGeom>
          <a:noFill/>
          <a:ln/>
        </p:spPr>
        <p:txBody>
          <a:bodyPr wrap="square" rtlCol="0" anchor="ctr"/>
          <a:lstStyle/>
          <a:p>
            <a:pPr indent="0" marL="0">
              <a:buNone/>
            </a:pPr>
            <a:r>
              <a:rPr lang="en-US" sz="1400" b="1" dirty="0">
                <a:solidFill>
                  <a:srgbClr val="6366F1"/>
                </a:solidFill>
                <a:latin typeface="Georgia" pitchFamily="34" charset="0"/>
                <a:ea typeface="Georgia" pitchFamily="34" charset="-122"/>
                <a:cs typeface="Georgia" pitchFamily="34" charset="-120"/>
              </a:rPr>
              <a:t>What We Build:</a:t>
            </a:r>
            <a:endParaRPr lang="en-US" sz="1400" dirty="0"/>
          </a:p>
        </p:txBody>
      </p:sp>
      <p:sp>
        <p:nvSpPr>
          <p:cNvPr id="6" name="Text 3"/>
          <p:cNvSpPr/>
          <p:nvPr/>
        </p:nvSpPr>
        <p:spPr>
          <a:xfrm>
            <a:off x="5029200" y="1645920"/>
            <a:ext cx="3657600" cy="3200400"/>
          </a:xfrm>
          <a:prstGeom prst="rect">
            <a:avLst/>
          </a:prstGeom>
          <a:noFill/>
          <a:ln/>
        </p:spPr>
        <p:txBody>
          <a:bodyPr wrap="square" rtlCol="0" anchor="ctr"/>
          <a:lstStyle/>
          <a:p>
            <a:pPr indent="0" marL="0">
              <a:lnSpc>
                <a:spcPct val="125000"/>
              </a:lnSpc>
              <a:buNone/>
            </a:pPr>
            <a:r>
              <a:rPr lang="en-US" sz="1100" dirty="0">
                <a:solidFill>
                  <a:srgbClr val="E2E8F0"/>
                </a:solidFill>
                <a:latin typeface="Calibri" pitchFamily="34" charset="0"/>
                <a:ea typeface="Calibri" pitchFamily="34" charset="-122"/>
                <a:cs typeface="Calibri" pitchFamily="34" charset="-120"/>
              </a:rPr>
              <a:t>AI-powered technology that bridges the gap</a:t>
            </a:r>
            <a:endParaRPr lang="en-US" sz="1100" dirty="0"/>
          </a:p>
          <a:p>
            <a:pPr indent="0" marL="0">
              <a:lnSpc>
                <a:spcPct val="125000"/>
              </a:lnSpc>
              <a:buNone/>
            </a:pPr>
            <a:r>
              <a:rPr lang="en-US" sz="1100" dirty="0">
                <a:solidFill>
                  <a:srgbClr val="E2E8F0"/>
                </a:solidFill>
                <a:latin typeface="Calibri" pitchFamily="34" charset="0"/>
                <a:ea typeface="Calibri" pitchFamily="34" charset="-122"/>
                <a:cs typeface="Calibri" pitchFamily="34" charset="-120"/>
              </a:rPr>
              <a:t>between research and practice — so what works</a:t>
            </a:r>
            <a:endParaRPr lang="en-US" sz="1100" dirty="0"/>
          </a:p>
          <a:p>
            <a:pPr indent="0" marL="0">
              <a:lnSpc>
                <a:spcPct val="125000"/>
              </a:lnSpc>
              <a:buNone/>
            </a:pPr>
            <a:r>
              <a:rPr lang="en-US" sz="1100" dirty="0">
                <a:solidFill>
                  <a:srgbClr val="E2E8F0"/>
                </a:solidFill>
                <a:latin typeface="Calibri" pitchFamily="34" charset="0"/>
                <a:ea typeface="Calibri" pitchFamily="34" charset="-122"/>
                <a:cs typeface="Calibri" pitchFamily="34" charset="-120"/>
              </a:rPr>
              <a:t>in studies actually works in communities</a:t>
            </a:r>
            <a:endParaRPr lang="en-US" sz="1100" dirty="0"/>
          </a:p>
          <a:p>
            <a:pPr indent="0" marL="0">
              <a:lnSpc>
                <a:spcPct val="125000"/>
              </a:lnSpc>
              <a:buNone/>
            </a:pPr>
            <a:endParaRPr lang="en-US" sz="1100" dirty="0"/>
          </a:p>
          <a:p>
            <a:pPr indent="0" marL="0">
              <a:lnSpc>
                <a:spcPct val="125000"/>
              </a:lnSpc>
              <a:buNone/>
            </a:pPr>
            <a:r>
              <a:rPr lang="en-US" sz="1100" dirty="0">
                <a:solidFill>
                  <a:srgbClr val="E2E8F0"/>
                </a:solidFill>
                <a:latin typeface="Calibri" pitchFamily="34" charset="0"/>
                <a:ea typeface="Calibri" pitchFamily="34" charset="-122"/>
                <a:cs typeface="Calibri" pitchFamily="34" charset="-120"/>
              </a:rPr>
              <a:t>24 interconnected platforms spanning:</a:t>
            </a:r>
            <a:endParaRPr lang="en-US" sz="1100" dirty="0"/>
          </a:p>
          <a:p>
            <a:pPr indent="0" marL="0">
              <a:lnSpc>
                <a:spcPct val="125000"/>
              </a:lnSpc>
              <a:buNone/>
            </a:pPr>
            <a:r>
              <a:rPr lang="en-US" sz="1100" dirty="0">
                <a:solidFill>
                  <a:srgbClr val="E2E8F0"/>
                </a:solidFill>
                <a:latin typeface="Calibri" pitchFamily="34" charset="0"/>
                <a:ea typeface="Calibri" pitchFamily="34" charset="-122"/>
                <a:cs typeface="Calibri" pitchFamily="34" charset="-120"/>
              </a:rPr>
              <a:t>Health  |  Education  |  Workforce</a:t>
            </a:r>
            <a:endParaRPr lang="en-US" sz="1100" dirty="0"/>
          </a:p>
          <a:p>
            <a:pPr indent="0" marL="0">
              <a:lnSpc>
                <a:spcPct val="125000"/>
              </a:lnSpc>
              <a:buNone/>
            </a:pPr>
            <a:r>
              <a:rPr lang="en-US" sz="1100" dirty="0">
                <a:solidFill>
                  <a:srgbClr val="E2E8F0"/>
                </a:solidFill>
                <a:latin typeface="Calibri" pitchFamily="34" charset="0"/>
                <a:ea typeface="Calibri" pitchFamily="34" charset="-122"/>
                <a:cs typeface="Calibri" pitchFamily="34" charset="-120"/>
              </a:rPr>
              <a:t>Criminal Justice  |  Housing  |  Safety</a:t>
            </a:r>
            <a:endParaRPr lang="en-US" sz="1100" dirty="0"/>
          </a:p>
          <a:p>
            <a:pPr indent="0" marL="0">
              <a:lnSpc>
                <a:spcPct val="125000"/>
              </a:lnSpc>
              <a:buNone/>
            </a:pPr>
            <a:endParaRPr lang="en-US" sz="1100" dirty="0"/>
          </a:p>
          <a:p>
            <a:pPr indent="0" marL="0">
              <a:lnSpc>
                <a:spcPct val="125000"/>
              </a:lnSpc>
              <a:buNone/>
            </a:pPr>
            <a:r>
              <a:rPr lang="en-US" sz="1100" dirty="0">
                <a:solidFill>
                  <a:srgbClr val="E2E8F0"/>
                </a:solidFill>
                <a:latin typeface="Calibri" pitchFamily="34" charset="0"/>
                <a:ea typeface="Calibri" pitchFamily="34" charset="-122"/>
                <a:cs typeface="Calibri" pitchFamily="34" charset="-120"/>
              </a:rPr>
              <a:t>4-Engine AI + RAG Architecture:</a:t>
            </a:r>
            <a:endParaRPr lang="en-US" sz="1100" dirty="0"/>
          </a:p>
          <a:p>
            <a:pPr indent="0" marL="0">
              <a:lnSpc>
                <a:spcPct val="125000"/>
              </a:lnSpc>
              <a:buNone/>
            </a:pPr>
            <a:r>
              <a:rPr lang="en-US" sz="1100" dirty="0">
                <a:solidFill>
                  <a:srgbClr val="E2E8F0"/>
                </a:solidFill>
                <a:latin typeface="Calibri" pitchFamily="34" charset="0"/>
                <a:ea typeface="Calibri" pitchFamily="34" charset="-122"/>
                <a:cs typeface="Calibri" pitchFamily="34" charset="-120"/>
              </a:rPr>
              <a:t>GPT-5 + Claude + Scholarly RAG + Ecosystem RAG</a:t>
            </a:r>
            <a:endParaRPr lang="en-US" sz="1100" dirty="0"/>
          </a:p>
          <a:p>
            <a:pPr indent="0" marL="0">
              <a:lnSpc>
                <a:spcPct val="125000"/>
              </a:lnSpc>
              <a:buNone/>
            </a:pPr>
            <a:endParaRPr lang="en-US" sz="1100" dirty="0"/>
          </a:p>
          <a:p>
            <a:pPr indent="0" marL="0">
              <a:lnSpc>
                <a:spcPct val="125000"/>
              </a:lnSpc>
              <a:buNone/>
            </a:pPr>
            <a:r>
              <a:rPr lang="en-US" sz="1100" dirty="0">
                <a:solidFill>
                  <a:srgbClr val="E2E8F0"/>
                </a:solidFill>
                <a:latin typeface="Calibri" pitchFamily="34" charset="0"/>
                <a:ea typeface="Calibri" pitchFamily="34" charset="-122"/>
                <a:cs typeface="Calibri" pitchFamily="34" charset="-120"/>
              </a:rPr>
              <a:t>Every platform measured.</a:t>
            </a:r>
            <a:endParaRPr lang="en-US" sz="1100" dirty="0"/>
          </a:p>
          <a:p>
            <a:pPr indent="0" marL="0">
              <a:lnSpc>
                <a:spcPct val="125000"/>
              </a:lnSpc>
              <a:buNone/>
            </a:pPr>
            <a:r>
              <a:rPr lang="en-US" sz="1100" dirty="0">
                <a:solidFill>
                  <a:srgbClr val="E2E8F0"/>
                </a:solidFill>
                <a:latin typeface="Calibri" pitchFamily="34" charset="0"/>
                <a:ea typeface="Calibri" pitchFamily="34" charset="-122"/>
                <a:cs typeface="Calibri" pitchFamily="34" charset="-120"/>
              </a:rPr>
              <a:t>Every intervention tracked.</a:t>
            </a:r>
            <a:endParaRPr lang="en-US" sz="1100" dirty="0"/>
          </a:p>
          <a:p>
            <a:pPr indent="0" marL="0">
              <a:lnSpc>
                <a:spcPct val="125000"/>
              </a:lnSpc>
              <a:buNone/>
            </a:pPr>
            <a:r>
              <a:rPr lang="en-US" sz="1100" dirty="0">
                <a:solidFill>
                  <a:srgbClr val="E2E8F0"/>
                </a:solidFill>
                <a:latin typeface="Calibri" pitchFamily="34" charset="0"/>
                <a:ea typeface="Calibri" pitchFamily="34" charset="-122"/>
                <a:cs typeface="Calibri" pitchFamily="34" charset="-120"/>
              </a:rPr>
              <a:t>Every outcome verified.</a:t>
            </a:r>
            <a:endParaRPr lang="en-US" sz="1100" dirty="0"/>
          </a:p>
          <a:p>
            <a:pPr indent="0" marL="0">
              <a:lnSpc>
                <a:spcPct val="125000"/>
              </a:lnSpc>
              <a:buNone/>
            </a:pPr>
            <a:r>
              <a:rPr lang="en-US" sz="1100" dirty="0">
                <a:solidFill>
                  <a:srgbClr val="E2E8F0"/>
                </a:solidFill>
                <a:latin typeface="Calibri" pitchFamily="34" charset="0"/>
                <a:ea typeface="Calibri" pitchFamily="34" charset="-122"/>
                <a:cs typeface="Calibri" pitchFamily="34" charset="-120"/>
              </a:rPr>
              <a:t>Every AI output cited.</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3" name="Text 0"/>
          <p:cNvSpPr/>
          <p:nvPr/>
        </p:nvSpPr>
        <p:spPr>
          <a:xfrm>
            <a:off x="731520" y="365760"/>
            <a:ext cx="7680960" cy="457200"/>
          </a:xfrm>
          <a:prstGeom prst="rect">
            <a:avLst/>
          </a:prstGeom>
          <a:noFill/>
          <a:ln/>
        </p:spPr>
        <p:txBody>
          <a:bodyPr wrap="square"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RPLICE — The AI-Powered Implementation Science Engine</a:t>
            </a:r>
            <a:endParaRPr lang="en-US" sz="2200" dirty="0"/>
          </a:p>
        </p:txBody>
      </p:sp>
      <p:sp>
        <p:nvSpPr>
          <p:cNvPr id="4" name="Text 1"/>
          <p:cNvSpPr/>
          <p:nvPr/>
        </p:nvSpPr>
        <p:spPr>
          <a:xfrm>
            <a:off x="731520" y="822960"/>
            <a:ext cx="7680960" cy="274320"/>
          </a:xfrm>
          <a:prstGeom prst="rect">
            <a:avLst/>
          </a:prstGeom>
          <a:noFill/>
          <a:ln/>
        </p:spPr>
        <p:txBody>
          <a:bodyPr wrap="square" rtlCol="0" anchor="ctr"/>
          <a:lstStyle/>
          <a:p>
            <a:pPr indent="0" marL="0">
              <a:buNone/>
            </a:pPr>
            <a:r>
              <a:rPr lang="en-US" sz="1200" dirty="0">
                <a:solidFill>
                  <a:srgbClr val="94A3B8"/>
                </a:solidFill>
                <a:latin typeface="Georgia" pitchFamily="34" charset="0"/>
                <a:ea typeface="Georgia" pitchFamily="34" charset="-122"/>
                <a:cs typeface="Georgia" pitchFamily="34" charset="-120"/>
              </a:rPr>
              <a:t>Research-to-Practice Implementation with fidelity for all stakeholders</a:t>
            </a:r>
            <a:endParaRPr lang="en-US" sz="1200" dirty="0"/>
          </a:p>
        </p:txBody>
      </p:sp>
      <p:sp>
        <p:nvSpPr>
          <p:cNvPr id="5" name="Text 2"/>
          <p:cNvSpPr/>
          <p:nvPr/>
        </p:nvSpPr>
        <p:spPr>
          <a:xfrm>
            <a:off x="731520" y="1371600"/>
            <a:ext cx="3840480" cy="274320"/>
          </a:xfrm>
          <a:prstGeom prst="rect">
            <a:avLst/>
          </a:prstGeom>
          <a:noFill/>
          <a:ln/>
        </p:spPr>
        <p:txBody>
          <a:bodyPr wrap="square" rtlCol="0" anchor="ctr"/>
          <a:lstStyle/>
          <a:p>
            <a:pPr indent="0" marL="0">
              <a:buNone/>
            </a:pPr>
            <a:r>
              <a:rPr lang="en-US" sz="1300" b="1" dirty="0">
                <a:solidFill>
                  <a:srgbClr val="14B8A6"/>
                </a:solidFill>
                <a:latin typeface="Georgia" pitchFamily="34" charset="0"/>
                <a:ea typeface="Georgia" pitchFamily="34" charset="-122"/>
                <a:cs typeface="Georgia" pitchFamily="34" charset="-120"/>
              </a:rPr>
              <a:t>What RPLICE Does:</a:t>
            </a:r>
            <a:endParaRPr lang="en-US" sz="1300" dirty="0"/>
          </a:p>
        </p:txBody>
      </p:sp>
      <p:sp>
        <p:nvSpPr>
          <p:cNvPr id="6" name="Text 3"/>
          <p:cNvSpPr/>
          <p:nvPr/>
        </p:nvSpPr>
        <p:spPr>
          <a:xfrm>
            <a:off x="731520" y="1737360"/>
            <a:ext cx="3840480" cy="2926080"/>
          </a:xfrm>
          <a:prstGeom prst="rect">
            <a:avLst/>
          </a:prstGeom>
          <a:noFill/>
          <a:ln/>
        </p:spPr>
        <p:txBody>
          <a:bodyPr wrap="square" rtlCol="0" anchor="ctr"/>
          <a:lstStyle/>
          <a:p>
            <a:pPr indent="0" marL="0">
              <a:lnSpc>
                <a:spcPct val="125000"/>
              </a:lnSpc>
              <a:buNone/>
            </a:pPr>
            <a:r>
              <a:rPr lang="en-US" sz="1050" dirty="0">
                <a:solidFill>
                  <a:srgbClr val="E2E8F0"/>
                </a:solidFill>
                <a:latin typeface="Calibri" pitchFamily="34" charset="0"/>
                <a:ea typeface="Calibri" pitchFamily="34" charset="-122"/>
                <a:cs typeface="Calibri" pitchFamily="34" charset="-120"/>
              </a:rPr>
              <a:t>• Operationalizes CFIR 2.0, RE-AIM, EPIS frameworks</a:t>
            </a:r>
            <a:endParaRPr lang="en-US" sz="1050" dirty="0"/>
          </a:p>
          <a:p>
            <a:pPr indent="0" marL="0">
              <a:lnSpc>
                <a:spcPct val="125000"/>
              </a:lnSpc>
              <a:buNone/>
            </a:pPr>
            <a:r>
              <a:rPr lang="en-US" sz="1050" dirty="0">
                <a:solidFill>
                  <a:srgbClr val="E2E8F0"/>
                </a:solidFill>
                <a:latin typeface="Calibri" pitchFamily="34" charset="0"/>
                <a:ea typeface="Calibri" pitchFamily="34" charset="-122"/>
                <a:cs typeface="Calibri" pitchFamily="34" charset="-120"/>
              </a:rPr>
              <a:t>• MAP-GAP Governance Cycle:</a:t>
            </a:r>
            <a:endParaRPr lang="en-US" sz="1050" dirty="0"/>
          </a:p>
          <a:p>
            <a:pPr indent="0" marL="0">
              <a:lnSpc>
                <a:spcPct val="125000"/>
              </a:lnSpc>
              <a:buNone/>
            </a:pPr>
            <a:r>
              <a:rPr lang="en-US" sz="1050" dirty="0">
                <a:solidFill>
                  <a:srgbClr val="E2E8F0"/>
                </a:solidFill>
                <a:latin typeface="Calibri" pitchFamily="34" charset="0"/>
                <a:ea typeface="Calibri" pitchFamily="34" charset="-122"/>
                <a:cs typeface="Calibri" pitchFamily="34" charset="-120"/>
              </a:rPr>
              <a:t>   Orient → Map → Gap → Act → Track → Reflect</a:t>
            </a:r>
            <a:endParaRPr lang="en-US" sz="1050" dirty="0"/>
          </a:p>
          <a:p>
            <a:pPr indent="0" marL="0">
              <a:lnSpc>
                <a:spcPct val="125000"/>
              </a:lnSpc>
              <a:buNone/>
            </a:pPr>
            <a:r>
              <a:rPr lang="en-US" sz="1050" dirty="0">
                <a:solidFill>
                  <a:srgbClr val="E2E8F0"/>
                </a:solidFill>
                <a:latin typeface="Calibri" pitchFamily="34" charset="0"/>
                <a:ea typeface="Calibri" pitchFamily="34" charset="-122"/>
                <a:cs typeface="Calibri" pitchFamily="34" charset="-120"/>
              </a:rPr>
              <a:t>• Three Realities Diagnostic:</a:t>
            </a:r>
            <a:endParaRPr lang="en-US" sz="1050" dirty="0"/>
          </a:p>
          <a:p>
            <a:pPr indent="0" marL="0">
              <a:lnSpc>
                <a:spcPct val="125000"/>
              </a:lnSpc>
              <a:buNone/>
            </a:pPr>
            <a:r>
              <a:rPr lang="en-US" sz="1050" dirty="0">
                <a:solidFill>
                  <a:srgbClr val="E2E8F0"/>
                </a:solidFill>
                <a:latin typeface="Calibri" pitchFamily="34" charset="0"/>
                <a:ea typeface="Calibri" pitchFamily="34" charset="-122"/>
                <a:cs typeface="Calibri" pitchFamily="34" charset="-120"/>
              </a:rPr>
              <a:t>   Designed vs. Operational vs. Experienced</a:t>
            </a:r>
            <a:endParaRPr lang="en-US" sz="1050" dirty="0"/>
          </a:p>
          <a:p>
            <a:pPr indent="0" marL="0">
              <a:lnSpc>
                <a:spcPct val="125000"/>
              </a:lnSpc>
              <a:buNone/>
            </a:pPr>
            <a:r>
              <a:rPr lang="en-US" sz="1050" dirty="0">
                <a:solidFill>
                  <a:srgbClr val="E2E8F0"/>
                </a:solidFill>
                <a:latin typeface="Calibri" pitchFamily="34" charset="0"/>
                <a:ea typeface="Calibri" pitchFamily="34" charset="-122"/>
                <a:cs typeface="Calibri" pitchFamily="34" charset="-120"/>
              </a:rPr>
              <a:t>• 6-Step Project Wizard with AI recommendations</a:t>
            </a:r>
            <a:endParaRPr lang="en-US" sz="1050" dirty="0"/>
          </a:p>
          <a:p>
            <a:pPr indent="0" marL="0">
              <a:lnSpc>
                <a:spcPct val="125000"/>
              </a:lnSpc>
              <a:buNone/>
            </a:pPr>
            <a:r>
              <a:rPr lang="en-US" sz="1050" dirty="0">
                <a:solidFill>
                  <a:srgbClr val="E2E8F0"/>
                </a:solidFill>
                <a:latin typeface="Calibri" pitchFamily="34" charset="0"/>
                <a:ea typeface="Calibri" pitchFamily="34" charset="-122"/>
                <a:cs typeface="Calibri" pitchFamily="34" charset="-120"/>
              </a:rPr>
              <a:t>• Validation &amp; Fidelity Hub</a:t>
            </a:r>
            <a:endParaRPr lang="en-US" sz="1050" dirty="0"/>
          </a:p>
          <a:p>
            <a:pPr indent="0" marL="0">
              <a:lnSpc>
                <a:spcPct val="125000"/>
              </a:lnSpc>
              <a:buNone/>
            </a:pPr>
            <a:r>
              <a:rPr lang="en-US" sz="1050" dirty="0">
                <a:solidFill>
                  <a:srgbClr val="E2E8F0"/>
                </a:solidFill>
                <a:latin typeface="Calibri" pitchFamily="34" charset="0"/>
                <a:ea typeface="Calibri" pitchFamily="34" charset="-122"/>
                <a:cs typeface="Calibri" pitchFamily="34" charset="-120"/>
              </a:rPr>
              <a:t>• SALP continuous monitoring engine</a:t>
            </a:r>
            <a:endParaRPr lang="en-US" sz="1050" dirty="0"/>
          </a:p>
          <a:p>
            <a:pPr indent="0" marL="0">
              <a:lnSpc>
                <a:spcPct val="125000"/>
              </a:lnSpc>
              <a:buNone/>
            </a:pPr>
            <a:r>
              <a:rPr lang="en-US" sz="1050" dirty="0">
                <a:solidFill>
                  <a:srgbClr val="E2E8F0"/>
                </a:solidFill>
                <a:latin typeface="Calibri" pitchFamily="34" charset="0"/>
                <a:ea typeface="Calibri" pitchFamily="34" charset="-122"/>
                <a:cs typeface="Calibri" pitchFamily="34" charset="-120"/>
              </a:rPr>
              <a:t>• Grant compliance tracking</a:t>
            </a:r>
            <a:endParaRPr lang="en-US" sz="1050" dirty="0"/>
          </a:p>
          <a:p>
            <a:pPr indent="0" marL="0">
              <a:lnSpc>
                <a:spcPct val="125000"/>
              </a:lnSpc>
              <a:buNone/>
            </a:pPr>
            <a:r>
              <a:rPr lang="en-US" sz="1050" dirty="0">
                <a:solidFill>
                  <a:srgbClr val="E2E8F0"/>
                </a:solidFill>
                <a:latin typeface="Calibri" pitchFamily="34" charset="0"/>
                <a:ea typeface="Calibri" pitchFamily="34" charset="-122"/>
                <a:cs typeface="Calibri" pitchFamily="34" charset="-120"/>
              </a:rPr>
              <a:t>• 167 database tables | 223+ pages</a:t>
            </a:r>
            <a:endParaRPr lang="en-US" sz="1050" dirty="0"/>
          </a:p>
        </p:txBody>
      </p:sp>
      <p:sp>
        <p:nvSpPr>
          <p:cNvPr id="7" name="Text 4"/>
          <p:cNvSpPr/>
          <p:nvPr/>
        </p:nvSpPr>
        <p:spPr>
          <a:xfrm>
            <a:off x="4846320" y="1371600"/>
            <a:ext cx="3840480" cy="274320"/>
          </a:xfrm>
          <a:prstGeom prst="rect">
            <a:avLst/>
          </a:prstGeom>
          <a:noFill/>
          <a:ln/>
        </p:spPr>
        <p:txBody>
          <a:bodyPr wrap="square" rtlCol="0" anchor="ctr"/>
          <a:lstStyle/>
          <a:p>
            <a:pPr indent="0" marL="0">
              <a:buNone/>
            </a:pPr>
            <a:r>
              <a:rPr lang="en-US" sz="1300" b="1" dirty="0">
                <a:solidFill>
                  <a:srgbClr val="F59E0B"/>
                </a:solidFill>
                <a:latin typeface="Georgia" pitchFamily="34" charset="0"/>
                <a:ea typeface="Georgia" pitchFamily="34" charset="-122"/>
                <a:cs typeface="Georgia" pitchFamily="34" charset="-120"/>
              </a:rPr>
              <a:t>AI + RAG Architecture (4 Engines):</a:t>
            </a:r>
            <a:endParaRPr lang="en-US" sz="1300" dirty="0"/>
          </a:p>
        </p:txBody>
      </p:sp>
      <p:sp>
        <p:nvSpPr>
          <p:cNvPr id="8" name="Text 5"/>
          <p:cNvSpPr/>
          <p:nvPr/>
        </p:nvSpPr>
        <p:spPr>
          <a:xfrm>
            <a:off x="4846320" y="1737360"/>
            <a:ext cx="3840480" cy="3200400"/>
          </a:xfrm>
          <a:prstGeom prst="rect">
            <a:avLst/>
          </a:prstGeom>
          <a:noFill/>
          <a:ln/>
        </p:spPr>
        <p:txBody>
          <a:bodyPr wrap="square" rtlCol="0" anchor="ctr"/>
          <a:lstStyle/>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GPT-5 — structured analysis &amp; recommendations</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Claude Sonnet — nuanced reasoning &amp; synthesis</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Scholarly Research RAG — 6 live databases</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PubMed | Semantic Scholar | CrossRef</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Europe PMC | medRxiv | bioRxiv</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Ecosystem RAG — platform-aware context</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Knows YOUR data, YOUR participants</a:t>
            </a:r>
            <a:endParaRPr lang="en-US" sz="1050" dirty="0"/>
          </a:p>
          <a:p>
            <a:pPr indent="0" marL="0">
              <a:lnSpc>
                <a:spcPct val="120000"/>
              </a:lnSpc>
              <a:buNone/>
            </a:pP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"ALL" mode fires all engines in parallel,</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then synthesizes into one unified response</a:t>
            </a:r>
            <a:endParaRPr lang="en-US" sz="1050" dirty="0"/>
          </a:p>
          <a:p>
            <a:pPr indent="0" marL="0">
              <a:lnSpc>
                <a:spcPct val="120000"/>
              </a:lnSpc>
              <a:buNone/>
            </a:pP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Anti-hallucination guardrails</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APA citations on every response</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Bias-auditable output chains</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Ethical, transparent, community-serving AI</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3" name="Text 0"/>
          <p:cNvSpPr/>
          <p:nvPr/>
        </p:nvSpPr>
        <p:spPr>
          <a:xfrm>
            <a:off x="731520" y="365760"/>
            <a:ext cx="7680960" cy="4572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AI Architecture Deep Dive</a:t>
            </a:r>
            <a:endParaRPr lang="en-US" sz="2400" dirty="0"/>
          </a:p>
        </p:txBody>
      </p:sp>
      <p:sp>
        <p:nvSpPr>
          <p:cNvPr id="4" name="Text 1"/>
          <p:cNvSpPr/>
          <p:nvPr/>
        </p:nvSpPr>
        <p:spPr>
          <a:xfrm>
            <a:off x="731520" y="822960"/>
            <a:ext cx="7680960" cy="274320"/>
          </a:xfrm>
          <a:prstGeom prst="rect">
            <a:avLst/>
          </a:prstGeom>
          <a:noFill/>
          <a:ln/>
        </p:spPr>
        <p:txBody>
          <a:bodyPr wrap="square" rtlCol="0" anchor="ctr"/>
          <a:lstStyle/>
          <a:p>
            <a:pPr indent="0" marL="0">
              <a:buNone/>
            </a:pPr>
            <a:r>
              <a:rPr lang="en-US" sz="1200" dirty="0">
                <a:solidFill>
                  <a:srgbClr val="F59E0B"/>
                </a:solidFill>
                <a:latin typeface="Georgia" pitchFamily="34" charset="0"/>
                <a:ea typeface="Georgia" pitchFamily="34" charset="-122"/>
                <a:cs typeface="Georgia" pitchFamily="34" charset="-120"/>
              </a:rPr>
              <a:t>Ethical, Evidence-Grounded, Community-Serving AI</a:t>
            </a:r>
            <a:endParaRPr lang="en-US" sz="1200" dirty="0"/>
          </a:p>
        </p:txBody>
      </p:sp>
      <p:sp>
        <p:nvSpPr>
          <p:cNvPr id="5" name="Text 2"/>
          <p:cNvSpPr/>
          <p:nvPr/>
        </p:nvSpPr>
        <p:spPr>
          <a:xfrm>
            <a:off x="731520" y="1371600"/>
            <a:ext cx="3840480" cy="274320"/>
          </a:xfrm>
          <a:prstGeom prst="rect">
            <a:avLst/>
          </a:prstGeom>
          <a:noFill/>
          <a:ln/>
        </p:spPr>
        <p:txBody>
          <a:bodyPr wrap="square" rtlCol="0" anchor="ctr"/>
          <a:lstStyle/>
          <a:p>
            <a:pPr indent="0" marL="0">
              <a:buNone/>
            </a:pPr>
            <a:r>
              <a:rPr lang="en-US" sz="1300" b="1" dirty="0">
                <a:solidFill>
                  <a:srgbClr val="14B8A6"/>
                </a:solidFill>
                <a:latin typeface="Georgia" pitchFamily="34" charset="0"/>
                <a:ea typeface="Georgia" pitchFamily="34" charset="-122"/>
                <a:cs typeface="Georgia" pitchFamily="34" charset="-120"/>
              </a:rPr>
              <a:t>The RAG Pipeline:</a:t>
            </a:r>
            <a:endParaRPr lang="en-US" sz="1300" dirty="0"/>
          </a:p>
        </p:txBody>
      </p:sp>
      <p:sp>
        <p:nvSpPr>
          <p:cNvPr id="6" name="Text 3"/>
          <p:cNvSpPr/>
          <p:nvPr/>
        </p:nvSpPr>
        <p:spPr>
          <a:xfrm>
            <a:off x="731520" y="1737360"/>
            <a:ext cx="3840480" cy="2926080"/>
          </a:xfrm>
          <a:prstGeom prst="rect">
            <a:avLst/>
          </a:prstGeom>
          <a:noFill/>
          <a:ln/>
        </p:spPr>
        <p:txBody>
          <a:bodyPr wrap="square" rtlCol="0" anchor="ctr"/>
          <a:lstStyle/>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1. User asks about their program</a:t>
            </a:r>
            <a:endParaRPr lang="en-US" sz="1050" dirty="0"/>
          </a:p>
          <a:p>
            <a:pPr indent="0" marL="0">
              <a:lnSpc>
                <a:spcPct val="120000"/>
              </a:lnSpc>
              <a:buNone/>
            </a:pP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2. RPLICE simultaneously queries:</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 6 scholarly databases (PubMed, etc.)</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 Ecosystem database (YOUR actual data)</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 Implementation science frameworks</a:t>
            </a:r>
            <a:endParaRPr lang="en-US" sz="1050" dirty="0"/>
          </a:p>
          <a:p>
            <a:pPr indent="0" marL="0">
              <a:lnSpc>
                <a:spcPct val="120000"/>
              </a:lnSpc>
              <a:buNone/>
            </a:pP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3. GPT-5 + Claude Sonnet process in parallel</a:t>
            </a:r>
            <a:endParaRPr lang="en-US" sz="1050" dirty="0"/>
          </a:p>
          <a:p>
            <a:pPr indent="0" marL="0">
              <a:lnSpc>
                <a:spcPct val="120000"/>
              </a:lnSpc>
              <a:buNone/>
            </a:pP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4. Anti-hallucination layer verifies every claim</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against source data</a:t>
            </a:r>
            <a:endParaRPr lang="en-US" sz="1050" dirty="0"/>
          </a:p>
          <a:p>
            <a:pPr indent="0" marL="0">
              <a:lnSpc>
                <a:spcPct val="120000"/>
              </a:lnSpc>
              <a:buNone/>
            </a:pP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5. Synthesized response with APA citations</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and confidence scores</a:t>
            </a:r>
            <a:endParaRPr lang="en-US" sz="1050" dirty="0"/>
          </a:p>
        </p:txBody>
      </p:sp>
      <p:sp>
        <p:nvSpPr>
          <p:cNvPr id="7" name="Text 4"/>
          <p:cNvSpPr/>
          <p:nvPr/>
        </p:nvSpPr>
        <p:spPr>
          <a:xfrm>
            <a:off x="4846320" y="1371600"/>
            <a:ext cx="3840480" cy="274320"/>
          </a:xfrm>
          <a:prstGeom prst="rect">
            <a:avLst/>
          </a:prstGeom>
          <a:noFill/>
          <a:ln/>
        </p:spPr>
        <p:txBody>
          <a:bodyPr wrap="square" rtlCol="0" anchor="ctr"/>
          <a:lstStyle/>
          <a:p>
            <a:pPr indent="0" marL="0">
              <a:buNone/>
            </a:pPr>
            <a:r>
              <a:rPr lang="en-US" sz="1300" b="1" dirty="0">
                <a:solidFill>
                  <a:srgbClr val="6366F1"/>
                </a:solidFill>
                <a:latin typeface="Georgia" pitchFamily="34" charset="0"/>
                <a:ea typeface="Georgia" pitchFamily="34" charset="-122"/>
                <a:cs typeface="Georgia" pitchFamily="34" charset="-120"/>
              </a:rPr>
              <a:t>What This Means in Practice:</a:t>
            </a:r>
            <a:endParaRPr lang="en-US" sz="1300" dirty="0"/>
          </a:p>
        </p:txBody>
      </p:sp>
      <p:sp>
        <p:nvSpPr>
          <p:cNvPr id="8" name="Text 5"/>
          <p:cNvSpPr/>
          <p:nvPr/>
        </p:nvSpPr>
        <p:spPr>
          <a:xfrm>
            <a:off x="4846320" y="1737360"/>
            <a:ext cx="3840480" cy="3200400"/>
          </a:xfrm>
          <a:prstGeom prst="rect">
            <a:avLst/>
          </a:prstGeom>
          <a:noFill/>
          <a:ln/>
        </p:spPr>
        <p:txBody>
          <a:bodyPr wrap="square" rtlCol="0" anchor="ctr"/>
          <a:lstStyle/>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Program Manager asks:</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"Is my mentoring program working?"</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RPLICE returns:</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Your specific outcome data (RAG)</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Published evidence comparison (PubMed)</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Where fidelity has drifted (CFIR domains)</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Corrective actions recommended</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All with APA citations</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Ethical AI Principles:</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Transparent — sources always cited</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Auditable — bias can be traced and fixed</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Community-owned — data stays with the org</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Anti-extractive — serves, never surveils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3" name="Text 0"/>
          <p:cNvSpPr/>
          <p:nvPr/>
        </p:nvSpPr>
        <p:spPr>
          <a:xfrm>
            <a:off x="731520" y="365760"/>
            <a:ext cx="7680960" cy="4572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The 24-Platform Ecosystem</a:t>
            </a:r>
            <a:endParaRPr lang="en-US" sz="2400" dirty="0"/>
          </a:p>
        </p:txBody>
      </p:sp>
      <p:sp>
        <p:nvSpPr>
          <p:cNvPr id="4" name="Text 1"/>
          <p:cNvSpPr/>
          <p:nvPr/>
        </p:nvSpPr>
        <p:spPr>
          <a:xfrm>
            <a:off x="731520" y="822960"/>
            <a:ext cx="7680960" cy="274320"/>
          </a:xfrm>
          <a:prstGeom prst="rect">
            <a:avLst/>
          </a:prstGeom>
          <a:noFill/>
          <a:ln/>
        </p:spPr>
        <p:txBody>
          <a:bodyPr wrap="square" rtlCol="0" anchor="ctr"/>
          <a:lstStyle/>
          <a:p>
            <a:pPr indent="0" marL="0">
              <a:buNone/>
            </a:pPr>
            <a:r>
              <a:rPr lang="en-US" sz="1200" dirty="0">
                <a:solidFill>
                  <a:srgbClr val="94A3B8"/>
                </a:solidFill>
                <a:latin typeface="Georgia" pitchFamily="34" charset="0"/>
                <a:ea typeface="Georgia" pitchFamily="34" charset="-122"/>
                <a:cs typeface="Georgia" pitchFamily="34" charset="-120"/>
              </a:rPr>
              <a:t>Every platform AI-enabled, measured, and connected through Ecosystem Nexus</a:t>
            </a:r>
            <a:endParaRPr lang="en-US" sz="1200" dirty="0"/>
          </a:p>
        </p:txBody>
      </p:sp>
      <p:sp>
        <p:nvSpPr>
          <p:cNvPr id="5" name="Text 2"/>
          <p:cNvSpPr/>
          <p:nvPr/>
        </p:nvSpPr>
        <p:spPr>
          <a:xfrm>
            <a:off x="731520" y="1371600"/>
            <a:ext cx="2468880" cy="274320"/>
          </a:xfrm>
          <a:prstGeom prst="rect">
            <a:avLst/>
          </a:prstGeom>
          <a:noFill/>
          <a:ln/>
        </p:spPr>
        <p:txBody>
          <a:bodyPr wrap="square" rtlCol="0" anchor="ctr"/>
          <a:lstStyle/>
          <a:p>
            <a:pPr indent="0" marL="0">
              <a:buNone/>
            </a:pPr>
            <a:r>
              <a:rPr lang="en-US" sz="1100" b="1" dirty="0">
                <a:solidFill>
                  <a:srgbClr val="6366F1"/>
                </a:solidFill>
                <a:latin typeface="Georgia" pitchFamily="34" charset="0"/>
                <a:ea typeface="Georgia" pitchFamily="34" charset="-122"/>
                <a:cs typeface="Georgia" pitchFamily="34" charset="-120"/>
              </a:rPr>
              <a:t>HEALTH</a:t>
            </a:r>
            <a:endParaRPr lang="en-US" sz="1100" dirty="0"/>
          </a:p>
        </p:txBody>
      </p:sp>
      <p:sp>
        <p:nvSpPr>
          <p:cNvPr id="6" name="Text 3"/>
          <p:cNvSpPr/>
          <p:nvPr/>
        </p:nvSpPr>
        <p:spPr>
          <a:xfrm>
            <a:off x="731520" y="1691640"/>
            <a:ext cx="2468880" cy="1188720"/>
          </a:xfrm>
          <a:prstGeom prst="rect">
            <a:avLst/>
          </a:prstGeom>
          <a:noFill/>
          <a:ln/>
        </p:spPr>
        <p:txBody>
          <a:bodyPr wrap="square" rtlCol="0" anchor="ctr"/>
          <a:lstStyle/>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Whole-Person Health, Sankofa Health,</a:t>
            </a:r>
            <a:endParaRPr lang="en-US" sz="950" dirty="0"/>
          </a:p>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Black Maternal, Feminine Health,</a:t>
            </a:r>
            <a:endParaRPr lang="en-US" sz="950" dirty="0"/>
          </a:p>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Men's Health, SafeCogniCare,</a:t>
            </a:r>
            <a:endParaRPr lang="en-US" sz="950" dirty="0"/>
          </a:p>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PillScheduler, Autoimmune Thrive</a:t>
            </a:r>
            <a:endParaRPr lang="en-US" sz="950" dirty="0"/>
          </a:p>
        </p:txBody>
      </p:sp>
      <p:sp>
        <p:nvSpPr>
          <p:cNvPr id="7" name="Text 4"/>
          <p:cNvSpPr/>
          <p:nvPr/>
        </p:nvSpPr>
        <p:spPr>
          <a:xfrm>
            <a:off x="3474720" y="1371600"/>
            <a:ext cx="2468880" cy="274320"/>
          </a:xfrm>
          <a:prstGeom prst="rect">
            <a:avLst/>
          </a:prstGeom>
          <a:noFill/>
          <a:ln/>
        </p:spPr>
        <p:txBody>
          <a:bodyPr wrap="square" rtlCol="0" anchor="ctr"/>
          <a:lstStyle/>
          <a:p>
            <a:pPr indent="0" marL="0">
              <a:buNone/>
            </a:pPr>
            <a:r>
              <a:rPr lang="en-US" sz="1100" b="1" dirty="0">
                <a:solidFill>
                  <a:srgbClr val="6366F1"/>
                </a:solidFill>
                <a:latin typeface="Georgia" pitchFamily="34" charset="0"/>
                <a:ea typeface="Georgia" pitchFamily="34" charset="-122"/>
                <a:cs typeface="Georgia" pitchFamily="34" charset="-120"/>
              </a:rPr>
              <a:t>EDUCATION</a:t>
            </a:r>
            <a:endParaRPr lang="en-US" sz="1100" dirty="0"/>
          </a:p>
        </p:txBody>
      </p:sp>
      <p:sp>
        <p:nvSpPr>
          <p:cNvPr id="8" name="Text 5"/>
          <p:cNvSpPr/>
          <p:nvPr/>
        </p:nvSpPr>
        <p:spPr>
          <a:xfrm>
            <a:off x="3474720" y="1691640"/>
            <a:ext cx="2468880" cy="1188720"/>
          </a:xfrm>
          <a:prstGeom prst="rect">
            <a:avLst/>
          </a:prstGeom>
          <a:noFill/>
          <a:ln/>
        </p:spPr>
        <p:txBody>
          <a:bodyPr wrap="square" rtlCol="0" anchor="ctr"/>
          <a:lstStyle/>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ThriveUp Academy, ISSS,</a:t>
            </a:r>
            <a:endParaRPr lang="en-US" sz="950" dirty="0"/>
          </a:p>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WholeMind Learning,</a:t>
            </a:r>
            <a:endParaRPr lang="en-US" sz="950" dirty="0"/>
          </a:p>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Perfectly Different,</a:t>
            </a:r>
            <a:endParaRPr lang="en-US" sz="950" dirty="0"/>
          </a:p>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Speech Bridge</a:t>
            </a:r>
            <a:endParaRPr lang="en-US" sz="950" dirty="0"/>
          </a:p>
        </p:txBody>
      </p:sp>
      <p:sp>
        <p:nvSpPr>
          <p:cNvPr id="9" name="Text 6"/>
          <p:cNvSpPr/>
          <p:nvPr/>
        </p:nvSpPr>
        <p:spPr>
          <a:xfrm>
            <a:off x="6217920" y="1371600"/>
            <a:ext cx="2468880" cy="274320"/>
          </a:xfrm>
          <a:prstGeom prst="rect">
            <a:avLst/>
          </a:prstGeom>
          <a:noFill/>
          <a:ln/>
        </p:spPr>
        <p:txBody>
          <a:bodyPr wrap="square" rtlCol="0" anchor="ctr"/>
          <a:lstStyle/>
          <a:p>
            <a:pPr indent="0" marL="0">
              <a:buNone/>
            </a:pPr>
            <a:r>
              <a:rPr lang="en-US" sz="1100" b="1" dirty="0">
                <a:solidFill>
                  <a:srgbClr val="6366F1"/>
                </a:solidFill>
                <a:latin typeface="Georgia" pitchFamily="34" charset="0"/>
                <a:ea typeface="Georgia" pitchFamily="34" charset="-122"/>
                <a:cs typeface="Georgia" pitchFamily="34" charset="-120"/>
              </a:rPr>
              <a:t>WORKFORCE</a:t>
            </a:r>
            <a:endParaRPr lang="en-US" sz="1100" dirty="0"/>
          </a:p>
        </p:txBody>
      </p:sp>
      <p:sp>
        <p:nvSpPr>
          <p:cNvPr id="10" name="Text 7"/>
          <p:cNvSpPr/>
          <p:nvPr/>
        </p:nvSpPr>
        <p:spPr>
          <a:xfrm>
            <a:off x="6217920" y="1691640"/>
            <a:ext cx="2468880" cy="1188720"/>
          </a:xfrm>
          <a:prstGeom prst="rect">
            <a:avLst/>
          </a:prstGeom>
          <a:noFill/>
          <a:ln/>
        </p:spPr>
        <p:txBody>
          <a:bodyPr wrap="square" rtlCol="0" anchor="ctr"/>
          <a:lstStyle/>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Mission Transition, MCE,</a:t>
            </a:r>
            <a:endParaRPr lang="en-US" sz="950" dirty="0"/>
          </a:p>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Pinnacle Business,</a:t>
            </a:r>
            <a:endParaRPr lang="en-US" sz="950" dirty="0"/>
          </a:p>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Collaborative Advocate</a:t>
            </a:r>
            <a:endParaRPr lang="en-US" sz="950" dirty="0"/>
          </a:p>
        </p:txBody>
      </p:sp>
      <p:sp>
        <p:nvSpPr>
          <p:cNvPr id="11" name="Text 8"/>
          <p:cNvSpPr/>
          <p:nvPr/>
        </p:nvSpPr>
        <p:spPr>
          <a:xfrm>
            <a:off x="731520" y="3200400"/>
            <a:ext cx="2468880" cy="274320"/>
          </a:xfrm>
          <a:prstGeom prst="rect">
            <a:avLst/>
          </a:prstGeom>
          <a:noFill/>
          <a:ln/>
        </p:spPr>
        <p:txBody>
          <a:bodyPr wrap="square" rtlCol="0" anchor="ctr"/>
          <a:lstStyle/>
          <a:p>
            <a:pPr indent="0" marL="0">
              <a:buNone/>
            </a:pPr>
            <a:r>
              <a:rPr lang="en-US" sz="1100" b="1" dirty="0">
                <a:solidFill>
                  <a:srgbClr val="6366F1"/>
                </a:solidFill>
                <a:latin typeface="Georgia" pitchFamily="34" charset="0"/>
                <a:ea typeface="Georgia" pitchFamily="34" charset="-122"/>
                <a:cs typeface="Georgia" pitchFamily="34" charset="-120"/>
              </a:rPr>
              <a:t>SAFETY &amp; TECH</a:t>
            </a:r>
            <a:endParaRPr lang="en-US" sz="1100" dirty="0"/>
          </a:p>
        </p:txBody>
      </p:sp>
      <p:sp>
        <p:nvSpPr>
          <p:cNvPr id="12" name="Text 9"/>
          <p:cNvSpPr/>
          <p:nvPr/>
        </p:nvSpPr>
        <p:spPr>
          <a:xfrm>
            <a:off x="731520" y="3520440"/>
            <a:ext cx="2468880" cy="1188720"/>
          </a:xfrm>
          <a:prstGeom prst="rect">
            <a:avLst/>
          </a:prstGeom>
          <a:noFill/>
          <a:ln/>
        </p:spPr>
        <p:txBody>
          <a:bodyPr wrap="square" rtlCol="0" anchor="ctr"/>
          <a:lstStyle/>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SafeReport, Shield Atlas,</a:t>
            </a:r>
            <a:endParaRPr lang="en-US" sz="950" dirty="0"/>
          </a:p>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Video Creator AI,</a:t>
            </a:r>
            <a:endParaRPr lang="en-US" sz="950" dirty="0"/>
          </a:p>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Ad Targeting,</a:t>
            </a:r>
            <a:endParaRPr lang="en-US" sz="950" dirty="0"/>
          </a:p>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Ecosystem Nexus</a:t>
            </a:r>
            <a:endParaRPr lang="en-US" sz="950" dirty="0"/>
          </a:p>
        </p:txBody>
      </p:sp>
      <p:sp>
        <p:nvSpPr>
          <p:cNvPr id="13" name="Text 10"/>
          <p:cNvSpPr/>
          <p:nvPr/>
        </p:nvSpPr>
        <p:spPr>
          <a:xfrm>
            <a:off x="3474720" y="3200400"/>
            <a:ext cx="2468880" cy="274320"/>
          </a:xfrm>
          <a:prstGeom prst="rect">
            <a:avLst/>
          </a:prstGeom>
          <a:noFill/>
          <a:ln/>
        </p:spPr>
        <p:txBody>
          <a:bodyPr wrap="square" rtlCol="0" anchor="ctr"/>
          <a:lstStyle/>
          <a:p>
            <a:pPr indent="0" marL="0">
              <a:buNone/>
            </a:pPr>
            <a:r>
              <a:rPr lang="en-US" sz="1100" b="1" dirty="0">
                <a:solidFill>
                  <a:srgbClr val="6366F1"/>
                </a:solidFill>
                <a:latin typeface="Georgia" pitchFamily="34" charset="0"/>
                <a:ea typeface="Georgia" pitchFamily="34" charset="-122"/>
                <a:cs typeface="Georgia" pitchFamily="34" charset="-120"/>
              </a:rPr>
              <a:t>HOUSING</a:t>
            </a:r>
            <a:endParaRPr lang="en-US" sz="1100" dirty="0"/>
          </a:p>
        </p:txBody>
      </p:sp>
      <p:sp>
        <p:nvSpPr>
          <p:cNvPr id="14" name="Text 11"/>
          <p:cNvSpPr/>
          <p:nvPr/>
        </p:nvSpPr>
        <p:spPr>
          <a:xfrm>
            <a:off x="3474720" y="3520440"/>
            <a:ext cx="2468880" cy="1188720"/>
          </a:xfrm>
          <a:prstGeom prst="rect">
            <a:avLst/>
          </a:prstGeom>
          <a:noFill/>
          <a:ln/>
        </p:spPr>
        <p:txBody>
          <a:bodyPr wrap="square" rtlCol="0" anchor="ctr"/>
          <a:lstStyle/>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LifeBridge,</a:t>
            </a:r>
            <a:endParaRPr lang="en-US" sz="950" dirty="0"/>
          </a:p>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M2C Transition</a:t>
            </a:r>
            <a:endParaRPr lang="en-US" sz="950" dirty="0"/>
          </a:p>
        </p:txBody>
      </p:sp>
      <p:sp>
        <p:nvSpPr>
          <p:cNvPr id="15" name="Text 12"/>
          <p:cNvSpPr/>
          <p:nvPr/>
        </p:nvSpPr>
        <p:spPr>
          <a:xfrm>
            <a:off x="6217920" y="3200400"/>
            <a:ext cx="2468880" cy="274320"/>
          </a:xfrm>
          <a:prstGeom prst="rect">
            <a:avLst/>
          </a:prstGeom>
          <a:noFill/>
          <a:ln/>
        </p:spPr>
        <p:txBody>
          <a:bodyPr wrap="square" rtlCol="0" anchor="ctr"/>
          <a:lstStyle/>
          <a:p>
            <a:pPr indent="0" marL="0">
              <a:buNone/>
            </a:pPr>
            <a:r>
              <a:rPr lang="en-US" sz="1100" b="1" dirty="0">
                <a:solidFill>
                  <a:srgbClr val="6366F1"/>
                </a:solidFill>
                <a:latin typeface="Georgia" pitchFamily="34" charset="0"/>
                <a:ea typeface="Georgia" pitchFamily="34" charset="-122"/>
                <a:cs typeface="Georgia" pitchFamily="34" charset="-120"/>
              </a:rPr>
              <a:t>SCIENCE</a:t>
            </a:r>
            <a:endParaRPr lang="en-US" sz="1100" dirty="0"/>
          </a:p>
        </p:txBody>
      </p:sp>
      <p:sp>
        <p:nvSpPr>
          <p:cNvPr id="16" name="Text 13"/>
          <p:cNvSpPr/>
          <p:nvPr/>
        </p:nvSpPr>
        <p:spPr>
          <a:xfrm>
            <a:off x="6217920" y="3520440"/>
            <a:ext cx="2468880" cy="1188720"/>
          </a:xfrm>
          <a:prstGeom prst="rect">
            <a:avLst/>
          </a:prstGeom>
          <a:noFill/>
          <a:ln/>
        </p:spPr>
        <p:txBody>
          <a:bodyPr wrap="square" rtlCol="0" anchor="ctr"/>
          <a:lstStyle/>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RPLICE / Better Science Lab</a:t>
            </a:r>
            <a:endParaRPr lang="en-US" sz="950" dirty="0"/>
          </a:p>
          <a:p>
            <a:pPr indent="0" marL="0">
              <a:lnSpc>
                <a:spcPct val="120000"/>
              </a:lnSpc>
              <a:buNone/>
            </a:pPr>
            <a:r>
              <a:rPr lang="en-US" sz="950" dirty="0">
                <a:solidFill>
                  <a:srgbClr val="E2E8F0"/>
                </a:solidFill>
                <a:latin typeface="Calibri" pitchFamily="34" charset="0"/>
                <a:ea typeface="Calibri" pitchFamily="34" charset="-122"/>
                <a:cs typeface="Calibri" pitchFamily="34" charset="-120"/>
              </a:rPr>
              <a:t>(Implementation Science Engine)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3" name="Text 0"/>
          <p:cNvSpPr/>
          <p:nvPr/>
        </p:nvSpPr>
        <p:spPr>
          <a:xfrm>
            <a:off x="731520" y="365760"/>
            <a:ext cx="7680960" cy="4572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ISSS — K-12 Implementation Science Platform</a:t>
            </a:r>
            <a:endParaRPr lang="en-US" sz="2400" dirty="0"/>
          </a:p>
        </p:txBody>
      </p:sp>
      <p:sp>
        <p:nvSpPr>
          <p:cNvPr id="4" name="Text 1"/>
          <p:cNvSpPr/>
          <p:nvPr/>
        </p:nvSpPr>
        <p:spPr>
          <a:xfrm>
            <a:off x="731520" y="822960"/>
            <a:ext cx="7680960" cy="274320"/>
          </a:xfrm>
          <a:prstGeom prst="rect">
            <a:avLst/>
          </a:prstGeom>
          <a:noFill/>
          <a:ln/>
        </p:spPr>
        <p:txBody>
          <a:bodyPr wrap="square" rtlCol="0" anchor="ctr"/>
          <a:lstStyle/>
          <a:p>
            <a:pPr indent="0" marL="0">
              <a:buNone/>
            </a:pPr>
            <a:r>
              <a:rPr lang="en-US" sz="1200" dirty="0">
                <a:solidFill>
                  <a:srgbClr val="94A3B8"/>
                </a:solidFill>
                <a:latin typeface="Georgia" pitchFamily="34" charset="0"/>
                <a:ea typeface="Georgia" pitchFamily="34" charset="-122"/>
                <a:cs typeface="Georgia" pitchFamily="34" charset="-120"/>
              </a:rPr>
              <a:t>The only K-12 platform that tracks whether school interventions work as designed</a:t>
            </a:r>
            <a:endParaRPr lang="en-US" sz="1200" dirty="0"/>
          </a:p>
        </p:txBody>
      </p:sp>
      <p:sp>
        <p:nvSpPr>
          <p:cNvPr id="5" name="Text 2"/>
          <p:cNvSpPr/>
          <p:nvPr/>
        </p:nvSpPr>
        <p:spPr>
          <a:xfrm>
            <a:off x="731520" y="1371600"/>
            <a:ext cx="7680960" cy="3657600"/>
          </a:xfrm>
          <a:prstGeom prst="rect">
            <a:avLst/>
          </a:prstGeom>
          <a:noFill/>
          <a:ln/>
        </p:spPr>
        <p:txBody>
          <a:bodyPr wrap="square" rtlCol="0" anchor="ctr"/>
          <a:lstStyle/>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5-Layer Progressive Model:</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Foundation → Assessment → Intervention →</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Monitoring → Sustainability</a:t>
            </a:r>
            <a:endParaRPr lang="en-US" sz="1100" dirty="0"/>
          </a:p>
          <a:p>
            <a:pPr indent="0" marL="0">
              <a:lnSpc>
                <a:spcPct val="120000"/>
              </a:lnSpc>
              <a:buNone/>
            </a:pP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7 Role-Specific AI-Powered Portals:</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District Leaders • Principals • Teachers</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Counselors • Parents • Students • Coaches</a:t>
            </a:r>
            <a:endParaRPr lang="en-US" sz="1100" dirty="0"/>
          </a:p>
          <a:p>
            <a:pPr indent="0" marL="0">
              <a:lnSpc>
                <a:spcPct val="120000"/>
              </a:lnSpc>
              <a:buNone/>
            </a:pP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AI Integration:</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RAG pipeline queries intervention evidence</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Fidelity monitoring flags implementation drift</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Recommends corrective actions with citations</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Connects to broader ecosystem automatically</a:t>
            </a:r>
            <a:endParaRPr lang="en-US" sz="1100" dirty="0"/>
          </a:p>
          <a:p>
            <a:pPr indent="0" marL="0">
              <a:lnSpc>
                <a:spcPct val="120000"/>
              </a:lnSpc>
              <a:buNone/>
            </a:pP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Ecosystem Connections:</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Student home instability → LifeBridge housing</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Parent mental health need → WholeMind support</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Substance use concern → RPLICE DFC tracking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3" name="Text 0"/>
          <p:cNvSpPr/>
          <p:nvPr/>
        </p:nvSpPr>
        <p:spPr>
          <a:xfrm>
            <a:off x="731520" y="365760"/>
            <a:ext cx="7680960" cy="4572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Why We Make a Strong Collaboration Partner</a:t>
            </a:r>
            <a:endParaRPr lang="en-US" sz="2400" dirty="0"/>
          </a:p>
        </p:txBody>
      </p:sp>
      <p:sp>
        <p:nvSpPr>
          <p:cNvPr id="4" name="Text 1"/>
          <p:cNvSpPr/>
          <p:nvPr/>
        </p:nvSpPr>
        <p:spPr>
          <a:xfrm>
            <a:off x="731520" y="1097280"/>
            <a:ext cx="3840480" cy="274320"/>
          </a:xfrm>
          <a:prstGeom prst="rect">
            <a:avLst/>
          </a:prstGeom>
          <a:noFill/>
          <a:ln/>
        </p:spPr>
        <p:txBody>
          <a:bodyPr wrap="square" rtlCol="0" anchor="ctr"/>
          <a:lstStyle/>
          <a:p>
            <a:pPr indent="0" marL="0">
              <a:buNone/>
            </a:pPr>
            <a:r>
              <a:rPr lang="en-US" sz="1300" b="1" dirty="0">
                <a:solidFill>
                  <a:srgbClr val="14B8A6"/>
                </a:solidFill>
                <a:latin typeface="Georgia" pitchFamily="34" charset="0"/>
                <a:ea typeface="Georgia" pitchFamily="34" charset="-122"/>
                <a:cs typeface="Georgia" pitchFamily="34" charset="-120"/>
              </a:rPr>
              <a:t>What We Bring to Any Partnership:</a:t>
            </a:r>
            <a:endParaRPr lang="en-US" sz="1300" dirty="0"/>
          </a:p>
        </p:txBody>
      </p:sp>
      <p:sp>
        <p:nvSpPr>
          <p:cNvPr id="5" name="Text 2"/>
          <p:cNvSpPr/>
          <p:nvPr/>
        </p:nvSpPr>
        <p:spPr>
          <a:xfrm>
            <a:off x="731520" y="1463040"/>
            <a:ext cx="3840480" cy="2743200"/>
          </a:xfrm>
          <a:prstGeom prst="rect">
            <a:avLst/>
          </a:prstGeom>
          <a:noFill/>
          <a:ln/>
        </p:spPr>
        <p:txBody>
          <a:bodyPr wrap="square" rtlCol="0" anchor="ctr"/>
          <a:lstStyle/>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24-platform live technology ecosystem</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RPLICE — implementation fidelity tracking</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MAP-GAP governance methodology</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AI-powered analysis (4 engines + RAG)</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Scholarly research integration (6 databases)</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Grant combinatorics across federal streams</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167 database tables of implementation data</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Cross-platform event bus architecture</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Federal contracting capability (VOSB)</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Anti-hallucination AI guardrails</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Bias-auditable output chains</a:t>
            </a:r>
            <a:endParaRPr lang="en-US" sz="1050" dirty="0"/>
          </a:p>
        </p:txBody>
      </p:sp>
      <p:sp>
        <p:nvSpPr>
          <p:cNvPr id="6" name="Text 3"/>
          <p:cNvSpPr/>
          <p:nvPr/>
        </p:nvSpPr>
        <p:spPr>
          <a:xfrm>
            <a:off x="4846320" y="1097280"/>
            <a:ext cx="3840480" cy="274320"/>
          </a:xfrm>
          <a:prstGeom prst="rect">
            <a:avLst/>
          </a:prstGeom>
          <a:noFill/>
          <a:ln/>
        </p:spPr>
        <p:txBody>
          <a:bodyPr wrap="square" rtlCol="0" anchor="ctr"/>
          <a:lstStyle/>
          <a:p>
            <a:pPr indent="0" marL="0">
              <a:buNone/>
            </a:pPr>
            <a:r>
              <a:rPr lang="en-US" sz="1300" b="1" dirty="0">
                <a:solidFill>
                  <a:srgbClr val="6366F1"/>
                </a:solidFill>
                <a:latin typeface="Georgia" pitchFamily="34" charset="0"/>
                <a:ea typeface="Georgia" pitchFamily="34" charset="-122"/>
                <a:cs typeface="Georgia" pitchFamily="34" charset="-120"/>
              </a:rPr>
              <a:t>Our Collaboration Track Record:</a:t>
            </a:r>
            <a:endParaRPr lang="en-US" sz="1300" dirty="0"/>
          </a:p>
        </p:txBody>
      </p:sp>
      <p:sp>
        <p:nvSpPr>
          <p:cNvPr id="7" name="Text 4"/>
          <p:cNvSpPr/>
          <p:nvPr/>
        </p:nvSpPr>
        <p:spPr>
          <a:xfrm>
            <a:off x="4846320" y="1463040"/>
            <a:ext cx="3840480" cy="3200400"/>
          </a:xfrm>
          <a:prstGeom prst="rect">
            <a:avLst/>
          </a:prstGeom>
          <a:noFill/>
          <a:ln/>
        </p:spPr>
        <p:txBody>
          <a:bodyPr wrap="square" rtlCol="0" anchor="ctr"/>
          <a:lstStyle/>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Veteran-founded, Black-led 501(c)(3)</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Dr. Flood: DHA, MS Implementation Science,</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MA Psychology, MSHRM, MBA, MSCJ</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U.S. Army Veteran — Bronze Star (x2)</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Same Central Texas community focus</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Austin | Manor | Pflugerville</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Three Realities ensures community voice</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drives every program we touch</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Technology is the backbone — we provide</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the engineering that community orgs need</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but cannot build on their own</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We measure what matters, not just activities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3" name="Text 0"/>
          <p:cNvSpPr/>
          <p:nvPr/>
        </p:nvSpPr>
        <p:spPr>
          <a:xfrm>
            <a:off x="731520" y="365760"/>
            <a:ext cx="7680960" cy="4572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MEASURE — A Natural Collaboration</a:t>
            </a:r>
            <a:endParaRPr lang="en-US" sz="2400" dirty="0"/>
          </a:p>
        </p:txBody>
      </p:sp>
      <p:sp>
        <p:nvSpPr>
          <p:cNvPr id="4" name="Text 1"/>
          <p:cNvSpPr/>
          <p:nvPr/>
        </p:nvSpPr>
        <p:spPr>
          <a:xfrm>
            <a:off x="731520" y="822960"/>
            <a:ext cx="7680960" cy="274320"/>
          </a:xfrm>
          <a:prstGeom prst="rect">
            <a:avLst/>
          </a:prstGeom>
          <a:noFill/>
          <a:ln/>
        </p:spPr>
        <p:txBody>
          <a:bodyPr wrap="square" rtlCol="0" anchor="ctr"/>
          <a:lstStyle/>
          <a:p>
            <a:pPr indent="0" marL="0">
              <a:buNone/>
            </a:pPr>
            <a:r>
              <a:rPr lang="en-US" sz="1200" dirty="0">
                <a:solidFill>
                  <a:srgbClr val="94A3B8"/>
                </a:solidFill>
                <a:latin typeface="Georgia" pitchFamily="34" charset="0"/>
                <a:ea typeface="Georgia" pitchFamily="34" charset="-122"/>
                <a:cs typeface="Georgia" pitchFamily="34" charset="-120"/>
              </a:rPr>
              <a:t>Complementary capabilities serving the same Central Texas communities</a:t>
            </a:r>
            <a:endParaRPr lang="en-US" sz="1200" dirty="0"/>
          </a:p>
        </p:txBody>
      </p:sp>
      <p:sp>
        <p:nvSpPr>
          <p:cNvPr id="5" name="Text 2"/>
          <p:cNvSpPr/>
          <p:nvPr/>
        </p:nvSpPr>
        <p:spPr>
          <a:xfrm>
            <a:off x="731520" y="1371600"/>
            <a:ext cx="3840480" cy="274320"/>
          </a:xfrm>
          <a:prstGeom prst="rect">
            <a:avLst/>
          </a:prstGeom>
          <a:noFill/>
          <a:ln/>
        </p:spPr>
        <p:txBody>
          <a:bodyPr wrap="square" rtlCol="0" anchor="ctr"/>
          <a:lstStyle/>
          <a:p>
            <a:pPr indent="0" marL="0">
              <a:buNone/>
            </a:pPr>
            <a:r>
              <a:rPr lang="en-US" sz="1300" b="1" dirty="0">
                <a:solidFill>
                  <a:srgbClr val="14B8A6"/>
                </a:solidFill>
                <a:latin typeface="Georgia" pitchFamily="34" charset="0"/>
                <a:ea typeface="Georgia" pitchFamily="34" charset="-122"/>
                <a:cs typeface="Georgia" pitchFamily="34" charset="-120"/>
              </a:rPr>
              <a:t>What MEASURE Brings:</a:t>
            </a:r>
            <a:endParaRPr lang="en-US" sz="1300" dirty="0"/>
          </a:p>
        </p:txBody>
      </p:sp>
      <p:sp>
        <p:nvSpPr>
          <p:cNvPr id="6" name="Text 3"/>
          <p:cNvSpPr/>
          <p:nvPr/>
        </p:nvSpPr>
        <p:spPr>
          <a:xfrm>
            <a:off x="731520" y="1737360"/>
            <a:ext cx="3840480" cy="3017520"/>
          </a:xfrm>
          <a:prstGeom prst="rect">
            <a:avLst/>
          </a:prstGeom>
          <a:noFill/>
          <a:ln/>
        </p:spPr>
        <p:txBody>
          <a:bodyPr wrap="square" rtlCol="0" anchor="ctr"/>
          <a:lstStyle/>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Community trust &amp; deep relationships</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CARE Model — equity-centered evaluation</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Ignite platform — data collection for orgs</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Participatory Action Research expertise</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3,000+ hours of free data support delivered</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Austin/Pflugerville community presence</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Huston-Tillotson partnership (HBCU)</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Policy advocacy track record (CROWN Act)</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MIT Solve backing</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Founded by Jameila "Meme" Styles,</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a leading ethical AI consultant</a:t>
            </a:r>
            <a:endParaRPr lang="en-US" sz="1050" dirty="0"/>
          </a:p>
        </p:txBody>
      </p:sp>
      <p:sp>
        <p:nvSpPr>
          <p:cNvPr id="7" name="Text 4"/>
          <p:cNvSpPr/>
          <p:nvPr/>
        </p:nvSpPr>
        <p:spPr>
          <a:xfrm>
            <a:off x="4846320" y="1371600"/>
            <a:ext cx="3840480" cy="274320"/>
          </a:xfrm>
          <a:prstGeom prst="rect">
            <a:avLst/>
          </a:prstGeom>
          <a:noFill/>
          <a:ln/>
        </p:spPr>
        <p:txBody>
          <a:bodyPr wrap="square" rtlCol="0" anchor="ctr"/>
          <a:lstStyle/>
          <a:p>
            <a:pPr indent="0" marL="0">
              <a:buNone/>
            </a:pPr>
            <a:r>
              <a:rPr lang="en-US" sz="1300" b="1" dirty="0">
                <a:solidFill>
                  <a:srgbClr val="6366F1"/>
                </a:solidFill>
                <a:latin typeface="Georgia" pitchFamily="34" charset="0"/>
                <a:ea typeface="Georgia" pitchFamily="34" charset="-122"/>
                <a:cs typeface="Georgia" pitchFamily="34" charset="-120"/>
              </a:rPr>
              <a:t>What We Bring:</a:t>
            </a:r>
            <a:endParaRPr lang="en-US" sz="1300" dirty="0"/>
          </a:p>
        </p:txBody>
      </p:sp>
      <p:sp>
        <p:nvSpPr>
          <p:cNvPr id="8" name="Text 5"/>
          <p:cNvSpPr/>
          <p:nvPr/>
        </p:nvSpPr>
        <p:spPr>
          <a:xfrm>
            <a:off x="4846320" y="1737360"/>
            <a:ext cx="3840480" cy="3200400"/>
          </a:xfrm>
          <a:prstGeom prst="rect">
            <a:avLst/>
          </a:prstGeom>
          <a:noFill/>
          <a:ln/>
        </p:spPr>
        <p:txBody>
          <a:bodyPr wrap="square" rtlCol="0" anchor="ctr"/>
          <a:lstStyle/>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24-platform AI-powered ecosystem</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RPLICE — implementation fidelity engine</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MAP-GAP governance methodology</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4-engine AI + RAG architecture</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6 scholarly databases integrated</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167 database tables</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Federal contracting capability (VOSB)</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The Full Loop Together:</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MEASURE collects the community data.</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RPLICE tells you if the interventions</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that data is driving are working the way</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they were designed to work.</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Neither alone does what both together can.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3" name="Text 0"/>
          <p:cNvSpPr/>
          <p:nvPr/>
        </p:nvSpPr>
        <p:spPr>
          <a:xfrm>
            <a:off x="731520" y="365760"/>
            <a:ext cx="7680960" cy="4572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The Gap We Fill Together</a:t>
            </a:r>
            <a:endParaRPr lang="en-US" sz="2400" dirty="0"/>
          </a:p>
        </p:txBody>
      </p:sp>
      <p:sp>
        <p:nvSpPr>
          <p:cNvPr id="4" name="Text 1"/>
          <p:cNvSpPr/>
          <p:nvPr/>
        </p:nvSpPr>
        <p:spPr>
          <a:xfrm>
            <a:off x="731520" y="1097280"/>
            <a:ext cx="3840480" cy="274320"/>
          </a:xfrm>
          <a:prstGeom prst="rect">
            <a:avLst/>
          </a:prstGeom>
          <a:noFill/>
          <a:ln/>
        </p:spPr>
        <p:txBody>
          <a:bodyPr wrap="square" rtlCol="0" anchor="ctr"/>
          <a:lstStyle/>
          <a:p>
            <a:pPr indent="0" marL="0">
              <a:buNone/>
            </a:pPr>
            <a:r>
              <a:rPr lang="en-US" sz="1300" b="1" dirty="0">
                <a:solidFill>
                  <a:srgbClr val="F59E0B"/>
                </a:solidFill>
                <a:latin typeface="Georgia" pitchFamily="34" charset="0"/>
                <a:ea typeface="Georgia" pitchFamily="34" charset="-122"/>
                <a:cs typeface="Georgia" pitchFamily="34" charset="-120"/>
              </a:rPr>
              <a:t>The Problem:</a:t>
            </a:r>
            <a:endParaRPr lang="en-US" sz="1300" dirty="0"/>
          </a:p>
        </p:txBody>
      </p:sp>
      <p:sp>
        <p:nvSpPr>
          <p:cNvPr id="5" name="Text 2"/>
          <p:cNvSpPr/>
          <p:nvPr/>
        </p:nvSpPr>
        <p:spPr>
          <a:xfrm>
            <a:off x="731520" y="1463040"/>
            <a:ext cx="3840480" cy="2743200"/>
          </a:xfrm>
          <a:prstGeom prst="rect">
            <a:avLst/>
          </a:prstGeom>
          <a:noFill/>
          <a:ln/>
        </p:spPr>
        <p:txBody>
          <a:bodyPr wrap="square" rtlCol="0" anchor="ctr"/>
          <a:lstStyle/>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79% of Black-led organizations</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have no systems for collecting data.</a:t>
            </a:r>
            <a:endParaRPr lang="en-US" sz="1050" dirty="0"/>
          </a:p>
          <a:p>
            <a:pPr indent="0" marL="0">
              <a:lnSpc>
                <a:spcPct val="120000"/>
              </a:lnSpc>
              <a:buNone/>
            </a:pP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MEASURE built Ignite to fix that.</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But collecting data is step one.</a:t>
            </a:r>
            <a:endParaRPr lang="en-US" sz="1050" dirty="0"/>
          </a:p>
          <a:p>
            <a:pPr indent="0" marL="0">
              <a:lnSpc>
                <a:spcPct val="120000"/>
              </a:lnSpc>
              <a:buNone/>
            </a:pP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The harder questions are:</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Is the intervention being delivered</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the way it was designed?</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Are outcomes improving?</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What's the gap between plan and reality?</a:t>
            </a:r>
            <a:endParaRPr lang="en-US" sz="1050" dirty="0"/>
          </a:p>
          <a:p>
            <a:pPr indent="0" marL="0">
              <a:lnSpc>
                <a:spcPct val="120000"/>
              </a:lnSpc>
              <a:buNone/>
            </a:pPr>
            <a:r>
              <a:rPr lang="en-US" sz="1050" dirty="0">
                <a:solidFill>
                  <a:srgbClr val="E2E8F0"/>
                </a:solidFill>
                <a:latin typeface="Calibri" pitchFamily="34" charset="0"/>
                <a:ea typeface="Calibri" pitchFamily="34" charset="-122"/>
                <a:cs typeface="Calibri" pitchFamily="34" charset="-120"/>
              </a:rPr>
              <a:t>  How do we know it will sustain?</a:t>
            </a:r>
            <a:endParaRPr lang="en-US" sz="1050" dirty="0"/>
          </a:p>
        </p:txBody>
      </p:sp>
      <p:sp>
        <p:nvSpPr>
          <p:cNvPr id="6" name="Text 3"/>
          <p:cNvSpPr/>
          <p:nvPr/>
        </p:nvSpPr>
        <p:spPr>
          <a:xfrm>
            <a:off x="4846320" y="1097280"/>
            <a:ext cx="3840480" cy="274320"/>
          </a:xfrm>
          <a:prstGeom prst="rect">
            <a:avLst/>
          </a:prstGeom>
          <a:noFill/>
          <a:ln/>
        </p:spPr>
        <p:txBody>
          <a:bodyPr wrap="square" rtlCol="0" anchor="ctr"/>
          <a:lstStyle/>
          <a:p>
            <a:pPr indent="0" marL="0">
              <a:buNone/>
            </a:pPr>
            <a:r>
              <a:rPr lang="en-US" sz="1300" b="1" dirty="0">
                <a:solidFill>
                  <a:srgbClr val="14B8A6"/>
                </a:solidFill>
                <a:latin typeface="Georgia" pitchFamily="34" charset="0"/>
                <a:ea typeface="Georgia" pitchFamily="34" charset="-122"/>
                <a:cs typeface="Georgia" pitchFamily="34" charset="-120"/>
              </a:rPr>
              <a:t>Together — The Full AI-Powered Loop:</a:t>
            </a:r>
            <a:endParaRPr lang="en-US" sz="1300" dirty="0"/>
          </a:p>
        </p:txBody>
      </p:sp>
      <p:sp>
        <p:nvSpPr>
          <p:cNvPr id="7" name="Text 4"/>
          <p:cNvSpPr/>
          <p:nvPr/>
        </p:nvSpPr>
        <p:spPr>
          <a:xfrm>
            <a:off x="4846320" y="1463040"/>
            <a:ext cx="3840480" cy="3200400"/>
          </a:xfrm>
          <a:prstGeom prst="rect">
            <a:avLst/>
          </a:prstGeom>
          <a:noFill/>
          <a:ln/>
        </p:spPr>
        <p:txBody>
          <a:bodyPr wrap="square" rtlCol="0" anchor="ctr"/>
          <a:lstStyle/>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MEASURE:</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Community voice → Data collection</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 Advocacy → Policy change</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RPLICE + AI:</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Implementation design → AI fidelity tracking</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 RAG-verified outcome measurement</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 Sustainment planning</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Combined:</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Community voice drives intervention</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 AI tracks fidelity in real time</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 Outcomes verified against evidence (RAG)</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 Data feeds back to community</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 Continuous AI-powered improvement</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Nobody else in Central Texas has this.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3" name="Text 0"/>
          <p:cNvSpPr/>
          <p:nvPr/>
        </p:nvSpPr>
        <p:spPr>
          <a:xfrm>
            <a:off x="731520" y="365760"/>
            <a:ext cx="7680960" cy="4572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Shared Values</a:t>
            </a:r>
            <a:endParaRPr lang="en-US" sz="2400" dirty="0"/>
          </a:p>
        </p:txBody>
      </p:sp>
      <p:sp>
        <p:nvSpPr>
          <p:cNvPr id="4" name="Text 1"/>
          <p:cNvSpPr/>
          <p:nvPr/>
        </p:nvSpPr>
        <p:spPr>
          <a:xfrm>
            <a:off x="731520" y="1097280"/>
            <a:ext cx="3840480" cy="274320"/>
          </a:xfrm>
          <a:prstGeom prst="rect">
            <a:avLst/>
          </a:prstGeom>
          <a:noFill/>
          <a:ln/>
        </p:spPr>
        <p:txBody>
          <a:bodyPr wrap="square" rtlCol="0" anchor="ctr"/>
          <a:lstStyle/>
          <a:p>
            <a:pPr indent="0" marL="0">
              <a:buNone/>
            </a:pPr>
            <a:r>
              <a:rPr lang="en-US" sz="1300" b="1" dirty="0">
                <a:solidFill>
                  <a:srgbClr val="14B8A6"/>
                </a:solidFill>
                <a:latin typeface="Georgia" pitchFamily="34" charset="0"/>
                <a:ea typeface="Georgia" pitchFamily="34" charset="-122"/>
                <a:cs typeface="Georgia" pitchFamily="34" charset="-120"/>
              </a:rPr>
              <a:t>Where We Align:</a:t>
            </a:r>
            <a:endParaRPr lang="en-US" sz="1300" dirty="0"/>
          </a:p>
        </p:txBody>
      </p:sp>
      <p:sp>
        <p:nvSpPr>
          <p:cNvPr id="5" name="Text 2"/>
          <p:cNvSpPr/>
          <p:nvPr/>
        </p:nvSpPr>
        <p:spPr>
          <a:xfrm>
            <a:off x="731520" y="1463040"/>
            <a:ext cx="3840480" cy="2286000"/>
          </a:xfrm>
          <a:prstGeom prst="rect">
            <a:avLst/>
          </a:prstGeom>
          <a:noFill/>
          <a:ln/>
        </p:spPr>
        <p:txBody>
          <a:bodyPr wrap="square" rtlCol="0" anchor="ctr"/>
          <a:lstStyle/>
          <a:p>
            <a:pPr indent="0" marL="0">
              <a:lnSpc>
                <a:spcPct val="130000"/>
              </a:lnSpc>
              <a:buNone/>
            </a:pPr>
            <a:r>
              <a:rPr lang="en-US" sz="1100" dirty="0">
                <a:solidFill>
                  <a:srgbClr val="E2E8F0"/>
                </a:solidFill>
                <a:latin typeface="Calibri" pitchFamily="34" charset="0"/>
                <a:ea typeface="Calibri" pitchFamily="34" charset="-122"/>
                <a:cs typeface="Calibri" pitchFamily="34" charset="-120"/>
              </a:rPr>
              <a:t>• Data must serve communities, not extract</a:t>
            </a:r>
            <a:endParaRPr lang="en-US" sz="1100" dirty="0"/>
          </a:p>
          <a:p>
            <a:pPr indent="0" marL="0">
              <a:lnSpc>
                <a:spcPct val="130000"/>
              </a:lnSpc>
              <a:buNone/>
            </a:pPr>
            <a:r>
              <a:rPr lang="en-US" sz="1100" dirty="0">
                <a:solidFill>
                  <a:srgbClr val="E2E8F0"/>
                </a:solidFill>
                <a:latin typeface="Calibri" pitchFamily="34" charset="0"/>
                <a:ea typeface="Calibri" pitchFamily="34" charset="-122"/>
                <a:cs typeface="Calibri" pitchFamily="34" charset="-120"/>
              </a:rPr>
              <a:t>• Equity is structure, not decoration</a:t>
            </a:r>
            <a:endParaRPr lang="en-US" sz="1100" dirty="0"/>
          </a:p>
          <a:p>
            <a:pPr indent="0" marL="0">
              <a:lnSpc>
                <a:spcPct val="130000"/>
              </a:lnSpc>
              <a:buNone/>
            </a:pPr>
            <a:r>
              <a:rPr lang="en-US" sz="1100" dirty="0">
                <a:solidFill>
                  <a:srgbClr val="E2E8F0"/>
                </a:solidFill>
                <a:latin typeface="Calibri" pitchFamily="34" charset="0"/>
                <a:ea typeface="Calibri" pitchFamily="34" charset="-122"/>
                <a:cs typeface="Calibri" pitchFamily="34" charset="-120"/>
              </a:rPr>
              <a:t>• Lived experience is valid evidence</a:t>
            </a:r>
            <a:endParaRPr lang="en-US" sz="1100" dirty="0"/>
          </a:p>
          <a:p>
            <a:pPr indent="0" marL="0">
              <a:lnSpc>
                <a:spcPct val="130000"/>
              </a:lnSpc>
              <a:buNone/>
            </a:pPr>
            <a:r>
              <a:rPr lang="en-US" sz="1100" dirty="0">
                <a:solidFill>
                  <a:srgbClr val="E2E8F0"/>
                </a:solidFill>
                <a:latin typeface="Calibri" pitchFamily="34" charset="0"/>
                <a:ea typeface="Calibri" pitchFamily="34" charset="-122"/>
                <a:cs typeface="Calibri" pitchFamily="34" charset="-120"/>
              </a:rPr>
              <a:t>• Measurement without action is meaningless</a:t>
            </a:r>
            <a:endParaRPr lang="en-US" sz="1100" dirty="0"/>
          </a:p>
          <a:p>
            <a:pPr indent="0" marL="0">
              <a:lnSpc>
                <a:spcPct val="130000"/>
              </a:lnSpc>
              <a:buNone/>
            </a:pPr>
            <a:r>
              <a:rPr lang="en-US" sz="1100" dirty="0">
                <a:solidFill>
                  <a:srgbClr val="E2E8F0"/>
                </a:solidFill>
                <a:latin typeface="Calibri" pitchFamily="34" charset="0"/>
                <a:ea typeface="Calibri" pitchFamily="34" charset="-122"/>
                <a:cs typeface="Calibri" pitchFamily="34" charset="-120"/>
              </a:rPr>
              <a:t>• Community-centered, not institution-centered</a:t>
            </a:r>
            <a:endParaRPr lang="en-US" sz="1100" dirty="0"/>
          </a:p>
          <a:p>
            <a:pPr indent="0" marL="0">
              <a:lnSpc>
                <a:spcPct val="130000"/>
              </a:lnSpc>
              <a:buNone/>
            </a:pPr>
            <a:r>
              <a:rPr lang="en-US" sz="1100" dirty="0">
                <a:solidFill>
                  <a:srgbClr val="E2E8F0"/>
                </a:solidFill>
                <a:latin typeface="Calibri" pitchFamily="34" charset="0"/>
                <a:ea typeface="Calibri" pitchFamily="34" charset="-122"/>
                <a:cs typeface="Calibri" pitchFamily="34" charset="-120"/>
              </a:rPr>
              <a:t>• Austin / Pflugerville shared geography</a:t>
            </a:r>
            <a:endParaRPr lang="en-US" sz="1100" dirty="0"/>
          </a:p>
          <a:p>
            <a:pPr indent="0" marL="0">
              <a:lnSpc>
                <a:spcPct val="130000"/>
              </a:lnSpc>
              <a:buNone/>
            </a:pPr>
            <a:r>
              <a:rPr lang="en-US" sz="1100" dirty="0">
                <a:solidFill>
                  <a:srgbClr val="E2E8F0"/>
                </a:solidFill>
                <a:latin typeface="Calibri" pitchFamily="34" charset="0"/>
                <a:ea typeface="Calibri" pitchFamily="34" charset="-122"/>
                <a:cs typeface="Calibri" pitchFamily="34" charset="-120"/>
              </a:rPr>
              <a:t>• People most impacted drive solutions</a:t>
            </a:r>
            <a:endParaRPr lang="en-US" sz="1100" dirty="0"/>
          </a:p>
        </p:txBody>
      </p:sp>
      <p:sp>
        <p:nvSpPr>
          <p:cNvPr id="6" name="Text 3"/>
          <p:cNvSpPr/>
          <p:nvPr/>
        </p:nvSpPr>
        <p:spPr>
          <a:xfrm>
            <a:off x="4846320" y="1097280"/>
            <a:ext cx="3840480" cy="274320"/>
          </a:xfrm>
          <a:prstGeom prst="rect">
            <a:avLst/>
          </a:prstGeom>
          <a:noFill/>
          <a:ln/>
        </p:spPr>
        <p:txBody>
          <a:bodyPr wrap="square" rtlCol="0" anchor="ctr"/>
          <a:lstStyle/>
          <a:p>
            <a:pPr indent="0" marL="0">
              <a:buNone/>
            </a:pPr>
            <a:r>
              <a:rPr lang="en-US" sz="1300" b="1" dirty="0">
                <a:solidFill>
                  <a:srgbClr val="6366F1"/>
                </a:solidFill>
                <a:latin typeface="Georgia" pitchFamily="34" charset="0"/>
                <a:ea typeface="Georgia" pitchFamily="34" charset="-122"/>
                <a:cs typeface="Georgia" pitchFamily="34" charset="-120"/>
              </a:rPr>
              <a:t>On Ethical AI:</a:t>
            </a:r>
            <a:endParaRPr lang="en-US" sz="1300" dirty="0"/>
          </a:p>
        </p:txBody>
      </p:sp>
      <p:sp>
        <p:nvSpPr>
          <p:cNvPr id="7" name="Text 4"/>
          <p:cNvSpPr/>
          <p:nvPr/>
        </p:nvSpPr>
        <p:spPr>
          <a:xfrm>
            <a:off x="4846320" y="1463040"/>
            <a:ext cx="3840480" cy="2743200"/>
          </a:xfrm>
          <a:prstGeom prst="rect">
            <a:avLst/>
          </a:prstGeom>
          <a:noFill/>
          <a:ln/>
        </p:spPr>
        <p:txBody>
          <a:bodyPr wrap="square" rtlCol="0" anchor="ctr"/>
          <a:lstStyle/>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AI outputs are transparent and cited</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Bias is auditable — not hidden</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Community data stays community-owned</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AI serves — it never surveils</a:t>
            </a:r>
            <a:endParaRPr lang="en-US" sz="1100" dirty="0"/>
          </a:p>
          <a:p>
            <a:pPr indent="0" marL="0">
              <a:lnSpc>
                <a:spcPct val="120000"/>
              </a:lnSpc>
              <a:buNone/>
            </a:pP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MEASURE's CARE Model governance</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our anti-hallucination AI architecture</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 trustworthy AI for community data</a:t>
            </a:r>
            <a:endParaRPr lang="en-US" sz="1100" dirty="0"/>
          </a:p>
          <a:p>
            <a:pPr indent="0" marL="0">
              <a:lnSpc>
                <a:spcPct val="120000"/>
              </a:lnSpc>
              <a:buNone/>
            </a:pP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Both organizations believe AI</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should amplify community voice,</a:t>
            </a:r>
            <a:endParaRPr lang="en-US" sz="1100" dirty="0"/>
          </a:p>
          <a:p>
            <a:pPr indent="0" marL="0">
              <a:lnSpc>
                <a:spcPct val="120000"/>
              </a:lnSpc>
              <a:buNone/>
            </a:pPr>
            <a:r>
              <a:rPr lang="en-US" sz="1100" dirty="0">
                <a:solidFill>
                  <a:srgbClr val="E2E8F0"/>
                </a:solidFill>
                <a:latin typeface="Calibri" pitchFamily="34" charset="0"/>
                <a:ea typeface="Calibri" pitchFamily="34" charset="-122"/>
                <a:cs typeface="Calibri" pitchFamily="34" charset="-120"/>
              </a:rPr>
              <a:t>not replace it.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3" name="Text 0"/>
          <p:cNvSpPr/>
          <p:nvPr/>
        </p:nvSpPr>
        <p:spPr>
          <a:xfrm>
            <a:off x="731520" y="365760"/>
            <a:ext cx="7680960" cy="4572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What Partnership Looks Like</a:t>
            </a:r>
            <a:endParaRPr lang="en-US" sz="2400" dirty="0"/>
          </a:p>
        </p:txBody>
      </p:sp>
      <p:sp>
        <p:nvSpPr>
          <p:cNvPr id="4" name="Text 1"/>
          <p:cNvSpPr/>
          <p:nvPr/>
        </p:nvSpPr>
        <p:spPr>
          <a:xfrm>
            <a:off x="731520" y="1097280"/>
            <a:ext cx="3840480" cy="274320"/>
          </a:xfrm>
          <a:prstGeom prst="rect">
            <a:avLst/>
          </a:prstGeom>
          <a:noFill/>
          <a:ln/>
        </p:spPr>
        <p:txBody>
          <a:bodyPr wrap="square" rtlCol="0" anchor="ctr"/>
          <a:lstStyle/>
          <a:p>
            <a:pPr indent="0" marL="0">
              <a:buNone/>
            </a:pPr>
            <a:r>
              <a:rPr lang="en-US" sz="1300" b="1" dirty="0">
                <a:solidFill>
                  <a:srgbClr val="14B8A6"/>
                </a:solidFill>
                <a:latin typeface="Georgia" pitchFamily="34" charset="0"/>
                <a:ea typeface="Georgia" pitchFamily="34" charset="-122"/>
                <a:cs typeface="Georgia" pitchFamily="34" charset="-120"/>
              </a:rPr>
              <a:t>Immediate Opportunities:</a:t>
            </a:r>
            <a:endParaRPr lang="en-US" sz="1300" dirty="0"/>
          </a:p>
        </p:txBody>
      </p:sp>
      <p:sp>
        <p:nvSpPr>
          <p:cNvPr id="5" name="Text 2"/>
          <p:cNvSpPr/>
          <p:nvPr/>
        </p:nvSpPr>
        <p:spPr>
          <a:xfrm>
            <a:off x="731520" y="1463040"/>
            <a:ext cx="3840480" cy="3200400"/>
          </a:xfrm>
          <a:prstGeom prst="rect">
            <a:avLst/>
          </a:prstGeom>
          <a:noFill/>
          <a:ln/>
        </p:spPr>
        <p:txBody>
          <a:bodyPr wrap="square" rtlCol="0" anchor="ctr"/>
          <a:lstStyle/>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Joint grant applications</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MEASURE = community partner</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We = AI + technology partner</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Combined = complete proposal</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Ignite → RPLICE RAG integration</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Community data flows into AI pipeline</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AI analysis grounded in REAL data</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Shared regional presence</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Austin | Manor | Pflugerville</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Huston-Tillotson student research</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MEASURE teaches methodology</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RPLICE + AI provides the tools</a:t>
            </a:r>
            <a:endParaRPr lang="en-US" sz="1050" dirty="0"/>
          </a:p>
        </p:txBody>
      </p:sp>
      <p:sp>
        <p:nvSpPr>
          <p:cNvPr id="6" name="Text 3"/>
          <p:cNvSpPr/>
          <p:nvPr/>
        </p:nvSpPr>
        <p:spPr>
          <a:xfrm>
            <a:off x="4846320" y="1097280"/>
            <a:ext cx="3840480" cy="274320"/>
          </a:xfrm>
          <a:prstGeom prst="rect">
            <a:avLst/>
          </a:prstGeom>
          <a:noFill/>
          <a:ln/>
        </p:spPr>
        <p:txBody>
          <a:bodyPr wrap="square" rtlCol="0" anchor="ctr"/>
          <a:lstStyle/>
          <a:p>
            <a:pPr indent="0" marL="0">
              <a:buNone/>
            </a:pPr>
            <a:r>
              <a:rPr lang="en-US" sz="1300" b="1" dirty="0">
                <a:solidFill>
                  <a:srgbClr val="6366F1"/>
                </a:solidFill>
                <a:latin typeface="Georgia" pitchFamily="34" charset="0"/>
                <a:ea typeface="Georgia" pitchFamily="34" charset="-122"/>
                <a:cs typeface="Georgia" pitchFamily="34" charset="-120"/>
              </a:rPr>
              <a:t>Long-Term Vision:</a:t>
            </a:r>
            <a:endParaRPr lang="en-US" sz="1300" dirty="0"/>
          </a:p>
        </p:txBody>
      </p:sp>
      <p:sp>
        <p:nvSpPr>
          <p:cNvPr id="7" name="Text 4"/>
          <p:cNvSpPr/>
          <p:nvPr/>
        </p:nvSpPr>
        <p:spPr>
          <a:xfrm>
            <a:off x="4846320" y="1463040"/>
            <a:ext cx="3840480" cy="3200400"/>
          </a:xfrm>
          <a:prstGeom prst="rect">
            <a:avLst/>
          </a:prstGeom>
          <a:noFill/>
          <a:ln/>
        </p:spPr>
        <p:txBody>
          <a:bodyPr wrap="square" rtlCol="0" anchor="ctr"/>
          <a:lstStyle/>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Central Texas as a national model</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for community AI + implementation science</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Publish the methodology together:</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CARE Model + MAP-GAP =</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peer-reviewable framework</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Scale beyond Austin:</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Ecosystem architecture is replicable</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Any community can adopt the model</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Shared advocacy for equitable AI + data</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   policy at state and federal levels</a:t>
            </a:r>
            <a:endParaRPr lang="en-US" sz="1050" dirty="0"/>
          </a:p>
          <a:p>
            <a:pPr indent="0" marL="0">
              <a:lnSpc>
                <a:spcPct val="115000"/>
              </a:lnSpc>
              <a:buNone/>
            </a:pP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This isn't a vendor pitch.</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Two orgs, same mission, same geography,</a:t>
            </a:r>
            <a:endParaRPr lang="en-US" sz="1050" dirty="0"/>
          </a:p>
          <a:p>
            <a:pPr indent="0" marL="0">
              <a:lnSpc>
                <a:spcPct val="115000"/>
              </a:lnSpc>
              <a:buNone/>
            </a:pPr>
            <a:r>
              <a:rPr lang="en-US" sz="1050" dirty="0">
                <a:solidFill>
                  <a:srgbClr val="E2E8F0"/>
                </a:solidFill>
                <a:latin typeface="Calibri" pitchFamily="34" charset="0"/>
                <a:ea typeface="Calibri" pitchFamily="34" charset="-122"/>
                <a:cs typeface="Calibri" pitchFamily="34" charset="-120"/>
              </a:rPr>
              <a:t>complementary capabilities.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3" name="Text 0"/>
          <p:cNvSpPr/>
          <p:nvPr/>
        </p:nvSpPr>
        <p:spPr>
          <a:xfrm>
            <a:off x="731520" y="365760"/>
            <a:ext cx="7680960" cy="4572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Regional Hubs — Austin / Manor / Pflugerville</a:t>
            </a:r>
            <a:endParaRPr lang="en-US" sz="2400" dirty="0"/>
          </a:p>
        </p:txBody>
      </p:sp>
      <p:sp>
        <p:nvSpPr>
          <p:cNvPr id="4" name="Text 1"/>
          <p:cNvSpPr/>
          <p:nvPr/>
        </p:nvSpPr>
        <p:spPr>
          <a:xfrm>
            <a:off x="731520" y="822960"/>
            <a:ext cx="7680960" cy="274320"/>
          </a:xfrm>
          <a:prstGeom prst="rect">
            <a:avLst/>
          </a:prstGeom>
          <a:noFill/>
          <a:ln/>
        </p:spPr>
        <p:txBody>
          <a:bodyPr wrap="square" rtlCol="0" anchor="ctr"/>
          <a:lstStyle/>
          <a:p>
            <a:pPr indent="0" marL="0">
              <a:buNone/>
            </a:pPr>
            <a:r>
              <a:rPr lang="en-US" sz="1200" dirty="0">
                <a:solidFill>
                  <a:srgbClr val="94A3B8"/>
                </a:solidFill>
                <a:latin typeface="Georgia" pitchFamily="34" charset="0"/>
                <a:ea typeface="Georgia" pitchFamily="34" charset="-122"/>
                <a:cs typeface="Georgia" pitchFamily="34" charset="-120"/>
              </a:rPr>
              <a:t>Same communities, shared geography, shared mission</a:t>
            </a:r>
            <a:endParaRPr lang="en-US" sz="1200" dirty="0"/>
          </a:p>
        </p:txBody>
      </p:sp>
      <p:sp>
        <p:nvSpPr>
          <p:cNvPr id="5" name="Text 2"/>
          <p:cNvSpPr/>
          <p:nvPr/>
        </p:nvSpPr>
        <p:spPr>
          <a:xfrm>
            <a:off x="731520" y="1371600"/>
            <a:ext cx="7680960" cy="274320"/>
          </a:xfrm>
          <a:prstGeom prst="rect">
            <a:avLst/>
          </a:prstGeom>
          <a:noFill/>
          <a:ln/>
        </p:spPr>
        <p:txBody>
          <a:bodyPr wrap="square" rtlCol="0" anchor="ctr"/>
          <a:lstStyle/>
          <a:p>
            <a:pPr indent="0" marL="0">
              <a:buNone/>
            </a:pPr>
            <a:r>
              <a:rPr lang="en-US" sz="1300" b="1" dirty="0">
                <a:solidFill>
                  <a:srgbClr val="6366F1"/>
                </a:solidFill>
                <a:latin typeface="Georgia" pitchFamily="34" charset="0"/>
                <a:ea typeface="Georgia" pitchFamily="34" charset="-122"/>
                <a:cs typeface="Georgia" pitchFamily="34" charset="-120"/>
              </a:rPr>
              <a:t>Austin Hub — Housing Crisis Response</a:t>
            </a:r>
            <a:endParaRPr lang="en-US" sz="1300" dirty="0"/>
          </a:p>
        </p:txBody>
      </p:sp>
      <p:sp>
        <p:nvSpPr>
          <p:cNvPr id="6" name="Text 3"/>
          <p:cNvSpPr/>
          <p:nvPr/>
        </p:nvSpPr>
        <p:spPr>
          <a:xfrm>
            <a:off x="731520" y="1691640"/>
            <a:ext cx="7680960" cy="822960"/>
          </a:xfrm>
          <a:prstGeom prst="rect">
            <a:avLst/>
          </a:prstGeom>
          <a:noFill/>
          <a:ln/>
        </p:spPr>
        <p:txBody>
          <a:bodyPr wrap="square" rtlCol="0" anchor="ctr"/>
          <a:lstStyle/>
          <a:p>
            <a:pPr indent="0" marL="0">
              <a:lnSpc>
                <a:spcPct val="120000"/>
              </a:lnSpc>
              <a:buNone/>
            </a:pPr>
            <a:r>
              <a:rPr lang="en-US" sz="1000" dirty="0">
                <a:solidFill>
                  <a:srgbClr val="E2E8F0"/>
                </a:solidFill>
                <a:latin typeface="Calibri" pitchFamily="34" charset="0"/>
                <a:ea typeface="Calibri" pitchFamily="34" charset="-122"/>
                <a:cs typeface="Calibri" pitchFamily="34" charset="-120"/>
              </a:rPr>
              <a:t>Median Home: $435K | Homeless: 3,238 | Youth: 934</a:t>
            </a:r>
            <a:endParaRPr lang="en-US" sz="1000" dirty="0"/>
          </a:p>
          <a:p>
            <a:pPr indent="0" marL="0">
              <a:lnSpc>
                <a:spcPct val="120000"/>
              </a:lnSpc>
              <a:buNone/>
            </a:pPr>
            <a:r>
              <a:rPr lang="en-US" sz="1000" dirty="0">
                <a:solidFill>
                  <a:srgbClr val="E2E8F0"/>
                </a:solidFill>
                <a:latin typeface="Calibri" pitchFamily="34" charset="0"/>
                <a:ea typeface="Calibri" pitchFamily="34" charset="-122"/>
                <a:cs typeface="Calibri" pitchFamily="34" charset="-120"/>
              </a:rPr>
              <a:t>Cost-Burdened: 85%+ | Partners: CommUnity Care, ECHO</a:t>
            </a:r>
            <a:endParaRPr lang="en-US" sz="1000" dirty="0"/>
          </a:p>
          <a:p>
            <a:pPr indent="0" marL="0">
              <a:lnSpc>
                <a:spcPct val="120000"/>
              </a:lnSpc>
              <a:buNone/>
            </a:pPr>
            <a:r>
              <a:rPr lang="en-US" sz="1000" dirty="0">
                <a:solidFill>
                  <a:srgbClr val="E2E8F0"/>
                </a:solidFill>
                <a:latin typeface="Calibri" pitchFamily="34" charset="0"/>
                <a:ea typeface="Calibri" pitchFamily="34" charset="-122"/>
                <a:cs typeface="Calibri" pitchFamily="34" charset="-120"/>
              </a:rPr>
              <a:t>Platforms: LifeBridge, Whole-Person Health, MCE</a:t>
            </a:r>
            <a:endParaRPr lang="en-US" sz="1000" dirty="0"/>
          </a:p>
        </p:txBody>
      </p:sp>
      <p:sp>
        <p:nvSpPr>
          <p:cNvPr id="7" name="Text 4"/>
          <p:cNvSpPr/>
          <p:nvPr/>
        </p:nvSpPr>
        <p:spPr>
          <a:xfrm>
            <a:off x="731520" y="2651760"/>
            <a:ext cx="7680960" cy="274320"/>
          </a:xfrm>
          <a:prstGeom prst="rect">
            <a:avLst/>
          </a:prstGeom>
          <a:noFill/>
          <a:ln/>
        </p:spPr>
        <p:txBody>
          <a:bodyPr wrap="square" rtlCol="0" anchor="ctr"/>
          <a:lstStyle/>
          <a:p>
            <a:pPr indent="0" marL="0">
              <a:buNone/>
            </a:pPr>
            <a:r>
              <a:rPr lang="en-US" sz="1300" b="1" dirty="0">
                <a:solidFill>
                  <a:srgbClr val="10B981"/>
                </a:solidFill>
                <a:latin typeface="Georgia" pitchFamily="34" charset="0"/>
                <a:ea typeface="Georgia" pitchFamily="34" charset="-122"/>
                <a:cs typeface="Georgia" pitchFamily="34" charset="-120"/>
              </a:rPr>
              <a:t>Manor Hub — Growth Without Gaps</a:t>
            </a:r>
            <a:endParaRPr lang="en-US" sz="1300" dirty="0"/>
          </a:p>
        </p:txBody>
      </p:sp>
      <p:sp>
        <p:nvSpPr>
          <p:cNvPr id="8" name="Text 5"/>
          <p:cNvSpPr/>
          <p:nvPr/>
        </p:nvSpPr>
        <p:spPr>
          <a:xfrm>
            <a:off x="731520" y="2971800"/>
            <a:ext cx="7680960" cy="822960"/>
          </a:xfrm>
          <a:prstGeom prst="rect">
            <a:avLst/>
          </a:prstGeom>
          <a:noFill/>
          <a:ln/>
        </p:spPr>
        <p:txBody>
          <a:bodyPr wrap="square" rtlCol="0" anchor="ctr"/>
          <a:lstStyle/>
          <a:p>
            <a:pPr indent="0" marL="0">
              <a:lnSpc>
                <a:spcPct val="120000"/>
              </a:lnSpc>
              <a:buNone/>
            </a:pPr>
            <a:r>
              <a:rPr lang="en-US" sz="1000" dirty="0">
                <a:solidFill>
                  <a:srgbClr val="E2E8F0"/>
                </a:solidFill>
                <a:latin typeface="Calibri" pitchFamily="34" charset="0"/>
                <a:ea typeface="Calibri" pitchFamily="34" charset="-122"/>
                <a:cs typeface="Calibri" pitchFamily="34" charset="-120"/>
              </a:rPr>
              <a:t>Pop Growth: 400%+ | Youth: 38% under 18 | Infrastructure Gap: Critical</a:t>
            </a:r>
            <a:endParaRPr lang="en-US" sz="1000" dirty="0"/>
          </a:p>
          <a:p>
            <a:pPr indent="0" marL="0">
              <a:lnSpc>
                <a:spcPct val="120000"/>
              </a:lnSpc>
              <a:buNone/>
            </a:pPr>
            <a:r>
              <a:rPr lang="en-US" sz="1000" dirty="0">
                <a:solidFill>
                  <a:srgbClr val="E2E8F0"/>
                </a:solidFill>
                <a:latin typeface="Calibri" pitchFamily="34" charset="0"/>
                <a:ea typeface="Calibri" pitchFamily="34" charset="-122"/>
                <a:cs typeface="Calibri" pitchFamily="34" charset="-120"/>
              </a:rPr>
              <a:t>Partners: Manor ISD, Travis County Health</a:t>
            </a:r>
            <a:endParaRPr lang="en-US" sz="1000" dirty="0"/>
          </a:p>
          <a:p>
            <a:pPr indent="0" marL="0">
              <a:lnSpc>
                <a:spcPct val="120000"/>
              </a:lnSpc>
              <a:buNone/>
            </a:pPr>
            <a:r>
              <a:rPr lang="en-US" sz="1000" dirty="0">
                <a:solidFill>
                  <a:srgbClr val="E2E8F0"/>
                </a:solidFill>
                <a:latin typeface="Calibri" pitchFamily="34" charset="0"/>
                <a:ea typeface="Calibri" pitchFamily="34" charset="-122"/>
                <a:cs typeface="Calibri" pitchFamily="34" charset="-120"/>
              </a:rPr>
              <a:t>Platforms: ThriveUp, ISSS, Sankofa Health</a:t>
            </a:r>
            <a:endParaRPr lang="en-US" sz="1000" dirty="0"/>
          </a:p>
        </p:txBody>
      </p:sp>
      <p:sp>
        <p:nvSpPr>
          <p:cNvPr id="9" name="Text 6"/>
          <p:cNvSpPr/>
          <p:nvPr/>
        </p:nvSpPr>
        <p:spPr>
          <a:xfrm>
            <a:off x="731520" y="3931920"/>
            <a:ext cx="7680960" cy="274320"/>
          </a:xfrm>
          <a:prstGeom prst="rect">
            <a:avLst/>
          </a:prstGeom>
          <a:noFill/>
          <a:ln/>
        </p:spPr>
        <p:txBody>
          <a:bodyPr wrap="square" rtlCol="0" anchor="ctr"/>
          <a:lstStyle/>
          <a:p>
            <a:pPr indent="0" marL="0">
              <a:buNone/>
            </a:pPr>
            <a:r>
              <a:rPr lang="en-US" sz="1300" b="1" dirty="0">
                <a:solidFill>
                  <a:srgbClr val="F59E0B"/>
                </a:solidFill>
                <a:latin typeface="Georgia" pitchFamily="34" charset="0"/>
                <a:ea typeface="Georgia" pitchFamily="34" charset="-122"/>
                <a:cs typeface="Georgia" pitchFamily="34" charset="-120"/>
              </a:rPr>
              <a:t>Pflugerville Hub — Infrastructure First</a:t>
            </a:r>
            <a:endParaRPr lang="en-US" sz="1300" dirty="0"/>
          </a:p>
        </p:txBody>
      </p:sp>
      <p:sp>
        <p:nvSpPr>
          <p:cNvPr id="10" name="Text 7"/>
          <p:cNvSpPr/>
          <p:nvPr/>
        </p:nvSpPr>
        <p:spPr>
          <a:xfrm>
            <a:off x="731520" y="4251960"/>
            <a:ext cx="7680960" cy="822960"/>
          </a:xfrm>
          <a:prstGeom prst="rect">
            <a:avLst/>
          </a:prstGeom>
          <a:noFill/>
          <a:ln/>
        </p:spPr>
        <p:txBody>
          <a:bodyPr wrap="square" rtlCol="0" anchor="ctr"/>
          <a:lstStyle/>
          <a:p>
            <a:pPr indent="0" marL="0">
              <a:lnSpc>
                <a:spcPct val="120000"/>
              </a:lnSpc>
              <a:buNone/>
            </a:pPr>
            <a:r>
              <a:rPr lang="en-US" sz="1000" dirty="0">
                <a:solidFill>
                  <a:srgbClr val="E2E8F0"/>
                </a:solidFill>
                <a:latin typeface="Calibri" pitchFamily="34" charset="0"/>
                <a:ea typeface="Calibri" pitchFamily="34" charset="-122"/>
                <a:cs typeface="Calibri" pitchFamily="34" charset="-120"/>
              </a:rPr>
              <a:t>Population: 75K+ | Growth: 52% | Digital Access Gap: Significant</a:t>
            </a:r>
            <a:endParaRPr lang="en-US" sz="1000" dirty="0"/>
          </a:p>
          <a:p>
            <a:pPr indent="0" marL="0">
              <a:lnSpc>
                <a:spcPct val="120000"/>
              </a:lnSpc>
              <a:buNone/>
            </a:pPr>
            <a:r>
              <a:rPr lang="en-US" sz="1000" dirty="0">
                <a:solidFill>
                  <a:srgbClr val="E2E8F0"/>
                </a:solidFill>
                <a:latin typeface="Calibri" pitchFamily="34" charset="0"/>
                <a:ea typeface="Calibri" pitchFamily="34" charset="-122"/>
                <a:cs typeface="Calibri" pitchFamily="34" charset="-120"/>
              </a:rPr>
              <a:t>Partners: PfISD, Pflugerville CDC</a:t>
            </a:r>
            <a:endParaRPr lang="en-US" sz="1000" dirty="0"/>
          </a:p>
          <a:p>
            <a:pPr indent="0" marL="0">
              <a:lnSpc>
                <a:spcPct val="120000"/>
              </a:lnSpc>
              <a:buNone/>
            </a:pPr>
            <a:r>
              <a:rPr lang="en-US" sz="1000" dirty="0">
                <a:solidFill>
                  <a:srgbClr val="E2E8F0"/>
                </a:solidFill>
                <a:latin typeface="Calibri" pitchFamily="34" charset="0"/>
                <a:ea typeface="Calibri" pitchFamily="34" charset="-122"/>
                <a:cs typeface="Calibri" pitchFamily="34" charset="-120"/>
              </a:rPr>
              <a:t>Platforms: ThriveUp, Perfectly Different</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3" name="Text 0"/>
          <p:cNvSpPr/>
          <p:nvPr/>
        </p:nvSpPr>
        <p:spPr>
          <a:xfrm>
            <a:off x="731520" y="1371600"/>
            <a:ext cx="76809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Research to Implementation with Fidelity</a:t>
            </a:r>
            <a:endParaRPr lang="en-US" sz="2800" dirty="0"/>
          </a:p>
        </p:txBody>
      </p:sp>
      <p:sp>
        <p:nvSpPr>
          <p:cNvPr id="4" name="Text 1"/>
          <p:cNvSpPr/>
          <p:nvPr/>
        </p:nvSpPr>
        <p:spPr>
          <a:xfrm>
            <a:off x="731520" y="2011680"/>
            <a:ext cx="7680960" cy="548640"/>
          </a:xfrm>
          <a:prstGeom prst="rect">
            <a:avLst/>
          </a:prstGeom>
          <a:noFill/>
          <a:ln/>
        </p:spPr>
        <p:txBody>
          <a:bodyPr wrap="square" rtlCol="0" anchor="ctr"/>
          <a:lstStyle/>
          <a:p>
            <a:pPr indent="0" marL="0">
              <a:lnSpc>
                <a:spcPct val="130000"/>
              </a:lnSpc>
              <a:buNone/>
            </a:pPr>
            <a:r>
              <a:rPr lang="en-US" sz="1400" dirty="0">
                <a:solidFill>
                  <a:srgbClr val="E2E8F0"/>
                </a:solidFill>
                <a:latin typeface="Georgia" pitchFamily="34" charset="0"/>
                <a:ea typeface="Georgia" pitchFamily="34" charset="-122"/>
                <a:cs typeface="Georgia" pitchFamily="34" charset="-120"/>
              </a:rPr>
              <a:t>For all stakeholders and perspectives — everywhere —</a:t>
            </a:r>
            <a:endParaRPr lang="en-US" sz="1400" dirty="0"/>
          </a:p>
          <a:p>
            <a:pPr indent="0" marL="0">
              <a:lnSpc>
                <a:spcPct val="130000"/>
              </a:lnSpc>
              <a:buNone/>
            </a:pPr>
            <a:r>
              <a:rPr lang="en-US" sz="1400" dirty="0">
                <a:solidFill>
                  <a:srgbClr val="E2E8F0"/>
                </a:solidFill>
                <a:latin typeface="Georgia" pitchFamily="34" charset="0"/>
                <a:ea typeface="Georgia" pitchFamily="34" charset="-122"/>
                <a:cs typeface="Georgia" pitchFamily="34" charset="-120"/>
              </a:rPr>
              <a:t>tied to measurable outcomes.</a:t>
            </a:r>
            <a:endParaRPr lang="en-US" sz="1400" dirty="0"/>
          </a:p>
        </p:txBody>
      </p:sp>
      <p:sp>
        <p:nvSpPr>
          <p:cNvPr id="5" name="Text 2"/>
          <p:cNvSpPr/>
          <p:nvPr/>
        </p:nvSpPr>
        <p:spPr>
          <a:xfrm>
            <a:off x="731520" y="2651760"/>
            <a:ext cx="7680960" cy="365760"/>
          </a:xfrm>
          <a:prstGeom prst="rect">
            <a:avLst/>
          </a:prstGeom>
          <a:noFill/>
          <a:ln/>
        </p:spPr>
        <p:txBody>
          <a:bodyPr wrap="square" rtlCol="0" anchor="ctr"/>
          <a:lstStyle/>
          <a:p>
            <a:pPr indent="0" marL="0">
              <a:buNone/>
            </a:pPr>
            <a:r>
              <a:rPr lang="en-US" sz="1400" b="1" dirty="0">
                <a:solidFill>
                  <a:srgbClr val="6366F1"/>
                </a:solidFill>
                <a:latin typeface="Georgia" pitchFamily="34" charset="0"/>
                <a:ea typeface="Georgia" pitchFamily="34" charset="-122"/>
                <a:cs typeface="Georgia" pitchFamily="34" charset="-120"/>
              </a:rPr>
              <a:t>AI-Powered. Ethical. Evidence-Grounded. Community-Serving.</a:t>
            </a:r>
            <a:endParaRPr lang="en-US" sz="1400" dirty="0"/>
          </a:p>
        </p:txBody>
      </p:sp>
      <p:sp>
        <p:nvSpPr>
          <p:cNvPr id="6" name="Shape 3"/>
          <p:cNvSpPr/>
          <p:nvPr/>
        </p:nvSpPr>
        <p:spPr>
          <a:xfrm>
            <a:off x="731520" y="3200400"/>
            <a:ext cx="2743200" cy="36576"/>
          </a:xfrm>
          <a:prstGeom prst="rect">
            <a:avLst/>
          </a:prstGeom>
          <a:solidFill>
            <a:srgbClr val="6366F1"/>
          </a:solidFill>
          <a:ln/>
        </p:spPr>
      </p:sp>
      <p:sp>
        <p:nvSpPr>
          <p:cNvPr id="7" name="Text 4"/>
          <p:cNvSpPr/>
          <p:nvPr/>
        </p:nvSpPr>
        <p:spPr>
          <a:xfrm>
            <a:off x="731520" y="3474720"/>
            <a:ext cx="7680960" cy="1097280"/>
          </a:xfrm>
          <a:prstGeom prst="rect">
            <a:avLst/>
          </a:prstGeom>
          <a:noFill/>
          <a:ln/>
        </p:spPr>
        <p:txBody>
          <a:bodyPr wrap="square" rtlCol="0" anchor="ctr"/>
          <a:lstStyle/>
          <a:p>
            <a:pPr indent="0" marL="0">
              <a:lnSpc>
                <a:spcPct val="140000"/>
              </a:lnSpc>
              <a:buNone/>
            </a:pPr>
            <a:r>
              <a:rPr lang="en-US" sz="1200" dirty="0">
                <a:solidFill>
                  <a:srgbClr val="94A3B8"/>
                </a:solidFill>
                <a:latin typeface="Georgia" pitchFamily="34" charset="0"/>
                <a:ea typeface="Georgia" pitchFamily="34" charset="-122"/>
                <a:cs typeface="Georgia" pitchFamily="34" charset="-120"/>
              </a:rPr>
              <a:t>Dr. Terry Flood, DHA  &amp;  Meredith Sisnett</a:t>
            </a:r>
            <a:endParaRPr lang="en-US" sz="1200" dirty="0"/>
          </a:p>
          <a:p>
            <a:pPr indent="0" marL="0">
              <a:lnSpc>
                <a:spcPct val="140000"/>
              </a:lnSpc>
              <a:buNone/>
            </a:pPr>
            <a:r>
              <a:rPr lang="en-US" sz="1200" dirty="0">
                <a:solidFill>
                  <a:srgbClr val="94A3B8"/>
                </a:solidFill>
                <a:latin typeface="Georgia" pitchFamily="34" charset="0"/>
                <a:ea typeface="Georgia" pitchFamily="34" charset="-122"/>
                <a:cs typeface="Georgia" pitchFamily="34" charset="-120"/>
              </a:rPr>
              <a:t>Co-Founders, The Collaborative Advocate</a:t>
            </a:r>
            <a:endParaRPr lang="en-US" sz="1200" dirty="0"/>
          </a:p>
          <a:p>
            <a:pPr indent="0" marL="0">
              <a:lnSpc>
                <a:spcPct val="140000"/>
              </a:lnSpc>
              <a:buNone/>
            </a:pPr>
            <a:r>
              <a:rPr lang="en-US" sz="1200" dirty="0">
                <a:solidFill>
                  <a:srgbClr val="94A3B8"/>
                </a:solidFill>
                <a:latin typeface="Georgia" pitchFamily="34" charset="0"/>
                <a:ea typeface="Georgia" pitchFamily="34" charset="-122"/>
                <a:cs typeface="Georgia" pitchFamily="34" charset="-120"/>
              </a:rPr>
              <a:t>mr.terryflood@gmail.com  |  sisnett.meredith@gmail.com</a:t>
            </a:r>
            <a:endParaRPr lang="en-US" sz="1200" dirty="0"/>
          </a:p>
          <a:p>
            <a:pPr indent="0" marL="0">
              <a:lnSpc>
                <a:spcPct val="140000"/>
              </a:lnSpc>
              <a:buNone/>
            </a:pPr>
            <a:r>
              <a:rPr lang="en-US" sz="1200" dirty="0">
                <a:solidFill>
                  <a:srgbClr val="94A3B8"/>
                </a:solidFill>
                <a:latin typeface="Georgia" pitchFamily="34" charset="0"/>
                <a:ea typeface="Georgia" pitchFamily="34" charset="-122"/>
                <a:cs typeface="Georgia" pitchFamily="34" charset="-120"/>
              </a:rPr>
              <a:t>Veteran-Owned Small Business (VOSB)  |  Austin, TX</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3" name="Text 0"/>
          <p:cNvSpPr/>
          <p:nvPr/>
        </p:nvSpPr>
        <p:spPr>
          <a:xfrm>
            <a:off x="731520" y="182880"/>
            <a:ext cx="7680960" cy="365760"/>
          </a:xfrm>
          <a:prstGeom prst="rect">
            <a:avLst/>
          </a:prstGeom>
          <a:noFill/>
          <a:ln/>
        </p:spPr>
        <p:txBody>
          <a:bodyPr wrap="square"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Appendix — Live Platform Links</a:t>
            </a:r>
            <a:endParaRPr lang="en-US" sz="2200" dirty="0"/>
          </a:p>
        </p:txBody>
      </p:sp>
      <p:sp>
        <p:nvSpPr>
          <p:cNvPr id="4" name="Text 1"/>
          <p:cNvSpPr/>
          <p:nvPr/>
        </p:nvSpPr>
        <p:spPr>
          <a:xfrm>
            <a:off x="731520" y="548640"/>
            <a:ext cx="7680960" cy="274320"/>
          </a:xfrm>
          <a:prstGeom prst="rect">
            <a:avLst/>
          </a:prstGeom>
          <a:noFill/>
          <a:ln/>
        </p:spPr>
        <p:txBody>
          <a:bodyPr wrap="square" rtlCol="0" anchor="ctr"/>
          <a:lstStyle/>
          <a:p>
            <a:pPr indent="0" marL="0">
              <a:buNone/>
            </a:pPr>
            <a:r>
              <a:rPr lang="en-US" sz="1100" dirty="0">
                <a:solidFill>
                  <a:srgbClr val="94A3B8"/>
                </a:solidFill>
                <a:latin typeface="Georgia" pitchFamily="34" charset="0"/>
                <a:ea typeface="Georgia" pitchFamily="34" charset="-122"/>
                <a:cs typeface="Georgia" pitchFamily="34" charset="-120"/>
              </a:rPr>
              <a:t>Every platform below is live. Click any link to see what we've built.</a:t>
            </a:r>
            <a:endParaRPr lang="en-US" sz="1100" dirty="0"/>
          </a:p>
        </p:txBody>
      </p:sp>
      <p:sp>
        <p:nvSpPr>
          <p:cNvPr id="5" name="Text 2"/>
          <p:cNvSpPr/>
          <p:nvPr/>
        </p:nvSpPr>
        <p:spPr>
          <a:xfrm>
            <a:off x="731520" y="914400"/>
            <a:ext cx="228600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ThriveUp Academy (Main Hub)</a:t>
            </a:r>
            <a:endParaRPr lang="en-US" sz="850" dirty="0"/>
          </a:p>
        </p:txBody>
      </p:sp>
      <p:sp>
        <p:nvSpPr>
          <p:cNvPr id="6" name="Text 3">
            <a:hlinkClick r:id="rId1" tooltip=""/>
          </p:cNvPr>
          <p:cNvSpPr/>
          <p:nvPr/>
        </p:nvSpPr>
        <p:spPr>
          <a:xfrm>
            <a:off x="3017520" y="914400"/>
            <a:ext cx="173736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https://thrivingcommunitiesforall.com</a:t>
            </a:r>
            <a:endParaRPr lang="en-US" sz="700" dirty="0"/>
          </a:p>
        </p:txBody>
      </p:sp>
      <p:sp>
        <p:nvSpPr>
          <p:cNvPr id="7" name="Text 4"/>
          <p:cNvSpPr/>
          <p:nvPr/>
        </p:nvSpPr>
        <p:spPr>
          <a:xfrm>
            <a:off x="731520" y="1252728"/>
            <a:ext cx="228600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Better Science Lab / RPLICE</a:t>
            </a:r>
            <a:endParaRPr lang="en-US" sz="850" dirty="0"/>
          </a:p>
        </p:txBody>
      </p:sp>
      <p:sp>
        <p:nvSpPr>
          <p:cNvPr id="8" name="Text 5">
            <a:hlinkClick r:id="rId2" tooltip=""/>
          </p:cNvPr>
          <p:cNvSpPr/>
          <p:nvPr/>
        </p:nvSpPr>
        <p:spPr>
          <a:xfrm>
            <a:off x="3017520" y="1252728"/>
            <a:ext cx="173736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https://bettersciencelab.com</a:t>
            </a:r>
            <a:endParaRPr lang="en-US" sz="700" dirty="0"/>
          </a:p>
        </p:txBody>
      </p:sp>
      <p:sp>
        <p:nvSpPr>
          <p:cNvPr id="9" name="Text 6"/>
          <p:cNvSpPr/>
          <p:nvPr/>
        </p:nvSpPr>
        <p:spPr>
          <a:xfrm>
            <a:off x="731520" y="1591056"/>
            <a:ext cx="228600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LifeBridge (Housing/Benefits)</a:t>
            </a:r>
            <a:endParaRPr lang="en-US" sz="850" dirty="0"/>
          </a:p>
        </p:txBody>
      </p:sp>
      <p:sp>
        <p:nvSpPr>
          <p:cNvPr id="10" name="Text 7">
            <a:hlinkClick r:id="rId3" tooltip=""/>
          </p:cNvPr>
          <p:cNvSpPr/>
          <p:nvPr/>
        </p:nvSpPr>
        <p:spPr>
          <a:xfrm>
            <a:off x="3017520" y="1591056"/>
            <a:ext cx="173736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https://lifetransitionsaid.org</a:t>
            </a:r>
            <a:endParaRPr lang="en-US" sz="700" dirty="0"/>
          </a:p>
        </p:txBody>
      </p:sp>
      <p:sp>
        <p:nvSpPr>
          <p:cNvPr id="11" name="Text 8"/>
          <p:cNvSpPr/>
          <p:nvPr/>
        </p:nvSpPr>
        <p:spPr>
          <a:xfrm>
            <a:off x="731520" y="1929384"/>
            <a:ext cx="228600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Mission Transition (Veterans)</a:t>
            </a:r>
            <a:endParaRPr lang="en-US" sz="850" dirty="0"/>
          </a:p>
        </p:txBody>
      </p:sp>
      <p:sp>
        <p:nvSpPr>
          <p:cNvPr id="12" name="Text 9">
            <a:hlinkClick r:id="rId4" tooltip=""/>
          </p:cNvPr>
          <p:cNvSpPr/>
          <p:nvPr/>
        </p:nvSpPr>
        <p:spPr>
          <a:xfrm>
            <a:off x="3017520" y="1929384"/>
            <a:ext cx="173736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https://vetmissiontransition.com</a:t>
            </a:r>
            <a:endParaRPr lang="en-US" sz="700" dirty="0"/>
          </a:p>
        </p:txBody>
      </p:sp>
      <p:sp>
        <p:nvSpPr>
          <p:cNvPr id="13" name="Text 10"/>
          <p:cNvSpPr/>
          <p:nvPr/>
        </p:nvSpPr>
        <p:spPr>
          <a:xfrm>
            <a:off x="731520" y="2267712"/>
            <a:ext cx="228600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Whole-Person Health</a:t>
            </a:r>
            <a:endParaRPr lang="en-US" sz="850" dirty="0"/>
          </a:p>
        </p:txBody>
      </p:sp>
      <p:sp>
        <p:nvSpPr>
          <p:cNvPr id="14" name="Text 11">
            <a:hlinkClick r:id="rId5" tooltip=""/>
          </p:cNvPr>
          <p:cNvSpPr/>
          <p:nvPr/>
        </p:nvSpPr>
        <p:spPr>
          <a:xfrm>
            <a:off x="3017520" y="2267712"/>
            <a:ext cx="173736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https://mentalwellnesssupport.net</a:t>
            </a:r>
            <a:endParaRPr lang="en-US" sz="700" dirty="0"/>
          </a:p>
        </p:txBody>
      </p:sp>
      <p:sp>
        <p:nvSpPr>
          <p:cNvPr id="15" name="Text 12"/>
          <p:cNvSpPr/>
          <p:nvPr/>
        </p:nvSpPr>
        <p:spPr>
          <a:xfrm>
            <a:off x="731520" y="2606040"/>
            <a:ext cx="228600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Sankofa Health</a:t>
            </a:r>
            <a:endParaRPr lang="en-US" sz="850" dirty="0"/>
          </a:p>
        </p:txBody>
      </p:sp>
      <p:sp>
        <p:nvSpPr>
          <p:cNvPr id="16" name="Text 13">
            <a:hlinkClick r:id="rId6" tooltip=""/>
          </p:cNvPr>
          <p:cNvSpPr/>
          <p:nvPr/>
        </p:nvSpPr>
        <p:spPr>
          <a:xfrm>
            <a:off x="3017520" y="2606040"/>
            <a:ext cx="173736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https://yourhealthbirthright.net</a:t>
            </a:r>
            <a:endParaRPr lang="en-US" sz="700" dirty="0"/>
          </a:p>
        </p:txBody>
      </p:sp>
      <p:sp>
        <p:nvSpPr>
          <p:cNvPr id="17" name="Text 14"/>
          <p:cNvSpPr/>
          <p:nvPr/>
        </p:nvSpPr>
        <p:spPr>
          <a:xfrm>
            <a:off x="731520" y="2944368"/>
            <a:ext cx="228600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Black Maternal Health</a:t>
            </a:r>
            <a:endParaRPr lang="en-US" sz="850" dirty="0"/>
          </a:p>
        </p:txBody>
      </p:sp>
      <p:sp>
        <p:nvSpPr>
          <p:cNvPr id="18" name="Text 15">
            <a:hlinkClick r:id="rId7" tooltip=""/>
          </p:cNvPr>
          <p:cNvSpPr/>
          <p:nvPr/>
        </p:nvSpPr>
        <p:spPr>
          <a:xfrm>
            <a:off x="3017520" y="2944368"/>
            <a:ext cx="173736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https://black-maternal-health-network.replit.app</a:t>
            </a:r>
            <a:endParaRPr lang="en-US" sz="700" dirty="0"/>
          </a:p>
        </p:txBody>
      </p:sp>
      <p:sp>
        <p:nvSpPr>
          <p:cNvPr id="19" name="Text 16"/>
          <p:cNvSpPr/>
          <p:nvPr/>
        </p:nvSpPr>
        <p:spPr>
          <a:xfrm>
            <a:off x="731520" y="3282696"/>
            <a:ext cx="228600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Sankofa Feminine Health</a:t>
            </a:r>
            <a:endParaRPr lang="en-US" sz="850" dirty="0"/>
          </a:p>
        </p:txBody>
      </p:sp>
      <p:sp>
        <p:nvSpPr>
          <p:cNvPr id="20" name="Text 17">
            <a:hlinkClick r:id="rId8" tooltip=""/>
          </p:cNvPr>
          <p:cNvSpPr/>
          <p:nvPr/>
        </p:nvSpPr>
        <p:spPr>
          <a:xfrm>
            <a:off x="3017520" y="3282696"/>
            <a:ext cx="173736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https://holistic-black-feminine-health-hub.replit.app</a:t>
            </a:r>
            <a:endParaRPr lang="en-US" sz="700" dirty="0"/>
          </a:p>
        </p:txBody>
      </p:sp>
      <p:sp>
        <p:nvSpPr>
          <p:cNvPr id="21" name="Text 18"/>
          <p:cNvSpPr/>
          <p:nvPr/>
        </p:nvSpPr>
        <p:spPr>
          <a:xfrm>
            <a:off x="731520" y="3621024"/>
            <a:ext cx="228600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Black Men's Health</a:t>
            </a:r>
            <a:endParaRPr lang="en-US" sz="850" dirty="0"/>
          </a:p>
        </p:txBody>
      </p:sp>
      <p:sp>
        <p:nvSpPr>
          <p:cNvPr id="22" name="Text 19">
            <a:hlinkClick r:id="rId9" tooltip=""/>
          </p:cNvPr>
          <p:cNvSpPr/>
          <p:nvPr/>
        </p:nvSpPr>
        <p:spPr>
          <a:xfrm>
            <a:off x="3017520" y="3621024"/>
            <a:ext cx="173736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https://black-men-health.replit.app</a:t>
            </a:r>
            <a:endParaRPr lang="en-US" sz="700" dirty="0"/>
          </a:p>
        </p:txBody>
      </p:sp>
      <p:sp>
        <p:nvSpPr>
          <p:cNvPr id="23" name="Text 20"/>
          <p:cNvSpPr/>
          <p:nvPr/>
        </p:nvSpPr>
        <p:spPr>
          <a:xfrm>
            <a:off x="731520" y="3959352"/>
            <a:ext cx="228600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Autoimmune Thrive</a:t>
            </a:r>
            <a:endParaRPr lang="en-US" sz="850" dirty="0"/>
          </a:p>
        </p:txBody>
      </p:sp>
      <p:sp>
        <p:nvSpPr>
          <p:cNvPr id="24" name="Text 21">
            <a:hlinkClick r:id="rId10" tooltip=""/>
          </p:cNvPr>
          <p:cNvSpPr/>
          <p:nvPr/>
        </p:nvSpPr>
        <p:spPr>
          <a:xfrm>
            <a:off x="3017520" y="3959352"/>
            <a:ext cx="173736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https://autoimmune-thrive.replit.app</a:t>
            </a:r>
            <a:endParaRPr lang="en-US" sz="700" dirty="0"/>
          </a:p>
        </p:txBody>
      </p:sp>
      <p:sp>
        <p:nvSpPr>
          <p:cNvPr id="25" name="Text 22"/>
          <p:cNvSpPr/>
          <p:nvPr/>
        </p:nvSpPr>
        <p:spPr>
          <a:xfrm>
            <a:off x="731520" y="4297680"/>
            <a:ext cx="228600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SafeCogniCare (Cognitive Health)</a:t>
            </a:r>
            <a:endParaRPr lang="en-US" sz="850" dirty="0"/>
          </a:p>
        </p:txBody>
      </p:sp>
      <p:sp>
        <p:nvSpPr>
          <p:cNvPr id="26" name="Text 23">
            <a:hlinkClick r:id="rId11" tooltip=""/>
          </p:cNvPr>
          <p:cNvSpPr/>
          <p:nvPr/>
        </p:nvSpPr>
        <p:spPr>
          <a:xfrm>
            <a:off x="3017520" y="4297680"/>
            <a:ext cx="173736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https://safecognicare.com</a:t>
            </a:r>
            <a:endParaRPr lang="en-US" sz="700" dirty="0"/>
          </a:p>
        </p:txBody>
      </p:sp>
      <p:sp>
        <p:nvSpPr>
          <p:cNvPr id="27" name="Text 24"/>
          <p:cNvSpPr/>
          <p:nvPr/>
        </p:nvSpPr>
        <p:spPr>
          <a:xfrm>
            <a:off x="731520" y="4636008"/>
            <a:ext cx="228600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PillScheduler</a:t>
            </a:r>
            <a:endParaRPr lang="en-US" sz="850" dirty="0"/>
          </a:p>
        </p:txBody>
      </p:sp>
      <p:sp>
        <p:nvSpPr>
          <p:cNvPr id="28" name="Text 25">
            <a:hlinkClick r:id="rId12" tooltip=""/>
          </p:cNvPr>
          <p:cNvSpPr/>
          <p:nvPr/>
        </p:nvSpPr>
        <p:spPr>
          <a:xfrm>
            <a:off x="3017520" y="4636008"/>
            <a:ext cx="173736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https://pillscheduler.net</a:t>
            </a:r>
            <a:endParaRPr lang="en-US" sz="700" dirty="0"/>
          </a:p>
        </p:txBody>
      </p:sp>
      <p:sp>
        <p:nvSpPr>
          <p:cNvPr id="29" name="Text 26"/>
          <p:cNvSpPr/>
          <p:nvPr/>
        </p:nvSpPr>
        <p:spPr>
          <a:xfrm>
            <a:off x="4937760" y="914400"/>
            <a:ext cx="210312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ISSS (K-12 Implementation)</a:t>
            </a:r>
            <a:endParaRPr lang="en-US" sz="850" dirty="0"/>
          </a:p>
        </p:txBody>
      </p:sp>
      <p:sp>
        <p:nvSpPr>
          <p:cNvPr id="30" name="Text 27">
            <a:hlinkClick r:id="rId13" tooltip=""/>
          </p:cNvPr>
          <p:cNvSpPr/>
          <p:nvPr/>
        </p:nvSpPr>
        <p:spPr>
          <a:xfrm>
            <a:off x="7040880" y="914400"/>
            <a:ext cx="182880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https://implementationineducatio.com</a:t>
            </a:r>
            <a:endParaRPr lang="en-US" sz="700" dirty="0"/>
          </a:p>
        </p:txBody>
      </p:sp>
      <p:sp>
        <p:nvSpPr>
          <p:cNvPr id="31" name="Text 28"/>
          <p:cNvSpPr/>
          <p:nvPr/>
        </p:nvSpPr>
        <p:spPr>
          <a:xfrm>
            <a:off x="4937760" y="1252728"/>
            <a:ext cx="210312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WholeMind Learning</a:t>
            </a:r>
            <a:endParaRPr lang="en-US" sz="850" dirty="0"/>
          </a:p>
        </p:txBody>
      </p:sp>
      <p:sp>
        <p:nvSpPr>
          <p:cNvPr id="32" name="Text 29">
            <a:hlinkClick r:id="rId14" tooltip=""/>
          </p:cNvPr>
          <p:cNvSpPr/>
          <p:nvPr/>
        </p:nvSpPr>
        <p:spPr>
          <a:xfrm>
            <a:off x="7040880" y="1252728"/>
            <a:ext cx="182880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https://life-pals-standalone.replit.app</a:t>
            </a:r>
            <a:endParaRPr lang="en-US" sz="700" dirty="0"/>
          </a:p>
        </p:txBody>
      </p:sp>
      <p:sp>
        <p:nvSpPr>
          <p:cNvPr id="33" name="Text 30"/>
          <p:cNvSpPr/>
          <p:nvPr/>
        </p:nvSpPr>
        <p:spPr>
          <a:xfrm>
            <a:off x="4937760" y="1591056"/>
            <a:ext cx="210312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Perfectly Different (Neurodiversity)</a:t>
            </a:r>
            <a:endParaRPr lang="en-US" sz="850" dirty="0"/>
          </a:p>
        </p:txBody>
      </p:sp>
      <p:sp>
        <p:nvSpPr>
          <p:cNvPr id="34" name="Text 31">
            <a:hlinkClick r:id="rId15" tooltip=""/>
          </p:cNvPr>
          <p:cNvSpPr/>
          <p:nvPr/>
        </p:nvSpPr>
        <p:spPr>
          <a:xfrm>
            <a:off x="7040880" y="1591056"/>
            <a:ext cx="182880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https://neurodifferentassistant.app</a:t>
            </a:r>
            <a:endParaRPr lang="en-US" sz="700" dirty="0"/>
          </a:p>
        </p:txBody>
      </p:sp>
      <p:sp>
        <p:nvSpPr>
          <p:cNvPr id="35" name="Text 32"/>
          <p:cNvSpPr/>
          <p:nvPr/>
        </p:nvSpPr>
        <p:spPr>
          <a:xfrm>
            <a:off x="4937760" y="1929384"/>
            <a:ext cx="210312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Speech Bridge</a:t>
            </a:r>
            <a:endParaRPr lang="en-US" sz="850" dirty="0"/>
          </a:p>
        </p:txBody>
      </p:sp>
      <p:sp>
        <p:nvSpPr>
          <p:cNvPr id="36" name="Text 33">
            <a:hlinkClick r:id="rId16" tooltip=""/>
          </p:cNvPr>
          <p:cNvSpPr/>
          <p:nvPr/>
        </p:nvSpPr>
        <p:spPr>
          <a:xfrm>
            <a:off x="7040880" y="1929384"/>
            <a:ext cx="182880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https://speech-bridge.replit.app</a:t>
            </a:r>
            <a:endParaRPr lang="en-US" sz="700" dirty="0"/>
          </a:p>
        </p:txBody>
      </p:sp>
      <p:sp>
        <p:nvSpPr>
          <p:cNvPr id="37" name="Text 34"/>
          <p:cNvSpPr/>
          <p:nvPr/>
        </p:nvSpPr>
        <p:spPr>
          <a:xfrm>
            <a:off x="4937760" y="2267712"/>
            <a:ext cx="210312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SafeReport</a:t>
            </a:r>
            <a:endParaRPr lang="en-US" sz="850" dirty="0"/>
          </a:p>
        </p:txBody>
      </p:sp>
      <p:sp>
        <p:nvSpPr>
          <p:cNvPr id="38" name="Text 35">
            <a:hlinkClick r:id="rId17" tooltip=""/>
          </p:cNvPr>
          <p:cNvSpPr/>
          <p:nvPr/>
        </p:nvSpPr>
        <p:spPr>
          <a:xfrm>
            <a:off x="7040880" y="2267712"/>
            <a:ext cx="182880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https://safereports.net</a:t>
            </a:r>
            <a:endParaRPr lang="en-US" sz="700" dirty="0"/>
          </a:p>
        </p:txBody>
      </p:sp>
      <p:sp>
        <p:nvSpPr>
          <p:cNvPr id="39" name="Text 36"/>
          <p:cNvSpPr/>
          <p:nvPr/>
        </p:nvSpPr>
        <p:spPr>
          <a:xfrm>
            <a:off x="4937760" y="2606040"/>
            <a:ext cx="210312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Shield Atlas</a:t>
            </a:r>
            <a:endParaRPr lang="en-US" sz="850" dirty="0"/>
          </a:p>
        </p:txBody>
      </p:sp>
      <p:sp>
        <p:nvSpPr>
          <p:cNvPr id="40" name="Text 37">
            <a:hlinkClick r:id="rId18" tooltip=""/>
          </p:cNvPr>
          <p:cNvSpPr/>
          <p:nvPr/>
        </p:nvSpPr>
        <p:spPr>
          <a:xfrm>
            <a:off x="7040880" y="2606040"/>
            <a:ext cx="182880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https://shield-atlas.replit.app</a:t>
            </a:r>
            <a:endParaRPr lang="en-US" sz="700" dirty="0"/>
          </a:p>
        </p:txBody>
      </p:sp>
      <p:sp>
        <p:nvSpPr>
          <p:cNvPr id="41" name="Text 38"/>
          <p:cNvSpPr/>
          <p:nvPr/>
        </p:nvSpPr>
        <p:spPr>
          <a:xfrm>
            <a:off x="4937760" y="2944368"/>
            <a:ext cx="210312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MCE (Minority Center of Excellence)</a:t>
            </a:r>
            <a:endParaRPr lang="en-US" sz="850" dirty="0"/>
          </a:p>
        </p:txBody>
      </p:sp>
      <p:sp>
        <p:nvSpPr>
          <p:cNvPr id="42" name="Text 39">
            <a:hlinkClick r:id="rId19" tooltip=""/>
          </p:cNvPr>
          <p:cNvSpPr/>
          <p:nvPr/>
        </p:nvSpPr>
        <p:spPr>
          <a:xfrm>
            <a:off x="7040880" y="2944368"/>
            <a:ext cx="182880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https://minoritycenterofexcellence.com</a:t>
            </a:r>
            <a:endParaRPr lang="en-US" sz="700" dirty="0"/>
          </a:p>
        </p:txBody>
      </p:sp>
      <p:sp>
        <p:nvSpPr>
          <p:cNvPr id="43" name="Text 40"/>
          <p:cNvSpPr/>
          <p:nvPr/>
        </p:nvSpPr>
        <p:spPr>
          <a:xfrm>
            <a:off x="4937760" y="3282696"/>
            <a:ext cx="210312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Pinnacle Business</a:t>
            </a:r>
            <a:endParaRPr lang="en-US" sz="850" dirty="0"/>
          </a:p>
        </p:txBody>
      </p:sp>
      <p:sp>
        <p:nvSpPr>
          <p:cNvPr id="44" name="Text 41">
            <a:hlinkClick r:id="rId20" tooltip=""/>
          </p:cNvPr>
          <p:cNvSpPr/>
          <p:nvPr/>
        </p:nvSpPr>
        <p:spPr>
          <a:xfrm>
            <a:off x="7040880" y="3282696"/>
            <a:ext cx="182880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https://pinnacle-business-conglomerate.replit.app</a:t>
            </a:r>
            <a:endParaRPr lang="en-US" sz="700" dirty="0"/>
          </a:p>
        </p:txBody>
      </p:sp>
      <p:sp>
        <p:nvSpPr>
          <p:cNvPr id="45" name="Text 42"/>
          <p:cNvSpPr/>
          <p:nvPr/>
        </p:nvSpPr>
        <p:spPr>
          <a:xfrm>
            <a:off x="4937760" y="3621024"/>
            <a:ext cx="210312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M2C Transition</a:t>
            </a:r>
            <a:endParaRPr lang="en-US" sz="850" dirty="0"/>
          </a:p>
        </p:txBody>
      </p:sp>
      <p:sp>
        <p:nvSpPr>
          <p:cNvPr id="46" name="Text 43">
            <a:hlinkClick r:id="rId21" tooltip=""/>
          </p:cNvPr>
          <p:cNvSpPr/>
          <p:nvPr/>
        </p:nvSpPr>
        <p:spPr>
          <a:xfrm>
            <a:off x="7040880" y="3621024"/>
            <a:ext cx="182880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21" invalidUrl="" action="" tgtFrame="" tooltip="" history="1" highlightClick="0" endSnd="0">
                  <a:extLst>
                    <a:ext uri="{A12FA001-AC4F-418D-AE19-62706E023703}">
                      <ahyp:hlinkClr xmlns:ahyp="http://schemas.microsoft.com/office/drawing/2018/hyperlinkcolor" val="tx"/>
                    </a:ext>
                  </a:extLst>
                </a:hlinkClick>
              </a:rPr>
              <a:t>https://vetmissiontransition.com</a:t>
            </a:r>
            <a:endParaRPr lang="en-US" sz="700" dirty="0"/>
          </a:p>
        </p:txBody>
      </p:sp>
      <p:sp>
        <p:nvSpPr>
          <p:cNvPr id="47" name="Text 44"/>
          <p:cNvSpPr/>
          <p:nvPr/>
        </p:nvSpPr>
        <p:spPr>
          <a:xfrm>
            <a:off x="4937760" y="3959352"/>
            <a:ext cx="210312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Video Creator AI</a:t>
            </a:r>
            <a:endParaRPr lang="en-US" sz="850" dirty="0"/>
          </a:p>
        </p:txBody>
      </p:sp>
      <p:sp>
        <p:nvSpPr>
          <p:cNvPr id="48" name="Text 45">
            <a:hlinkClick r:id="rId22" tooltip=""/>
          </p:cNvPr>
          <p:cNvSpPr/>
          <p:nvPr/>
        </p:nvSpPr>
        <p:spPr>
          <a:xfrm>
            <a:off x="7040880" y="3959352"/>
            <a:ext cx="182880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22" invalidUrl="" action="" tgtFrame="" tooltip="" history="1" highlightClick="0" endSnd="0">
                  <a:extLst>
                    <a:ext uri="{A12FA001-AC4F-418D-AE19-62706E023703}">
                      <ahyp:hlinkClr xmlns:ahyp="http://schemas.microsoft.com/office/drawing/2018/hyperlinkcolor" val="tx"/>
                    </a:ext>
                  </a:extLst>
                </a:hlinkClick>
              </a:rPr>
              <a:t>https://video-creator-ai-mrterryflood.replit.app</a:t>
            </a:r>
            <a:endParaRPr lang="en-US" sz="700" dirty="0"/>
          </a:p>
        </p:txBody>
      </p:sp>
      <p:sp>
        <p:nvSpPr>
          <p:cNvPr id="49" name="Text 46"/>
          <p:cNvSpPr/>
          <p:nvPr/>
        </p:nvSpPr>
        <p:spPr>
          <a:xfrm>
            <a:off x="4937760" y="4297680"/>
            <a:ext cx="210312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Ecosystem Nexus</a:t>
            </a:r>
            <a:endParaRPr lang="en-US" sz="850" dirty="0"/>
          </a:p>
        </p:txBody>
      </p:sp>
      <p:sp>
        <p:nvSpPr>
          <p:cNvPr id="50" name="Text 47">
            <a:hlinkClick r:id="rId23" tooltip=""/>
          </p:cNvPr>
          <p:cNvSpPr/>
          <p:nvPr/>
        </p:nvSpPr>
        <p:spPr>
          <a:xfrm>
            <a:off x="7040880" y="4297680"/>
            <a:ext cx="182880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23" invalidUrl="" action="" tgtFrame="" tooltip="" history="1" highlightClick="0" endSnd="0">
                  <a:extLst>
                    <a:ext uri="{A12FA001-AC4F-418D-AE19-62706E023703}">
                      <ahyp:hlinkClr xmlns:ahyp="http://schemas.microsoft.com/office/drawing/2018/hyperlinkcolor" val="tx"/>
                    </a:ext>
                  </a:extLst>
                </a:hlinkClick>
              </a:rPr>
              <a:t>https://ecosystem-nexus.replit.app</a:t>
            </a:r>
            <a:endParaRPr lang="en-US" sz="700" dirty="0"/>
          </a:p>
        </p:txBody>
      </p:sp>
      <p:sp>
        <p:nvSpPr>
          <p:cNvPr id="51" name="Text 48"/>
          <p:cNvSpPr/>
          <p:nvPr/>
        </p:nvSpPr>
        <p:spPr>
          <a:xfrm>
            <a:off x="4937760" y="4636008"/>
            <a:ext cx="2103120" cy="320040"/>
          </a:xfrm>
          <a:prstGeom prst="rect">
            <a:avLst/>
          </a:prstGeom>
          <a:noFill/>
          <a:ln/>
        </p:spPr>
        <p:txBody>
          <a:bodyPr wrap="square" rtlCol="0" anchor="ctr"/>
          <a:lstStyle/>
          <a:p>
            <a:pPr indent="0" marL="0">
              <a:buNone/>
            </a:pPr>
            <a:r>
              <a:rPr lang="en-US" sz="850" dirty="0">
                <a:solidFill>
                  <a:srgbClr val="E2E8F0"/>
                </a:solidFill>
                <a:latin typeface="Calibri" pitchFamily="34" charset="0"/>
                <a:ea typeface="Calibri" pitchFamily="34" charset="-122"/>
                <a:cs typeface="Calibri" pitchFamily="34" charset="-120"/>
              </a:rPr>
              <a:t>Ad Targeting</a:t>
            </a:r>
            <a:endParaRPr lang="en-US" sz="850" dirty="0"/>
          </a:p>
        </p:txBody>
      </p:sp>
      <p:sp>
        <p:nvSpPr>
          <p:cNvPr id="52" name="Text 49">
            <a:hlinkClick r:id="rId24" tooltip=""/>
          </p:cNvPr>
          <p:cNvSpPr/>
          <p:nvPr/>
        </p:nvSpPr>
        <p:spPr>
          <a:xfrm>
            <a:off x="7040880" y="4636008"/>
            <a:ext cx="1828800" cy="320040"/>
          </a:xfrm>
          <a:prstGeom prst="rect">
            <a:avLst/>
          </a:prstGeom>
          <a:noFill/>
          <a:ln/>
        </p:spPr>
        <p:txBody>
          <a:bodyPr wrap="square" rtlCol="0" anchor="ctr"/>
          <a:lstStyle/>
          <a:p>
            <a:pPr indent="0" marL="0">
              <a:buNone/>
            </a:pPr>
            <a:r>
              <a:rPr lang="en-US" sz="700" u="sng" dirty="0">
                <a:solidFill>
                  <a:srgbClr val="14B8A6"/>
                </a:solidFill>
                <a:latin typeface="Calibri" pitchFamily="34" charset="0"/>
                <a:ea typeface="Calibri" pitchFamily="34" charset="-122"/>
                <a:cs typeface="Calibri" pitchFamily="34" charset="-120"/>
                <a:hlinkClick r:id="rId24" invalidUrl="" action="" tgtFrame="" tooltip="" history="1" highlightClick="0" endSnd="0">
                  <a:extLst>
                    <a:ext uri="{A12FA001-AC4F-418D-AE19-62706E023703}">
                      <ahyp:hlinkClr xmlns:ahyp="http://schemas.microsoft.com/office/drawing/2018/hyperlinkcolor" val="tx"/>
                    </a:ext>
                  </a:extLst>
                </a:hlinkClick>
              </a:rPr>
              <a:t>https://advertising-targeting-for-platforms.replit.app</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ThriveUp Academy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ThriveUp + RPLICE Ecosystem — Partnership Opportunity</dc:title>
  <dc:subject>PptxGenJS Presentation</dc:subject>
  <dc:creator>The Collaborative Advocate Foundation</dc:creator>
  <cp:lastModifiedBy>The Collaborative Advocate Foundation</cp:lastModifiedBy>
  <cp:revision>1</cp:revision>
  <dcterms:created xsi:type="dcterms:W3CDTF">2026-03-30T15:40:07Z</dcterms:created>
  <dcterms:modified xsi:type="dcterms:W3CDTF">2026-03-30T15:40:07Z</dcterms:modified>
</cp:coreProperties>
</file>