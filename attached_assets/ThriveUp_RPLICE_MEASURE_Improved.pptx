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introduces The Collaborative Advocate — both the nonprofit Foundation (501(c)(3)) and the consulting LLC (VOSB). Together they operate RPLICE and the ThriveUp ecosystem. The tagline captures the core mission: we build systems that prove whether interventions actually work in the communities they serve. Dr. Terry Flood holds a Doctorate in Health Administration and co-founded the organization with Meredith Sisnett. Both are veterans. KEY EMPHASIS: This is an AI-powered implementation science platform — not just technology for technology's sake. Our 4-engine AI architecture with RAG (Retrieval-Augmented Generation) means every recommendation is grounded in real scholarly evidence and real community data, never hallucinated. When you see the word AI in this presentation, understand that it means ethical, transparent, citation-backed AI — the kind that Jameila Styles (Meme) has been advocating for in the equity data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Collaborative Advocate operates as a dual structure. The Foundation handles community programs, grant-funded research, and direct services. The LLC handles consulting, technology development, and government contracts through VOSB status. Our 24 platforms span six domains — health, education, workforce, criminal justice, housing, and safety. Every platform is measured, every intervention tracked, every outcome verified. This is operational today, not aspirational. CRITICAL POINT FOR THIS AUDIENCE: Our AI architecture is not a chatbot bolted onto a dashboard. It is a multi-engine system where GPT-5, Claude Sonnet, and scholarly research databases work together through RAG pipelines to produce evidence-grounded recommendations. Anti-hallucination guardrails ensure every AI output includes APA citations. This is the ethical AI approach that Meme has been championing — AI that serves communities rather than extracting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RPLICE is the quality gate for the entire ecosystem. When a funder asks how do you measure outcomes, this is the answer. The AI architecture deserves special attention: we run four engines in parallel. GPT-5 handles structured analysis and recommendations. Claude Sonnet provides nuanced reasoning for complex implementation questions. The Scholarly Research engine queries six live academic databases — PubMed, Semantic Scholar, CrossRef, Europe PMC, medRxiv, and bioRxiv — using RAG (Retrieval-Augmented Generation) to ground every recommendation in peer-reviewed evidence. The Ecosystem RAG engine is platform-aware — it understands your specific data, your participants, your interventions. When you run ALL mode, all four engines fire in parallel, then synthesize into one unified response with anti-hallucination guardrails and APA citations on every response. This is not generic AI. This is implementation science AI — trained on real frameworks, grounded in real evidence, producing real recommendations that clinicians and program managers can act on. Meme would recognize this as ethical AI done right — transparent, cited, community-serving, and bias-auditable.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new — it goes deeper on the AI and RAG architecture because this is a competitive differentiator no other organization in this space has. The RAG pipeline works like this: when a user asks a question about their program or intervention, RPLICE does not just query a general-purpose AI model. It simultaneously queries six scholarly databases for relevant peer-reviewed evidence, queries the ecosystem database for platform-specific data about the user's actual participants and outcomes, runs the combined context through GPT-5 and Claude Sonnet in parallel, applies anti-hallucination checks that verify every factual claim against source data, and synthesizes the results into a single response with APA-formatted citations. The practical result: a program manager asks "Is my mentoring program working?" and gets back a response that references specific outcome data from their program, compares it against published evidence from PubMed, identifies where implementation fidelity has drifted using CFIR domains, and recommends specific corrective actions — all with citations. This is what ethical AI looks like. Meme has been a leading voice in ensuring that AI serves communities of color rather than perpetuating bias. Our architecture directly addresses her concerns: outputs are transparent, sources are cited, bias can be audited, and community data stays owned by the community. We built this because Dr. Flood and Meme share the same conviction — measurement without ethics is just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24-platform ecosystem is the infrastructure that makes RPLICE meaningful. Without real programs generating real data, implementation science is just theory. Each platform is a live, operational system — not a mockup. The Ecosystem Nexus connects all platforms through a cross-platform event bus, meaning a student flagged in ISSS for home instability automatically triggers LifeBridge housing resources. A veteran completing Mission Transition automatically gets connected to workforce pathways through ThriveUp Academy. All data flows into RPLICE for fidelity tracking and outcome measurement. The AI layer sits across everything — any platform can invoke the AI for recommendations, and the RAG pipeline has context about all 24 platforms. This is what makes our AI different from bolting ChatGPT onto a dashboard — our AI KNOWS the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ISSS — Schools Addressing Multiple Issues — is the only K-12 implementation science platform on the market. It uses a five-layer progressive unlock model and provides seven role-specific portals. Schools adopt evidence-based programs constantly — anti-bullying, SEL, substance abuse prevention — but most fail because implementation drifts. ISSS tracks whether interventions are delivered as designed using AI-powered fidelity monitoring. The AI layer here is critical: ISSS uses the same RAG pipeline as RPLICE, meaning it can pull scholarly evidence on intervention effectiveness and compare it against real classroom implementation data. When a counselor skips a component, the AI flags it. When outcomes plateau, the AI identifies which implementation element drifted and recommends corrective action — with citations from the evidence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 introduction slide. Jameila "Meme" Styles is not just the founder of MEASURE — she is a leading ethical AI consultant who has been at the forefront of ensuring that data and AI tools serve communities of color rather than extracting from them. Her work with the CARE Model is fundamentally about equity-centered evaluation — making sure that research is done WITH communities, not ON communities. MEASURE has delivered over 3,000 hours of free data support to Black-led organizations in Austin. They have MIT Solve backing. They partnered with Huston-Tillotson University, an HBCU. They helped pass the CROWN Act in Texas. Their Ignite platform helps organizations that have never had data systems before start collecting and using data. The 79% statistic is devastating and motivating: 79% of Black-led organizations in Austin had NO systems for collecting data before MEASURE intervened. This is the gap we fill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found that 79% of Black-led organizations have no systems for collecting data. That is what led them to build Ignite. But data collection is only step one. The harder questions are implementation science questions: Is the intervention being delivered as designed? Are outcomes actually improving? What is the gap between plan and reality? How do we know gains will sustain? MEASURE provides the front end — community voice, data collection, advocacy, and policy change. We provide the AI-powered engine — implementation design, fidelity tracking with AI monitoring, outcome measurement verified against scholarly evidence through RAG, and sustainment planning. Combined, the full loop works: community voice drives intervention design, AI-powered fidelity tracking ensures the intervention is delivered as designed, outcomes are measured and verified against evidence, data feeds back to community, and the cycle continuously improves. The AI component is what makes this scalable. Without AI, this loop requires armies of researchers. With our 4-engine RAG architecture, a single program manager can run the entire cycle. That is the breakthrough. Nobody else in Central Texas — or frankly most of the country — has this complete loop from community voice to AI-verified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values alignment slide and it is critical for the MEASURE relationship. Meme's core belief is that lived experience and quantitative data about complex social problems impacting Black, Brown, and Multiracial communities are not used effectively for justice due to racism, a lack of equitable data tools, and village support. Our core belief is that nothing happens in a silo — collaboration is key, and we must implement with fidelity by knowing our stakeholders and building with the user experience in mind. Where we align: Data must serve communities, not extract from them. Equity is structure, not decoration. Lived experience is valid evidence. Measurement without action is meaningless. AI must be ethical, transparent, and bias-auditable. Both organizations believe the people most impacted should drive the solutions. The ethical AI alignment is especially important: Meme has been a leading voice nationally on how AI can either perpetuate or dismantle systemic inequity. Our AI architecture was built with this philosophy — anti-hallucination guardrails, APA citations, transparent source chains, and community data ownership are not features we added later. They were design principles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new slide dedicated to Meme's role as a leading ethical AI consultant. This matters because the AI conversation in the social sector is exploding right now — funders are asking about AI, community organizations are nervous about AI, and very few people are providing thoughtful leadership on how AI should serve equity. Meme is one of those leaders. Her work with MEASURE has always been about ensuring that data tools serve communities rather than extracting from them. As AI becomes more powerful, this principle becomes more critical. Our partnership positions Meme's ethical AI expertise as the governance layer over our technical AI architecture. She is not learning AI from us — she has been thinking about equitable technology longer than most of the AI industry has existed. What we provide is the engineering to implement her vision at scale: transparent outputs, cited sources, bias-auditable chains, community-owned data, and anti-hallucination guardrails. Together, we can demonstrate to funders, policymakers, and communities what ethical AI looks like in practice — not as a white paper, but as a live, operational system serving real communities in Central Texas.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offers a Free Data Support Program — a 25,000 dollar in-kind grant plus a 1,000 dollar participant stipend. This is directly relevant to TCAF. We qualify as a Black-led organization in Texas. The in-kind support includes data analysis, evaluation tools, and impact measurement — exactly the kind of support that strengthens our grant applications across the entire pipeline. Applying for this program is a priority action item. It is available at wemeasure.org/our-programs. The strategic value goes beyond the 25K: having MEASURE as a documented data partner strengthens every proposal we submit. St. David's wants community-informed design? MEASURE provides the data. SSG Fox VA wants evidence-based intervention models? RPLICE plus MEASURE provides the full evidence chain. The AI integration opportunity is significant — if MEASURE's Ignite data flows into our RAG pipeline, we can produce AI-powered analysis of community data that neither organization could produce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Partnership can start immediately with joint grant applications where MEASURE serves as the community partner and we provide the technology and AI measurement infrastructure. The most impactful near-term opportunity is integrating MEASURE's Ignite platform data into RPLICE's RAG pipeline — this would allow our AI to produce analysis grounded in both scholarly evidence AND community-collected data, which is unique in this space. Joint opportunities include data sharing between Ignite and RPLICE, combined research publications using CARE Model plus MAP-GAP methodology, shared training programs through ThriveUp Academy, and combined policy advocacy using AI-verified outcome data. Long-term, the vision is to build Central Texas into a national model for how communities use data plus AI plus implementation science to drive equity. The CARE Model from MEASURE plus MAP-GAP from us equals a peer-reviewable framework that could change how the entire social sector approaches community-driven AI. The partnership is flexible — MEASURE can engage at whatever level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regional hubs represent our geographic strategy. Austin Hub focuses on housing crisis response — median home price 435K, over 3,200 homeless in the 2025 point-in-time count, 85% of renters cost-burdened. Manor Hub addresses growth without gaps — 400% population growth since 2010, critical infrastructure gap, 38% of population under 18. Pflugerville Hub focuses on infrastructure before growth — 75K population, 52% growth rate, significant digital access gap. The AI layer is relevant here because each hub generates different data that feeds into the RAG pipeline. Austin hub data is about housing instability and health. Manor hub data is about rapid growth and youth services. Pflugerville hub data is about digital access and workforce. The AI can cross-reference across hubs — if an intervention works in one community, RPLICE can assess whether it would transfer to another using the MG-PATR replication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slide with direct contact information. Dr. Terry Flood can be reached at mr.terryflood@gmail.com and Meredith Sisnett at sisnett.meredith@gmail.com. RPLICE is live and accessible for a walkthrough at any time. The next step we are proposing is a conversation — not a commitment. We want to understand MEASURE's current priorities, upcoming grant deadlines, and where AI-powered collaboration would deliver the most value for the communities both organizations serve. The AI architecture is ready. The ethical framework is shared. The communities are the same. The door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914400"/>
            <a:ext cx="76809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COLLABORATIVE ADVOCATE</a:t>
            </a:r>
            <a:endParaRPr lang="en-US" sz="3600" dirty="0"/>
          </a:p>
        </p:txBody>
      </p:sp>
      <p:sp>
        <p:nvSpPr>
          <p:cNvPr id="4" name="Text 1"/>
          <p:cNvSpPr/>
          <p:nvPr/>
        </p:nvSpPr>
        <p:spPr>
          <a:xfrm>
            <a:off x="731520" y="1554480"/>
            <a:ext cx="7680960" cy="365760"/>
          </a:xfrm>
          <a:prstGeom prst="rect">
            <a:avLst/>
          </a:prstGeom>
          <a:noFill/>
          <a:ln/>
        </p:spPr>
        <p:txBody>
          <a:bodyPr wrap="square" rtlCol="0" anchor="ctr"/>
          <a:lstStyle/>
          <a:p>
            <a:pPr indent="0" marL="0">
              <a:buNone/>
            </a:pPr>
            <a:r>
              <a:rPr lang="en-US" sz="1600" dirty="0">
                <a:solidFill>
                  <a:srgbClr val="94A3B8"/>
                </a:solidFill>
                <a:latin typeface="Georgia" pitchFamily="34" charset="0"/>
                <a:ea typeface="Georgia" pitchFamily="34" charset="-122"/>
                <a:cs typeface="Georgia" pitchFamily="34" charset="-120"/>
              </a:rPr>
              <a:t>Foundation (501(c)(3)) &amp; LLC (VOSB)</a:t>
            </a:r>
            <a:endParaRPr lang="en-US" sz="1600" dirty="0"/>
          </a:p>
        </p:txBody>
      </p:sp>
      <p:sp>
        <p:nvSpPr>
          <p:cNvPr id="5" name="Shape 2"/>
          <p:cNvSpPr/>
          <p:nvPr/>
        </p:nvSpPr>
        <p:spPr>
          <a:xfrm>
            <a:off x="731520" y="2103120"/>
            <a:ext cx="2743200" cy="36576"/>
          </a:xfrm>
          <a:prstGeom prst="rect">
            <a:avLst/>
          </a:prstGeom>
          <a:solidFill>
            <a:srgbClr val="6366F1"/>
          </a:solidFill>
          <a:ln/>
        </p:spPr>
      </p:sp>
      <p:sp>
        <p:nvSpPr>
          <p:cNvPr id="6" name="Text 3"/>
          <p:cNvSpPr/>
          <p:nvPr/>
        </p:nvSpPr>
        <p:spPr>
          <a:xfrm>
            <a:off x="731520" y="2377440"/>
            <a:ext cx="7680960" cy="457200"/>
          </a:xfrm>
          <a:prstGeom prst="rect">
            <a:avLst/>
          </a:prstGeom>
          <a:noFill/>
          <a:ln/>
        </p:spPr>
        <p:txBody>
          <a:bodyPr wrap="square" rtlCol="0" anchor="ctr"/>
          <a:lstStyle/>
          <a:p>
            <a:pPr indent="0" marL="0">
              <a:buNone/>
            </a:pPr>
            <a:r>
              <a:rPr lang="en-US" sz="2200" b="1" dirty="0">
                <a:solidFill>
                  <a:srgbClr val="6366F1"/>
                </a:solidFill>
                <a:latin typeface="Georgia" pitchFamily="34" charset="0"/>
                <a:ea typeface="Georgia" pitchFamily="34" charset="-122"/>
                <a:cs typeface="Georgia" pitchFamily="34" charset="-120"/>
              </a:rPr>
              <a:t>RPLICE + ThriveUp Ecosystem</a:t>
            </a:r>
            <a:endParaRPr lang="en-US" sz="2200" dirty="0"/>
          </a:p>
        </p:txBody>
      </p:sp>
      <p:sp>
        <p:nvSpPr>
          <p:cNvPr id="7" name="Text 4"/>
          <p:cNvSpPr/>
          <p:nvPr/>
        </p:nvSpPr>
        <p:spPr>
          <a:xfrm>
            <a:off x="731520" y="2926080"/>
            <a:ext cx="7680960" cy="1097280"/>
          </a:xfrm>
          <a:prstGeom prst="rect">
            <a:avLst/>
          </a:prstGeom>
          <a:noFill/>
          <a:ln/>
        </p:spPr>
        <p:txBody>
          <a:bodyPr wrap="square" rtlCol="0" anchor="ctr"/>
          <a:lstStyle/>
          <a:p>
            <a:pPr indent="0" marL="0">
              <a:lnSpc>
                <a:spcPct val="140000"/>
              </a:lnSpc>
              <a:buNone/>
            </a:pPr>
            <a:r>
              <a:rPr lang="en-US" sz="1600" dirty="0">
                <a:solidFill>
                  <a:srgbClr val="E2E8F0"/>
                </a:solidFill>
                <a:latin typeface="Georgia" pitchFamily="34" charset="0"/>
                <a:ea typeface="Georgia" pitchFamily="34" charset="-122"/>
                <a:cs typeface="Georgia" pitchFamily="34" charset="-120"/>
              </a:rPr>
              <a:t>AI-Powered Implementation Science</a:t>
            </a:r>
            <a:endParaRPr lang="en-US" sz="1600" dirty="0"/>
          </a:p>
          <a:p>
            <a:pPr indent="0" marL="0">
              <a:lnSpc>
                <a:spcPct val="140000"/>
              </a:lnSpc>
              <a:buNone/>
            </a:pPr>
            <a:r>
              <a:rPr lang="en-US" sz="1600" dirty="0">
                <a:solidFill>
                  <a:srgbClr val="E2E8F0"/>
                </a:solidFill>
                <a:latin typeface="Georgia" pitchFamily="34" charset="0"/>
                <a:ea typeface="Georgia" pitchFamily="34" charset="-122"/>
                <a:cs typeface="Georgia" pitchFamily="34" charset="-120"/>
              </a:rPr>
              <a:t>Empowering People, Building Relationships,</a:t>
            </a:r>
            <a:endParaRPr lang="en-US" sz="1600" dirty="0"/>
          </a:p>
          <a:p>
            <a:pPr indent="0" marL="0">
              <a:lnSpc>
                <a:spcPct val="140000"/>
              </a:lnSpc>
              <a:buNone/>
            </a:pPr>
            <a:r>
              <a:rPr lang="en-US" sz="1600" dirty="0">
                <a:solidFill>
                  <a:srgbClr val="E2E8F0"/>
                </a:solidFill>
                <a:latin typeface="Georgia" pitchFamily="34" charset="0"/>
                <a:ea typeface="Georgia" pitchFamily="34" charset="-122"/>
                <a:cs typeface="Georgia" pitchFamily="34" charset="-120"/>
              </a:rPr>
              <a:t>Measuring What Matters</a:t>
            </a:r>
            <a:endParaRPr lang="en-US" sz="1600" dirty="0"/>
          </a:p>
        </p:txBody>
      </p:sp>
      <p:sp>
        <p:nvSpPr>
          <p:cNvPr id="8" name="Text 5"/>
          <p:cNvSpPr/>
          <p:nvPr/>
        </p:nvSpPr>
        <p:spPr>
          <a:xfrm>
            <a:off x="731520" y="4389120"/>
            <a:ext cx="7680960" cy="731520"/>
          </a:xfrm>
          <a:prstGeom prst="rect">
            <a:avLst/>
          </a:prstGeom>
          <a:noFill/>
          <a:ln/>
        </p:spPr>
        <p:txBody>
          <a:bodyPr wrap="square" rtlCol="0" anchor="ctr"/>
          <a:lstStyle/>
          <a:p>
            <a:pPr indent="0" marL="0">
              <a:lnSpc>
                <a:spcPct val="130000"/>
              </a:lnSpc>
              <a:buNone/>
            </a:pPr>
            <a:r>
              <a:rPr lang="en-US" sz="1200" dirty="0">
                <a:solidFill>
                  <a:srgbClr val="94A3B8"/>
                </a:solidFill>
                <a:latin typeface="Georgia" pitchFamily="34" charset="0"/>
                <a:ea typeface="Georgia" pitchFamily="34" charset="-122"/>
                <a:cs typeface="Georgia" pitchFamily="34" charset="-120"/>
              </a:rPr>
              <a:t>Dr. Terry Flood, DHA  &amp;  Meredith Sisnett  |  Co-Founders</a:t>
            </a:r>
            <a:endParaRPr lang="en-US" sz="1200" dirty="0"/>
          </a:p>
          <a:p>
            <a:pPr indent="0" marL="0">
              <a:lnSpc>
                <a:spcPct val="130000"/>
              </a:lnSpc>
              <a:buNone/>
            </a:pPr>
            <a:r>
              <a:rPr lang="en-US" sz="1200" dirty="0">
                <a:solidFill>
                  <a:srgbClr val="94A3B8"/>
                </a:solidFill>
                <a:latin typeface="Georgia" pitchFamily="34" charset="0"/>
                <a:ea typeface="Georgia" pitchFamily="34" charset="-122"/>
                <a:cs typeface="Georgia" pitchFamily="34" charset="-120"/>
              </a:rPr>
              <a:t>Veteran-Owned Small Business (VOSB)  |  Austin, TX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457200"/>
            <a:ext cx="76809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Who We Are</a:t>
            </a:r>
            <a:endParaRPr lang="en-US" sz="2800" dirty="0"/>
          </a:p>
        </p:txBody>
      </p:sp>
      <p:sp>
        <p:nvSpPr>
          <p:cNvPr id="4" name="Text 1"/>
          <p:cNvSpPr/>
          <p:nvPr/>
        </p:nvSpPr>
        <p:spPr>
          <a:xfrm>
            <a:off x="731520" y="1188720"/>
            <a:ext cx="4114800" cy="2743200"/>
          </a:xfrm>
          <a:prstGeom prst="rect">
            <a:avLst/>
          </a:prstGeom>
          <a:noFill/>
          <a:ln/>
        </p:spPr>
        <p:txBody>
          <a:bodyPr wrap="square" rtlCol="0" anchor="ctr"/>
          <a:lstStyle/>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The Collaborative Advocate Foundation (501(c)(3))</a:t>
            </a:r>
            <a:endParaRPr lang="en-US" sz="1100" dirty="0"/>
          </a:p>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Nonprofit arm — community programs, grants, research</a:t>
            </a:r>
            <a:endParaRPr lang="en-US" sz="1100" dirty="0"/>
          </a:p>
          <a:p>
            <a:pPr indent="0" marL="0">
              <a:lnSpc>
                <a:spcPct val="130000"/>
              </a:lnSpc>
              <a:buNone/>
            </a:pPr>
            <a:endParaRPr lang="en-US" sz="1100" dirty="0"/>
          </a:p>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The Collaborative Advocate LLC (VOSB)</a:t>
            </a:r>
            <a:endParaRPr lang="en-US" sz="1100" dirty="0"/>
          </a:p>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Consulting, technology, government contracting</a:t>
            </a:r>
            <a:endParaRPr lang="en-US" sz="1100" dirty="0"/>
          </a:p>
          <a:p>
            <a:pPr indent="0" marL="0">
              <a:lnSpc>
                <a:spcPct val="130000"/>
              </a:lnSpc>
              <a:buNone/>
            </a:pPr>
            <a:endParaRPr lang="en-US" sz="1100" dirty="0"/>
          </a:p>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Co-founded by Dr. Terry Flood, DHA &amp; Meredith Sisnett</a:t>
            </a:r>
            <a:endParaRPr lang="en-US" sz="1100" dirty="0"/>
          </a:p>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Veterans  |  Implementation Scientists  |  AI Architects  |  Builders</a:t>
            </a:r>
            <a:endParaRPr lang="en-US" sz="1100" dirty="0"/>
          </a:p>
          <a:p>
            <a:pPr indent="0" marL="0">
              <a:lnSpc>
                <a:spcPct val="130000"/>
              </a:lnSpc>
              <a:buNone/>
            </a:pPr>
            <a:endParaRPr lang="en-US" sz="1100" dirty="0"/>
          </a:p>
          <a:p>
            <a:pPr indent="0" marL="0">
              <a:lnSpc>
                <a:spcPct val="130000"/>
              </a:lnSpc>
              <a:buNone/>
            </a:pPr>
            <a:r>
              <a:rPr lang="en-US" sz="1100" dirty="0">
                <a:solidFill>
                  <a:srgbClr val="E2E8F0"/>
                </a:solidFill>
                <a:latin typeface="Calibri" pitchFamily="34" charset="0"/>
                <a:ea typeface="Calibri" pitchFamily="34" charset="-122"/>
                <a:cs typeface="Calibri" pitchFamily="34" charset="-120"/>
              </a:rPr>
              <a:t>Based in Austin, TX — serving Austin, Manor, Pflugerville</a:t>
            </a:r>
            <a:endParaRPr lang="en-US" sz="1100" dirty="0"/>
          </a:p>
        </p:txBody>
      </p:sp>
      <p:sp>
        <p:nvSpPr>
          <p:cNvPr id="5" name="Text 2"/>
          <p:cNvSpPr/>
          <p:nvPr/>
        </p:nvSpPr>
        <p:spPr>
          <a:xfrm>
            <a:off x="5029200" y="1188720"/>
            <a:ext cx="3657600" cy="365760"/>
          </a:xfrm>
          <a:prstGeom prst="rect">
            <a:avLst/>
          </a:prstGeom>
          <a:noFill/>
          <a:ln/>
        </p:spPr>
        <p:txBody>
          <a:bodyPr wrap="square" rtlCol="0" anchor="ctr"/>
          <a:lstStyle/>
          <a:p>
            <a:pPr indent="0" marL="0">
              <a:buNone/>
            </a:pPr>
            <a:r>
              <a:rPr lang="en-US" sz="1400" b="1" dirty="0">
                <a:solidFill>
                  <a:srgbClr val="6366F1"/>
                </a:solidFill>
                <a:latin typeface="Georgia" pitchFamily="34" charset="0"/>
                <a:ea typeface="Georgia" pitchFamily="34" charset="-122"/>
                <a:cs typeface="Georgia" pitchFamily="34" charset="-120"/>
              </a:rPr>
              <a:t>What We Build:</a:t>
            </a:r>
            <a:endParaRPr lang="en-US" sz="1400" dirty="0"/>
          </a:p>
        </p:txBody>
      </p:sp>
      <p:sp>
        <p:nvSpPr>
          <p:cNvPr id="6" name="Text 3"/>
          <p:cNvSpPr/>
          <p:nvPr/>
        </p:nvSpPr>
        <p:spPr>
          <a:xfrm>
            <a:off x="5029200" y="1645920"/>
            <a:ext cx="3657600" cy="3200400"/>
          </a:xfrm>
          <a:prstGeom prst="rect">
            <a:avLst/>
          </a:prstGeom>
          <a:noFill/>
          <a:ln/>
        </p:spPr>
        <p:txBody>
          <a:bodyPr wrap="square" rtlCol="0" anchor="ctr"/>
          <a:lstStyle/>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AI-powered technology that bridges the gap between research and practice — so what works in studies actually works in communities</a:t>
            </a:r>
            <a:endParaRPr lang="en-US" sz="1100" dirty="0"/>
          </a:p>
          <a:p>
            <a:pPr indent="0" marL="0">
              <a:lnSpc>
                <a:spcPct val="125000"/>
              </a:lnSpc>
              <a:buNone/>
            </a:pP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24 interconnected platforms spanning:</a:t>
            </a: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Health  |  Education  |  Workforce</a:t>
            </a: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Criminal Justice  |  Housing  |  Safety</a:t>
            </a:r>
            <a:endParaRPr lang="en-US" sz="1100" dirty="0"/>
          </a:p>
          <a:p>
            <a:pPr indent="0" marL="0">
              <a:lnSpc>
                <a:spcPct val="125000"/>
              </a:lnSpc>
              <a:buNone/>
            </a:pP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4-Engine AI Architecture:</a:t>
            </a: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GPT-5 + Claude Sonnet + Scholarly RAG + Ecosystem RAG</a:t>
            </a:r>
            <a:endParaRPr lang="en-US" sz="1100" dirty="0"/>
          </a:p>
          <a:p>
            <a:pPr indent="0" marL="0">
              <a:lnSpc>
                <a:spcPct val="125000"/>
              </a:lnSpc>
              <a:buNone/>
            </a:pP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Every platform measured.</a:t>
            </a: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Every intervention tracked.</a:t>
            </a: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Every outcome verified.</a:t>
            </a:r>
            <a:endParaRPr lang="en-US" sz="1100" dirty="0"/>
          </a:p>
          <a:p>
            <a:pPr indent="0" marL="0">
              <a:lnSpc>
                <a:spcPct val="125000"/>
              </a:lnSpc>
              <a:buNone/>
            </a:pPr>
            <a:r>
              <a:rPr lang="en-US" sz="1100" dirty="0">
                <a:solidFill>
                  <a:srgbClr val="E2E8F0"/>
                </a:solidFill>
                <a:latin typeface="Calibri" pitchFamily="34" charset="0"/>
                <a:ea typeface="Calibri" pitchFamily="34" charset="-122"/>
                <a:cs typeface="Calibri" pitchFamily="34" charset="-120"/>
              </a:rPr>
              <a:t>Every AI output cited.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RPLICE — The AI-Powered Implementation Science Engine</a:t>
            </a:r>
            <a:endParaRPr lang="en-US" sz="22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200" dirty="0">
                <a:solidFill>
                  <a:srgbClr val="94A3B8"/>
                </a:solidFill>
                <a:latin typeface="Georgia" pitchFamily="34" charset="0"/>
                <a:ea typeface="Georgia" pitchFamily="34" charset="-122"/>
                <a:cs typeface="Georgia" pitchFamily="34" charset="-120"/>
              </a:rPr>
              <a:t>Research-to-Practice Implementation with fidelity for all stakeholders</a:t>
            </a:r>
            <a:endParaRPr lang="en-US" sz="1200" dirty="0"/>
          </a:p>
        </p:txBody>
      </p:sp>
      <p:sp>
        <p:nvSpPr>
          <p:cNvPr id="5" name="Text 2"/>
          <p:cNvSpPr/>
          <p:nvPr/>
        </p:nvSpPr>
        <p:spPr>
          <a:xfrm>
            <a:off x="731520" y="137160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What RPLICE Does:</a:t>
            </a:r>
            <a:endParaRPr lang="en-US" sz="1300" dirty="0"/>
          </a:p>
        </p:txBody>
      </p:sp>
      <p:sp>
        <p:nvSpPr>
          <p:cNvPr id="6" name="Text 3"/>
          <p:cNvSpPr/>
          <p:nvPr/>
        </p:nvSpPr>
        <p:spPr>
          <a:xfrm>
            <a:off x="731520" y="1737360"/>
            <a:ext cx="3840480" cy="2926080"/>
          </a:xfrm>
          <a:prstGeom prst="rect">
            <a:avLst/>
          </a:prstGeom>
          <a:noFill/>
          <a:ln/>
        </p:spPr>
        <p:txBody>
          <a:bodyPr wrap="square" rtlCol="0" anchor="ctr"/>
          <a:lstStyle/>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Operationalizes CFIR 2.0, RE-AIM, EPIS frameworks</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MAP-GAP Governance Cycle:</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Orient → Map → Gap → Act → Track → Reflect</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Three Realities Diagnostic:</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Designed vs. Operational vs. Experienced</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6-Step Project Wizard with AI recommendations</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Validation &amp; Fidelity Hub</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SALP continuous monitoring engine</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Grant compliance tracking</a:t>
            </a:r>
            <a:endParaRPr lang="en-US" sz="1000" dirty="0"/>
          </a:p>
          <a:p>
            <a:pPr indent="0" marL="0">
              <a:lnSpc>
                <a:spcPct val="125000"/>
              </a:lnSpc>
              <a:buNone/>
            </a:pPr>
            <a:r>
              <a:rPr lang="en-US" sz="1000" dirty="0">
                <a:solidFill>
                  <a:srgbClr val="E2E8F0"/>
                </a:solidFill>
                <a:latin typeface="Calibri" pitchFamily="34" charset="0"/>
                <a:ea typeface="Calibri" pitchFamily="34" charset="-122"/>
                <a:cs typeface="Calibri" pitchFamily="34" charset="-120"/>
              </a:rPr>
              <a:t>• 167 database tables | 223+ pages</a:t>
            </a:r>
            <a:endParaRPr lang="en-US" sz="1000" dirty="0"/>
          </a:p>
        </p:txBody>
      </p:sp>
      <p:sp>
        <p:nvSpPr>
          <p:cNvPr id="7" name="Text 4"/>
          <p:cNvSpPr/>
          <p:nvPr/>
        </p:nvSpPr>
        <p:spPr>
          <a:xfrm>
            <a:off x="4846320" y="1371600"/>
            <a:ext cx="3840480" cy="274320"/>
          </a:xfrm>
          <a:prstGeom prst="rect">
            <a:avLst/>
          </a:prstGeom>
          <a:noFill/>
          <a:ln/>
        </p:spPr>
        <p:txBody>
          <a:bodyPr wrap="square" rtlCol="0" anchor="ctr"/>
          <a:lstStyle/>
          <a:p>
            <a:pPr indent="0" marL="0">
              <a:buNone/>
            </a:pPr>
            <a:r>
              <a:rPr lang="en-US" sz="1300" b="1" dirty="0">
                <a:solidFill>
                  <a:srgbClr val="F59E0B"/>
                </a:solidFill>
                <a:latin typeface="Georgia" pitchFamily="34" charset="0"/>
                <a:ea typeface="Georgia" pitchFamily="34" charset="-122"/>
                <a:cs typeface="Georgia" pitchFamily="34" charset="-120"/>
              </a:rPr>
              <a:t>AI + RAG Architecture (4 Engines):</a:t>
            </a:r>
            <a:endParaRPr lang="en-US" sz="1300" dirty="0"/>
          </a:p>
        </p:txBody>
      </p:sp>
      <p:sp>
        <p:nvSpPr>
          <p:cNvPr id="8" name="Text 5"/>
          <p:cNvSpPr/>
          <p:nvPr/>
        </p:nvSpPr>
        <p:spPr>
          <a:xfrm>
            <a:off x="4846320" y="1737360"/>
            <a:ext cx="3840480" cy="3200400"/>
          </a:xfrm>
          <a:prstGeom prst="rect">
            <a:avLst/>
          </a:prstGeom>
          <a:noFill/>
          <a:ln/>
        </p:spPr>
        <p:txBody>
          <a:bodyPr wrap="square" rtlCol="0" anchor="ctr"/>
          <a:lstStyle/>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GPT-5 — structured analysis &amp; recommendations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Claude Sonnet — nuanced reasoning &amp; synthesis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Scholarly Research RAG — 6 live academic databases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PubMed | Semantic Scholar | CrossRef</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Europe PMC | medRxiv | bioRxiv</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Ecosystem RAG — platform-aware context</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Knows YOUR data, YOUR participants,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YOUR interventions</a:t>
            </a:r>
            <a:endParaRPr lang="en-US" sz="1000" dirty="0"/>
          </a:p>
          <a:p>
            <a:pPr indent="0" marL="0">
              <a:lnSpc>
                <a:spcPct val="120000"/>
              </a:lnSpc>
              <a:buNone/>
            </a:pP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"ALL" mode fires all engines in parallel,</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then synthesizes into one unified response</a:t>
            </a:r>
            <a:endParaRPr lang="en-US" sz="1000" dirty="0"/>
          </a:p>
          <a:p>
            <a:pPr indent="0" marL="0">
              <a:lnSpc>
                <a:spcPct val="120000"/>
              </a:lnSpc>
              <a:buNone/>
            </a:pP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Anti-hallucination guardrails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APA citations on every response</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Bias-auditable output chains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 Ethical AI — serves communities, not extracts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AI Architecture Deep Dive</a:t>
            </a:r>
            <a:endParaRPr lang="en-US" sz="24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200" dirty="0">
                <a:solidFill>
                  <a:srgbClr val="F59E0B"/>
                </a:solidFill>
                <a:latin typeface="Georgia" pitchFamily="34" charset="0"/>
                <a:ea typeface="Georgia" pitchFamily="34" charset="-122"/>
                <a:cs typeface="Georgia" pitchFamily="34" charset="-120"/>
              </a:rPr>
              <a:t>Why Our AI Is Different — Ethical, Evidence-Grounded, Community-Serving</a:t>
            </a:r>
            <a:endParaRPr lang="en-US" sz="1200" dirty="0"/>
          </a:p>
        </p:txBody>
      </p:sp>
      <p:sp>
        <p:nvSpPr>
          <p:cNvPr id="5" name="Text 2"/>
          <p:cNvSpPr/>
          <p:nvPr/>
        </p:nvSpPr>
        <p:spPr>
          <a:xfrm>
            <a:off x="731520" y="137160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The RAG Pipeline:</a:t>
            </a:r>
            <a:endParaRPr lang="en-US" sz="1300" dirty="0"/>
          </a:p>
        </p:txBody>
      </p:sp>
      <p:sp>
        <p:nvSpPr>
          <p:cNvPr id="6" name="Text 3"/>
          <p:cNvSpPr/>
          <p:nvPr/>
        </p:nvSpPr>
        <p:spPr>
          <a:xfrm>
            <a:off x="731520" y="1737360"/>
            <a:ext cx="3840480" cy="2926080"/>
          </a:xfrm>
          <a:prstGeom prst="rect">
            <a:avLst/>
          </a:prstGeom>
          <a:noFill/>
          <a:ln/>
        </p:spPr>
        <p:txBody>
          <a:bodyPr wrap="square" rtlCol="0" anchor="ctr"/>
          <a:lstStyle/>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1. User asks a question about their program</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2. RPLICE simultaneously queries: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6 scholarly databases (PubMed, etc.)</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Ecosystem database (YOUR actual data)</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Implementation science frameworks</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3. GPT-5 + Claude Sonnet process in parallel</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4. Anti-hallucination layer verifies every claim</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against source data</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5. Synthesized response with APA citations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and confidence scores</a:t>
            </a:r>
            <a:endParaRPr lang="en-US" sz="1050" dirty="0"/>
          </a:p>
        </p:txBody>
      </p:sp>
      <p:sp>
        <p:nvSpPr>
          <p:cNvPr id="7" name="Text 4"/>
          <p:cNvSpPr/>
          <p:nvPr/>
        </p:nvSpPr>
        <p:spPr>
          <a:xfrm>
            <a:off x="4846320" y="1371600"/>
            <a:ext cx="3840480" cy="274320"/>
          </a:xfrm>
          <a:prstGeom prst="rect">
            <a:avLst/>
          </a:prstGeom>
          <a:noFill/>
          <a:ln/>
        </p:spPr>
        <p:txBody>
          <a:bodyPr wrap="square" rtlCol="0" anchor="ctr"/>
          <a:lstStyle/>
          <a:p>
            <a:pPr indent="0" marL="0">
              <a:buNone/>
            </a:pPr>
            <a:r>
              <a:rPr lang="en-US" sz="1300" b="1" dirty="0">
                <a:solidFill>
                  <a:srgbClr val="6366F1"/>
                </a:solidFill>
                <a:latin typeface="Georgia" pitchFamily="34" charset="0"/>
                <a:ea typeface="Georgia" pitchFamily="34" charset="-122"/>
                <a:cs typeface="Georgia" pitchFamily="34" charset="-120"/>
              </a:rPr>
              <a:t>What This Means in Practice:</a:t>
            </a:r>
            <a:endParaRPr lang="en-US" sz="1300" dirty="0"/>
          </a:p>
        </p:txBody>
      </p:sp>
      <p:sp>
        <p:nvSpPr>
          <p:cNvPr id="8" name="Text 5"/>
          <p:cNvSpPr/>
          <p:nvPr/>
        </p:nvSpPr>
        <p:spPr>
          <a:xfrm>
            <a:off x="4846320" y="173736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Program Manager asks: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"Is my mentoring program working?"</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RPLICE returns: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Your specific outcome data (RAG)</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Published evidence comparison (PubMed)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Where fidelity has drifted (CFIR domains)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Corrective actions recommended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All with APA citations</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Ethical AI Principles: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Transparent — sources always cited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Auditable — bias can be traced and fixed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Community-owned — data stays with the org</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Anti-extractive — serves, never surveils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Aligned with Meme's vision for equitable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data practices in communities of color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The 24-Platform Ecosystem</a:t>
            </a:r>
            <a:endParaRPr lang="en-US" sz="24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200" dirty="0">
                <a:solidFill>
                  <a:srgbClr val="94A3B8"/>
                </a:solidFill>
                <a:latin typeface="Georgia" pitchFamily="34" charset="0"/>
                <a:ea typeface="Georgia" pitchFamily="34" charset="-122"/>
                <a:cs typeface="Georgia" pitchFamily="34" charset="-120"/>
              </a:rPr>
              <a:t>Every platform AI-enabled, measured, and connected through Ecosystem Nexus</a:t>
            </a:r>
            <a:endParaRPr lang="en-US" sz="1200" dirty="0"/>
          </a:p>
        </p:txBody>
      </p:sp>
      <p:sp>
        <p:nvSpPr>
          <p:cNvPr id="5" name="Text 2"/>
          <p:cNvSpPr/>
          <p:nvPr/>
        </p:nvSpPr>
        <p:spPr>
          <a:xfrm>
            <a:off x="731520" y="1371600"/>
            <a:ext cx="2468880" cy="274320"/>
          </a:xfrm>
          <a:prstGeom prst="rect">
            <a:avLst/>
          </a:prstGeom>
          <a:noFill/>
          <a:ln/>
        </p:spPr>
        <p:txBody>
          <a:bodyPr wrap="square" rtlCol="0" anchor="ctr"/>
          <a:lstStyle/>
          <a:p>
            <a:pPr indent="0" marL="0">
              <a:buNone/>
            </a:pPr>
            <a:r>
              <a:rPr lang="en-US" sz="1100" b="1" dirty="0">
                <a:solidFill>
                  <a:srgbClr val="6366F1"/>
                </a:solidFill>
                <a:latin typeface="Georgia" pitchFamily="34" charset="0"/>
                <a:ea typeface="Georgia" pitchFamily="34" charset="-122"/>
                <a:cs typeface="Georgia" pitchFamily="34" charset="-120"/>
              </a:rPr>
              <a:t>HEALTH</a:t>
            </a:r>
            <a:endParaRPr lang="en-US" sz="1100" dirty="0"/>
          </a:p>
        </p:txBody>
      </p:sp>
      <p:sp>
        <p:nvSpPr>
          <p:cNvPr id="6" name="Text 3"/>
          <p:cNvSpPr/>
          <p:nvPr/>
        </p:nvSpPr>
        <p:spPr>
          <a:xfrm>
            <a:off x="731520" y="1691640"/>
            <a:ext cx="2468880" cy="1188720"/>
          </a:xfrm>
          <a:prstGeom prst="rect">
            <a:avLst/>
          </a:prstGeom>
          <a:noFill/>
          <a:ln/>
        </p:spPr>
        <p:txBody>
          <a:bodyPr wrap="square" rtlCol="0" anchor="ctr"/>
          <a:lstStyle/>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Whole-Person Health, Sankofa Health,</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Black Maternal, Feminine Health,</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Men's Health, SafeCogniCare,</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PillScheduler</a:t>
            </a:r>
            <a:endParaRPr lang="en-US" sz="950" dirty="0"/>
          </a:p>
        </p:txBody>
      </p:sp>
      <p:sp>
        <p:nvSpPr>
          <p:cNvPr id="7" name="Text 4"/>
          <p:cNvSpPr/>
          <p:nvPr/>
        </p:nvSpPr>
        <p:spPr>
          <a:xfrm>
            <a:off x="3474720" y="1371600"/>
            <a:ext cx="2468880" cy="274320"/>
          </a:xfrm>
          <a:prstGeom prst="rect">
            <a:avLst/>
          </a:prstGeom>
          <a:noFill/>
          <a:ln/>
        </p:spPr>
        <p:txBody>
          <a:bodyPr wrap="square" rtlCol="0" anchor="ctr"/>
          <a:lstStyle/>
          <a:p>
            <a:pPr indent="0" marL="0">
              <a:buNone/>
            </a:pPr>
            <a:r>
              <a:rPr lang="en-US" sz="1100" b="1" dirty="0">
                <a:solidFill>
                  <a:srgbClr val="6366F1"/>
                </a:solidFill>
                <a:latin typeface="Georgia" pitchFamily="34" charset="0"/>
                <a:ea typeface="Georgia" pitchFamily="34" charset="-122"/>
                <a:cs typeface="Georgia" pitchFamily="34" charset="-120"/>
              </a:rPr>
              <a:t>EDUCATION</a:t>
            </a:r>
            <a:endParaRPr lang="en-US" sz="1100" dirty="0"/>
          </a:p>
        </p:txBody>
      </p:sp>
      <p:sp>
        <p:nvSpPr>
          <p:cNvPr id="8" name="Text 5"/>
          <p:cNvSpPr/>
          <p:nvPr/>
        </p:nvSpPr>
        <p:spPr>
          <a:xfrm>
            <a:off x="3474720" y="1691640"/>
            <a:ext cx="2468880" cy="1188720"/>
          </a:xfrm>
          <a:prstGeom prst="rect">
            <a:avLst/>
          </a:prstGeom>
          <a:noFill/>
          <a:ln/>
        </p:spPr>
        <p:txBody>
          <a:bodyPr wrap="square" rtlCol="0" anchor="ctr"/>
          <a:lstStyle/>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ThriveUp Academy, ISSS,</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WholeMind Learning,</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Perfectly Different,</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Code Canvas</a:t>
            </a:r>
            <a:endParaRPr lang="en-US" sz="950" dirty="0"/>
          </a:p>
        </p:txBody>
      </p:sp>
      <p:sp>
        <p:nvSpPr>
          <p:cNvPr id="9" name="Text 6"/>
          <p:cNvSpPr/>
          <p:nvPr/>
        </p:nvSpPr>
        <p:spPr>
          <a:xfrm>
            <a:off x="6217920" y="1371600"/>
            <a:ext cx="2468880" cy="274320"/>
          </a:xfrm>
          <a:prstGeom prst="rect">
            <a:avLst/>
          </a:prstGeom>
          <a:noFill/>
          <a:ln/>
        </p:spPr>
        <p:txBody>
          <a:bodyPr wrap="square" rtlCol="0" anchor="ctr"/>
          <a:lstStyle/>
          <a:p>
            <a:pPr indent="0" marL="0">
              <a:buNone/>
            </a:pPr>
            <a:r>
              <a:rPr lang="en-US" sz="1100" b="1" dirty="0">
                <a:solidFill>
                  <a:srgbClr val="6366F1"/>
                </a:solidFill>
                <a:latin typeface="Georgia" pitchFamily="34" charset="0"/>
                <a:ea typeface="Georgia" pitchFamily="34" charset="-122"/>
                <a:cs typeface="Georgia" pitchFamily="34" charset="-120"/>
              </a:rPr>
              <a:t>WORKFORCE</a:t>
            </a:r>
            <a:endParaRPr lang="en-US" sz="1100" dirty="0"/>
          </a:p>
        </p:txBody>
      </p:sp>
      <p:sp>
        <p:nvSpPr>
          <p:cNvPr id="10" name="Text 7"/>
          <p:cNvSpPr/>
          <p:nvPr/>
        </p:nvSpPr>
        <p:spPr>
          <a:xfrm>
            <a:off x="6217920" y="1691640"/>
            <a:ext cx="2468880" cy="1188720"/>
          </a:xfrm>
          <a:prstGeom prst="rect">
            <a:avLst/>
          </a:prstGeom>
          <a:noFill/>
          <a:ln/>
        </p:spPr>
        <p:txBody>
          <a:bodyPr wrap="square" rtlCol="0" anchor="ctr"/>
          <a:lstStyle/>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Mission Transition, MCE,</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Pinnacle Business,</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Collaborative Advocate</a:t>
            </a:r>
            <a:endParaRPr lang="en-US" sz="950" dirty="0"/>
          </a:p>
        </p:txBody>
      </p:sp>
      <p:sp>
        <p:nvSpPr>
          <p:cNvPr id="11" name="Text 8"/>
          <p:cNvSpPr/>
          <p:nvPr/>
        </p:nvSpPr>
        <p:spPr>
          <a:xfrm>
            <a:off x="731520" y="3200400"/>
            <a:ext cx="2468880" cy="274320"/>
          </a:xfrm>
          <a:prstGeom prst="rect">
            <a:avLst/>
          </a:prstGeom>
          <a:noFill/>
          <a:ln/>
        </p:spPr>
        <p:txBody>
          <a:bodyPr wrap="square" rtlCol="0" anchor="ctr"/>
          <a:lstStyle/>
          <a:p>
            <a:pPr indent="0" marL="0">
              <a:buNone/>
            </a:pPr>
            <a:r>
              <a:rPr lang="en-US" sz="1100" b="1" dirty="0">
                <a:solidFill>
                  <a:srgbClr val="6366F1"/>
                </a:solidFill>
                <a:latin typeface="Georgia" pitchFamily="34" charset="0"/>
                <a:ea typeface="Georgia" pitchFamily="34" charset="-122"/>
                <a:cs typeface="Georgia" pitchFamily="34" charset="-120"/>
              </a:rPr>
              <a:t>SAFETY &amp; TECH</a:t>
            </a:r>
            <a:endParaRPr lang="en-US" sz="1100" dirty="0"/>
          </a:p>
        </p:txBody>
      </p:sp>
      <p:sp>
        <p:nvSpPr>
          <p:cNvPr id="12" name="Text 9"/>
          <p:cNvSpPr/>
          <p:nvPr/>
        </p:nvSpPr>
        <p:spPr>
          <a:xfrm>
            <a:off x="731520" y="3520440"/>
            <a:ext cx="2468880" cy="1188720"/>
          </a:xfrm>
          <a:prstGeom prst="rect">
            <a:avLst/>
          </a:prstGeom>
          <a:noFill/>
          <a:ln/>
        </p:spPr>
        <p:txBody>
          <a:bodyPr wrap="square" rtlCol="0" anchor="ctr"/>
          <a:lstStyle/>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SafeReport, Shield Atlas,</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LexiBridge, Video Creator AI,</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Ecosystem Nexus</a:t>
            </a:r>
            <a:endParaRPr lang="en-US" sz="950" dirty="0"/>
          </a:p>
        </p:txBody>
      </p:sp>
      <p:sp>
        <p:nvSpPr>
          <p:cNvPr id="13" name="Text 10"/>
          <p:cNvSpPr/>
          <p:nvPr/>
        </p:nvSpPr>
        <p:spPr>
          <a:xfrm>
            <a:off x="3474720" y="3200400"/>
            <a:ext cx="2468880" cy="274320"/>
          </a:xfrm>
          <a:prstGeom prst="rect">
            <a:avLst/>
          </a:prstGeom>
          <a:noFill/>
          <a:ln/>
        </p:spPr>
        <p:txBody>
          <a:bodyPr wrap="square" rtlCol="0" anchor="ctr"/>
          <a:lstStyle/>
          <a:p>
            <a:pPr indent="0" marL="0">
              <a:buNone/>
            </a:pPr>
            <a:r>
              <a:rPr lang="en-US" sz="1100" b="1" dirty="0">
                <a:solidFill>
                  <a:srgbClr val="6366F1"/>
                </a:solidFill>
                <a:latin typeface="Georgia" pitchFamily="34" charset="0"/>
                <a:ea typeface="Georgia" pitchFamily="34" charset="-122"/>
                <a:cs typeface="Georgia" pitchFamily="34" charset="-120"/>
              </a:rPr>
              <a:t>HOUSING</a:t>
            </a:r>
            <a:endParaRPr lang="en-US" sz="1100" dirty="0"/>
          </a:p>
        </p:txBody>
      </p:sp>
      <p:sp>
        <p:nvSpPr>
          <p:cNvPr id="14" name="Text 11"/>
          <p:cNvSpPr/>
          <p:nvPr/>
        </p:nvSpPr>
        <p:spPr>
          <a:xfrm>
            <a:off x="3474720" y="3520440"/>
            <a:ext cx="2468880" cy="1188720"/>
          </a:xfrm>
          <a:prstGeom prst="rect">
            <a:avLst/>
          </a:prstGeom>
          <a:noFill/>
          <a:ln/>
        </p:spPr>
        <p:txBody>
          <a:bodyPr wrap="square" rtlCol="0" anchor="ctr"/>
          <a:lstStyle/>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LifeBridge,</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M2C Transition</a:t>
            </a:r>
            <a:endParaRPr lang="en-US" sz="950" dirty="0"/>
          </a:p>
        </p:txBody>
      </p:sp>
      <p:sp>
        <p:nvSpPr>
          <p:cNvPr id="15" name="Text 12"/>
          <p:cNvSpPr/>
          <p:nvPr/>
        </p:nvSpPr>
        <p:spPr>
          <a:xfrm>
            <a:off x="6217920" y="3200400"/>
            <a:ext cx="2468880" cy="274320"/>
          </a:xfrm>
          <a:prstGeom prst="rect">
            <a:avLst/>
          </a:prstGeom>
          <a:noFill/>
          <a:ln/>
        </p:spPr>
        <p:txBody>
          <a:bodyPr wrap="square" rtlCol="0" anchor="ctr"/>
          <a:lstStyle/>
          <a:p>
            <a:pPr indent="0" marL="0">
              <a:buNone/>
            </a:pPr>
            <a:r>
              <a:rPr lang="en-US" sz="1100" b="1" dirty="0">
                <a:solidFill>
                  <a:srgbClr val="6366F1"/>
                </a:solidFill>
                <a:latin typeface="Georgia" pitchFamily="34" charset="0"/>
                <a:ea typeface="Georgia" pitchFamily="34" charset="-122"/>
                <a:cs typeface="Georgia" pitchFamily="34" charset="-120"/>
              </a:rPr>
              <a:t>SCIENCE</a:t>
            </a:r>
            <a:endParaRPr lang="en-US" sz="1100" dirty="0"/>
          </a:p>
        </p:txBody>
      </p:sp>
      <p:sp>
        <p:nvSpPr>
          <p:cNvPr id="16" name="Text 13"/>
          <p:cNvSpPr/>
          <p:nvPr/>
        </p:nvSpPr>
        <p:spPr>
          <a:xfrm>
            <a:off x="6217920" y="3520440"/>
            <a:ext cx="2468880" cy="1188720"/>
          </a:xfrm>
          <a:prstGeom prst="rect">
            <a:avLst/>
          </a:prstGeom>
          <a:noFill/>
          <a:ln/>
        </p:spPr>
        <p:txBody>
          <a:bodyPr wrap="square" rtlCol="0" anchor="ctr"/>
          <a:lstStyle/>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RPLICE / Better Science Lab</a:t>
            </a:r>
            <a:endParaRPr lang="en-US" sz="950" dirty="0"/>
          </a:p>
          <a:p>
            <a:pPr indent="0" marL="0">
              <a:lnSpc>
                <a:spcPct val="120000"/>
              </a:lnSpc>
              <a:buNone/>
            </a:pPr>
            <a:r>
              <a:rPr lang="en-US" sz="950" dirty="0">
                <a:solidFill>
                  <a:srgbClr val="E2E8F0"/>
                </a:solidFill>
                <a:latin typeface="Calibri" pitchFamily="34" charset="0"/>
                <a:ea typeface="Calibri" pitchFamily="34" charset="-122"/>
                <a:cs typeface="Calibri" pitchFamily="34" charset="-120"/>
              </a:rPr>
              <a:t>(Implementation Science Engine)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ISSS — K-12 Implementation Science Platform</a:t>
            </a:r>
            <a:endParaRPr lang="en-US" sz="24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200" dirty="0">
                <a:solidFill>
                  <a:srgbClr val="94A3B8"/>
                </a:solidFill>
                <a:latin typeface="Georgia" pitchFamily="34" charset="0"/>
                <a:ea typeface="Georgia" pitchFamily="34" charset="-122"/>
                <a:cs typeface="Georgia" pitchFamily="34" charset="-120"/>
              </a:rPr>
              <a:t>The only K-12 platform that tracks whether school interventions work as designed</a:t>
            </a:r>
            <a:endParaRPr lang="en-US" sz="1200" dirty="0"/>
          </a:p>
        </p:txBody>
      </p:sp>
      <p:sp>
        <p:nvSpPr>
          <p:cNvPr id="5" name="Text 2"/>
          <p:cNvSpPr/>
          <p:nvPr/>
        </p:nvSpPr>
        <p:spPr>
          <a:xfrm>
            <a:off x="731520" y="1371600"/>
            <a:ext cx="7680960" cy="3657600"/>
          </a:xfrm>
          <a:prstGeom prst="rect">
            <a:avLst/>
          </a:prstGeom>
          <a:noFill/>
          <a:ln/>
        </p:spPr>
        <p:txBody>
          <a:bodyPr wrap="square" rtlCol="0" anchor="ctr"/>
          <a:lstStyle/>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5-Layer Progressive Model:</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Foundation → Assessment → Intervention →</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Monitoring → Sustainability</a:t>
            </a:r>
            <a:endParaRPr lang="en-US" sz="1100" dirty="0"/>
          </a:p>
          <a:p>
            <a:pPr indent="0" marL="0">
              <a:lnSpc>
                <a:spcPct val="120000"/>
              </a:lnSpc>
              <a:buNone/>
            </a:pP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7 Role-Specific AI-Powered Portals:</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District Leaders • Principals • Teachers</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Counselors • Parents • Students • Coaches</a:t>
            </a:r>
            <a:endParaRPr lang="en-US" sz="1100" dirty="0"/>
          </a:p>
          <a:p>
            <a:pPr indent="0" marL="0">
              <a:lnSpc>
                <a:spcPct val="120000"/>
              </a:lnSpc>
              <a:buNone/>
            </a:pP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AI Integration:</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RAG pipeline queries intervention evidence</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Fidelity monitoring flags implementation drift</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Recommends corrective actions with citations</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Connects to broader ecosystem automatically</a:t>
            </a:r>
            <a:endParaRPr lang="en-US" sz="1100" dirty="0"/>
          </a:p>
          <a:p>
            <a:pPr indent="0" marL="0">
              <a:lnSpc>
                <a:spcPct val="120000"/>
              </a:lnSpc>
              <a:buNone/>
            </a:pP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Connection to Ecosystem:</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Student flagged for home instability?</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 LifeBridge activates housing resources</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Parent screening shows mental health need?</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 WholeMind connects family support</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Substance use concern?</a:t>
            </a:r>
            <a:endParaRPr lang="en-US" sz="1100" dirty="0"/>
          </a:p>
          <a:p>
            <a:pPr indent="0" marL="0">
              <a:lnSpc>
                <a:spcPct val="120000"/>
              </a:lnSpc>
              <a:buNone/>
            </a:pPr>
            <a:r>
              <a:rPr lang="en-US" sz="1100" dirty="0">
                <a:solidFill>
                  <a:srgbClr val="E2E8F0"/>
                </a:solidFill>
                <a:latin typeface="Calibri" pitchFamily="34" charset="0"/>
                <a:ea typeface="Calibri" pitchFamily="34" charset="-122"/>
                <a:cs typeface="Calibri" pitchFamily="34" charset="-120"/>
              </a:rPr>
              <a:t>   → RPLICE tracks DFC coalition fidelity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MEASURE — Our Strategic Partner</a:t>
            </a:r>
            <a:endParaRPr lang="en-US" sz="24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300" b="1" dirty="0">
                <a:solidFill>
                  <a:srgbClr val="F59E0B"/>
                </a:solidFill>
                <a:latin typeface="Georgia" pitchFamily="34" charset="0"/>
                <a:ea typeface="Georgia" pitchFamily="34" charset="-122"/>
                <a:cs typeface="Georgia" pitchFamily="34" charset="-120"/>
              </a:rPr>
              <a:t>Founded by Jameila "Meme" Styles — Leading Ethical AI Consultant</a:t>
            </a:r>
            <a:endParaRPr lang="en-US" sz="1300" dirty="0"/>
          </a:p>
        </p:txBody>
      </p:sp>
      <p:sp>
        <p:nvSpPr>
          <p:cNvPr id="5" name="Text 2"/>
          <p:cNvSpPr/>
          <p:nvPr/>
        </p:nvSpPr>
        <p:spPr>
          <a:xfrm>
            <a:off x="731520" y="137160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What MEASURE Brings:</a:t>
            </a:r>
            <a:endParaRPr lang="en-US" sz="1300" dirty="0"/>
          </a:p>
        </p:txBody>
      </p:sp>
      <p:sp>
        <p:nvSpPr>
          <p:cNvPr id="6" name="Text 3"/>
          <p:cNvSpPr/>
          <p:nvPr/>
        </p:nvSpPr>
        <p:spPr>
          <a:xfrm>
            <a:off x="731520" y="1737360"/>
            <a:ext cx="3840480" cy="3017520"/>
          </a:xfrm>
          <a:prstGeom prst="rect">
            <a:avLst/>
          </a:prstGeom>
          <a:noFill/>
          <a:ln/>
        </p:spPr>
        <p:txBody>
          <a:bodyPr wrap="square" rtlCol="0" anchor="ctr"/>
          <a:lstStyle/>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Community trust &amp; deep relationships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CARE Model — equity-centered evaluation</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Ignite platform — data collection for orgs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Participatory Action Research expertise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3,000+ hours of free data support delivered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Austin/Pflugerville community presence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Huston-Tillotson University partnership (HBCU)</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Policy advocacy track record (CROWN Act)</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MIT Solve backing</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Ethical AI leadership — Meme ensures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AI serves communities, never extracts</a:t>
            </a:r>
            <a:endParaRPr lang="en-US" sz="1050" dirty="0"/>
          </a:p>
        </p:txBody>
      </p:sp>
      <p:sp>
        <p:nvSpPr>
          <p:cNvPr id="7" name="Text 4"/>
          <p:cNvSpPr/>
          <p:nvPr/>
        </p:nvSpPr>
        <p:spPr>
          <a:xfrm>
            <a:off x="4846320" y="1371600"/>
            <a:ext cx="3840480" cy="274320"/>
          </a:xfrm>
          <a:prstGeom prst="rect">
            <a:avLst/>
          </a:prstGeom>
          <a:noFill/>
          <a:ln/>
        </p:spPr>
        <p:txBody>
          <a:bodyPr wrap="square" rtlCol="0" anchor="ctr"/>
          <a:lstStyle/>
          <a:p>
            <a:pPr indent="0" marL="0">
              <a:buNone/>
            </a:pPr>
            <a:r>
              <a:rPr lang="en-US" sz="1300" b="1" dirty="0">
                <a:solidFill>
                  <a:srgbClr val="6366F1"/>
                </a:solidFill>
                <a:latin typeface="Georgia" pitchFamily="34" charset="0"/>
                <a:ea typeface="Georgia" pitchFamily="34" charset="-122"/>
                <a:cs typeface="Georgia" pitchFamily="34" charset="-120"/>
              </a:rPr>
              <a:t>What We Bring:</a:t>
            </a:r>
            <a:endParaRPr lang="en-US" sz="1300" dirty="0"/>
          </a:p>
        </p:txBody>
      </p:sp>
      <p:sp>
        <p:nvSpPr>
          <p:cNvPr id="8" name="Text 5"/>
          <p:cNvSpPr/>
          <p:nvPr/>
        </p:nvSpPr>
        <p:spPr>
          <a:xfrm>
            <a:off x="4846320" y="1737360"/>
            <a:ext cx="3840480" cy="3017520"/>
          </a:xfrm>
          <a:prstGeom prst="rect">
            <a:avLst/>
          </a:prstGeom>
          <a:noFill/>
          <a:ln/>
        </p:spPr>
        <p:txBody>
          <a:bodyPr wrap="square" rtlCol="0" anchor="ctr"/>
          <a:lstStyle/>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24-platform technology ecosystem</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RPLICE — implementation fidelity tracking</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MAP-GAP governance methodology</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AI-powered analysis (4 engines + RAG)</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Scholarly research integration (6 databases)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Grant combinatorics across federal streams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167 database tables of implementation data</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Cross-platform event bus architecture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Federal contracting capability (VOSB)</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Anti-hallucination AI guardrails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Bias-auditable output chains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The Gap We Fill Together</a:t>
            </a:r>
            <a:endParaRPr lang="en-US" sz="2400" dirty="0"/>
          </a:p>
        </p:txBody>
      </p:sp>
      <p:sp>
        <p:nvSpPr>
          <p:cNvPr id="4" name="Text 1"/>
          <p:cNvSpPr/>
          <p:nvPr/>
        </p:nvSpPr>
        <p:spPr>
          <a:xfrm>
            <a:off x="731520" y="1097280"/>
            <a:ext cx="3840480" cy="274320"/>
          </a:xfrm>
          <a:prstGeom prst="rect">
            <a:avLst/>
          </a:prstGeom>
          <a:noFill/>
          <a:ln/>
        </p:spPr>
        <p:txBody>
          <a:bodyPr wrap="square" rtlCol="0" anchor="ctr"/>
          <a:lstStyle/>
          <a:p>
            <a:pPr indent="0" marL="0">
              <a:buNone/>
            </a:pPr>
            <a:r>
              <a:rPr lang="en-US" sz="1300" b="1" dirty="0">
                <a:solidFill>
                  <a:srgbClr val="F59E0B"/>
                </a:solidFill>
                <a:latin typeface="Georgia" pitchFamily="34" charset="0"/>
                <a:ea typeface="Georgia" pitchFamily="34" charset="-122"/>
                <a:cs typeface="Georgia" pitchFamily="34" charset="-120"/>
              </a:rPr>
              <a:t>The Problem:</a:t>
            </a:r>
            <a:endParaRPr lang="en-US" sz="1300" dirty="0"/>
          </a:p>
        </p:txBody>
      </p:sp>
      <p:sp>
        <p:nvSpPr>
          <p:cNvPr id="5" name="Text 2"/>
          <p:cNvSpPr/>
          <p:nvPr/>
        </p:nvSpPr>
        <p:spPr>
          <a:xfrm>
            <a:off x="731520" y="1463040"/>
            <a:ext cx="3840480" cy="2743200"/>
          </a:xfrm>
          <a:prstGeom prst="rect">
            <a:avLst/>
          </a:prstGeom>
          <a:noFill/>
          <a:ln/>
        </p:spPr>
        <p:txBody>
          <a:bodyPr wrap="square" rtlCol="0" anchor="ctr"/>
          <a:lstStyle/>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MEASURE found that 79% of Black-led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organizations have no systems for collecting data.</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That's why they built Ignite.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But collecting data is step one.</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The harder questions are: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Is the intervention being delivered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the way it was designed?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Are outcomes improving?</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What's the gap between plan and reality?</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How do we know it will sustain?</a:t>
            </a:r>
            <a:endParaRPr lang="en-US" sz="1050" dirty="0"/>
          </a:p>
        </p:txBody>
      </p:sp>
      <p:sp>
        <p:nvSpPr>
          <p:cNvPr id="6" name="Text 3"/>
          <p:cNvSpPr/>
          <p:nvPr/>
        </p:nvSpPr>
        <p:spPr>
          <a:xfrm>
            <a:off x="4846320" y="109728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Together — The Full AI-Powered Loop:</a:t>
            </a:r>
            <a:endParaRPr lang="en-US" sz="1300" dirty="0"/>
          </a:p>
        </p:txBody>
      </p:sp>
      <p:sp>
        <p:nvSpPr>
          <p:cNvPr id="7" name="Text 4"/>
          <p:cNvSpPr/>
          <p:nvPr/>
        </p:nvSpPr>
        <p:spPr>
          <a:xfrm>
            <a:off x="4846320" y="146304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MEASURE: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Community voice → Data collection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Advocacy → Policy change</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RPLICE + AI:</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Implementation design → AI fidelity tracking</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RAG-verified outcome measurement</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Sustainment planning</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Combined: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Community voice drives intervention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AI tracks implementation fidelity</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Outcomes measured against evidence (RAG)</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Data feeds back to community</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 Continuous AI-powered improvement cycle</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Nobody else in Central Texas has this.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AI makes it scalable. One program manager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can run the full cycle.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Shared Values &amp; Ethical AI Alignment</a:t>
            </a:r>
            <a:endParaRPr lang="en-US" sz="2400" dirty="0"/>
          </a:p>
        </p:txBody>
      </p:sp>
      <p:sp>
        <p:nvSpPr>
          <p:cNvPr id="4" name="Text 1"/>
          <p:cNvSpPr/>
          <p:nvPr/>
        </p:nvSpPr>
        <p:spPr>
          <a:xfrm>
            <a:off x="731520" y="1097280"/>
            <a:ext cx="3840480" cy="274320"/>
          </a:xfrm>
          <a:prstGeom prst="rect">
            <a:avLst/>
          </a:prstGeom>
          <a:noFill/>
          <a:ln/>
        </p:spPr>
        <p:txBody>
          <a:bodyPr wrap="square" rtlCol="0" anchor="ctr"/>
          <a:lstStyle/>
          <a:p>
            <a:pPr indent="0" marL="0">
              <a:buNone/>
            </a:pPr>
            <a:r>
              <a:rPr lang="en-US" sz="1200" b="1" dirty="0">
                <a:solidFill>
                  <a:srgbClr val="14B8A6"/>
                </a:solidFill>
                <a:latin typeface="Georgia" pitchFamily="34" charset="0"/>
                <a:ea typeface="Georgia" pitchFamily="34" charset="-122"/>
                <a:cs typeface="Georgia" pitchFamily="34" charset="-120"/>
              </a:rPr>
              <a:t>MEASURE's Core Belief:</a:t>
            </a:r>
            <a:endParaRPr lang="en-US" sz="1200" dirty="0"/>
          </a:p>
        </p:txBody>
      </p:sp>
      <p:sp>
        <p:nvSpPr>
          <p:cNvPr id="5" name="Text 2"/>
          <p:cNvSpPr/>
          <p:nvPr/>
        </p:nvSpPr>
        <p:spPr>
          <a:xfrm>
            <a:off x="731520" y="1463040"/>
            <a:ext cx="3840480" cy="1371600"/>
          </a:xfrm>
          <a:prstGeom prst="rect">
            <a:avLst/>
          </a:prstGeom>
          <a:noFill/>
          <a:ln/>
        </p:spPr>
        <p:txBody>
          <a:bodyPr wrap="square" rtlCol="0" anchor="ctr"/>
          <a:lstStyle/>
          <a:p>
            <a:pPr indent="0" marL="0">
              <a:lnSpc>
                <a:spcPct val="125000"/>
              </a:lnSpc>
              <a:buNone/>
            </a:pPr>
            <a:r>
              <a:rPr lang="en-US" sz="1000" i="1" dirty="0">
                <a:solidFill>
                  <a:srgbClr val="E2E8F0"/>
                </a:solidFill>
                <a:latin typeface="Calibri" pitchFamily="34" charset="0"/>
                <a:ea typeface="Calibri" pitchFamily="34" charset="-122"/>
                <a:cs typeface="Calibri" pitchFamily="34" charset="-120"/>
              </a:rPr>
              <a:t>"Lived experience and quantitative data about complex social problems impacting Black, Brown, and Multiracial communities are not used effectively for justice due to racism, a lack of equitable data tools, and village support."</a:t>
            </a:r>
            <a:endParaRPr lang="en-US" sz="1000" dirty="0"/>
          </a:p>
        </p:txBody>
      </p:sp>
      <p:sp>
        <p:nvSpPr>
          <p:cNvPr id="6" name="Text 3"/>
          <p:cNvSpPr/>
          <p:nvPr/>
        </p:nvSpPr>
        <p:spPr>
          <a:xfrm>
            <a:off x="731520" y="2926080"/>
            <a:ext cx="3840480" cy="274320"/>
          </a:xfrm>
          <a:prstGeom prst="rect">
            <a:avLst/>
          </a:prstGeom>
          <a:noFill/>
          <a:ln/>
        </p:spPr>
        <p:txBody>
          <a:bodyPr wrap="square" rtlCol="0" anchor="ctr"/>
          <a:lstStyle/>
          <a:p>
            <a:pPr indent="0" marL="0">
              <a:buNone/>
            </a:pPr>
            <a:r>
              <a:rPr lang="en-US" sz="1200" b="1" dirty="0">
                <a:solidFill>
                  <a:srgbClr val="6366F1"/>
                </a:solidFill>
                <a:latin typeface="Georgia" pitchFamily="34" charset="0"/>
                <a:ea typeface="Georgia" pitchFamily="34" charset="-122"/>
                <a:cs typeface="Georgia" pitchFamily="34" charset="-120"/>
              </a:rPr>
              <a:t>Our Core Belief:</a:t>
            </a:r>
            <a:endParaRPr lang="en-US" sz="1200" dirty="0"/>
          </a:p>
        </p:txBody>
      </p:sp>
      <p:sp>
        <p:nvSpPr>
          <p:cNvPr id="7" name="Text 4"/>
          <p:cNvSpPr/>
          <p:nvPr/>
        </p:nvSpPr>
        <p:spPr>
          <a:xfrm>
            <a:off x="731520" y="3200400"/>
            <a:ext cx="3840480" cy="1371600"/>
          </a:xfrm>
          <a:prstGeom prst="rect">
            <a:avLst/>
          </a:prstGeom>
          <a:noFill/>
          <a:ln/>
        </p:spPr>
        <p:txBody>
          <a:bodyPr wrap="square" rtlCol="0" anchor="ctr"/>
          <a:lstStyle/>
          <a:p>
            <a:pPr indent="0" marL="0">
              <a:lnSpc>
                <a:spcPct val="125000"/>
              </a:lnSpc>
              <a:buNone/>
            </a:pPr>
            <a:r>
              <a:rPr lang="en-US" sz="1000" i="1" dirty="0">
                <a:solidFill>
                  <a:srgbClr val="E2E8F0"/>
                </a:solidFill>
                <a:latin typeface="Calibri" pitchFamily="34" charset="0"/>
                <a:ea typeface="Calibri" pitchFamily="34" charset="-122"/>
                <a:cs typeface="Calibri" pitchFamily="34" charset="-120"/>
              </a:rPr>
              <a:t>"Nothing happens in a silo. Collaboration is key. We need to know ourselves, the outside world, behaviors, history, and how to implement with fidelity by knowing our stakeholders and building with the user experience in mind."</a:t>
            </a:r>
            <a:endParaRPr lang="en-US" sz="1000" dirty="0"/>
          </a:p>
        </p:txBody>
      </p:sp>
      <p:sp>
        <p:nvSpPr>
          <p:cNvPr id="8" name="Text 5"/>
          <p:cNvSpPr/>
          <p:nvPr/>
        </p:nvSpPr>
        <p:spPr>
          <a:xfrm>
            <a:off x="4846320" y="1097280"/>
            <a:ext cx="3840480" cy="274320"/>
          </a:xfrm>
          <a:prstGeom prst="rect">
            <a:avLst/>
          </a:prstGeom>
          <a:noFill/>
          <a:ln/>
        </p:spPr>
        <p:txBody>
          <a:bodyPr wrap="square" rtlCol="0" anchor="ctr"/>
          <a:lstStyle/>
          <a:p>
            <a:pPr indent="0" marL="0">
              <a:buNone/>
            </a:pPr>
            <a:r>
              <a:rPr lang="en-US" sz="1200" b="1" dirty="0">
                <a:solidFill>
                  <a:srgbClr val="F59E0B"/>
                </a:solidFill>
                <a:latin typeface="Georgia" pitchFamily="34" charset="0"/>
                <a:ea typeface="Georgia" pitchFamily="34" charset="-122"/>
                <a:cs typeface="Georgia" pitchFamily="34" charset="-120"/>
              </a:rPr>
              <a:t>Where We Align:</a:t>
            </a:r>
            <a:endParaRPr lang="en-US" sz="1200" dirty="0"/>
          </a:p>
        </p:txBody>
      </p:sp>
      <p:sp>
        <p:nvSpPr>
          <p:cNvPr id="9" name="Text 6"/>
          <p:cNvSpPr/>
          <p:nvPr/>
        </p:nvSpPr>
        <p:spPr>
          <a:xfrm>
            <a:off x="4846320" y="146304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Data must serve communities, not extract</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Equity is structure, not decoration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Lived experience is valid evidence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Measurement without action is meaningless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Community-centered, not institution-centered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Austin / Pflugerville focus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Both believe impacted people drive solutions</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Ethical AI Shared Principles: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AI outputs are transparent and cited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Bias is auditable — not hidden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Community data stays community-owned</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AI serves — it never surveils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Meme's ethical AI leadership + our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anti-hallucination architecture = trust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Meme Styles — Leading Ethical AI in Community Data</a:t>
            </a:r>
            <a:endParaRPr lang="en-US" sz="22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300" dirty="0">
                <a:solidFill>
                  <a:srgbClr val="F59E0B"/>
                </a:solidFill>
                <a:latin typeface="Georgia" pitchFamily="34" charset="0"/>
                <a:ea typeface="Georgia" pitchFamily="34" charset="-122"/>
                <a:cs typeface="Georgia" pitchFamily="34" charset="-120"/>
              </a:rPr>
              <a:t>Jameila "Meme" Styles, Founder of MEASURE</a:t>
            </a:r>
            <a:endParaRPr lang="en-US" sz="1300" dirty="0"/>
          </a:p>
        </p:txBody>
      </p:sp>
      <p:sp>
        <p:nvSpPr>
          <p:cNvPr id="5" name="Text 2"/>
          <p:cNvSpPr/>
          <p:nvPr/>
        </p:nvSpPr>
        <p:spPr>
          <a:xfrm>
            <a:off x="731520" y="137160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Why This Matters Now:</a:t>
            </a:r>
            <a:endParaRPr lang="en-US" sz="1300" dirty="0"/>
          </a:p>
        </p:txBody>
      </p:sp>
      <p:sp>
        <p:nvSpPr>
          <p:cNvPr id="6" name="Text 3"/>
          <p:cNvSpPr/>
          <p:nvPr/>
        </p:nvSpPr>
        <p:spPr>
          <a:xfrm>
            <a:off x="731520" y="1737360"/>
            <a:ext cx="3840480" cy="3200400"/>
          </a:xfrm>
          <a:prstGeom prst="rect">
            <a:avLst/>
          </a:prstGeom>
          <a:noFill/>
          <a:ln/>
        </p:spPr>
        <p:txBody>
          <a:bodyPr wrap="square" rtlCol="0" anchor="ctr"/>
          <a:lstStyle/>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AI is exploding in the social sector</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Funders are asking: "How are you using AI?"</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Communities are nervous: "Will AI replace us?"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Very few leaders bridge equity + AI</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Meme has been thinking about equitable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technology longer than most of the AI</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industry has existed.</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Her CARE Model is the governance framework</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for how AI should interact with community data:</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Community-centered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Anti-extractive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Research-grounded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 Equity-first</a:t>
            </a:r>
            <a:endParaRPr lang="en-US" sz="1050" dirty="0"/>
          </a:p>
        </p:txBody>
      </p:sp>
      <p:sp>
        <p:nvSpPr>
          <p:cNvPr id="7" name="Text 4"/>
          <p:cNvSpPr/>
          <p:nvPr/>
        </p:nvSpPr>
        <p:spPr>
          <a:xfrm>
            <a:off x="4846320" y="1371600"/>
            <a:ext cx="3840480" cy="274320"/>
          </a:xfrm>
          <a:prstGeom prst="rect">
            <a:avLst/>
          </a:prstGeom>
          <a:noFill/>
          <a:ln/>
        </p:spPr>
        <p:txBody>
          <a:bodyPr wrap="square" rtlCol="0" anchor="ctr"/>
          <a:lstStyle/>
          <a:p>
            <a:pPr indent="0" marL="0">
              <a:buNone/>
            </a:pPr>
            <a:r>
              <a:rPr lang="en-US" sz="1300" b="1" dirty="0">
                <a:solidFill>
                  <a:srgbClr val="6366F1"/>
                </a:solidFill>
                <a:latin typeface="Georgia" pitchFamily="34" charset="0"/>
                <a:ea typeface="Georgia" pitchFamily="34" charset="-122"/>
                <a:cs typeface="Georgia" pitchFamily="34" charset="-120"/>
              </a:rPr>
              <a:t>Our Partnership Model:</a:t>
            </a:r>
            <a:endParaRPr lang="en-US" sz="1300" dirty="0"/>
          </a:p>
        </p:txBody>
      </p:sp>
      <p:sp>
        <p:nvSpPr>
          <p:cNvPr id="8" name="Text 5"/>
          <p:cNvSpPr/>
          <p:nvPr/>
        </p:nvSpPr>
        <p:spPr>
          <a:xfrm>
            <a:off x="4846320" y="173736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Meme's Ethical AI Expertise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(governance, principles, community trust)</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Our Technical AI Architecture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(4 engines, RAG, anti-hallucination,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citations, bias auditing)</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A live demonstration of what ethical AI</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looks like in practice — not a white paper,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but an operational system serving real</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communities in Central Texas</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This is publishable.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This is fundable.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This is what the sector needs.</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Meme is not learning AI from us.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We are engineering her vision at scale.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MEASURE Free Data Support Program</a:t>
            </a:r>
            <a:endParaRPr lang="en-US" sz="24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400" b="1" dirty="0">
                <a:solidFill>
                  <a:srgbClr val="F59E0B"/>
                </a:solidFill>
                <a:latin typeface="Georgia" pitchFamily="34" charset="0"/>
                <a:ea typeface="Georgia" pitchFamily="34" charset="-122"/>
                <a:cs typeface="Georgia" pitchFamily="34" charset="-120"/>
              </a:rPr>
              <a:t>5,000 in-kind grant + ,000 stipend</a:t>
            </a:r>
            <a:endParaRPr lang="en-US" sz="1400" dirty="0"/>
          </a:p>
        </p:txBody>
      </p:sp>
      <p:sp>
        <p:nvSpPr>
          <p:cNvPr id="5" name="Text 2"/>
          <p:cNvSpPr/>
          <p:nvPr/>
        </p:nvSpPr>
        <p:spPr>
          <a:xfrm>
            <a:off x="731520" y="137160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Program Details:</a:t>
            </a:r>
            <a:endParaRPr lang="en-US" sz="1300" dirty="0"/>
          </a:p>
        </p:txBody>
      </p:sp>
      <p:sp>
        <p:nvSpPr>
          <p:cNvPr id="6" name="Text 3"/>
          <p:cNvSpPr/>
          <p:nvPr/>
        </p:nvSpPr>
        <p:spPr>
          <a:xfrm>
            <a:off x="731520" y="1737360"/>
            <a:ext cx="3840480" cy="2743200"/>
          </a:xfrm>
          <a:prstGeom prst="rect">
            <a:avLst/>
          </a:prstGeom>
          <a:noFill/>
          <a:ln/>
        </p:spPr>
        <p:txBody>
          <a:bodyPr wrap="square" rtlCol="0" anchor="ctr"/>
          <a:lstStyle/>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5,000 in data support services (in-kind)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,000 participant stipend (cash)</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For Black, Brown &amp; Indigenous-led orgs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Based in Texas</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Apply: wemeasure.org/our-programs</a:t>
            </a:r>
            <a:endParaRPr lang="en-US" sz="1050" dirty="0"/>
          </a:p>
          <a:p>
            <a:pPr indent="0" marL="0">
              <a:lnSpc>
                <a:spcPct val="120000"/>
              </a:lnSpc>
              <a:buNone/>
            </a:pP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Why We Qualify:</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Black-led 501(c)(3)</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Veteran-founded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Austin-based</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Active data infrastructure (RPLICE)</a:t>
            </a:r>
            <a:endParaRPr lang="en-US" sz="1050" dirty="0"/>
          </a:p>
          <a:p>
            <a:pPr indent="0" marL="0">
              <a:lnSpc>
                <a:spcPct val="120000"/>
              </a:lnSpc>
              <a:buNone/>
            </a:pPr>
            <a:r>
              <a:rPr lang="en-US" sz="1050" dirty="0">
                <a:solidFill>
                  <a:srgbClr val="E2E8F0"/>
                </a:solidFill>
                <a:latin typeface="Calibri" pitchFamily="34" charset="0"/>
                <a:ea typeface="Calibri" pitchFamily="34" charset="-122"/>
                <a:cs typeface="Calibri" pitchFamily="34" charset="-120"/>
              </a:rPr>
              <a:t>• Community-serving mission</a:t>
            </a:r>
            <a:endParaRPr lang="en-US" sz="1050" dirty="0"/>
          </a:p>
        </p:txBody>
      </p:sp>
      <p:sp>
        <p:nvSpPr>
          <p:cNvPr id="7" name="Text 4"/>
          <p:cNvSpPr/>
          <p:nvPr/>
        </p:nvSpPr>
        <p:spPr>
          <a:xfrm>
            <a:off x="4846320" y="1371600"/>
            <a:ext cx="3840480" cy="274320"/>
          </a:xfrm>
          <a:prstGeom prst="rect">
            <a:avLst/>
          </a:prstGeom>
          <a:noFill/>
          <a:ln/>
        </p:spPr>
        <p:txBody>
          <a:bodyPr wrap="square" rtlCol="0" anchor="ctr"/>
          <a:lstStyle/>
          <a:p>
            <a:pPr indent="0" marL="0">
              <a:buNone/>
            </a:pPr>
            <a:r>
              <a:rPr lang="en-US" sz="1300" b="1" dirty="0">
                <a:solidFill>
                  <a:srgbClr val="6366F1"/>
                </a:solidFill>
                <a:latin typeface="Georgia" pitchFamily="34" charset="0"/>
                <a:ea typeface="Georgia" pitchFamily="34" charset="-122"/>
                <a:cs typeface="Georgia" pitchFamily="34" charset="-120"/>
              </a:rPr>
              <a:t>Strategic Value Beyond 5K:</a:t>
            </a:r>
            <a:endParaRPr lang="en-US" sz="1300" dirty="0"/>
          </a:p>
        </p:txBody>
      </p:sp>
      <p:sp>
        <p:nvSpPr>
          <p:cNvPr id="8" name="Text 5"/>
          <p:cNvSpPr/>
          <p:nvPr/>
        </p:nvSpPr>
        <p:spPr>
          <a:xfrm>
            <a:off x="4846320" y="173736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MEASURE as documented data partner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strengthens EVERY grant application</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St. David's: community-informed design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SSG Fox: evidence-based model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BB Collective: Black-led research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Central Health: community data ✓</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AI Integration Opportunity:</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Ignite data → RPLICE RAG pipeline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AI-powered community data analysis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Neither org can produce this alone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Combined: publishable, fundable, scalable</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ACTION: Apply at wemeasure.org/our-programs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What Partnership Looks Like</a:t>
            </a:r>
            <a:endParaRPr lang="en-US" sz="2400" dirty="0"/>
          </a:p>
        </p:txBody>
      </p:sp>
      <p:sp>
        <p:nvSpPr>
          <p:cNvPr id="4" name="Text 1"/>
          <p:cNvSpPr/>
          <p:nvPr/>
        </p:nvSpPr>
        <p:spPr>
          <a:xfrm>
            <a:off x="731520" y="1097280"/>
            <a:ext cx="3840480" cy="274320"/>
          </a:xfrm>
          <a:prstGeom prst="rect">
            <a:avLst/>
          </a:prstGeom>
          <a:noFill/>
          <a:ln/>
        </p:spPr>
        <p:txBody>
          <a:bodyPr wrap="square"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Immediate Opportunities:</a:t>
            </a:r>
            <a:endParaRPr lang="en-US" sz="1300" dirty="0"/>
          </a:p>
        </p:txBody>
      </p:sp>
      <p:sp>
        <p:nvSpPr>
          <p:cNvPr id="5" name="Text 2"/>
          <p:cNvSpPr/>
          <p:nvPr/>
        </p:nvSpPr>
        <p:spPr>
          <a:xfrm>
            <a:off x="731520" y="146304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Joint grant applications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MEASURE = community partner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Collaborative Advocate = AI + tech partner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Combined = complete proposal</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MEASURE Ignite → RPLICE RAG integration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Community data flows into AI pipeline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AI analysis grounded in REAL community data</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Neither org can do this alone</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Shared regional presence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Austin | Manor | Pflugerville</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Huston-Tillotson student research</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MEASURE teaches methodology</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RPLICE + AI provides the tools</a:t>
            </a:r>
            <a:endParaRPr lang="en-US" sz="1050" dirty="0"/>
          </a:p>
        </p:txBody>
      </p:sp>
      <p:sp>
        <p:nvSpPr>
          <p:cNvPr id="6" name="Text 3"/>
          <p:cNvSpPr/>
          <p:nvPr/>
        </p:nvSpPr>
        <p:spPr>
          <a:xfrm>
            <a:off x="4846320" y="1097280"/>
            <a:ext cx="3840480" cy="274320"/>
          </a:xfrm>
          <a:prstGeom prst="rect">
            <a:avLst/>
          </a:prstGeom>
          <a:noFill/>
          <a:ln/>
        </p:spPr>
        <p:txBody>
          <a:bodyPr wrap="square" rtlCol="0" anchor="ctr"/>
          <a:lstStyle/>
          <a:p>
            <a:pPr indent="0" marL="0">
              <a:buNone/>
            </a:pPr>
            <a:r>
              <a:rPr lang="en-US" sz="1300" b="1" dirty="0">
                <a:solidFill>
                  <a:srgbClr val="6366F1"/>
                </a:solidFill>
                <a:latin typeface="Georgia" pitchFamily="34" charset="0"/>
                <a:ea typeface="Georgia" pitchFamily="34" charset="-122"/>
                <a:cs typeface="Georgia" pitchFamily="34" charset="-120"/>
              </a:rPr>
              <a:t>Long-Term Vision:</a:t>
            </a:r>
            <a:endParaRPr lang="en-US" sz="1300" dirty="0"/>
          </a:p>
        </p:txBody>
      </p:sp>
      <p:sp>
        <p:nvSpPr>
          <p:cNvPr id="7" name="Text 4"/>
          <p:cNvSpPr/>
          <p:nvPr/>
        </p:nvSpPr>
        <p:spPr>
          <a:xfrm>
            <a:off x="4846320" y="1463040"/>
            <a:ext cx="3840480" cy="3200400"/>
          </a:xfrm>
          <a:prstGeom prst="rect">
            <a:avLst/>
          </a:prstGeom>
          <a:noFill/>
          <a:ln/>
        </p:spPr>
        <p:txBody>
          <a:bodyPr wrap="square" rtlCol="0" anchor="ctr"/>
          <a:lstStyle/>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Build Central Texas into a national model</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for community AI + implementation science</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Publish the methodology together:</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CARE Model (MEASURE)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MAP-GAP (Collaborative Advocate) =</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peer-reviewable framework</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Scale beyond Austin:</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Ecosystem architecture is replicable</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Any community can adopt the model</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MEASURE's network + our AI = national</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Shared advocacy for equitable AI + data</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   policy at state and federal levels</a:t>
            </a:r>
            <a:endParaRPr lang="en-US" sz="1050" dirty="0"/>
          </a:p>
          <a:p>
            <a:pPr indent="0" marL="0">
              <a:lnSpc>
                <a:spcPct val="115000"/>
              </a:lnSpc>
              <a:buNone/>
            </a:pP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This isn't a vendor pitch. Two organizations,</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same mission, same geography,</a:t>
            </a:r>
            <a:endParaRPr lang="en-US" sz="1050" dirty="0"/>
          </a:p>
          <a:p>
            <a:pPr indent="0" marL="0">
              <a:lnSpc>
                <a:spcPct val="115000"/>
              </a:lnSpc>
              <a:buNone/>
            </a:pPr>
            <a:r>
              <a:rPr lang="en-US" sz="1050" dirty="0">
                <a:solidFill>
                  <a:srgbClr val="E2E8F0"/>
                </a:solidFill>
                <a:latin typeface="Calibri" pitchFamily="34" charset="0"/>
                <a:ea typeface="Calibri" pitchFamily="34" charset="-122"/>
                <a:cs typeface="Calibri" pitchFamily="34" charset="-120"/>
              </a:rPr>
              <a:t>complementary AI + community capabilities.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Regional Hubs — Austin / Manor / Pflugerville</a:t>
            </a:r>
            <a:endParaRPr lang="en-US" sz="2400" dirty="0"/>
          </a:p>
        </p:txBody>
      </p:sp>
      <p:sp>
        <p:nvSpPr>
          <p:cNvPr id="4" name="Text 1"/>
          <p:cNvSpPr/>
          <p:nvPr/>
        </p:nvSpPr>
        <p:spPr>
          <a:xfrm>
            <a:off x="731520" y="822960"/>
            <a:ext cx="7680960" cy="274320"/>
          </a:xfrm>
          <a:prstGeom prst="rect">
            <a:avLst/>
          </a:prstGeom>
          <a:noFill/>
          <a:ln/>
        </p:spPr>
        <p:txBody>
          <a:bodyPr wrap="square" rtlCol="0" anchor="ctr"/>
          <a:lstStyle/>
          <a:p>
            <a:pPr indent="0" marL="0">
              <a:buNone/>
            </a:pPr>
            <a:r>
              <a:rPr lang="en-US" sz="1200" dirty="0">
                <a:solidFill>
                  <a:srgbClr val="94A3B8"/>
                </a:solidFill>
                <a:latin typeface="Georgia" pitchFamily="34" charset="0"/>
                <a:ea typeface="Georgia" pitchFamily="34" charset="-122"/>
                <a:cs typeface="Georgia" pitchFamily="34" charset="-120"/>
              </a:rPr>
              <a:t>Same communities MEASURE serves — shared geography, shared mission</a:t>
            </a:r>
            <a:endParaRPr lang="en-US" sz="1200" dirty="0"/>
          </a:p>
        </p:txBody>
      </p:sp>
      <p:sp>
        <p:nvSpPr>
          <p:cNvPr id="5" name="Text 2"/>
          <p:cNvSpPr/>
          <p:nvPr/>
        </p:nvSpPr>
        <p:spPr>
          <a:xfrm>
            <a:off x="731520" y="1371600"/>
            <a:ext cx="7680960" cy="274320"/>
          </a:xfrm>
          <a:prstGeom prst="rect">
            <a:avLst/>
          </a:prstGeom>
          <a:noFill/>
          <a:ln/>
        </p:spPr>
        <p:txBody>
          <a:bodyPr wrap="square" rtlCol="0" anchor="ctr"/>
          <a:lstStyle/>
          <a:p>
            <a:pPr indent="0" marL="0">
              <a:buNone/>
            </a:pPr>
            <a:r>
              <a:rPr lang="en-US" sz="1300" b="1" dirty="0">
                <a:solidFill>
                  <a:srgbClr val="6366F1"/>
                </a:solidFill>
                <a:latin typeface="Georgia" pitchFamily="34" charset="0"/>
                <a:ea typeface="Georgia" pitchFamily="34" charset="-122"/>
                <a:cs typeface="Georgia" pitchFamily="34" charset="-120"/>
              </a:rPr>
              <a:t>Austin Hub — Housing Crisis Response</a:t>
            </a:r>
            <a:endParaRPr lang="en-US" sz="1300" dirty="0"/>
          </a:p>
        </p:txBody>
      </p:sp>
      <p:sp>
        <p:nvSpPr>
          <p:cNvPr id="6" name="Text 3"/>
          <p:cNvSpPr/>
          <p:nvPr/>
        </p:nvSpPr>
        <p:spPr>
          <a:xfrm>
            <a:off x="731520" y="1691640"/>
            <a:ext cx="7680960" cy="914400"/>
          </a:xfrm>
          <a:prstGeom prst="rect">
            <a:avLst/>
          </a:prstGeom>
          <a:noFill/>
          <a:ln/>
        </p:spPr>
        <p:txBody>
          <a:bodyPr wrap="square" rtlCol="0" anchor="ctr"/>
          <a:lstStyle/>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Median Home: 35K | Homeless: 3,238</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Youth Homeless: 934 | Cost-Burdened: 85%+</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Partners: CommUnity Care, ECHO, Workforce Solutions</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Platforms: LifeBridge, Whole-Person Health, MCE</a:t>
            </a:r>
            <a:endParaRPr lang="en-US" sz="1000" dirty="0"/>
          </a:p>
        </p:txBody>
      </p:sp>
      <p:sp>
        <p:nvSpPr>
          <p:cNvPr id="7" name="Text 4"/>
          <p:cNvSpPr/>
          <p:nvPr/>
        </p:nvSpPr>
        <p:spPr>
          <a:xfrm>
            <a:off x="731520" y="2743200"/>
            <a:ext cx="7680960" cy="274320"/>
          </a:xfrm>
          <a:prstGeom prst="rect">
            <a:avLst/>
          </a:prstGeom>
          <a:noFill/>
          <a:ln/>
        </p:spPr>
        <p:txBody>
          <a:bodyPr wrap="square" rtlCol="0" anchor="ctr"/>
          <a:lstStyle/>
          <a:p>
            <a:pPr indent="0" marL="0">
              <a:buNone/>
            </a:pPr>
            <a:r>
              <a:rPr lang="en-US" sz="1300" b="1" dirty="0">
                <a:solidFill>
                  <a:srgbClr val="10B981"/>
                </a:solidFill>
                <a:latin typeface="Georgia" pitchFamily="34" charset="0"/>
                <a:ea typeface="Georgia" pitchFamily="34" charset="-122"/>
                <a:cs typeface="Georgia" pitchFamily="34" charset="-120"/>
              </a:rPr>
              <a:t>Manor Hub — Growth Without Gaps</a:t>
            </a:r>
            <a:endParaRPr lang="en-US" sz="1300" dirty="0"/>
          </a:p>
        </p:txBody>
      </p:sp>
      <p:sp>
        <p:nvSpPr>
          <p:cNvPr id="8" name="Text 5"/>
          <p:cNvSpPr/>
          <p:nvPr/>
        </p:nvSpPr>
        <p:spPr>
          <a:xfrm>
            <a:off x="731520" y="3063240"/>
            <a:ext cx="7680960" cy="914400"/>
          </a:xfrm>
          <a:prstGeom prst="rect">
            <a:avLst/>
          </a:prstGeom>
          <a:noFill/>
          <a:ln/>
        </p:spPr>
        <p:txBody>
          <a:bodyPr wrap="square" rtlCol="0" anchor="ctr"/>
          <a:lstStyle/>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Pop Growth: 400%+ | Youth: 38% under 18</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Infrastructure Gap: Critical</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Partners: Manor ISD, Travis County Health</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Platforms: ThriveUp, ISSS, Sankofa Health</a:t>
            </a:r>
            <a:endParaRPr lang="en-US" sz="1000" dirty="0"/>
          </a:p>
        </p:txBody>
      </p:sp>
      <p:sp>
        <p:nvSpPr>
          <p:cNvPr id="9" name="Text 6"/>
          <p:cNvSpPr/>
          <p:nvPr/>
        </p:nvSpPr>
        <p:spPr>
          <a:xfrm>
            <a:off x="731520" y="4114800"/>
            <a:ext cx="7680960" cy="274320"/>
          </a:xfrm>
          <a:prstGeom prst="rect">
            <a:avLst/>
          </a:prstGeom>
          <a:noFill/>
          <a:ln/>
        </p:spPr>
        <p:txBody>
          <a:bodyPr wrap="square" rtlCol="0" anchor="ctr"/>
          <a:lstStyle/>
          <a:p>
            <a:pPr indent="0" marL="0">
              <a:buNone/>
            </a:pPr>
            <a:r>
              <a:rPr lang="en-US" sz="1300" b="1" dirty="0">
                <a:solidFill>
                  <a:srgbClr val="F59E0B"/>
                </a:solidFill>
                <a:latin typeface="Georgia" pitchFamily="34" charset="0"/>
                <a:ea typeface="Georgia" pitchFamily="34" charset="-122"/>
                <a:cs typeface="Georgia" pitchFamily="34" charset="-120"/>
              </a:rPr>
              <a:t>Pflugerville Hub — Infrastructure First</a:t>
            </a:r>
            <a:endParaRPr lang="en-US" sz="1300" dirty="0"/>
          </a:p>
        </p:txBody>
      </p:sp>
      <p:sp>
        <p:nvSpPr>
          <p:cNvPr id="10" name="Text 7"/>
          <p:cNvSpPr/>
          <p:nvPr/>
        </p:nvSpPr>
        <p:spPr>
          <a:xfrm>
            <a:off x="731520" y="4434840"/>
            <a:ext cx="7680960" cy="914400"/>
          </a:xfrm>
          <a:prstGeom prst="rect">
            <a:avLst/>
          </a:prstGeom>
          <a:noFill/>
          <a:ln/>
        </p:spPr>
        <p:txBody>
          <a:bodyPr wrap="square" rtlCol="0" anchor="ctr"/>
          <a:lstStyle/>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Population: 75K+ | Growth: 52%</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Digital Access Gap: Significant</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Partners: PfISD, Pflugerville CDC</a:t>
            </a:r>
            <a:endParaRPr lang="en-US" sz="1000" dirty="0"/>
          </a:p>
          <a:p>
            <a:pPr indent="0" marL="0">
              <a:lnSpc>
                <a:spcPct val="120000"/>
              </a:lnSpc>
              <a:buNone/>
            </a:pPr>
            <a:r>
              <a:rPr lang="en-US" sz="1000" dirty="0">
                <a:solidFill>
                  <a:srgbClr val="E2E8F0"/>
                </a:solidFill>
                <a:latin typeface="Calibri" pitchFamily="34" charset="0"/>
                <a:ea typeface="Calibri" pitchFamily="34" charset="-122"/>
                <a:cs typeface="Calibri" pitchFamily="34" charset="-120"/>
              </a:rPr>
              <a:t>Platforms: ThriveUp, Perfectly Different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731520" y="1371600"/>
            <a:ext cx="76809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Research to Implementation with Fidelity</a:t>
            </a:r>
            <a:endParaRPr lang="en-US" sz="2800" dirty="0"/>
          </a:p>
        </p:txBody>
      </p:sp>
      <p:sp>
        <p:nvSpPr>
          <p:cNvPr id="4" name="Text 1"/>
          <p:cNvSpPr/>
          <p:nvPr/>
        </p:nvSpPr>
        <p:spPr>
          <a:xfrm>
            <a:off x="731520" y="2011680"/>
            <a:ext cx="7680960" cy="548640"/>
          </a:xfrm>
          <a:prstGeom prst="rect">
            <a:avLst/>
          </a:prstGeom>
          <a:noFill/>
          <a:ln/>
        </p:spPr>
        <p:txBody>
          <a:bodyPr wrap="square" rtlCol="0" anchor="ctr"/>
          <a:lstStyle/>
          <a:p>
            <a:pPr indent="0" marL="0">
              <a:lnSpc>
                <a:spcPct val="130000"/>
              </a:lnSpc>
              <a:buNone/>
            </a:pPr>
            <a:r>
              <a:rPr lang="en-US" sz="1400" dirty="0">
                <a:solidFill>
                  <a:srgbClr val="E2E8F0"/>
                </a:solidFill>
                <a:latin typeface="Georgia" pitchFamily="34" charset="0"/>
                <a:ea typeface="Georgia" pitchFamily="34" charset="-122"/>
                <a:cs typeface="Georgia" pitchFamily="34" charset="-120"/>
              </a:rPr>
              <a:t>For all stakeholders and perspectives — everywhere —</a:t>
            </a:r>
            <a:endParaRPr lang="en-US" sz="1400" dirty="0"/>
          </a:p>
          <a:p>
            <a:pPr indent="0" marL="0">
              <a:lnSpc>
                <a:spcPct val="130000"/>
              </a:lnSpc>
              <a:buNone/>
            </a:pPr>
            <a:r>
              <a:rPr lang="en-US" sz="1400" dirty="0">
                <a:solidFill>
                  <a:srgbClr val="E2E8F0"/>
                </a:solidFill>
                <a:latin typeface="Georgia" pitchFamily="34" charset="0"/>
                <a:ea typeface="Georgia" pitchFamily="34" charset="-122"/>
                <a:cs typeface="Georgia" pitchFamily="34" charset="-120"/>
              </a:rPr>
              <a:t>tied to measurable outcomes.</a:t>
            </a:r>
            <a:endParaRPr lang="en-US" sz="1400" dirty="0"/>
          </a:p>
        </p:txBody>
      </p:sp>
      <p:sp>
        <p:nvSpPr>
          <p:cNvPr id="5" name="Text 2"/>
          <p:cNvSpPr/>
          <p:nvPr/>
        </p:nvSpPr>
        <p:spPr>
          <a:xfrm>
            <a:off x="731520" y="2651760"/>
            <a:ext cx="7680960" cy="365760"/>
          </a:xfrm>
          <a:prstGeom prst="rect">
            <a:avLst/>
          </a:prstGeom>
          <a:noFill/>
          <a:ln/>
        </p:spPr>
        <p:txBody>
          <a:bodyPr wrap="square" rtlCol="0" anchor="ctr"/>
          <a:lstStyle/>
          <a:p>
            <a:pPr indent="0" marL="0">
              <a:buNone/>
            </a:pPr>
            <a:r>
              <a:rPr lang="en-US" sz="1400" b="1" dirty="0">
                <a:solidFill>
                  <a:srgbClr val="6366F1"/>
                </a:solidFill>
                <a:latin typeface="Georgia" pitchFamily="34" charset="0"/>
                <a:ea typeface="Georgia" pitchFamily="34" charset="-122"/>
                <a:cs typeface="Georgia" pitchFamily="34" charset="-120"/>
              </a:rPr>
              <a:t>AI-Powered. Ethical. Evidence-Grounded. Community-Serving.</a:t>
            </a:r>
            <a:endParaRPr lang="en-US" sz="1400" dirty="0"/>
          </a:p>
        </p:txBody>
      </p:sp>
      <p:sp>
        <p:nvSpPr>
          <p:cNvPr id="6" name="Shape 3"/>
          <p:cNvSpPr/>
          <p:nvPr/>
        </p:nvSpPr>
        <p:spPr>
          <a:xfrm>
            <a:off x="731520" y="3200400"/>
            <a:ext cx="2743200" cy="36576"/>
          </a:xfrm>
          <a:prstGeom prst="rect">
            <a:avLst/>
          </a:prstGeom>
          <a:solidFill>
            <a:srgbClr val="6366F1"/>
          </a:solidFill>
          <a:ln/>
        </p:spPr>
      </p:sp>
      <p:sp>
        <p:nvSpPr>
          <p:cNvPr id="7" name="Text 4"/>
          <p:cNvSpPr/>
          <p:nvPr/>
        </p:nvSpPr>
        <p:spPr>
          <a:xfrm>
            <a:off x="731520" y="3474720"/>
            <a:ext cx="7680960" cy="1097280"/>
          </a:xfrm>
          <a:prstGeom prst="rect">
            <a:avLst/>
          </a:prstGeom>
          <a:noFill/>
          <a:ln/>
        </p:spPr>
        <p:txBody>
          <a:bodyPr wrap="square" rtlCol="0" anchor="ctr"/>
          <a:lstStyle/>
          <a:p>
            <a:pPr indent="0" marL="0">
              <a:lnSpc>
                <a:spcPct val="140000"/>
              </a:lnSpc>
              <a:buNone/>
            </a:pPr>
            <a:r>
              <a:rPr lang="en-US" sz="1200" dirty="0">
                <a:solidFill>
                  <a:srgbClr val="94A3B8"/>
                </a:solidFill>
                <a:latin typeface="Georgia" pitchFamily="34" charset="0"/>
                <a:ea typeface="Georgia" pitchFamily="34" charset="-122"/>
                <a:cs typeface="Georgia" pitchFamily="34" charset="-120"/>
              </a:rPr>
              <a:t>Dr. Terry Flood, DHA  &amp;  Meredith Sisnett</a:t>
            </a:r>
            <a:endParaRPr lang="en-US" sz="1200" dirty="0"/>
          </a:p>
          <a:p>
            <a:pPr indent="0" marL="0">
              <a:lnSpc>
                <a:spcPct val="140000"/>
              </a:lnSpc>
              <a:buNone/>
            </a:pPr>
            <a:r>
              <a:rPr lang="en-US" sz="1200" dirty="0">
                <a:solidFill>
                  <a:srgbClr val="94A3B8"/>
                </a:solidFill>
                <a:latin typeface="Georgia" pitchFamily="34" charset="0"/>
                <a:ea typeface="Georgia" pitchFamily="34" charset="-122"/>
                <a:cs typeface="Georgia" pitchFamily="34" charset="-120"/>
              </a:rPr>
              <a:t>Co-Founders, The Collaborative Advocate</a:t>
            </a:r>
            <a:endParaRPr lang="en-US" sz="1200" dirty="0"/>
          </a:p>
          <a:p>
            <a:pPr indent="0" marL="0">
              <a:lnSpc>
                <a:spcPct val="140000"/>
              </a:lnSpc>
              <a:buNone/>
            </a:pPr>
            <a:r>
              <a:rPr lang="en-US" sz="1200" dirty="0">
                <a:solidFill>
                  <a:srgbClr val="94A3B8"/>
                </a:solidFill>
                <a:latin typeface="Georgia" pitchFamily="34" charset="0"/>
                <a:ea typeface="Georgia" pitchFamily="34" charset="-122"/>
                <a:cs typeface="Georgia" pitchFamily="34" charset="-120"/>
              </a:rPr>
              <a:t>mr.terryflood@gmail.com  |  sisnett.meredith@gmail.com</a:t>
            </a:r>
            <a:endParaRPr lang="en-US" sz="1200" dirty="0"/>
          </a:p>
          <a:p>
            <a:pPr indent="0" marL="0">
              <a:lnSpc>
                <a:spcPct val="140000"/>
              </a:lnSpc>
              <a:buNone/>
            </a:pPr>
            <a:r>
              <a:rPr lang="en-US" sz="1200" dirty="0">
                <a:solidFill>
                  <a:srgbClr val="94A3B8"/>
                </a:solidFill>
                <a:latin typeface="Georgia" pitchFamily="34" charset="0"/>
                <a:ea typeface="Georgia" pitchFamily="34" charset="-122"/>
                <a:cs typeface="Georgia" pitchFamily="34" charset="-120"/>
              </a:rPr>
              <a:t>Veteran-Owned Small Business (VOSB)  |  Austin, TX</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ThriveUp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ThriveUp + RPLICE Ecosystem Presentation — MEASURE Partnership</dc:title>
  <dc:subject>PptxGenJS Presentation</dc:subject>
  <dc:creator>The Collaborative Advocate Foundation</dc:creator>
  <cp:lastModifiedBy>The Collaborative Advocate Foundation</cp:lastModifiedBy>
  <cp:revision>1</cp:revision>
  <dcterms:created xsi:type="dcterms:W3CDTF">2026-03-30T15:27:24Z</dcterms:created>
  <dcterms:modified xsi:type="dcterms:W3CDTF">2026-03-30T15:27:24Z</dcterms:modified>
</cp:coreProperties>
</file>