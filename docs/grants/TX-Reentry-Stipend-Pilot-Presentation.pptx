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PILOT STUDY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$7,600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Save $75,000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Texas Reentry Stipend Pilot to Break the Cycle of Recidivism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Collaborative Advocate Foundation (TCAF)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Terry Flood, DHA -- Founder &amp; CEO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EIN: 41-3618003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530352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349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5852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Money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530352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5349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743200" y="5852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 Recidivism (3yr)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530352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5349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60,000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54880" y="5852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Releases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530352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5349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$25,174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66560" y="5852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Cost/Inmate/Year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People Up to Fail on Day 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FEE2E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After Release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in hand: $50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042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Transport: Bus ticket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8833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Housing: None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723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Job: None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4564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ID: Expired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Phone: None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 won't cover 1 motel night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Austin ($89/night avg)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37160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417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90 Days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1965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343400" y="1965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Homeless within 60 days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606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343400" y="2606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Unemployed at 90 days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3246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343400" y="3246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Substance relapse in Year 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3886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 mo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343400" y="3886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time to employment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37160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417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Failure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264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$25,174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12648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inmate per year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$75,522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126480" y="3383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re-incarceration (3 years)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3794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~$696M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126480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cost of TX recidivism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84632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9377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person who returns to prison costs Texas $75,000+.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$50 they leave with hasn't changed since 1973.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INTERVENTION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4-Arm Randomized Controlled Trial  |  400 Participants  |  100 Per Arm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65960" cy="4114800"/>
          </a:xfrm>
          <a:prstGeom prst="roundRect">
            <a:avLst>
              <a:gd name="adj" fmla="val 6977"/>
            </a:avLst>
          </a:prstGeom>
          <a:solidFill>
            <a:srgbClr val="F1F5F9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Quo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person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20040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TDCJ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practice: $50 cash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 bus ticket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5029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1280160"/>
            <a:ext cx="1965960" cy="4114800"/>
          </a:xfrm>
          <a:prstGeom prst="roundRect">
            <a:avLst>
              <a:gd name="adj" fmla="val 6977"/>
            </a:avLst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371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1691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Stability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2194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606040" y="27889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person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0" y="320040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whether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cash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alone changes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06040" y="5029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280160"/>
            <a:ext cx="1965960" cy="4114800"/>
          </a:xfrm>
          <a:prstGeom prst="roundRect">
            <a:avLst>
              <a:gd name="adj" fmla="val 6977"/>
            </a:avLst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371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691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Cash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2194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754880" y="27889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person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20040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Dose-response: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more cash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a larger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5029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100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03720" y="1280160"/>
            <a:ext cx="1965960" cy="4114800"/>
          </a:xfrm>
          <a:prstGeom prst="roundRect">
            <a:avLst>
              <a:gd name="adj" fmla="val 6977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1371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03720" y="1691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Bridge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03720" y="2194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$7,600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903720" y="27889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person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40880" y="320040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 release +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 workforce +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$3,600 training +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$3,000 stipend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03720" y="5029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331720" y="2377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480560" y="2377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29400" y="2377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57200" y="55778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D1FAE5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5623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3 bridges EVERY financial gap: immediate cash + workforce connection + paid training + sustained support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COST-BENEFIT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 That Changes the Conversation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27432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SCALE  |  400 Participants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20% Recidivism Reduction: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(Arm 3, 100 people)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22860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$760,000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Incarcerations prevented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2651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people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(20 x $75,522)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3017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$1,510,440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benefit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3383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$750,440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on Investment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3749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371600"/>
            <a:ext cx="3840480" cy="274320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417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SCALE  |  60,000 Releases/Year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1874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20% Recidivism Reduction: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2286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investment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06640" y="22860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$456M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diverted from prison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06640" y="2651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3017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savings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06640" y="3017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$2.27B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3383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annual savings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06640" y="3383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$1.81B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incarceration budget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06640" y="3749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3891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ANALYSIS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" y="4846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14400" y="5120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14400" y="5349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834640" y="4846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2834640" y="5120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834640" y="5349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+$450M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754880" y="4846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4754880" y="5120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54880" y="5349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+$1.81B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675120" y="4846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675120" y="5120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75120" y="5349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+$2.94B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31520" y="5943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at 5% reduction, the program pays for itself. Above 10%, it's one of the highest-ROI investments Texas can make.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MEASURE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3657600"/>
          </a:xfrm>
          <a:prstGeom prst="roundRect">
            <a:avLst>
              <a:gd name="adj" fmla="val 5357"/>
            </a:avLst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Outcomes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at 12, 24, 36 months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Rearrest rates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Reconviction rates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Reincarceration rates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3657600"/>
          </a:xfrm>
          <a:prstGeom prst="roundRect">
            <a:avLst>
              <a:gd name="adj" fmla="val 5357"/>
            </a:avLst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Outcomes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at 6-month intervals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Employment &amp; income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377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Housing stability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743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Substance use treatment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3108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ER/crisis utilization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474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Family reunification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097280"/>
            <a:ext cx="2560320" cy="3657600"/>
          </a:xfrm>
          <a:prstGeom prst="roundRect">
            <a:avLst>
              <a:gd name="adj" fmla="val 5357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Outcomes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1554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 code level analysis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Local crime rates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2423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Economic activity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Service utilization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3246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Neighborhood stability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0292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120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42-MONTH TIMELINE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5778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64748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577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IRB (Mo 1-6)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51760" y="55778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2651760" y="5577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(Mo 7-18)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55778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5577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(Mo 19-36)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75120" y="55778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5577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(Mo 37-42)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SITES &amp; FUNDING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2560320"/>
          </a:xfrm>
          <a:prstGeom prst="roundRect">
            <a:avLst>
              <a:gd name="adj" fmla="val 5357"/>
            </a:avLst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Travis County (Primary)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 annual TDCJ releases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Travis County Sheriff's Office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Austin Transitional Center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Goodwill Central Texas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Integral Care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Capital Area Workforce Solutions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005840"/>
            <a:ext cx="3840480" cy="2560320"/>
          </a:xfrm>
          <a:prstGeom prst="roundRect">
            <a:avLst>
              <a:gd name="adj" fmla="val 5357"/>
            </a:avLst>
          </a:prstGeom>
          <a:solidFill>
            <a:srgbClr val="FEF3C7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Williamson County (Secondary)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 annual TDCJ releases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19202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Williamson County Community Supervision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21945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Opportunities for Williamson &amp; Burnet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0" y="2468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Growing suburban reentry population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0" y="27432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Rapid population growth = new service gaps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STRATEGY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2697480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Arnold Ventures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47091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Criminal justice research, RCT studies | $250K-$2M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4343400"/>
            <a:ext cx="2697480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NIJ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47091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reentry research | $250K-$750K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4343400"/>
            <a:ext cx="2697480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DOJ Second Chance Act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47091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reentry programming | Competitive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5349240"/>
            <a:ext cx="2697480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53949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MacArthur Foundation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" y="5715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&amp; Justice Challenge | Systems change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37560" y="5349240"/>
            <a:ext cx="2697480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0" y="53949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 Legislature (90th)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74720" y="5715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session policy brief | Statute reform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TCAF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24-Platform AI Operating System for Communities -- Already Built and Running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182880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5087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RPLICE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science engine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CFIR/RE-AIM frameworks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Fidelity measurement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697480" cy="182880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0" y="150876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23360" y="15087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Justice Command Center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0574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Criminal justice data aggregation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BJS, FBI UCR, TDCJ, local LE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Reentry case management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697480" cy="182880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355080" y="150876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03720" y="15087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Transition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0574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transition platform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pathway mapping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Veteran &amp; civilian reentry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2697480" cy="182880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61188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3611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Dashboard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41605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Employment tracking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gap analysis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 market integration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3474720"/>
            <a:ext cx="2697480" cy="182880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3474720" y="36118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023360" y="3611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LifeBridge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0" y="41605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screening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SNAP, Medicaid, CHIP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WIC, EITC enrollment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3474720"/>
            <a:ext cx="2697480" cy="182880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/>
        </p:spPr>
      </p:sp>
      <p:sp>
        <p:nvSpPr>
          <p:cNvPr id="31" name="Shape 29"/>
          <p:cNvSpPr/>
          <p:nvPr/>
        </p:nvSpPr>
        <p:spPr>
          <a:xfrm>
            <a:off x="6355080" y="3611880"/>
            <a:ext cx="457200" cy="45720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03720" y="3611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55080" y="41605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support coordination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warning systems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Multi-stakeholder case mgmt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57607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D1FAE5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5760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measurement tool, data pipeline, and coordination infrastructure already exists and is operational.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 not whether</a:t>
            </a:r>
            <a:endParaRPr lang="en-US" sz="2800" dirty="0"/>
          </a:p>
          <a:p>
            <a:pPr algn="ctr"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 afford this program.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 whether</a:t>
            </a:r>
            <a:endParaRPr lang="en-US" sz="2800" dirty="0"/>
          </a:p>
          <a:p>
            <a:pPr algn="ctr"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 afford not to.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3566160"/>
            <a:ext cx="2743200" cy="1828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person who cycles back costs Texas $75,000+.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person who successfully reintegrates becomes a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taxpayer, a parent, a neighbor, and a contributor.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may be as simple as having enough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to survive the first 90 days.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5669280"/>
            <a:ext cx="9144000" cy="118872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5760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Collaborative Advocate Foundation  |  EIN: 41-3618003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6126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Terry Flood, DHA  |  mr.terryflood@gmail.com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17912 Stefano Drive, Pflugerville, TX 78660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TCAF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 $7,600 to Save $75,000</dc:title>
  <dc:subject>Texas Reentry Stipend Pilot</dc:subject>
  <dc:creator>The Collaborative Advocate Foundation</dc:creator>
  <cp:lastModifiedBy>The Collaborative Advocate Foundation</cp:lastModifiedBy>
  <cp:revision>1</cp:revision>
  <dcterms:created xsi:type="dcterms:W3CDTF">2026-04-13T21:35:29Z</dcterms:created>
  <dcterms:modified xsi:type="dcterms:W3CDTF">2026-04-13T21:35:29Z</dcterms:modified>
</cp:coreProperties>
</file>