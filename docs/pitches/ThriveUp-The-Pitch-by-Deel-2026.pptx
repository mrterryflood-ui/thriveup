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731520" y="914400"/>
            <a:ext cx="10698480" cy="1188720"/>
          </a:xfrm>
          <a:prstGeom prst="rect">
            <a:avLst/>
          </a:prstGeom>
          <a:noFill/>
          <a:ln/>
        </p:spPr>
        <p:txBody>
          <a:bodyPr wrap="square" rtlCol="0" anchor="ctr"/>
          <a:lstStyle/>
          <a:p>
            <a:pPr indent="0" marL="0">
              <a:buNone/>
            </a:pPr>
            <a:r>
              <a:rPr lang="en-US" sz="6600" b="1" dirty="0">
                <a:solidFill>
                  <a:srgbClr val="FFFFFF"/>
                </a:solidFill>
                <a:latin typeface="Arial" pitchFamily="34" charset="0"/>
                <a:ea typeface="Arial" pitchFamily="34" charset="-122"/>
                <a:cs typeface="Arial" pitchFamily="34" charset="-120"/>
              </a:rPr>
              <a:t>ThriveUp</a:t>
            </a:r>
            <a:endParaRPr lang="en-US" sz="6600" dirty="0"/>
          </a:p>
        </p:txBody>
      </p:sp>
      <p:sp>
        <p:nvSpPr>
          <p:cNvPr id="3" name="Text 1"/>
          <p:cNvSpPr/>
          <p:nvPr/>
        </p:nvSpPr>
        <p:spPr>
          <a:xfrm>
            <a:off x="731520" y="2103120"/>
            <a:ext cx="10698480" cy="822960"/>
          </a:xfrm>
          <a:prstGeom prst="rect">
            <a:avLst/>
          </a:prstGeom>
          <a:noFill/>
          <a:ln/>
        </p:spPr>
        <p:txBody>
          <a:bodyPr wrap="square" rtlCol="0" anchor="ctr"/>
          <a:lstStyle/>
          <a:p>
            <a:pPr indent="0" marL="0">
              <a:lnSpc>
                <a:spcPct val="125000"/>
              </a:lnSpc>
              <a:buNone/>
            </a:pPr>
            <a:r>
              <a:rPr lang="en-US" sz="2000" dirty="0">
                <a:solidFill>
                  <a:srgbClr val="00C9A7"/>
                </a:solidFill>
                <a:latin typeface="Arial" pitchFamily="34" charset="0"/>
                <a:ea typeface="Arial" pitchFamily="34" charset="-122"/>
                <a:cs typeface="Arial" pitchFamily="34" charset="-120"/>
              </a:rPr>
              <a:t>A Living Ecosystem of Interconnected Platforms</a:t>
            </a:r>
            <a:endParaRPr lang="en-US" sz="2000" dirty="0"/>
          </a:p>
          <a:p>
            <a:pPr indent="0" marL="0">
              <a:lnSpc>
                <a:spcPct val="125000"/>
              </a:lnSpc>
              <a:buNone/>
            </a:pPr>
            <a:r>
              <a:rPr lang="en-US" sz="2000" dirty="0">
                <a:solidFill>
                  <a:srgbClr val="00C9A7"/>
                </a:solidFill>
                <a:latin typeface="Arial" pitchFamily="34" charset="0"/>
                <a:ea typeface="Arial" pitchFamily="34" charset="-122"/>
                <a:cs typeface="Arial" pitchFamily="34" charset="-120"/>
              </a:rPr>
              <a:t>That Sees the Whole Person — From Any Entry Point</a:t>
            </a:r>
            <a:endParaRPr lang="en-US" sz="2000" dirty="0"/>
          </a:p>
        </p:txBody>
      </p:sp>
      <p:sp>
        <p:nvSpPr>
          <p:cNvPr id="4" name="Shape 2"/>
          <p:cNvSpPr/>
          <p:nvPr/>
        </p:nvSpPr>
        <p:spPr>
          <a:xfrm>
            <a:off x="731520" y="3200400"/>
            <a:ext cx="3657600" cy="36576"/>
          </a:xfrm>
          <a:prstGeom prst="rect">
            <a:avLst/>
          </a:prstGeom>
          <a:solidFill>
            <a:srgbClr val="0079F2"/>
          </a:solidFill>
          <a:ln/>
        </p:spPr>
      </p:sp>
      <p:sp>
        <p:nvSpPr>
          <p:cNvPr id="5" name="Text 3"/>
          <p:cNvSpPr/>
          <p:nvPr/>
        </p:nvSpPr>
        <p:spPr>
          <a:xfrm>
            <a:off x="731520" y="3474720"/>
            <a:ext cx="7315200" cy="365760"/>
          </a:xfrm>
          <a:prstGeom prst="rect">
            <a:avLst/>
          </a:prstGeom>
          <a:noFill/>
          <a:ln/>
        </p:spPr>
        <p:txBody>
          <a:bodyPr wrap="square" rtlCol="0" anchor="ctr"/>
          <a:lstStyle/>
          <a:p>
            <a:pPr indent="0" marL="0">
              <a:buNone/>
            </a:pPr>
            <a:r>
              <a:rPr lang="en-US" sz="1900" b="1" dirty="0">
                <a:solidFill>
                  <a:srgbClr val="FFFFFF"/>
                </a:solidFill>
                <a:latin typeface="Arial" pitchFamily="34" charset="0"/>
                <a:ea typeface="Arial" pitchFamily="34" charset="-122"/>
                <a:cs typeface="Arial" pitchFamily="34" charset="-120"/>
              </a:rPr>
              <a:t>Dr. Terry Flood, DHA, DBA  |  Founder &amp; CEO</a:t>
            </a:r>
            <a:endParaRPr lang="en-US" sz="1900" dirty="0"/>
          </a:p>
        </p:txBody>
      </p:sp>
      <p:sp>
        <p:nvSpPr>
          <p:cNvPr id="6" name="Text 4"/>
          <p:cNvSpPr/>
          <p:nvPr/>
        </p:nvSpPr>
        <p:spPr>
          <a:xfrm>
            <a:off x="731520" y="3840480"/>
            <a:ext cx="7315200" cy="320040"/>
          </a:xfrm>
          <a:prstGeom prst="rect">
            <a:avLst/>
          </a:prstGeom>
          <a:noFill/>
          <a:ln/>
        </p:spPr>
        <p:txBody>
          <a:bodyPr wrap="square" rtlCol="0" anchor="ctr"/>
          <a:lstStyle/>
          <a:p>
            <a:pPr indent="0" marL="0">
              <a:buNone/>
            </a:pPr>
            <a:r>
              <a:rPr lang="en-US" sz="1500" dirty="0">
                <a:solidFill>
                  <a:srgbClr val="8B949E"/>
                </a:solidFill>
                <a:latin typeface="Arial" pitchFamily="34" charset="0"/>
                <a:ea typeface="Arial" pitchFamily="34" charset="-122"/>
                <a:cs typeface="Arial" pitchFamily="34" charset="-120"/>
              </a:rPr>
              <a:t>Integrated Services and Solutions LLC</a:t>
            </a:r>
            <a:endParaRPr lang="en-US" sz="1500" dirty="0"/>
          </a:p>
        </p:txBody>
      </p:sp>
      <p:sp>
        <p:nvSpPr>
          <p:cNvPr id="7" name="Text 5"/>
          <p:cNvSpPr/>
          <p:nvPr/>
        </p:nvSpPr>
        <p:spPr>
          <a:xfrm>
            <a:off x="731520" y="4297680"/>
            <a:ext cx="9144000" cy="320040"/>
          </a:xfrm>
          <a:prstGeom prst="rect">
            <a:avLst/>
          </a:prstGeom>
          <a:noFill/>
          <a:ln/>
        </p:spPr>
        <p:txBody>
          <a:bodyPr wrap="square" rtlCol="0" anchor="ctr"/>
          <a:lstStyle/>
          <a:p>
            <a:pPr indent="0" marL="0">
              <a:buNone/>
            </a:pPr>
            <a:r>
              <a:rPr lang="en-US" sz="1200" dirty="0">
                <a:solidFill>
                  <a:srgbClr val="8B949E"/>
                </a:solidFill>
                <a:latin typeface="Arial" pitchFamily="34" charset="0"/>
                <a:ea typeface="Arial" pitchFamily="34" charset="-122"/>
                <a:cs typeface="Arial" pitchFamily="34" charset="-120"/>
              </a:rPr>
              <a:t>U.S. Army Veteran  •  5× Master's  •  Implementation Science (Dartmouth)  •  25 Years Direct Service</a:t>
            </a:r>
            <a:endParaRPr lang="en-US" sz="1200" dirty="0"/>
          </a:p>
        </p:txBody>
      </p:sp>
      <p:sp>
        <p:nvSpPr>
          <p:cNvPr id="8" name="Shape 6"/>
          <p:cNvSpPr/>
          <p:nvPr/>
        </p:nvSpPr>
        <p:spPr>
          <a:xfrm>
            <a:off x="457200" y="5303520"/>
            <a:ext cx="1783080" cy="365760"/>
          </a:xfrm>
          <a:prstGeom prst="roundRect">
            <a:avLst>
              <a:gd name="adj" fmla="val 37500"/>
            </a:avLst>
          </a:prstGeom>
          <a:solidFill>
            <a:srgbClr val="161B22"/>
          </a:solidFill>
          <a:ln w="19050">
            <a:solidFill>
              <a:srgbClr val="EF4444"/>
            </a:solidFill>
            <a:prstDash val="solid"/>
          </a:ln>
        </p:spPr>
      </p:sp>
      <p:sp>
        <p:nvSpPr>
          <p:cNvPr id="9" name="Text 7"/>
          <p:cNvSpPr/>
          <p:nvPr/>
        </p:nvSpPr>
        <p:spPr>
          <a:xfrm>
            <a:off x="457200" y="5303520"/>
            <a:ext cx="1783080" cy="365760"/>
          </a:xfrm>
          <a:prstGeom prst="rect">
            <a:avLst/>
          </a:prstGeom>
          <a:noFill/>
          <a:ln/>
        </p:spPr>
        <p:txBody>
          <a:bodyPr wrap="square" rtlCol="0" anchor="ctr"/>
          <a:lstStyle/>
          <a:p>
            <a:pPr algn="ctr" indent="0" marL="0">
              <a:buNone/>
            </a:pPr>
            <a:r>
              <a:rPr lang="en-US" sz="1000" b="1" dirty="0">
                <a:solidFill>
                  <a:srgbClr val="EF4444"/>
                </a:solidFill>
                <a:latin typeface="Arial" pitchFamily="34" charset="0"/>
                <a:ea typeface="Arial" pitchFamily="34" charset="-122"/>
                <a:cs typeface="Arial" pitchFamily="34" charset="-120"/>
              </a:rPr>
              <a:t>Criminal Justice</a:t>
            </a:r>
            <a:endParaRPr lang="en-US" sz="1000" dirty="0"/>
          </a:p>
        </p:txBody>
      </p:sp>
      <p:sp>
        <p:nvSpPr>
          <p:cNvPr id="10" name="Shape 8"/>
          <p:cNvSpPr/>
          <p:nvPr/>
        </p:nvSpPr>
        <p:spPr>
          <a:xfrm>
            <a:off x="2377440" y="5303520"/>
            <a:ext cx="1783080" cy="365760"/>
          </a:xfrm>
          <a:prstGeom prst="roundRect">
            <a:avLst>
              <a:gd name="adj" fmla="val 37500"/>
            </a:avLst>
          </a:prstGeom>
          <a:solidFill>
            <a:srgbClr val="161B22"/>
          </a:solidFill>
          <a:ln w="19050">
            <a:solidFill>
              <a:srgbClr val="E8459E"/>
            </a:solidFill>
            <a:prstDash val="solid"/>
          </a:ln>
        </p:spPr>
      </p:sp>
      <p:sp>
        <p:nvSpPr>
          <p:cNvPr id="11" name="Text 9"/>
          <p:cNvSpPr/>
          <p:nvPr/>
        </p:nvSpPr>
        <p:spPr>
          <a:xfrm>
            <a:off x="2377440" y="5303520"/>
            <a:ext cx="1783080" cy="365760"/>
          </a:xfrm>
          <a:prstGeom prst="rect">
            <a:avLst/>
          </a:prstGeom>
          <a:noFill/>
          <a:ln/>
        </p:spPr>
        <p:txBody>
          <a:bodyPr wrap="square" rtlCol="0" anchor="ctr"/>
          <a:lstStyle/>
          <a:p>
            <a:pPr algn="ctr" indent="0" marL="0">
              <a:buNone/>
            </a:pPr>
            <a:r>
              <a:rPr lang="en-US" sz="1000" b="1" dirty="0">
                <a:solidFill>
                  <a:srgbClr val="E8459E"/>
                </a:solidFill>
                <a:latin typeface="Arial" pitchFamily="34" charset="0"/>
                <a:ea typeface="Arial" pitchFamily="34" charset="-122"/>
                <a:cs typeface="Arial" pitchFamily="34" charset="-120"/>
              </a:rPr>
              <a:t>Health Equity</a:t>
            </a:r>
            <a:endParaRPr lang="en-US" sz="1000" dirty="0"/>
          </a:p>
        </p:txBody>
      </p:sp>
      <p:sp>
        <p:nvSpPr>
          <p:cNvPr id="12" name="Shape 10"/>
          <p:cNvSpPr/>
          <p:nvPr/>
        </p:nvSpPr>
        <p:spPr>
          <a:xfrm>
            <a:off x="4297680" y="5303520"/>
            <a:ext cx="1783080" cy="365760"/>
          </a:xfrm>
          <a:prstGeom prst="roundRect">
            <a:avLst>
              <a:gd name="adj" fmla="val 37500"/>
            </a:avLst>
          </a:prstGeom>
          <a:solidFill>
            <a:srgbClr val="161B22"/>
          </a:solidFill>
          <a:ln w="19050">
            <a:solidFill>
              <a:srgbClr val="0079F2"/>
            </a:solidFill>
            <a:prstDash val="solid"/>
          </a:ln>
        </p:spPr>
      </p:sp>
      <p:sp>
        <p:nvSpPr>
          <p:cNvPr id="13" name="Text 11"/>
          <p:cNvSpPr/>
          <p:nvPr/>
        </p:nvSpPr>
        <p:spPr>
          <a:xfrm>
            <a:off x="4297680" y="5303520"/>
            <a:ext cx="1783080" cy="365760"/>
          </a:xfrm>
          <a:prstGeom prst="rect">
            <a:avLst/>
          </a:prstGeom>
          <a:noFill/>
          <a:ln/>
        </p:spPr>
        <p:txBody>
          <a:bodyPr wrap="square" rtlCol="0" anchor="ctr"/>
          <a:lstStyle/>
          <a:p>
            <a:pPr algn="ctr" indent="0" marL="0">
              <a:buNone/>
            </a:pPr>
            <a:r>
              <a:rPr lang="en-US" sz="1000" b="1" dirty="0">
                <a:solidFill>
                  <a:srgbClr val="0079F2"/>
                </a:solidFill>
                <a:latin typeface="Arial" pitchFamily="34" charset="0"/>
                <a:ea typeface="Arial" pitchFamily="34" charset="-122"/>
                <a:cs typeface="Arial" pitchFamily="34" charset="-120"/>
              </a:rPr>
              <a:t>Workforce</a:t>
            </a:r>
            <a:endParaRPr lang="en-US" sz="1000" dirty="0"/>
          </a:p>
        </p:txBody>
      </p:sp>
      <p:sp>
        <p:nvSpPr>
          <p:cNvPr id="14" name="Shape 12"/>
          <p:cNvSpPr/>
          <p:nvPr/>
        </p:nvSpPr>
        <p:spPr>
          <a:xfrm>
            <a:off x="6217920" y="5303520"/>
            <a:ext cx="1783080" cy="365760"/>
          </a:xfrm>
          <a:prstGeom prst="roundRect">
            <a:avLst>
              <a:gd name="adj" fmla="val 37500"/>
            </a:avLst>
          </a:prstGeom>
          <a:solidFill>
            <a:srgbClr val="161B22"/>
          </a:solidFill>
          <a:ln w="19050">
            <a:solidFill>
              <a:srgbClr val="F0B429"/>
            </a:solidFill>
            <a:prstDash val="solid"/>
          </a:ln>
        </p:spPr>
      </p:sp>
      <p:sp>
        <p:nvSpPr>
          <p:cNvPr id="15" name="Text 13"/>
          <p:cNvSpPr/>
          <p:nvPr/>
        </p:nvSpPr>
        <p:spPr>
          <a:xfrm>
            <a:off x="6217920" y="5303520"/>
            <a:ext cx="1783080" cy="365760"/>
          </a:xfrm>
          <a:prstGeom prst="rect">
            <a:avLst/>
          </a:prstGeom>
          <a:noFill/>
          <a:ln/>
        </p:spPr>
        <p:txBody>
          <a:bodyPr wrap="square" rtlCol="0" anchor="ctr"/>
          <a:lstStyle/>
          <a:p>
            <a:pPr algn="ctr" indent="0" marL="0">
              <a:buNone/>
            </a:pPr>
            <a:r>
              <a:rPr lang="en-US" sz="1000" b="1" dirty="0">
                <a:solidFill>
                  <a:srgbClr val="F0B429"/>
                </a:solidFill>
                <a:latin typeface="Arial" pitchFamily="34" charset="0"/>
                <a:ea typeface="Arial" pitchFamily="34" charset="-122"/>
                <a:cs typeface="Arial" pitchFamily="34" charset="-120"/>
              </a:rPr>
              <a:t>Education</a:t>
            </a:r>
            <a:endParaRPr lang="en-US" sz="1000" dirty="0"/>
          </a:p>
        </p:txBody>
      </p:sp>
      <p:sp>
        <p:nvSpPr>
          <p:cNvPr id="16" name="Shape 14"/>
          <p:cNvSpPr/>
          <p:nvPr/>
        </p:nvSpPr>
        <p:spPr>
          <a:xfrm>
            <a:off x="8138160" y="5303520"/>
            <a:ext cx="1783080" cy="365760"/>
          </a:xfrm>
          <a:prstGeom prst="roundRect">
            <a:avLst>
              <a:gd name="adj" fmla="val 37500"/>
            </a:avLst>
          </a:prstGeom>
          <a:solidFill>
            <a:srgbClr val="161B22"/>
          </a:solidFill>
          <a:ln w="19050">
            <a:solidFill>
              <a:srgbClr val="2EA043"/>
            </a:solidFill>
            <a:prstDash val="solid"/>
          </a:ln>
        </p:spPr>
      </p:sp>
      <p:sp>
        <p:nvSpPr>
          <p:cNvPr id="17" name="Text 15"/>
          <p:cNvSpPr/>
          <p:nvPr/>
        </p:nvSpPr>
        <p:spPr>
          <a:xfrm>
            <a:off x="8138160" y="5303520"/>
            <a:ext cx="1783080" cy="365760"/>
          </a:xfrm>
          <a:prstGeom prst="rect">
            <a:avLst/>
          </a:prstGeom>
          <a:noFill/>
          <a:ln/>
        </p:spPr>
        <p:txBody>
          <a:bodyPr wrap="square" rtlCol="0" anchor="ctr"/>
          <a:lstStyle/>
          <a:p>
            <a:pPr algn="ctr" indent="0" marL="0">
              <a:buNone/>
            </a:pPr>
            <a:r>
              <a:rPr lang="en-US" sz="1000" b="1" dirty="0">
                <a:solidFill>
                  <a:srgbClr val="2EA043"/>
                </a:solidFill>
                <a:latin typeface="Arial" pitchFamily="34" charset="0"/>
                <a:ea typeface="Arial" pitchFamily="34" charset="-122"/>
                <a:cs typeface="Arial" pitchFamily="34" charset="-120"/>
              </a:rPr>
              <a:t>Veterans</a:t>
            </a:r>
            <a:endParaRPr lang="en-US" sz="1000" dirty="0"/>
          </a:p>
        </p:txBody>
      </p:sp>
      <p:sp>
        <p:nvSpPr>
          <p:cNvPr id="18" name="Shape 16"/>
          <p:cNvSpPr/>
          <p:nvPr/>
        </p:nvSpPr>
        <p:spPr>
          <a:xfrm>
            <a:off x="10058400" y="5303520"/>
            <a:ext cx="1783080" cy="365760"/>
          </a:xfrm>
          <a:prstGeom prst="roundRect">
            <a:avLst>
              <a:gd name="adj" fmla="val 37500"/>
            </a:avLst>
          </a:prstGeom>
          <a:solidFill>
            <a:srgbClr val="161B22"/>
          </a:solidFill>
          <a:ln w="19050">
            <a:solidFill>
              <a:srgbClr val="00C9A7"/>
            </a:solidFill>
            <a:prstDash val="solid"/>
          </a:ln>
        </p:spPr>
      </p:sp>
      <p:sp>
        <p:nvSpPr>
          <p:cNvPr id="19" name="Text 17"/>
          <p:cNvSpPr/>
          <p:nvPr/>
        </p:nvSpPr>
        <p:spPr>
          <a:xfrm>
            <a:off x="10058400" y="5303520"/>
            <a:ext cx="1783080" cy="365760"/>
          </a:xfrm>
          <a:prstGeom prst="rect">
            <a:avLst/>
          </a:prstGeom>
          <a:noFill/>
          <a:ln/>
        </p:spPr>
        <p:txBody>
          <a:bodyPr wrap="square" rtlCol="0" anchor="ctr"/>
          <a:lstStyle/>
          <a:p>
            <a:pPr algn="ctr" indent="0" marL="0">
              <a:buNone/>
            </a:pPr>
            <a:r>
              <a:rPr lang="en-US" sz="1000" b="1" dirty="0">
                <a:solidFill>
                  <a:srgbClr val="00C9A7"/>
                </a:solidFill>
                <a:latin typeface="Arial" pitchFamily="34" charset="0"/>
                <a:ea typeface="Arial" pitchFamily="34" charset="-122"/>
                <a:cs typeface="Arial" pitchFamily="34" charset="-120"/>
              </a:rPr>
              <a:t>Community</a:t>
            </a:r>
            <a:endParaRPr lang="en-US" sz="1000" dirty="0"/>
          </a:p>
        </p:txBody>
      </p:sp>
      <p:sp>
        <p:nvSpPr>
          <p:cNvPr id="20" name="Text 18"/>
          <p:cNvSpPr/>
          <p:nvPr/>
        </p:nvSpPr>
        <p:spPr>
          <a:xfrm>
            <a:off x="731520" y="6126480"/>
            <a:ext cx="5486400" cy="274320"/>
          </a:xfrm>
          <a:prstGeom prst="rect">
            <a:avLst/>
          </a:prstGeom>
          <a:noFill/>
          <a:ln/>
        </p:spPr>
        <p:txBody>
          <a:bodyPr wrap="square" rtlCol="0" anchor="ctr"/>
          <a:lstStyle/>
          <a:p>
            <a:pPr indent="0" marL="0">
              <a:buNone/>
            </a:pPr>
            <a:r>
              <a:rPr lang="en-US" sz="1100" i="1" dirty="0">
                <a:solidFill>
                  <a:srgbClr val="8B949E"/>
                </a:solidFill>
                <a:latin typeface="Arial" pitchFamily="34" charset="0"/>
                <a:ea typeface="Arial" pitchFamily="34" charset="-122"/>
                <a:cs typeface="Arial" pitchFamily="34" charset="-120"/>
              </a:rPr>
              <a:t>The Pitch by Deel  |  New York  |  May 2026</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731520" y="365760"/>
            <a:ext cx="4572000" cy="384048"/>
          </a:xfrm>
          <a:prstGeom prst="rect">
            <a:avLst/>
          </a:prstGeom>
          <a:noFill/>
          <a:ln/>
        </p:spPr>
        <p:txBody>
          <a:bodyPr wrap="square" rtlCol="0" anchor="ctr"/>
          <a:lstStyle/>
          <a:p>
            <a:pPr indent="0" marL="0">
              <a:buNone/>
            </a:pPr>
            <a:r>
              <a:rPr lang="en-US" sz="1300" b="1" dirty="0">
                <a:solidFill>
                  <a:srgbClr val="EF4444"/>
                </a:solidFill>
                <a:latin typeface="Arial" pitchFamily="34" charset="0"/>
                <a:ea typeface="Arial" pitchFamily="34" charset="-122"/>
                <a:cs typeface="Arial" pitchFamily="34" charset="-120"/>
              </a:rPr>
              <a:t>The Problem</a:t>
            </a:r>
            <a:endParaRPr lang="en-US" sz="1300" dirty="0"/>
          </a:p>
        </p:txBody>
      </p:sp>
      <p:sp>
        <p:nvSpPr>
          <p:cNvPr id="3" name="Text 1"/>
          <p:cNvSpPr/>
          <p:nvPr/>
        </p:nvSpPr>
        <p:spPr>
          <a:xfrm>
            <a:off x="731520" y="777240"/>
            <a:ext cx="10698480" cy="1051560"/>
          </a:xfrm>
          <a:prstGeom prst="rect">
            <a:avLst/>
          </a:prstGeom>
          <a:noFill/>
          <a:ln/>
        </p:spPr>
        <p:txBody>
          <a:bodyPr wrap="square" rtlCol="0" anchor="ctr"/>
          <a:lstStyle/>
          <a:p>
            <a:pPr indent="0" marL="0">
              <a:lnSpc>
                <a:spcPct val="110000"/>
              </a:lnSpc>
              <a:buNone/>
            </a:pPr>
            <a:r>
              <a:rPr lang="en-US" sz="3300" b="1" dirty="0">
                <a:solidFill>
                  <a:srgbClr val="FFFFFF"/>
                </a:solidFill>
                <a:latin typeface="Arial" pitchFamily="34" charset="0"/>
                <a:ea typeface="Arial" pitchFamily="34" charset="-122"/>
                <a:cs typeface="Arial" pitchFamily="34" charset="-120"/>
              </a:rPr>
              <a:t>$180 Billion Spent. Systems That</a:t>
            </a:r>
            <a:endParaRPr lang="en-US" sz="3300" dirty="0"/>
          </a:p>
          <a:p>
            <a:pPr indent="0" marL="0">
              <a:lnSpc>
                <a:spcPct val="110000"/>
              </a:lnSpc>
              <a:buNone/>
            </a:pPr>
            <a:r>
              <a:rPr lang="en-US" sz="3300" b="1" dirty="0">
                <a:solidFill>
                  <a:srgbClr val="FFFFFF"/>
                </a:solidFill>
                <a:latin typeface="Arial" pitchFamily="34" charset="0"/>
                <a:ea typeface="Arial" pitchFamily="34" charset="-122"/>
                <a:cs typeface="Arial" pitchFamily="34" charset="-120"/>
              </a:rPr>
              <a:t>Don't Talk. People Who Die in the Gaps.</a:t>
            </a:r>
            <a:endParaRPr lang="en-US" sz="3300" dirty="0"/>
          </a:p>
        </p:txBody>
      </p:sp>
      <p:sp>
        <p:nvSpPr>
          <p:cNvPr id="4" name="Text 2"/>
          <p:cNvSpPr/>
          <p:nvPr/>
        </p:nvSpPr>
        <p:spPr>
          <a:xfrm>
            <a:off x="731520" y="1920240"/>
            <a:ext cx="10515600" cy="685800"/>
          </a:xfrm>
          <a:prstGeom prst="rect">
            <a:avLst/>
          </a:prstGeom>
          <a:noFill/>
          <a:ln/>
        </p:spPr>
        <p:txBody>
          <a:bodyPr wrap="square" rtlCol="0" anchor="ctr"/>
          <a:lstStyle/>
          <a:p>
            <a:pPr indent="0" marL="0">
              <a:lnSpc>
                <a:spcPct val="135000"/>
              </a:lnSpc>
              <a:buNone/>
            </a:pPr>
            <a:r>
              <a:rPr lang="en-US" sz="1400" dirty="0">
                <a:solidFill>
                  <a:srgbClr val="8B949E"/>
                </a:solidFill>
                <a:latin typeface="Arial" pitchFamily="34" charset="0"/>
                <a:ea typeface="Arial" pitchFamily="34" charset="-122"/>
                <a:cs typeface="Arial" pitchFamily="34" charset="-120"/>
              </a:rPr>
              <a:t>Every agency, school, clinic, and workforce board runs its own silo. A person with co-occurring needs — job loss AND mental health crisis AND housing instability — gets sent to three different agencies that will never speak to each other. The cracks between systems are where people fall.</a:t>
            </a:r>
            <a:endParaRPr lang="en-US" sz="1400" dirty="0"/>
          </a:p>
        </p:txBody>
      </p:sp>
      <p:sp>
        <p:nvSpPr>
          <p:cNvPr id="5" name="Shape 3"/>
          <p:cNvSpPr/>
          <p:nvPr/>
        </p:nvSpPr>
        <p:spPr>
          <a:xfrm>
            <a:off x="365760" y="2834640"/>
            <a:ext cx="2697480" cy="3749040"/>
          </a:xfrm>
          <a:prstGeom prst="roundRect">
            <a:avLst>
              <a:gd name="adj" fmla="val 3390"/>
            </a:avLst>
          </a:prstGeom>
          <a:solidFill>
            <a:srgbClr val="161B22"/>
          </a:solidFill>
          <a:ln w="19050">
            <a:solidFill>
              <a:srgbClr val="EF4444"/>
            </a:solidFill>
            <a:prstDash val="solid"/>
          </a:ln>
        </p:spPr>
      </p:sp>
      <p:sp>
        <p:nvSpPr>
          <p:cNvPr id="6" name="Text 4"/>
          <p:cNvSpPr/>
          <p:nvPr/>
        </p:nvSpPr>
        <p:spPr>
          <a:xfrm>
            <a:off x="365760" y="2880360"/>
            <a:ext cx="2697480" cy="347472"/>
          </a:xfrm>
          <a:prstGeom prst="rect">
            <a:avLst/>
          </a:prstGeom>
          <a:noFill/>
          <a:ln/>
        </p:spPr>
        <p:txBody>
          <a:bodyPr wrap="square" rtlCol="0" anchor="ctr"/>
          <a:lstStyle/>
          <a:p>
            <a:pPr algn="ctr" indent="0" marL="0">
              <a:buNone/>
            </a:pPr>
            <a:r>
              <a:rPr lang="en-US" sz="1300" b="1" dirty="0">
                <a:solidFill>
                  <a:srgbClr val="EF4444"/>
                </a:solidFill>
                <a:latin typeface="Arial" pitchFamily="34" charset="0"/>
                <a:ea typeface="Arial" pitchFamily="34" charset="-122"/>
                <a:cs typeface="Arial" pitchFamily="34" charset="-120"/>
              </a:rPr>
              <a:t>Returning Citizen</a:t>
            </a:r>
            <a:endParaRPr lang="en-US" sz="1300" dirty="0"/>
          </a:p>
        </p:txBody>
      </p:sp>
      <p:sp>
        <p:nvSpPr>
          <p:cNvPr id="7" name="Text 5"/>
          <p:cNvSpPr/>
          <p:nvPr/>
        </p:nvSpPr>
        <p:spPr>
          <a:xfrm>
            <a:off x="365760" y="3200400"/>
            <a:ext cx="2697480" cy="594360"/>
          </a:xfrm>
          <a:prstGeom prst="rect">
            <a:avLst/>
          </a:prstGeom>
          <a:noFill/>
          <a:ln/>
        </p:spPr>
        <p:txBody>
          <a:bodyPr wrap="square" rtlCol="0" anchor="ctr"/>
          <a:lstStyle/>
          <a:p>
            <a:pPr algn="ctr" indent="0" marL="0">
              <a:buNone/>
            </a:pPr>
            <a:r>
              <a:rPr lang="en-US" sz="3400" b="1" dirty="0">
                <a:solidFill>
                  <a:srgbClr val="FFFFFF"/>
                </a:solidFill>
                <a:latin typeface="Arial" pitchFamily="34" charset="0"/>
                <a:ea typeface="Arial" pitchFamily="34" charset="-122"/>
                <a:cs typeface="Arial" pitchFamily="34" charset="-120"/>
              </a:rPr>
              <a:t>67%</a:t>
            </a:r>
            <a:endParaRPr lang="en-US" sz="3400" dirty="0"/>
          </a:p>
        </p:txBody>
      </p:sp>
      <p:sp>
        <p:nvSpPr>
          <p:cNvPr id="8" name="Text 6"/>
          <p:cNvSpPr/>
          <p:nvPr/>
        </p:nvSpPr>
        <p:spPr>
          <a:xfrm>
            <a:off x="548640" y="3749040"/>
            <a:ext cx="2331720" cy="320040"/>
          </a:xfrm>
          <a:prstGeom prst="rect">
            <a:avLst/>
          </a:prstGeom>
          <a:noFill/>
          <a:ln/>
        </p:spPr>
        <p:txBody>
          <a:bodyPr wrap="square" rtlCol="0" anchor="ctr"/>
          <a:lstStyle/>
          <a:p>
            <a:pPr algn="ctr" indent="0" marL="0">
              <a:buNone/>
            </a:pPr>
            <a:r>
              <a:rPr lang="en-US" sz="1000" dirty="0">
                <a:solidFill>
                  <a:srgbClr val="EF4444"/>
                </a:solidFill>
                <a:latin typeface="Arial" pitchFamily="34" charset="0"/>
                <a:ea typeface="Arial" pitchFamily="34" charset="-122"/>
                <a:cs typeface="Arial" pitchFamily="34" charset="-120"/>
              </a:rPr>
              <a:t>re-arrested within 3 years</a:t>
            </a:r>
            <a:endParaRPr lang="en-US" sz="1000" dirty="0"/>
          </a:p>
        </p:txBody>
      </p:sp>
      <p:sp>
        <p:nvSpPr>
          <p:cNvPr id="9" name="Shape 7"/>
          <p:cNvSpPr/>
          <p:nvPr/>
        </p:nvSpPr>
        <p:spPr>
          <a:xfrm>
            <a:off x="731520" y="4114800"/>
            <a:ext cx="1965960" cy="18288"/>
          </a:xfrm>
          <a:prstGeom prst="rect">
            <a:avLst/>
          </a:prstGeom>
          <a:solidFill>
            <a:srgbClr val="EF4444"/>
          </a:solidFill>
          <a:ln/>
        </p:spPr>
      </p:sp>
      <p:sp>
        <p:nvSpPr>
          <p:cNvPr id="10" name="Text 8"/>
          <p:cNvSpPr/>
          <p:nvPr/>
        </p:nvSpPr>
        <p:spPr>
          <a:xfrm>
            <a:off x="475488" y="4206240"/>
            <a:ext cx="2468880" cy="2194560"/>
          </a:xfrm>
          <a:prstGeom prst="rect">
            <a:avLst/>
          </a:prstGeom>
          <a:noFill/>
          <a:ln/>
        </p:spPr>
        <p:txBody>
          <a:bodyPr wrap="square" rtlCol="0" anchor="ctr"/>
          <a:lstStyle/>
          <a:p>
            <a:pPr indent="0" marL="0">
              <a:lnSpc>
                <a:spcPct val="130000"/>
              </a:lnSpc>
              <a:buNone/>
            </a:pPr>
            <a:r>
              <a:rPr lang="en-US" sz="950" dirty="0">
                <a:solidFill>
                  <a:srgbClr val="8B949E"/>
                </a:solidFill>
                <a:latin typeface="Arial" pitchFamily="34" charset="0"/>
                <a:ea typeface="Arial" pitchFamily="34" charset="-122"/>
                <a:cs typeface="Arial" pitchFamily="34" charset="-120"/>
              </a:rPr>
              <a:t>Released with a bus ticket. Needs a job, housing, mental health, substance abuse treatment, family reunification — all at once. Gets 8 disconnected referrals from agencies that will never coordinate. Back inside in 18 months.</a:t>
            </a:r>
            <a:endParaRPr lang="en-US" sz="950" dirty="0"/>
          </a:p>
        </p:txBody>
      </p:sp>
      <p:sp>
        <p:nvSpPr>
          <p:cNvPr id="11" name="Shape 9"/>
          <p:cNvSpPr/>
          <p:nvPr/>
        </p:nvSpPr>
        <p:spPr>
          <a:xfrm>
            <a:off x="3246120" y="2834640"/>
            <a:ext cx="2697480" cy="3749040"/>
          </a:xfrm>
          <a:prstGeom prst="roundRect">
            <a:avLst>
              <a:gd name="adj" fmla="val 3390"/>
            </a:avLst>
          </a:prstGeom>
          <a:solidFill>
            <a:srgbClr val="161B22"/>
          </a:solidFill>
          <a:ln w="19050">
            <a:solidFill>
              <a:srgbClr val="E8459E"/>
            </a:solidFill>
            <a:prstDash val="solid"/>
          </a:ln>
        </p:spPr>
      </p:sp>
      <p:sp>
        <p:nvSpPr>
          <p:cNvPr id="12" name="Text 10"/>
          <p:cNvSpPr/>
          <p:nvPr/>
        </p:nvSpPr>
        <p:spPr>
          <a:xfrm>
            <a:off x="3246120" y="2880360"/>
            <a:ext cx="2697480" cy="347472"/>
          </a:xfrm>
          <a:prstGeom prst="rect">
            <a:avLst/>
          </a:prstGeom>
          <a:noFill/>
          <a:ln/>
        </p:spPr>
        <p:txBody>
          <a:bodyPr wrap="square" rtlCol="0" anchor="ctr"/>
          <a:lstStyle/>
          <a:p>
            <a:pPr algn="ctr" indent="0" marL="0">
              <a:buNone/>
            </a:pPr>
            <a:r>
              <a:rPr lang="en-US" sz="1300" b="1" dirty="0">
                <a:solidFill>
                  <a:srgbClr val="E8459E"/>
                </a:solidFill>
                <a:latin typeface="Arial" pitchFamily="34" charset="0"/>
                <a:ea typeface="Arial" pitchFamily="34" charset="-122"/>
                <a:cs typeface="Arial" pitchFamily="34" charset="-120"/>
              </a:rPr>
              <a:t>Black Mother</a:t>
            </a:r>
            <a:endParaRPr lang="en-US" sz="1300" dirty="0"/>
          </a:p>
        </p:txBody>
      </p:sp>
      <p:sp>
        <p:nvSpPr>
          <p:cNvPr id="13" name="Text 11"/>
          <p:cNvSpPr/>
          <p:nvPr/>
        </p:nvSpPr>
        <p:spPr>
          <a:xfrm>
            <a:off x="3246120" y="3200400"/>
            <a:ext cx="2697480" cy="594360"/>
          </a:xfrm>
          <a:prstGeom prst="rect">
            <a:avLst/>
          </a:prstGeom>
          <a:noFill/>
          <a:ln/>
        </p:spPr>
        <p:txBody>
          <a:bodyPr wrap="square" rtlCol="0" anchor="ctr"/>
          <a:lstStyle/>
          <a:p>
            <a:pPr algn="ctr" indent="0" marL="0">
              <a:buNone/>
            </a:pPr>
            <a:r>
              <a:rPr lang="en-US" sz="3400" b="1" dirty="0">
                <a:solidFill>
                  <a:srgbClr val="FFFFFF"/>
                </a:solidFill>
                <a:latin typeface="Arial" pitchFamily="34" charset="0"/>
                <a:ea typeface="Arial" pitchFamily="34" charset="-122"/>
                <a:cs typeface="Arial" pitchFamily="34" charset="-120"/>
              </a:rPr>
              <a:t>3×</a:t>
            </a:r>
            <a:endParaRPr lang="en-US" sz="3400" dirty="0"/>
          </a:p>
        </p:txBody>
      </p:sp>
      <p:sp>
        <p:nvSpPr>
          <p:cNvPr id="14" name="Text 12"/>
          <p:cNvSpPr/>
          <p:nvPr/>
        </p:nvSpPr>
        <p:spPr>
          <a:xfrm>
            <a:off x="3429000" y="3749040"/>
            <a:ext cx="2331720" cy="320040"/>
          </a:xfrm>
          <a:prstGeom prst="rect">
            <a:avLst/>
          </a:prstGeom>
          <a:noFill/>
          <a:ln/>
        </p:spPr>
        <p:txBody>
          <a:bodyPr wrap="square" rtlCol="0" anchor="ctr"/>
          <a:lstStyle/>
          <a:p>
            <a:pPr algn="ctr" indent="0" marL="0">
              <a:buNone/>
            </a:pPr>
            <a:r>
              <a:rPr lang="en-US" sz="1000" dirty="0">
                <a:solidFill>
                  <a:srgbClr val="E8459E"/>
                </a:solidFill>
                <a:latin typeface="Arial" pitchFamily="34" charset="0"/>
                <a:ea typeface="Arial" pitchFamily="34" charset="-122"/>
                <a:cs typeface="Arial" pitchFamily="34" charset="-120"/>
              </a:rPr>
              <a:t>higher maternal mortality</a:t>
            </a:r>
            <a:endParaRPr lang="en-US" sz="1000" dirty="0"/>
          </a:p>
        </p:txBody>
      </p:sp>
      <p:sp>
        <p:nvSpPr>
          <p:cNvPr id="15" name="Shape 13"/>
          <p:cNvSpPr/>
          <p:nvPr/>
        </p:nvSpPr>
        <p:spPr>
          <a:xfrm>
            <a:off x="3611880" y="4114800"/>
            <a:ext cx="1965960" cy="18288"/>
          </a:xfrm>
          <a:prstGeom prst="rect">
            <a:avLst/>
          </a:prstGeom>
          <a:solidFill>
            <a:srgbClr val="E8459E"/>
          </a:solidFill>
          <a:ln/>
        </p:spPr>
      </p:sp>
      <p:sp>
        <p:nvSpPr>
          <p:cNvPr id="16" name="Text 14"/>
          <p:cNvSpPr/>
          <p:nvPr/>
        </p:nvSpPr>
        <p:spPr>
          <a:xfrm>
            <a:off x="3355848" y="4206240"/>
            <a:ext cx="2468880" cy="2194560"/>
          </a:xfrm>
          <a:prstGeom prst="rect">
            <a:avLst/>
          </a:prstGeom>
          <a:noFill/>
          <a:ln/>
        </p:spPr>
        <p:txBody>
          <a:bodyPr wrap="square" rtlCol="0" anchor="ctr"/>
          <a:lstStyle/>
          <a:p>
            <a:pPr indent="0" marL="0">
              <a:lnSpc>
                <a:spcPct val="130000"/>
              </a:lnSpc>
              <a:buNone/>
            </a:pPr>
            <a:r>
              <a:rPr lang="en-US" sz="950" dirty="0">
                <a:solidFill>
                  <a:srgbClr val="8B949E"/>
                </a:solidFill>
                <a:latin typeface="Arial" pitchFamily="34" charset="0"/>
                <a:ea typeface="Arial" pitchFamily="34" charset="-122"/>
                <a:cs typeface="Arial" pitchFamily="34" charset="-120"/>
              </a:rPr>
              <a:t>Flagged high-risk. Referred to a specialist who refers to social services who can't reach her employer. She misses appointments because no one coordinated childcare or transportation. The systems don't talk.</a:t>
            </a:r>
            <a:endParaRPr lang="en-US" sz="950" dirty="0"/>
          </a:p>
        </p:txBody>
      </p:sp>
      <p:sp>
        <p:nvSpPr>
          <p:cNvPr id="17" name="Shape 15"/>
          <p:cNvSpPr/>
          <p:nvPr/>
        </p:nvSpPr>
        <p:spPr>
          <a:xfrm>
            <a:off x="6126480" y="2834640"/>
            <a:ext cx="2697480" cy="3749040"/>
          </a:xfrm>
          <a:prstGeom prst="roundRect">
            <a:avLst>
              <a:gd name="adj" fmla="val 3390"/>
            </a:avLst>
          </a:prstGeom>
          <a:solidFill>
            <a:srgbClr val="161B22"/>
          </a:solidFill>
          <a:ln w="19050">
            <a:solidFill>
              <a:srgbClr val="2EA043"/>
            </a:solidFill>
            <a:prstDash val="solid"/>
          </a:ln>
        </p:spPr>
      </p:sp>
      <p:sp>
        <p:nvSpPr>
          <p:cNvPr id="18" name="Text 16"/>
          <p:cNvSpPr/>
          <p:nvPr/>
        </p:nvSpPr>
        <p:spPr>
          <a:xfrm>
            <a:off x="6126480" y="2880360"/>
            <a:ext cx="2697480" cy="347472"/>
          </a:xfrm>
          <a:prstGeom prst="rect">
            <a:avLst/>
          </a:prstGeom>
          <a:noFill/>
          <a:ln/>
        </p:spPr>
        <p:txBody>
          <a:bodyPr wrap="square" rtlCol="0" anchor="ctr"/>
          <a:lstStyle/>
          <a:p>
            <a:pPr algn="ctr" indent="0" marL="0">
              <a:buNone/>
            </a:pPr>
            <a:r>
              <a:rPr lang="en-US" sz="1300" b="1" dirty="0">
                <a:solidFill>
                  <a:srgbClr val="2EA043"/>
                </a:solidFill>
                <a:latin typeface="Arial" pitchFamily="34" charset="0"/>
                <a:ea typeface="Arial" pitchFamily="34" charset="-122"/>
                <a:cs typeface="Arial" pitchFamily="34" charset="-120"/>
              </a:rPr>
              <a:t>Transitioning Veteran</a:t>
            </a:r>
            <a:endParaRPr lang="en-US" sz="1300" dirty="0"/>
          </a:p>
        </p:txBody>
      </p:sp>
      <p:sp>
        <p:nvSpPr>
          <p:cNvPr id="19" name="Text 17"/>
          <p:cNvSpPr/>
          <p:nvPr/>
        </p:nvSpPr>
        <p:spPr>
          <a:xfrm>
            <a:off x="6126480" y="3200400"/>
            <a:ext cx="2697480" cy="594360"/>
          </a:xfrm>
          <a:prstGeom prst="rect">
            <a:avLst/>
          </a:prstGeom>
          <a:noFill/>
          <a:ln/>
        </p:spPr>
        <p:txBody>
          <a:bodyPr wrap="square" rtlCol="0" anchor="ctr"/>
          <a:lstStyle/>
          <a:p>
            <a:pPr algn="ctr" indent="0" marL="0">
              <a:buNone/>
            </a:pPr>
            <a:r>
              <a:rPr lang="en-US" sz="3400" b="1" dirty="0">
                <a:solidFill>
                  <a:srgbClr val="FFFFFF"/>
                </a:solidFill>
                <a:latin typeface="Arial" pitchFamily="34" charset="0"/>
                <a:ea typeface="Arial" pitchFamily="34" charset="-122"/>
                <a:cs typeface="Arial" pitchFamily="34" charset="-120"/>
              </a:rPr>
              <a:t>44%</a:t>
            </a:r>
            <a:endParaRPr lang="en-US" sz="3400" dirty="0"/>
          </a:p>
        </p:txBody>
      </p:sp>
      <p:sp>
        <p:nvSpPr>
          <p:cNvPr id="20" name="Text 18"/>
          <p:cNvSpPr/>
          <p:nvPr/>
        </p:nvSpPr>
        <p:spPr>
          <a:xfrm>
            <a:off x="6309360" y="3749040"/>
            <a:ext cx="2331720" cy="320040"/>
          </a:xfrm>
          <a:prstGeom prst="rect">
            <a:avLst/>
          </a:prstGeom>
          <a:noFill/>
          <a:ln/>
        </p:spPr>
        <p:txBody>
          <a:bodyPr wrap="square" rtlCol="0" anchor="ctr"/>
          <a:lstStyle/>
          <a:p>
            <a:pPr algn="ctr" indent="0" marL="0">
              <a:buNone/>
            </a:pPr>
            <a:r>
              <a:rPr lang="en-US" sz="1000" dirty="0">
                <a:solidFill>
                  <a:srgbClr val="2EA043"/>
                </a:solidFill>
                <a:latin typeface="Arial" pitchFamily="34" charset="0"/>
                <a:ea typeface="Arial" pitchFamily="34" charset="-122"/>
                <a:cs typeface="Arial" pitchFamily="34" charset="-120"/>
              </a:rPr>
              <a:t>underemployed after service</a:t>
            </a:r>
            <a:endParaRPr lang="en-US" sz="1000" dirty="0"/>
          </a:p>
        </p:txBody>
      </p:sp>
      <p:sp>
        <p:nvSpPr>
          <p:cNvPr id="21" name="Shape 19"/>
          <p:cNvSpPr/>
          <p:nvPr/>
        </p:nvSpPr>
        <p:spPr>
          <a:xfrm>
            <a:off x="6492240" y="4114800"/>
            <a:ext cx="1965960" cy="18288"/>
          </a:xfrm>
          <a:prstGeom prst="rect">
            <a:avLst/>
          </a:prstGeom>
          <a:solidFill>
            <a:srgbClr val="2EA043"/>
          </a:solidFill>
          <a:ln/>
        </p:spPr>
      </p:sp>
      <p:sp>
        <p:nvSpPr>
          <p:cNvPr id="22" name="Text 20"/>
          <p:cNvSpPr/>
          <p:nvPr/>
        </p:nvSpPr>
        <p:spPr>
          <a:xfrm>
            <a:off x="6236208" y="4206240"/>
            <a:ext cx="2468880" cy="2194560"/>
          </a:xfrm>
          <a:prstGeom prst="rect">
            <a:avLst/>
          </a:prstGeom>
          <a:noFill/>
          <a:ln/>
        </p:spPr>
        <p:txBody>
          <a:bodyPr wrap="square" rtlCol="0" anchor="ctr"/>
          <a:lstStyle/>
          <a:p>
            <a:pPr indent="0" marL="0">
              <a:lnSpc>
                <a:spcPct val="130000"/>
              </a:lnSpc>
              <a:buNone/>
            </a:pPr>
            <a:r>
              <a:rPr lang="en-US" sz="950" dirty="0">
                <a:solidFill>
                  <a:srgbClr val="8B949E"/>
                </a:solidFill>
                <a:latin typeface="Arial" pitchFamily="34" charset="0"/>
                <a:ea typeface="Arial" pitchFamily="34" charset="-122"/>
                <a:cs typeface="Arial" pitchFamily="34" charset="-120"/>
              </a:rPr>
              <a:t>Leaves the Army after 12 years. Gets a 3-day class. Combat medic skills don't translate. Nobody connects credentialing to mental health to family support to employer matching. Takes a warehouse job at half his capability.</a:t>
            </a:r>
            <a:endParaRPr lang="en-US" sz="950" dirty="0"/>
          </a:p>
        </p:txBody>
      </p:sp>
      <p:sp>
        <p:nvSpPr>
          <p:cNvPr id="23" name="Shape 21"/>
          <p:cNvSpPr/>
          <p:nvPr/>
        </p:nvSpPr>
        <p:spPr>
          <a:xfrm>
            <a:off x="9006840" y="2834640"/>
            <a:ext cx="2697480" cy="3749040"/>
          </a:xfrm>
          <a:prstGeom prst="roundRect">
            <a:avLst>
              <a:gd name="adj" fmla="val 3390"/>
            </a:avLst>
          </a:prstGeom>
          <a:solidFill>
            <a:srgbClr val="161B22"/>
          </a:solidFill>
          <a:ln w="19050">
            <a:solidFill>
              <a:srgbClr val="F0B429"/>
            </a:solidFill>
            <a:prstDash val="solid"/>
          </a:ln>
        </p:spPr>
      </p:sp>
      <p:sp>
        <p:nvSpPr>
          <p:cNvPr id="24" name="Text 22"/>
          <p:cNvSpPr/>
          <p:nvPr/>
        </p:nvSpPr>
        <p:spPr>
          <a:xfrm>
            <a:off x="9006840" y="2880360"/>
            <a:ext cx="2697480" cy="347472"/>
          </a:xfrm>
          <a:prstGeom prst="rect">
            <a:avLst/>
          </a:prstGeom>
          <a:noFill/>
          <a:ln/>
        </p:spPr>
        <p:txBody>
          <a:bodyPr wrap="square" rtlCol="0" anchor="ctr"/>
          <a:lstStyle/>
          <a:p>
            <a:pPr algn="ctr" indent="0" marL="0">
              <a:buNone/>
            </a:pPr>
            <a:r>
              <a:rPr lang="en-US" sz="1300" b="1" dirty="0">
                <a:solidFill>
                  <a:srgbClr val="F0B429"/>
                </a:solidFill>
                <a:latin typeface="Arial" pitchFamily="34" charset="0"/>
                <a:ea typeface="Arial" pitchFamily="34" charset="-122"/>
                <a:cs typeface="Arial" pitchFamily="34" charset="-120"/>
              </a:rPr>
              <a:t>At-Risk Student</a:t>
            </a:r>
            <a:endParaRPr lang="en-US" sz="1300" dirty="0"/>
          </a:p>
        </p:txBody>
      </p:sp>
      <p:sp>
        <p:nvSpPr>
          <p:cNvPr id="25" name="Text 23"/>
          <p:cNvSpPr/>
          <p:nvPr/>
        </p:nvSpPr>
        <p:spPr>
          <a:xfrm>
            <a:off x="9006840" y="3200400"/>
            <a:ext cx="2697480" cy="594360"/>
          </a:xfrm>
          <a:prstGeom prst="rect">
            <a:avLst/>
          </a:prstGeom>
          <a:noFill/>
          <a:ln/>
        </p:spPr>
        <p:txBody>
          <a:bodyPr wrap="square" rtlCol="0" anchor="ctr"/>
          <a:lstStyle/>
          <a:p>
            <a:pPr algn="ctr" indent="0" marL="0">
              <a:buNone/>
            </a:pPr>
            <a:r>
              <a:rPr lang="en-US" sz="3400" b="1" dirty="0">
                <a:solidFill>
                  <a:srgbClr val="FFFFFF"/>
                </a:solidFill>
                <a:latin typeface="Arial" pitchFamily="34" charset="0"/>
                <a:ea typeface="Arial" pitchFamily="34" charset="-122"/>
                <a:cs typeface="Arial" pitchFamily="34" charset="-120"/>
              </a:rPr>
              <a:t>1.2M</a:t>
            </a:r>
            <a:endParaRPr lang="en-US" sz="3400" dirty="0"/>
          </a:p>
        </p:txBody>
      </p:sp>
      <p:sp>
        <p:nvSpPr>
          <p:cNvPr id="26" name="Text 24"/>
          <p:cNvSpPr/>
          <p:nvPr/>
        </p:nvSpPr>
        <p:spPr>
          <a:xfrm>
            <a:off x="9189720" y="3749040"/>
            <a:ext cx="2331720" cy="320040"/>
          </a:xfrm>
          <a:prstGeom prst="rect">
            <a:avLst/>
          </a:prstGeom>
          <a:noFill/>
          <a:ln/>
        </p:spPr>
        <p:txBody>
          <a:bodyPr wrap="square" rtlCol="0" anchor="ctr"/>
          <a:lstStyle/>
          <a:p>
            <a:pPr algn="ctr" indent="0" marL="0">
              <a:buNone/>
            </a:pPr>
            <a:r>
              <a:rPr lang="en-US" sz="1000" dirty="0">
                <a:solidFill>
                  <a:srgbClr val="F0B429"/>
                </a:solidFill>
                <a:latin typeface="Arial" pitchFamily="34" charset="0"/>
                <a:ea typeface="Arial" pitchFamily="34" charset="-122"/>
                <a:cs typeface="Arial" pitchFamily="34" charset="-120"/>
              </a:rPr>
              <a:t>drop out yearly</a:t>
            </a:r>
            <a:endParaRPr lang="en-US" sz="1000" dirty="0"/>
          </a:p>
        </p:txBody>
      </p:sp>
      <p:sp>
        <p:nvSpPr>
          <p:cNvPr id="27" name="Shape 25"/>
          <p:cNvSpPr/>
          <p:nvPr/>
        </p:nvSpPr>
        <p:spPr>
          <a:xfrm>
            <a:off x="9372600" y="4114800"/>
            <a:ext cx="1965960" cy="18288"/>
          </a:xfrm>
          <a:prstGeom prst="rect">
            <a:avLst/>
          </a:prstGeom>
          <a:solidFill>
            <a:srgbClr val="F0B429"/>
          </a:solidFill>
          <a:ln/>
        </p:spPr>
      </p:sp>
      <p:sp>
        <p:nvSpPr>
          <p:cNvPr id="28" name="Text 26"/>
          <p:cNvSpPr/>
          <p:nvPr/>
        </p:nvSpPr>
        <p:spPr>
          <a:xfrm>
            <a:off x="9116568" y="4206240"/>
            <a:ext cx="2468880" cy="2194560"/>
          </a:xfrm>
          <a:prstGeom prst="rect">
            <a:avLst/>
          </a:prstGeom>
          <a:noFill/>
          <a:ln/>
        </p:spPr>
        <p:txBody>
          <a:bodyPr wrap="square" rtlCol="0" anchor="ctr"/>
          <a:lstStyle/>
          <a:p>
            <a:pPr indent="0" marL="0">
              <a:lnSpc>
                <a:spcPct val="130000"/>
              </a:lnSpc>
              <a:buNone/>
            </a:pPr>
            <a:r>
              <a:rPr lang="en-US" sz="950" dirty="0">
                <a:solidFill>
                  <a:srgbClr val="8B949E"/>
                </a:solidFill>
                <a:latin typeface="Arial" pitchFamily="34" charset="0"/>
                <a:ea typeface="Arial" pitchFamily="34" charset="-122"/>
                <a:cs typeface="Arial" pitchFamily="34" charset="-120"/>
              </a:rPr>
              <a:t>Grades drop. School sees attendance. Nobody checks: did her parent lose a job? Is there a housing crisis? Is there abuse? The school, workforce board, and family services each see one piece. Nobody sees the whole picture.</a:t>
            </a:r>
            <a:endParaRPr lang="en-US" sz="9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731520" y="365760"/>
            <a:ext cx="4572000" cy="384048"/>
          </a:xfrm>
          <a:prstGeom prst="rect">
            <a:avLst/>
          </a:prstGeom>
          <a:noFill/>
          <a:ln/>
        </p:spPr>
        <p:txBody>
          <a:bodyPr wrap="square" rtlCol="0" anchor="ctr"/>
          <a:lstStyle/>
          <a:p>
            <a:pPr indent="0" marL="0">
              <a:buNone/>
            </a:pPr>
            <a:r>
              <a:rPr lang="en-US" sz="1300" b="1" dirty="0">
                <a:solidFill>
                  <a:srgbClr val="00C9A7"/>
                </a:solidFill>
                <a:latin typeface="Arial" pitchFamily="34" charset="0"/>
                <a:ea typeface="Arial" pitchFamily="34" charset="-122"/>
                <a:cs typeface="Arial" pitchFamily="34" charset="-120"/>
              </a:rPr>
              <a:t>The Solution</a:t>
            </a:r>
            <a:endParaRPr lang="en-US" sz="1300" dirty="0"/>
          </a:p>
        </p:txBody>
      </p:sp>
      <p:sp>
        <p:nvSpPr>
          <p:cNvPr id="3" name="Text 1"/>
          <p:cNvSpPr/>
          <p:nvPr/>
        </p:nvSpPr>
        <p:spPr>
          <a:xfrm>
            <a:off x="731520" y="777240"/>
            <a:ext cx="10698480" cy="1051560"/>
          </a:xfrm>
          <a:prstGeom prst="rect">
            <a:avLst/>
          </a:prstGeom>
          <a:noFill/>
          <a:ln/>
        </p:spPr>
        <p:txBody>
          <a:bodyPr wrap="square" rtlCol="0" anchor="ctr"/>
          <a:lstStyle/>
          <a:p>
            <a:pPr indent="0" marL="0">
              <a:lnSpc>
                <a:spcPct val="110000"/>
              </a:lnSpc>
              <a:buNone/>
            </a:pPr>
            <a:r>
              <a:rPr lang="en-US" sz="3300" b="1" dirty="0">
                <a:solidFill>
                  <a:srgbClr val="FFFFFF"/>
                </a:solidFill>
                <a:latin typeface="Arial" pitchFamily="34" charset="0"/>
                <a:ea typeface="Arial" pitchFamily="34" charset="-122"/>
                <a:cs typeface="Arial" pitchFamily="34" charset="-120"/>
              </a:rPr>
              <a:t>Walk Through Any Door.</a:t>
            </a:r>
            <a:endParaRPr lang="en-US" sz="3300" dirty="0"/>
          </a:p>
          <a:p>
            <a:pPr indent="0" marL="0">
              <a:lnSpc>
                <a:spcPct val="110000"/>
              </a:lnSpc>
              <a:buNone/>
            </a:pPr>
            <a:r>
              <a:rPr lang="en-US" sz="3300" b="1" dirty="0">
                <a:solidFill>
                  <a:srgbClr val="FFFFFF"/>
                </a:solidFill>
                <a:latin typeface="Arial" pitchFamily="34" charset="0"/>
                <a:ea typeface="Arial" pitchFamily="34" charset="-122"/>
                <a:cs typeface="Arial" pitchFamily="34" charset="-120"/>
              </a:rPr>
              <a:t>Get Help in Every Room.</a:t>
            </a:r>
            <a:endParaRPr lang="en-US" sz="3300" dirty="0"/>
          </a:p>
        </p:txBody>
      </p:sp>
      <p:sp>
        <p:nvSpPr>
          <p:cNvPr id="4" name="Text 2"/>
          <p:cNvSpPr/>
          <p:nvPr/>
        </p:nvSpPr>
        <p:spPr>
          <a:xfrm>
            <a:off x="731520" y="1874520"/>
            <a:ext cx="10515600" cy="914400"/>
          </a:xfrm>
          <a:prstGeom prst="rect">
            <a:avLst/>
          </a:prstGeom>
          <a:noFill/>
          <a:ln/>
        </p:spPr>
        <p:txBody>
          <a:bodyPr wrap="square" rtlCol="0" anchor="ctr"/>
          <a:lstStyle/>
          <a:p>
            <a:pPr indent="0" marL="0">
              <a:lnSpc>
                <a:spcPct val="140000"/>
              </a:lnSpc>
              <a:buNone/>
            </a:pPr>
            <a:r>
              <a:rPr lang="en-US" sz="1300" dirty="0">
                <a:solidFill>
                  <a:srgbClr val="8B949E"/>
                </a:solidFill>
                <a:latin typeface="Arial" pitchFamily="34" charset="0"/>
                <a:ea typeface="Arial" pitchFamily="34" charset="-122"/>
                <a:cs typeface="Arial" pitchFamily="34" charset="-120"/>
              </a:rPr>
              <a:t>ThriveUp is not one app. It's a web of 24 interconnected platforms across 6 domains. Each platform can see, communicate with, and hold the others accountable. A person who enters through the maternal health site discovers they also need workforce support, education, and housing — and those platforms activate automatically. Communities see their own gaps, their own vulnerabilities, and find every resource they need — from any entry point.</a:t>
            </a:r>
            <a:endParaRPr lang="en-US" sz="1300" dirty="0"/>
          </a:p>
        </p:txBody>
      </p:sp>
      <p:sp>
        <p:nvSpPr>
          <p:cNvPr id="5" name="Shape 3"/>
          <p:cNvSpPr/>
          <p:nvPr/>
        </p:nvSpPr>
        <p:spPr>
          <a:xfrm>
            <a:off x="4754880" y="4206240"/>
            <a:ext cx="2651760" cy="1097280"/>
          </a:xfrm>
          <a:prstGeom prst="ellipse">
            <a:avLst/>
          </a:prstGeom>
          <a:solidFill>
            <a:srgbClr val="161B22"/>
          </a:solidFill>
          <a:ln w="25400">
            <a:solidFill>
              <a:srgbClr val="00C9A7"/>
            </a:solidFill>
            <a:prstDash val="solid"/>
          </a:ln>
        </p:spPr>
      </p:sp>
      <p:sp>
        <p:nvSpPr>
          <p:cNvPr id="6" name="Text 4"/>
          <p:cNvSpPr/>
          <p:nvPr/>
        </p:nvSpPr>
        <p:spPr>
          <a:xfrm>
            <a:off x="4754880" y="4206240"/>
            <a:ext cx="2651760" cy="1097280"/>
          </a:xfrm>
          <a:prstGeom prst="rect">
            <a:avLst/>
          </a:prstGeom>
          <a:noFill/>
          <a:ln/>
        </p:spPr>
        <p:txBody>
          <a:bodyPr wrap="square" rtlCol="0" anchor="ctr"/>
          <a:lstStyle/>
          <a:p>
            <a:pPr algn="ctr" indent="0" marL="0">
              <a:lnSpc>
                <a:spcPct val="120000"/>
              </a:lnSpc>
              <a:buNone/>
            </a:pPr>
            <a:r>
              <a:rPr lang="en-US" sz="1300" b="1" dirty="0">
                <a:solidFill>
                  <a:srgbClr val="00C9A7"/>
                </a:solidFill>
                <a:latin typeface="Arial" pitchFamily="34" charset="0"/>
                <a:ea typeface="Arial" pitchFamily="34" charset="-122"/>
                <a:cs typeface="Arial" pitchFamily="34" charset="-120"/>
              </a:rPr>
              <a:t>AI Intelligence</a:t>
            </a:r>
            <a:endParaRPr lang="en-US" sz="1300" dirty="0"/>
          </a:p>
          <a:p>
            <a:pPr algn="ctr" indent="0" marL="0">
              <a:lnSpc>
                <a:spcPct val="120000"/>
              </a:lnSpc>
              <a:buNone/>
            </a:pPr>
            <a:r>
              <a:rPr lang="en-US" sz="1300" b="1" dirty="0">
                <a:solidFill>
                  <a:srgbClr val="00C9A7"/>
                </a:solidFill>
                <a:latin typeface="Arial" pitchFamily="34" charset="0"/>
                <a:ea typeface="Arial" pitchFamily="34" charset="-122"/>
                <a:cs typeface="Arial" pitchFamily="34" charset="-120"/>
              </a:rPr>
              <a:t>Layer</a:t>
            </a:r>
            <a:endParaRPr lang="en-US" sz="1300" dirty="0"/>
          </a:p>
        </p:txBody>
      </p:sp>
      <p:sp>
        <p:nvSpPr>
          <p:cNvPr id="7" name="Shape 5"/>
          <p:cNvSpPr/>
          <p:nvPr/>
        </p:nvSpPr>
        <p:spPr>
          <a:xfrm>
            <a:off x="274320" y="2834640"/>
            <a:ext cx="3749040" cy="2286000"/>
          </a:xfrm>
          <a:prstGeom prst="roundRect">
            <a:avLst>
              <a:gd name="adj" fmla="val 3200"/>
            </a:avLst>
          </a:prstGeom>
          <a:solidFill>
            <a:srgbClr val="161B22"/>
          </a:solidFill>
          <a:ln w="19050">
            <a:solidFill>
              <a:srgbClr val="EF4444"/>
            </a:solidFill>
            <a:prstDash val="solid"/>
          </a:ln>
        </p:spPr>
      </p:sp>
      <p:sp>
        <p:nvSpPr>
          <p:cNvPr id="8" name="Text 6"/>
          <p:cNvSpPr/>
          <p:nvPr/>
        </p:nvSpPr>
        <p:spPr>
          <a:xfrm>
            <a:off x="274320" y="2852928"/>
            <a:ext cx="3749040" cy="594360"/>
          </a:xfrm>
          <a:prstGeom prst="rect">
            <a:avLst/>
          </a:prstGeom>
          <a:noFill/>
          <a:ln/>
        </p:spPr>
        <p:txBody>
          <a:bodyPr wrap="square" rtlCol="0" anchor="ctr"/>
          <a:lstStyle/>
          <a:p>
            <a:pPr algn="ctr" indent="0" marL="0">
              <a:buNone/>
            </a:pPr>
            <a:r>
              <a:rPr lang="en-US" sz="1100" b="1" dirty="0">
                <a:solidFill>
                  <a:srgbClr val="EF4444"/>
                </a:solidFill>
                <a:latin typeface="Arial" pitchFamily="34" charset="0"/>
                <a:ea typeface="Arial" pitchFamily="34" charset="-122"/>
                <a:cs typeface="Arial" pitchFamily="34" charset="-120"/>
              </a:rPr>
              <a:t>CRIMINAL JUSTICE</a:t>
            </a:r>
            <a:endParaRPr lang="en-US" sz="1100" dirty="0"/>
          </a:p>
          <a:p>
            <a:pPr algn="ctr" indent="0" marL="0">
              <a:buNone/>
            </a:pPr>
            <a:r>
              <a:rPr lang="en-US" sz="1100" b="1" dirty="0">
                <a:solidFill>
                  <a:srgbClr val="EF4444"/>
                </a:solidFill>
                <a:latin typeface="Arial" pitchFamily="34" charset="0"/>
                <a:ea typeface="Arial" pitchFamily="34" charset="-122"/>
                <a:cs typeface="Arial" pitchFamily="34" charset="-120"/>
              </a:rPr>
              <a:t>&amp; SAFETY</a:t>
            </a:r>
            <a:endParaRPr lang="en-US" sz="1100" dirty="0"/>
          </a:p>
        </p:txBody>
      </p:sp>
      <p:sp>
        <p:nvSpPr>
          <p:cNvPr id="9" name="Shape 7"/>
          <p:cNvSpPr/>
          <p:nvPr/>
        </p:nvSpPr>
        <p:spPr>
          <a:xfrm>
            <a:off x="640080" y="3456432"/>
            <a:ext cx="3017520" cy="18288"/>
          </a:xfrm>
          <a:prstGeom prst="rect">
            <a:avLst/>
          </a:prstGeom>
          <a:solidFill>
            <a:srgbClr val="EF4444"/>
          </a:solidFill>
          <a:ln/>
        </p:spPr>
      </p:sp>
      <p:sp>
        <p:nvSpPr>
          <p:cNvPr id="10" name="Text 8"/>
          <p:cNvSpPr/>
          <p:nvPr/>
        </p:nvSpPr>
        <p:spPr>
          <a:xfrm>
            <a:off x="411480" y="3520440"/>
            <a:ext cx="3474720" cy="329184"/>
          </a:xfrm>
          <a:prstGeom prst="rect">
            <a:avLst/>
          </a:prstGeom>
          <a:noFill/>
          <a:ln/>
        </p:spPr>
        <p:txBody>
          <a:bodyPr wrap="square" rtlCol="0" anchor="ctr"/>
          <a:lstStyle/>
          <a:p>
            <a:pPr indent="0" marL="0">
              <a:buNone/>
            </a:pPr>
            <a:r>
              <a:rPr lang="en-US" sz="1000" dirty="0">
                <a:solidFill>
                  <a:srgbClr val="8B949E"/>
                </a:solidFill>
                <a:latin typeface="Arial" pitchFamily="34" charset="0"/>
                <a:ea typeface="Arial" pitchFamily="34" charset="-122"/>
                <a:cs typeface="Arial" pitchFamily="34" charset="-120"/>
              </a:rPr>
              <a:t>•  LifeBridge (Reentry)</a:t>
            </a:r>
            <a:endParaRPr lang="en-US" sz="1000" dirty="0"/>
          </a:p>
        </p:txBody>
      </p:sp>
      <p:sp>
        <p:nvSpPr>
          <p:cNvPr id="11" name="Text 9"/>
          <p:cNvSpPr/>
          <p:nvPr/>
        </p:nvSpPr>
        <p:spPr>
          <a:xfrm>
            <a:off x="411480" y="3867912"/>
            <a:ext cx="3474720" cy="329184"/>
          </a:xfrm>
          <a:prstGeom prst="rect">
            <a:avLst/>
          </a:prstGeom>
          <a:noFill/>
          <a:ln/>
        </p:spPr>
        <p:txBody>
          <a:bodyPr wrap="square" rtlCol="0" anchor="ctr"/>
          <a:lstStyle/>
          <a:p>
            <a:pPr indent="0" marL="0">
              <a:buNone/>
            </a:pPr>
            <a:r>
              <a:rPr lang="en-US" sz="1000" dirty="0">
                <a:solidFill>
                  <a:srgbClr val="8B949E"/>
                </a:solidFill>
                <a:latin typeface="Arial" pitchFamily="34" charset="0"/>
                <a:ea typeface="Arial" pitchFamily="34" charset="-122"/>
                <a:cs typeface="Arial" pitchFamily="34" charset="-120"/>
              </a:rPr>
              <a:t>•  SafeReport (Mandated Reporting)</a:t>
            </a:r>
            <a:endParaRPr lang="en-US" sz="1000" dirty="0"/>
          </a:p>
        </p:txBody>
      </p:sp>
      <p:sp>
        <p:nvSpPr>
          <p:cNvPr id="12" name="Text 10"/>
          <p:cNvSpPr/>
          <p:nvPr/>
        </p:nvSpPr>
        <p:spPr>
          <a:xfrm>
            <a:off x="411480" y="4215384"/>
            <a:ext cx="3474720" cy="329184"/>
          </a:xfrm>
          <a:prstGeom prst="rect">
            <a:avLst/>
          </a:prstGeom>
          <a:noFill/>
          <a:ln/>
        </p:spPr>
        <p:txBody>
          <a:bodyPr wrap="square" rtlCol="0" anchor="ctr"/>
          <a:lstStyle/>
          <a:p>
            <a:pPr indent="0" marL="0">
              <a:buNone/>
            </a:pPr>
            <a:r>
              <a:rPr lang="en-US" sz="1000" dirty="0">
                <a:solidFill>
                  <a:srgbClr val="8B949E"/>
                </a:solidFill>
                <a:latin typeface="Arial" pitchFamily="34" charset="0"/>
                <a:ea typeface="Arial" pitchFamily="34" charset="-122"/>
                <a:cs typeface="Arial" pitchFamily="34" charset="-120"/>
              </a:rPr>
              <a:t>•  Shield Atlas (Emergency Mgmt)</a:t>
            </a:r>
            <a:endParaRPr lang="en-US" sz="1000" dirty="0"/>
          </a:p>
        </p:txBody>
      </p:sp>
      <p:sp>
        <p:nvSpPr>
          <p:cNvPr id="13" name="Text 11"/>
          <p:cNvSpPr/>
          <p:nvPr/>
        </p:nvSpPr>
        <p:spPr>
          <a:xfrm>
            <a:off x="411480" y="4562856"/>
            <a:ext cx="3474720" cy="329184"/>
          </a:xfrm>
          <a:prstGeom prst="rect">
            <a:avLst/>
          </a:prstGeom>
          <a:noFill/>
          <a:ln/>
        </p:spPr>
        <p:txBody>
          <a:bodyPr wrap="square" rtlCol="0" anchor="ctr"/>
          <a:lstStyle/>
          <a:p>
            <a:pPr indent="0" marL="0">
              <a:buNone/>
            </a:pPr>
            <a:r>
              <a:rPr lang="en-US" sz="1000" dirty="0">
                <a:solidFill>
                  <a:srgbClr val="8B949E"/>
                </a:solidFill>
                <a:latin typeface="Arial" pitchFamily="34" charset="0"/>
                <a:ea typeface="Arial" pitchFamily="34" charset="-122"/>
                <a:cs typeface="Arial" pitchFamily="34" charset="-120"/>
              </a:rPr>
              <a:t>•  ISSS (Youth Supports)</a:t>
            </a:r>
            <a:endParaRPr lang="en-US" sz="1000" dirty="0"/>
          </a:p>
        </p:txBody>
      </p:sp>
      <p:sp>
        <p:nvSpPr>
          <p:cNvPr id="14" name="Shape 12"/>
          <p:cNvSpPr/>
          <p:nvPr/>
        </p:nvSpPr>
        <p:spPr>
          <a:xfrm>
            <a:off x="4114800" y="2834640"/>
            <a:ext cx="3749040" cy="2286000"/>
          </a:xfrm>
          <a:prstGeom prst="roundRect">
            <a:avLst>
              <a:gd name="adj" fmla="val 3200"/>
            </a:avLst>
          </a:prstGeom>
          <a:solidFill>
            <a:srgbClr val="161B22"/>
          </a:solidFill>
          <a:ln w="19050">
            <a:solidFill>
              <a:srgbClr val="E8459E"/>
            </a:solidFill>
            <a:prstDash val="solid"/>
          </a:ln>
        </p:spPr>
      </p:sp>
      <p:sp>
        <p:nvSpPr>
          <p:cNvPr id="15" name="Text 13"/>
          <p:cNvSpPr/>
          <p:nvPr/>
        </p:nvSpPr>
        <p:spPr>
          <a:xfrm>
            <a:off x="4114800" y="2852928"/>
            <a:ext cx="3749040" cy="594360"/>
          </a:xfrm>
          <a:prstGeom prst="rect">
            <a:avLst/>
          </a:prstGeom>
          <a:noFill/>
          <a:ln/>
        </p:spPr>
        <p:txBody>
          <a:bodyPr wrap="square" rtlCol="0" anchor="ctr"/>
          <a:lstStyle/>
          <a:p>
            <a:pPr algn="ctr" indent="0" marL="0">
              <a:buNone/>
            </a:pPr>
            <a:r>
              <a:rPr lang="en-US" sz="1100" b="1" dirty="0">
                <a:solidFill>
                  <a:srgbClr val="E8459E"/>
                </a:solidFill>
                <a:latin typeface="Arial" pitchFamily="34" charset="0"/>
                <a:ea typeface="Arial" pitchFamily="34" charset="-122"/>
                <a:cs typeface="Arial" pitchFamily="34" charset="-120"/>
              </a:rPr>
              <a:t>HEALTH</a:t>
            </a:r>
            <a:endParaRPr lang="en-US" sz="1100" dirty="0"/>
          </a:p>
          <a:p>
            <a:pPr algn="ctr" indent="0" marL="0">
              <a:buNone/>
            </a:pPr>
            <a:r>
              <a:rPr lang="en-US" sz="1100" b="1" dirty="0">
                <a:solidFill>
                  <a:srgbClr val="E8459E"/>
                </a:solidFill>
                <a:latin typeface="Arial" pitchFamily="34" charset="0"/>
                <a:ea typeface="Arial" pitchFamily="34" charset="-122"/>
                <a:cs typeface="Arial" pitchFamily="34" charset="-120"/>
              </a:rPr>
              <a:t>EQUITY</a:t>
            </a:r>
            <a:endParaRPr lang="en-US" sz="1100" dirty="0"/>
          </a:p>
        </p:txBody>
      </p:sp>
      <p:sp>
        <p:nvSpPr>
          <p:cNvPr id="16" name="Shape 14"/>
          <p:cNvSpPr/>
          <p:nvPr/>
        </p:nvSpPr>
        <p:spPr>
          <a:xfrm>
            <a:off x="4480560" y="3456432"/>
            <a:ext cx="3017520" cy="18288"/>
          </a:xfrm>
          <a:prstGeom prst="rect">
            <a:avLst/>
          </a:prstGeom>
          <a:solidFill>
            <a:srgbClr val="E8459E"/>
          </a:solidFill>
          <a:ln/>
        </p:spPr>
      </p:sp>
      <p:sp>
        <p:nvSpPr>
          <p:cNvPr id="17" name="Text 15"/>
          <p:cNvSpPr/>
          <p:nvPr/>
        </p:nvSpPr>
        <p:spPr>
          <a:xfrm>
            <a:off x="4251960" y="3520440"/>
            <a:ext cx="3474720" cy="329184"/>
          </a:xfrm>
          <a:prstGeom prst="rect">
            <a:avLst/>
          </a:prstGeom>
          <a:noFill/>
          <a:ln/>
        </p:spPr>
        <p:txBody>
          <a:bodyPr wrap="square" rtlCol="0" anchor="ctr"/>
          <a:lstStyle/>
          <a:p>
            <a:pPr indent="0" marL="0">
              <a:buNone/>
            </a:pPr>
            <a:r>
              <a:rPr lang="en-US" sz="1000" dirty="0">
                <a:solidFill>
                  <a:srgbClr val="8B949E"/>
                </a:solidFill>
                <a:latin typeface="Arial" pitchFamily="34" charset="0"/>
                <a:ea typeface="Arial" pitchFamily="34" charset="-122"/>
                <a:cs typeface="Arial" pitchFamily="34" charset="-120"/>
              </a:rPr>
              <a:t>•  Black Maternal Health Network</a:t>
            </a:r>
            <a:endParaRPr lang="en-US" sz="1000" dirty="0"/>
          </a:p>
        </p:txBody>
      </p:sp>
      <p:sp>
        <p:nvSpPr>
          <p:cNvPr id="18" name="Text 16"/>
          <p:cNvSpPr/>
          <p:nvPr/>
        </p:nvSpPr>
        <p:spPr>
          <a:xfrm>
            <a:off x="4251960" y="3867912"/>
            <a:ext cx="3474720" cy="329184"/>
          </a:xfrm>
          <a:prstGeom prst="rect">
            <a:avLst/>
          </a:prstGeom>
          <a:noFill/>
          <a:ln/>
        </p:spPr>
        <p:txBody>
          <a:bodyPr wrap="square" rtlCol="0" anchor="ctr"/>
          <a:lstStyle/>
          <a:p>
            <a:pPr indent="0" marL="0">
              <a:buNone/>
            </a:pPr>
            <a:r>
              <a:rPr lang="en-US" sz="1000" dirty="0">
                <a:solidFill>
                  <a:srgbClr val="8B949E"/>
                </a:solidFill>
                <a:latin typeface="Arial" pitchFamily="34" charset="0"/>
                <a:ea typeface="Arial" pitchFamily="34" charset="-122"/>
                <a:cs typeface="Arial" pitchFamily="34" charset="-120"/>
              </a:rPr>
              <a:t>•  Sankofa Health (Breast Cancer)</a:t>
            </a:r>
            <a:endParaRPr lang="en-US" sz="1000" dirty="0"/>
          </a:p>
        </p:txBody>
      </p:sp>
      <p:sp>
        <p:nvSpPr>
          <p:cNvPr id="19" name="Text 17"/>
          <p:cNvSpPr/>
          <p:nvPr/>
        </p:nvSpPr>
        <p:spPr>
          <a:xfrm>
            <a:off x="4251960" y="4215384"/>
            <a:ext cx="3474720" cy="329184"/>
          </a:xfrm>
          <a:prstGeom prst="rect">
            <a:avLst/>
          </a:prstGeom>
          <a:noFill/>
          <a:ln/>
        </p:spPr>
        <p:txBody>
          <a:bodyPr wrap="square" rtlCol="0" anchor="ctr"/>
          <a:lstStyle/>
          <a:p>
            <a:pPr indent="0" marL="0">
              <a:buNone/>
            </a:pPr>
            <a:r>
              <a:rPr lang="en-US" sz="1000" dirty="0">
                <a:solidFill>
                  <a:srgbClr val="8B949E"/>
                </a:solidFill>
                <a:latin typeface="Arial" pitchFamily="34" charset="0"/>
                <a:ea typeface="Arial" pitchFamily="34" charset="-122"/>
                <a:cs typeface="Arial" pitchFamily="34" charset="-120"/>
              </a:rPr>
              <a:t>•  Autoimmune CoE</a:t>
            </a:r>
            <a:endParaRPr lang="en-US" sz="1000" dirty="0"/>
          </a:p>
        </p:txBody>
      </p:sp>
      <p:sp>
        <p:nvSpPr>
          <p:cNvPr id="20" name="Text 18"/>
          <p:cNvSpPr/>
          <p:nvPr/>
        </p:nvSpPr>
        <p:spPr>
          <a:xfrm>
            <a:off x="4251960" y="4562856"/>
            <a:ext cx="3474720" cy="329184"/>
          </a:xfrm>
          <a:prstGeom prst="rect">
            <a:avLst/>
          </a:prstGeom>
          <a:noFill/>
          <a:ln/>
        </p:spPr>
        <p:txBody>
          <a:bodyPr wrap="square" rtlCol="0" anchor="ctr"/>
          <a:lstStyle/>
          <a:p>
            <a:pPr indent="0" marL="0">
              <a:buNone/>
            </a:pPr>
            <a:r>
              <a:rPr lang="en-US" sz="1000" dirty="0">
                <a:solidFill>
                  <a:srgbClr val="8B949E"/>
                </a:solidFill>
                <a:latin typeface="Arial" pitchFamily="34" charset="0"/>
                <a:ea typeface="Arial" pitchFamily="34" charset="-122"/>
                <a:cs typeface="Arial" pitchFamily="34" charset="-120"/>
              </a:rPr>
              <a:t>•  Black Men's Health Hub</a:t>
            </a:r>
            <a:endParaRPr lang="en-US" sz="1000" dirty="0"/>
          </a:p>
        </p:txBody>
      </p:sp>
      <p:sp>
        <p:nvSpPr>
          <p:cNvPr id="21" name="Shape 19"/>
          <p:cNvSpPr/>
          <p:nvPr/>
        </p:nvSpPr>
        <p:spPr>
          <a:xfrm>
            <a:off x="8046720" y="2834640"/>
            <a:ext cx="3749040" cy="2286000"/>
          </a:xfrm>
          <a:prstGeom prst="roundRect">
            <a:avLst>
              <a:gd name="adj" fmla="val 3200"/>
            </a:avLst>
          </a:prstGeom>
          <a:solidFill>
            <a:srgbClr val="161B22"/>
          </a:solidFill>
          <a:ln w="19050">
            <a:solidFill>
              <a:srgbClr val="8B5CF6"/>
            </a:solidFill>
            <a:prstDash val="solid"/>
          </a:ln>
        </p:spPr>
      </p:sp>
      <p:sp>
        <p:nvSpPr>
          <p:cNvPr id="22" name="Text 20"/>
          <p:cNvSpPr/>
          <p:nvPr/>
        </p:nvSpPr>
        <p:spPr>
          <a:xfrm>
            <a:off x="8046720" y="2852928"/>
            <a:ext cx="3749040" cy="594360"/>
          </a:xfrm>
          <a:prstGeom prst="rect">
            <a:avLst/>
          </a:prstGeom>
          <a:noFill/>
          <a:ln/>
        </p:spPr>
        <p:txBody>
          <a:bodyPr wrap="square" rtlCol="0" anchor="ctr"/>
          <a:lstStyle/>
          <a:p>
            <a:pPr algn="ctr" indent="0" marL="0">
              <a:buNone/>
            </a:pPr>
            <a:r>
              <a:rPr lang="en-US" sz="1100" b="1" dirty="0">
                <a:solidFill>
                  <a:srgbClr val="8B5CF6"/>
                </a:solidFill>
                <a:latin typeface="Arial" pitchFamily="34" charset="0"/>
                <a:ea typeface="Arial" pitchFamily="34" charset="-122"/>
                <a:cs typeface="Arial" pitchFamily="34" charset="-120"/>
              </a:rPr>
              <a:t>BEHAVIORAL</a:t>
            </a:r>
            <a:endParaRPr lang="en-US" sz="1100" dirty="0"/>
          </a:p>
          <a:p>
            <a:pPr algn="ctr" indent="0" marL="0">
              <a:buNone/>
            </a:pPr>
            <a:r>
              <a:rPr lang="en-US" sz="1100" b="1" dirty="0">
                <a:solidFill>
                  <a:srgbClr val="8B5CF6"/>
                </a:solidFill>
                <a:latin typeface="Arial" pitchFamily="34" charset="0"/>
                <a:ea typeface="Arial" pitchFamily="34" charset="-122"/>
                <a:cs typeface="Arial" pitchFamily="34" charset="-120"/>
              </a:rPr>
              <a:t>HEALTH</a:t>
            </a:r>
            <a:endParaRPr lang="en-US" sz="1100" dirty="0"/>
          </a:p>
        </p:txBody>
      </p:sp>
      <p:sp>
        <p:nvSpPr>
          <p:cNvPr id="23" name="Shape 21"/>
          <p:cNvSpPr/>
          <p:nvPr/>
        </p:nvSpPr>
        <p:spPr>
          <a:xfrm>
            <a:off x="8412480" y="3456432"/>
            <a:ext cx="3017520" cy="18288"/>
          </a:xfrm>
          <a:prstGeom prst="rect">
            <a:avLst/>
          </a:prstGeom>
          <a:solidFill>
            <a:srgbClr val="8B5CF6"/>
          </a:solidFill>
          <a:ln/>
        </p:spPr>
      </p:sp>
      <p:sp>
        <p:nvSpPr>
          <p:cNvPr id="24" name="Text 22"/>
          <p:cNvSpPr/>
          <p:nvPr/>
        </p:nvSpPr>
        <p:spPr>
          <a:xfrm>
            <a:off x="8183880" y="3520440"/>
            <a:ext cx="3474720" cy="329184"/>
          </a:xfrm>
          <a:prstGeom prst="rect">
            <a:avLst/>
          </a:prstGeom>
          <a:noFill/>
          <a:ln/>
        </p:spPr>
        <p:txBody>
          <a:bodyPr wrap="square" rtlCol="0" anchor="ctr"/>
          <a:lstStyle/>
          <a:p>
            <a:pPr indent="0" marL="0">
              <a:buNone/>
            </a:pPr>
            <a:r>
              <a:rPr lang="en-US" sz="1000" dirty="0">
                <a:solidFill>
                  <a:srgbClr val="8B949E"/>
                </a:solidFill>
                <a:latin typeface="Arial" pitchFamily="34" charset="0"/>
                <a:ea typeface="Arial" pitchFamily="34" charset="-122"/>
                <a:cs typeface="Arial" pitchFamily="34" charset="-120"/>
              </a:rPr>
              <a:t>•  Whole-Person Health</a:t>
            </a:r>
            <a:endParaRPr lang="en-US" sz="1000" dirty="0"/>
          </a:p>
        </p:txBody>
      </p:sp>
      <p:sp>
        <p:nvSpPr>
          <p:cNvPr id="25" name="Text 23"/>
          <p:cNvSpPr/>
          <p:nvPr/>
        </p:nvSpPr>
        <p:spPr>
          <a:xfrm>
            <a:off x="8183880" y="3867912"/>
            <a:ext cx="3474720" cy="329184"/>
          </a:xfrm>
          <a:prstGeom prst="rect">
            <a:avLst/>
          </a:prstGeom>
          <a:noFill/>
          <a:ln/>
        </p:spPr>
        <p:txBody>
          <a:bodyPr wrap="square" rtlCol="0" anchor="ctr"/>
          <a:lstStyle/>
          <a:p>
            <a:pPr indent="0" marL="0">
              <a:buNone/>
            </a:pPr>
            <a:r>
              <a:rPr lang="en-US" sz="1000" dirty="0">
                <a:solidFill>
                  <a:srgbClr val="8B949E"/>
                </a:solidFill>
                <a:latin typeface="Arial" pitchFamily="34" charset="0"/>
                <a:ea typeface="Arial" pitchFamily="34" charset="-122"/>
                <a:cs typeface="Arial" pitchFamily="34" charset="-120"/>
              </a:rPr>
              <a:t>•  SafeCogniCare</a:t>
            </a:r>
            <a:endParaRPr lang="en-US" sz="1000" dirty="0"/>
          </a:p>
        </p:txBody>
      </p:sp>
      <p:sp>
        <p:nvSpPr>
          <p:cNvPr id="26" name="Text 24"/>
          <p:cNvSpPr/>
          <p:nvPr/>
        </p:nvSpPr>
        <p:spPr>
          <a:xfrm>
            <a:off x="8183880" y="4215384"/>
            <a:ext cx="3474720" cy="329184"/>
          </a:xfrm>
          <a:prstGeom prst="rect">
            <a:avLst/>
          </a:prstGeom>
          <a:noFill/>
          <a:ln/>
        </p:spPr>
        <p:txBody>
          <a:bodyPr wrap="square" rtlCol="0" anchor="ctr"/>
          <a:lstStyle/>
          <a:p>
            <a:pPr indent="0" marL="0">
              <a:buNone/>
            </a:pPr>
            <a:r>
              <a:rPr lang="en-US" sz="1000" dirty="0">
                <a:solidFill>
                  <a:srgbClr val="8B949E"/>
                </a:solidFill>
                <a:latin typeface="Arial" pitchFamily="34" charset="0"/>
                <a:ea typeface="Arial" pitchFamily="34" charset="-122"/>
                <a:cs typeface="Arial" pitchFamily="34" charset="-120"/>
              </a:rPr>
              <a:t>•  PillScheduler</a:t>
            </a:r>
            <a:endParaRPr lang="en-US" sz="1000" dirty="0"/>
          </a:p>
        </p:txBody>
      </p:sp>
      <p:sp>
        <p:nvSpPr>
          <p:cNvPr id="27" name="Text 25"/>
          <p:cNvSpPr/>
          <p:nvPr/>
        </p:nvSpPr>
        <p:spPr>
          <a:xfrm>
            <a:off x="8183880" y="4562856"/>
            <a:ext cx="3474720" cy="329184"/>
          </a:xfrm>
          <a:prstGeom prst="rect">
            <a:avLst/>
          </a:prstGeom>
          <a:noFill/>
          <a:ln/>
        </p:spPr>
        <p:txBody>
          <a:bodyPr wrap="square" rtlCol="0" anchor="ctr"/>
          <a:lstStyle/>
          <a:p>
            <a:pPr indent="0" marL="0">
              <a:buNone/>
            </a:pPr>
            <a:r>
              <a:rPr lang="en-US" sz="1000" dirty="0">
                <a:solidFill>
                  <a:srgbClr val="8B949E"/>
                </a:solidFill>
                <a:latin typeface="Arial" pitchFamily="34" charset="0"/>
                <a:ea typeface="Arial" pitchFamily="34" charset="-122"/>
                <a:cs typeface="Arial" pitchFamily="34" charset="-120"/>
              </a:rPr>
              <a:t>•  WholeMind Learning</a:t>
            </a:r>
            <a:endParaRPr lang="en-US" sz="1000" dirty="0"/>
          </a:p>
        </p:txBody>
      </p:sp>
      <p:sp>
        <p:nvSpPr>
          <p:cNvPr id="28" name="Shape 26"/>
          <p:cNvSpPr/>
          <p:nvPr/>
        </p:nvSpPr>
        <p:spPr>
          <a:xfrm>
            <a:off x="274320" y="5349240"/>
            <a:ext cx="3749040" cy="2286000"/>
          </a:xfrm>
          <a:prstGeom prst="roundRect">
            <a:avLst>
              <a:gd name="adj" fmla="val 3200"/>
            </a:avLst>
          </a:prstGeom>
          <a:solidFill>
            <a:srgbClr val="161B22"/>
          </a:solidFill>
          <a:ln w="19050">
            <a:solidFill>
              <a:srgbClr val="0079F2"/>
            </a:solidFill>
            <a:prstDash val="solid"/>
          </a:ln>
        </p:spPr>
      </p:sp>
      <p:sp>
        <p:nvSpPr>
          <p:cNvPr id="29" name="Text 27"/>
          <p:cNvSpPr/>
          <p:nvPr/>
        </p:nvSpPr>
        <p:spPr>
          <a:xfrm>
            <a:off x="274320" y="5367528"/>
            <a:ext cx="3749040" cy="594360"/>
          </a:xfrm>
          <a:prstGeom prst="rect">
            <a:avLst/>
          </a:prstGeom>
          <a:noFill/>
          <a:ln/>
        </p:spPr>
        <p:txBody>
          <a:bodyPr wrap="square" rtlCol="0" anchor="ctr"/>
          <a:lstStyle/>
          <a:p>
            <a:pPr algn="ctr" indent="0" marL="0">
              <a:buNone/>
            </a:pPr>
            <a:r>
              <a:rPr lang="en-US" sz="1100" b="1" dirty="0">
                <a:solidFill>
                  <a:srgbClr val="0079F2"/>
                </a:solidFill>
                <a:latin typeface="Arial" pitchFamily="34" charset="0"/>
                <a:ea typeface="Arial" pitchFamily="34" charset="-122"/>
                <a:cs typeface="Arial" pitchFamily="34" charset="-120"/>
              </a:rPr>
              <a:t>WORKFORCE &amp;</a:t>
            </a:r>
            <a:endParaRPr lang="en-US" sz="1100" dirty="0"/>
          </a:p>
          <a:p>
            <a:pPr algn="ctr" indent="0" marL="0">
              <a:buNone/>
            </a:pPr>
            <a:r>
              <a:rPr lang="en-US" sz="1100" b="1" dirty="0">
                <a:solidFill>
                  <a:srgbClr val="0079F2"/>
                </a:solidFill>
                <a:latin typeface="Arial" pitchFamily="34" charset="0"/>
                <a:ea typeface="Arial" pitchFamily="34" charset="-122"/>
                <a:cs typeface="Arial" pitchFamily="34" charset="-120"/>
              </a:rPr>
              <a:t>BUSINESS</a:t>
            </a:r>
            <a:endParaRPr lang="en-US" sz="1100" dirty="0"/>
          </a:p>
        </p:txBody>
      </p:sp>
      <p:sp>
        <p:nvSpPr>
          <p:cNvPr id="30" name="Shape 28"/>
          <p:cNvSpPr/>
          <p:nvPr/>
        </p:nvSpPr>
        <p:spPr>
          <a:xfrm>
            <a:off x="640080" y="5971032"/>
            <a:ext cx="3017520" cy="18288"/>
          </a:xfrm>
          <a:prstGeom prst="rect">
            <a:avLst/>
          </a:prstGeom>
          <a:solidFill>
            <a:srgbClr val="0079F2"/>
          </a:solidFill>
          <a:ln/>
        </p:spPr>
      </p:sp>
      <p:sp>
        <p:nvSpPr>
          <p:cNvPr id="31" name="Text 29"/>
          <p:cNvSpPr/>
          <p:nvPr/>
        </p:nvSpPr>
        <p:spPr>
          <a:xfrm>
            <a:off x="411480" y="6035040"/>
            <a:ext cx="3474720" cy="329184"/>
          </a:xfrm>
          <a:prstGeom prst="rect">
            <a:avLst/>
          </a:prstGeom>
          <a:noFill/>
          <a:ln/>
        </p:spPr>
        <p:txBody>
          <a:bodyPr wrap="square" rtlCol="0" anchor="ctr"/>
          <a:lstStyle/>
          <a:p>
            <a:pPr indent="0" marL="0">
              <a:buNone/>
            </a:pPr>
            <a:r>
              <a:rPr lang="en-US" sz="1000" dirty="0">
                <a:solidFill>
                  <a:srgbClr val="8B949E"/>
                </a:solidFill>
                <a:latin typeface="Arial" pitchFamily="34" charset="0"/>
                <a:ea typeface="Arial" pitchFamily="34" charset="-122"/>
                <a:cs typeface="Arial" pitchFamily="34" charset="-120"/>
              </a:rPr>
              <a:t>•  Mission Transition (Veterans)</a:t>
            </a:r>
            <a:endParaRPr lang="en-US" sz="1000" dirty="0"/>
          </a:p>
        </p:txBody>
      </p:sp>
      <p:sp>
        <p:nvSpPr>
          <p:cNvPr id="32" name="Text 30"/>
          <p:cNvSpPr/>
          <p:nvPr/>
        </p:nvSpPr>
        <p:spPr>
          <a:xfrm>
            <a:off x="411480" y="6382512"/>
            <a:ext cx="3474720" cy="329184"/>
          </a:xfrm>
          <a:prstGeom prst="rect">
            <a:avLst/>
          </a:prstGeom>
          <a:noFill/>
          <a:ln/>
        </p:spPr>
        <p:txBody>
          <a:bodyPr wrap="square" rtlCol="0" anchor="ctr"/>
          <a:lstStyle/>
          <a:p>
            <a:pPr indent="0" marL="0">
              <a:buNone/>
            </a:pPr>
            <a:r>
              <a:rPr lang="en-US" sz="1000" dirty="0">
                <a:solidFill>
                  <a:srgbClr val="8B949E"/>
                </a:solidFill>
                <a:latin typeface="Arial" pitchFamily="34" charset="0"/>
                <a:ea typeface="Arial" pitchFamily="34" charset="-122"/>
                <a:cs typeface="Arial" pitchFamily="34" charset="-120"/>
              </a:rPr>
              <a:t>•  Pinnacle Business Conglomerate</a:t>
            </a:r>
            <a:endParaRPr lang="en-US" sz="1000" dirty="0"/>
          </a:p>
        </p:txBody>
      </p:sp>
      <p:sp>
        <p:nvSpPr>
          <p:cNvPr id="33" name="Text 31"/>
          <p:cNvSpPr/>
          <p:nvPr/>
        </p:nvSpPr>
        <p:spPr>
          <a:xfrm>
            <a:off x="411480" y="6729984"/>
            <a:ext cx="3474720" cy="329184"/>
          </a:xfrm>
          <a:prstGeom prst="rect">
            <a:avLst/>
          </a:prstGeom>
          <a:noFill/>
          <a:ln/>
        </p:spPr>
        <p:txBody>
          <a:bodyPr wrap="square" rtlCol="0" anchor="ctr"/>
          <a:lstStyle/>
          <a:p>
            <a:pPr indent="0" marL="0">
              <a:buNone/>
            </a:pPr>
            <a:r>
              <a:rPr lang="en-US" sz="1000" dirty="0">
                <a:solidFill>
                  <a:srgbClr val="8B949E"/>
                </a:solidFill>
                <a:latin typeface="Arial" pitchFamily="34" charset="0"/>
                <a:ea typeface="Arial" pitchFamily="34" charset="-122"/>
                <a:cs typeface="Arial" pitchFamily="34" charset="-120"/>
              </a:rPr>
              <a:t>•  Ecosystem Nexus (Careers)</a:t>
            </a:r>
            <a:endParaRPr lang="en-US" sz="1000" dirty="0"/>
          </a:p>
        </p:txBody>
      </p:sp>
      <p:sp>
        <p:nvSpPr>
          <p:cNvPr id="34" name="Text 32"/>
          <p:cNvSpPr/>
          <p:nvPr/>
        </p:nvSpPr>
        <p:spPr>
          <a:xfrm>
            <a:off x="411480" y="7077456"/>
            <a:ext cx="3474720" cy="329184"/>
          </a:xfrm>
          <a:prstGeom prst="rect">
            <a:avLst/>
          </a:prstGeom>
          <a:noFill/>
          <a:ln/>
        </p:spPr>
        <p:txBody>
          <a:bodyPr wrap="square" rtlCol="0" anchor="ctr"/>
          <a:lstStyle/>
          <a:p>
            <a:pPr indent="0" marL="0">
              <a:buNone/>
            </a:pPr>
            <a:r>
              <a:rPr lang="en-US" sz="1000" dirty="0">
                <a:solidFill>
                  <a:srgbClr val="8B949E"/>
                </a:solidFill>
                <a:latin typeface="Arial" pitchFamily="34" charset="0"/>
                <a:ea typeface="Arial" pitchFamily="34" charset="-122"/>
                <a:cs typeface="Arial" pitchFamily="34" charset="-120"/>
              </a:rPr>
              <a:t>•  Minority Center of Excellence</a:t>
            </a:r>
            <a:endParaRPr lang="en-US" sz="1000" dirty="0"/>
          </a:p>
        </p:txBody>
      </p:sp>
      <p:sp>
        <p:nvSpPr>
          <p:cNvPr id="35" name="Shape 33"/>
          <p:cNvSpPr/>
          <p:nvPr/>
        </p:nvSpPr>
        <p:spPr>
          <a:xfrm>
            <a:off x="4114800" y="5349240"/>
            <a:ext cx="3749040" cy="2286000"/>
          </a:xfrm>
          <a:prstGeom prst="roundRect">
            <a:avLst>
              <a:gd name="adj" fmla="val 3200"/>
            </a:avLst>
          </a:prstGeom>
          <a:solidFill>
            <a:srgbClr val="161B22"/>
          </a:solidFill>
          <a:ln w="19050">
            <a:solidFill>
              <a:srgbClr val="F0B429"/>
            </a:solidFill>
            <a:prstDash val="solid"/>
          </a:ln>
        </p:spPr>
      </p:sp>
      <p:sp>
        <p:nvSpPr>
          <p:cNvPr id="36" name="Text 34"/>
          <p:cNvSpPr/>
          <p:nvPr/>
        </p:nvSpPr>
        <p:spPr>
          <a:xfrm>
            <a:off x="4114800" y="5367528"/>
            <a:ext cx="3749040" cy="594360"/>
          </a:xfrm>
          <a:prstGeom prst="rect">
            <a:avLst/>
          </a:prstGeom>
          <a:noFill/>
          <a:ln/>
        </p:spPr>
        <p:txBody>
          <a:bodyPr wrap="square" rtlCol="0" anchor="ctr"/>
          <a:lstStyle/>
          <a:p>
            <a:pPr algn="ctr" indent="0" marL="0">
              <a:buNone/>
            </a:pPr>
            <a:r>
              <a:rPr lang="en-US" sz="1100" b="1" dirty="0">
                <a:solidFill>
                  <a:srgbClr val="F0B429"/>
                </a:solidFill>
                <a:latin typeface="Arial" pitchFamily="34" charset="0"/>
                <a:ea typeface="Arial" pitchFamily="34" charset="-122"/>
                <a:cs typeface="Arial" pitchFamily="34" charset="-120"/>
              </a:rPr>
              <a:t>EDUCATION &amp;</a:t>
            </a:r>
            <a:endParaRPr lang="en-US" sz="1100" dirty="0"/>
          </a:p>
          <a:p>
            <a:pPr algn="ctr" indent="0" marL="0">
              <a:buNone/>
            </a:pPr>
            <a:r>
              <a:rPr lang="en-US" sz="1100" b="1" dirty="0">
                <a:solidFill>
                  <a:srgbClr val="F0B429"/>
                </a:solidFill>
                <a:latin typeface="Arial" pitchFamily="34" charset="0"/>
                <a:ea typeface="Arial" pitchFamily="34" charset="-122"/>
                <a:cs typeface="Arial" pitchFamily="34" charset="-120"/>
              </a:rPr>
              <a:t>LEARNING</a:t>
            </a:r>
            <a:endParaRPr lang="en-US" sz="1100" dirty="0"/>
          </a:p>
        </p:txBody>
      </p:sp>
      <p:sp>
        <p:nvSpPr>
          <p:cNvPr id="37" name="Shape 35"/>
          <p:cNvSpPr/>
          <p:nvPr/>
        </p:nvSpPr>
        <p:spPr>
          <a:xfrm>
            <a:off x="4480560" y="5971032"/>
            <a:ext cx="3017520" cy="18288"/>
          </a:xfrm>
          <a:prstGeom prst="rect">
            <a:avLst/>
          </a:prstGeom>
          <a:solidFill>
            <a:srgbClr val="F0B429"/>
          </a:solidFill>
          <a:ln/>
        </p:spPr>
      </p:sp>
      <p:sp>
        <p:nvSpPr>
          <p:cNvPr id="38" name="Text 36"/>
          <p:cNvSpPr/>
          <p:nvPr/>
        </p:nvSpPr>
        <p:spPr>
          <a:xfrm>
            <a:off x="4251960" y="6035040"/>
            <a:ext cx="3474720" cy="329184"/>
          </a:xfrm>
          <a:prstGeom prst="rect">
            <a:avLst/>
          </a:prstGeom>
          <a:noFill/>
          <a:ln/>
        </p:spPr>
        <p:txBody>
          <a:bodyPr wrap="square" rtlCol="0" anchor="ctr"/>
          <a:lstStyle/>
          <a:p>
            <a:pPr indent="0" marL="0">
              <a:buNone/>
            </a:pPr>
            <a:r>
              <a:rPr lang="en-US" sz="1000" dirty="0">
                <a:solidFill>
                  <a:srgbClr val="8B949E"/>
                </a:solidFill>
                <a:latin typeface="Arial" pitchFamily="34" charset="0"/>
                <a:ea typeface="Arial" pitchFamily="34" charset="-122"/>
                <a:cs typeface="Arial" pitchFamily="34" charset="-120"/>
              </a:rPr>
              <a:t>•  ThriveUp Academy (K-12+Adult)</a:t>
            </a:r>
            <a:endParaRPr lang="en-US" sz="1000" dirty="0"/>
          </a:p>
        </p:txBody>
      </p:sp>
      <p:sp>
        <p:nvSpPr>
          <p:cNvPr id="39" name="Text 37"/>
          <p:cNvSpPr/>
          <p:nvPr/>
        </p:nvSpPr>
        <p:spPr>
          <a:xfrm>
            <a:off x="4251960" y="6382512"/>
            <a:ext cx="3474720" cy="329184"/>
          </a:xfrm>
          <a:prstGeom prst="rect">
            <a:avLst/>
          </a:prstGeom>
          <a:noFill/>
          <a:ln/>
        </p:spPr>
        <p:txBody>
          <a:bodyPr wrap="square" rtlCol="0" anchor="ctr"/>
          <a:lstStyle/>
          <a:p>
            <a:pPr indent="0" marL="0">
              <a:buNone/>
            </a:pPr>
            <a:r>
              <a:rPr lang="en-US" sz="1000" dirty="0">
                <a:solidFill>
                  <a:srgbClr val="8B949E"/>
                </a:solidFill>
                <a:latin typeface="Arial" pitchFamily="34" charset="0"/>
                <a:ea typeface="Arial" pitchFamily="34" charset="-122"/>
                <a:cs typeface="Arial" pitchFamily="34" charset="-120"/>
              </a:rPr>
              <a:t>•  Better Science Lab / RPLICE</a:t>
            </a:r>
            <a:endParaRPr lang="en-US" sz="1000" dirty="0"/>
          </a:p>
        </p:txBody>
      </p:sp>
      <p:sp>
        <p:nvSpPr>
          <p:cNvPr id="40" name="Text 38"/>
          <p:cNvSpPr/>
          <p:nvPr/>
        </p:nvSpPr>
        <p:spPr>
          <a:xfrm>
            <a:off x="4251960" y="6729984"/>
            <a:ext cx="3474720" cy="329184"/>
          </a:xfrm>
          <a:prstGeom prst="rect">
            <a:avLst/>
          </a:prstGeom>
          <a:noFill/>
          <a:ln/>
        </p:spPr>
        <p:txBody>
          <a:bodyPr wrap="square" rtlCol="0" anchor="ctr"/>
          <a:lstStyle/>
          <a:p>
            <a:pPr indent="0" marL="0">
              <a:buNone/>
            </a:pPr>
            <a:r>
              <a:rPr lang="en-US" sz="1000" dirty="0">
                <a:solidFill>
                  <a:srgbClr val="8B949E"/>
                </a:solidFill>
                <a:latin typeface="Arial" pitchFamily="34" charset="0"/>
                <a:ea typeface="Arial" pitchFamily="34" charset="-122"/>
                <a:cs typeface="Arial" pitchFamily="34" charset="-120"/>
              </a:rPr>
              <a:t>•  Perfectly Different (SpEd)</a:t>
            </a:r>
            <a:endParaRPr lang="en-US" sz="1000" dirty="0"/>
          </a:p>
        </p:txBody>
      </p:sp>
      <p:sp>
        <p:nvSpPr>
          <p:cNvPr id="41" name="Text 39"/>
          <p:cNvSpPr/>
          <p:nvPr/>
        </p:nvSpPr>
        <p:spPr>
          <a:xfrm>
            <a:off x="4251960" y="7077456"/>
            <a:ext cx="3474720" cy="329184"/>
          </a:xfrm>
          <a:prstGeom prst="rect">
            <a:avLst/>
          </a:prstGeom>
          <a:noFill/>
          <a:ln/>
        </p:spPr>
        <p:txBody>
          <a:bodyPr wrap="square" rtlCol="0" anchor="ctr"/>
          <a:lstStyle/>
          <a:p>
            <a:pPr indent="0" marL="0">
              <a:buNone/>
            </a:pPr>
            <a:r>
              <a:rPr lang="en-US" sz="1000" dirty="0">
                <a:solidFill>
                  <a:srgbClr val="8B949E"/>
                </a:solidFill>
                <a:latin typeface="Arial" pitchFamily="34" charset="0"/>
                <a:ea typeface="Arial" pitchFamily="34" charset="-122"/>
                <a:cs typeface="Arial" pitchFamily="34" charset="-120"/>
              </a:rPr>
              <a:t>•  LexiBridge (Multilingual)</a:t>
            </a:r>
            <a:endParaRPr lang="en-US" sz="1000" dirty="0"/>
          </a:p>
        </p:txBody>
      </p:sp>
      <p:sp>
        <p:nvSpPr>
          <p:cNvPr id="42" name="Shape 40"/>
          <p:cNvSpPr/>
          <p:nvPr/>
        </p:nvSpPr>
        <p:spPr>
          <a:xfrm>
            <a:off x="8046720" y="5349240"/>
            <a:ext cx="3749040" cy="2286000"/>
          </a:xfrm>
          <a:prstGeom prst="roundRect">
            <a:avLst>
              <a:gd name="adj" fmla="val 3200"/>
            </a:avLst>
          </a:prstGeom>
          <a:solidFill>
            <a:srgbClr val="161B22"/>
          </a:solidFill>
          <a:ln w="19050">
            <a:solidFill>
              <a:srgbClr val="00C9A7"/>
            </a:solidFill>
            <a:prstDash val="solid"/>
          </a:ln>
        </p:spPr>
      </p:sp>
      <p:sp>
        <p:nvSpPr>
          <p:cNvPr id="43" name="Text 41"/>
          <p:cNvSpPr/>
          <p:nvPr/>
        </p:nvSpPr>
        <p:spPr>
          <a:xfrm>
            <a:off x="8046720" y="5367528"/>
            <a:ext cx="3749040" cy="594360"/>
          </a:xfrm>
          <a:prstGeom prst="rect">
            <a:avLst/>
          </a:prstGeom>
          <a:noFill/>
          <a:ln/>
        </p:spPr>
        <p:txBody>
          <a:bodyPr wrap="square" rtlCol="0" anchor="ctr"/>
          <a:lstStyle/>
          <a:p>
            <a:pPr algn="ctr" indent="0" marL="0">
              <a:buNone/>
            </a:pPr>
            <a:r>
              <a:rPr lang="en-US" sz="1100" b="1" dirty="0">
                <a:solidFill>
                  <a:srgbClr val="00C9A7"/>
                </a:solidFill>
                <a:latin typeface="Arial" pitchFamily="34" charset="0"/>
                <a:ea typeface="Arial" pitchFamily="34" charset="-122"/>
                <a:cs typeface="Arial" pitchFamily="34" charset="-120"/>
              </a:rPr>
              <a:t>COMMUNITY &amp;</a:t>
            </a:r>
            <a:endParaRPr lang="en-US" sz="1100" dirty="0"/>
          </a:p>
          <a:p>
            <a:pPr algn="ctr" indent="0" marL="0">
              <a:buNone/>
            </a:pPr>
            <a:r>
              <a:rPr lang="en-US" sz="1100" b="1" dirty="0">
                <a:solidFill>
                  <a:srgbClr val="00C9A7"/>
                </a:solidFill>
                <a:latin typeface="Arial" pitchFamily="34" charset="0"/>
                <a:ea typeface="Arial" pitchFamily="34" charset="-122"/>
                <a:cs typeface="Arial" pitchFamily="34" charset="-120"/>
              </a:rPr>
              <a:t>ADVOCACY</a:t>
            </a:r>
            <a:endParaRPr lang="en-US" sz="1100" dirty="0"/>
          </a:p>
        </p:txBody>
      </p:sp>
      <p:sp>
        <p:nvSpPr>
          <p:cNvPr id="44" name="Shape 42"/>
          <p:cNvSpPr/>
          <p:nvPr/>
        </p:nvSpPr>
        <p:spPr>
          <a:xfrm>
            <a:off x="8412480" y="5971032"/>
            <a:ext cx="3017520" cy="18288"/>
          </a:xfrm>
          <a:prstGeom prst="rect">
            <a:avLst/>
          </a:prstGeom>
          <a:solidFill>
            <a:srgbClr val="00C9A7"/>
          </a:solidFill>
          <a:ln/>
        </p:spPr>
      </p:sp>
      <p:sp>
        <p:nvSpPr>
          <p:cNvPr id="45" name="Text 43"/>
          <p:cNvSpPr/>
          <p:nvPr/>
        </p:nvSpPr>
        <p:spPr>
          <a:xfrm>
            <a:off x="8183880" y="6035040"/>
            <a:ext cx="3474720" cy="329184"/>
          </a:xfrm>
          <a:prstGeom prst="rect">
            <a:avLst/>
          </a:prstGeom>
          <a:noFill/>
          <a:ln/>
        </p:spPr>
        <p:txBody>
          <a:bodyPr wrap="square" rtlCol="0" anchor="ctr"/>
          <a:lstStyle/>
          <a:p>
            <a:pPr indent="0" marL="0">
              <a:buNone/>
            </a:pPr>
            <a:r>
              <a:rPr lang="en-US" sz="1000" dirty="0">
                <a:solidFill>
                  <a:srgbClr val="8B949E"/>
                </a:solidFill>
                <a:latin typeface="Arial" pitchFamily="34" charset="0"/>
                <a:ea typeface="Arial" pitchFamily="34" charset="-122"/>
                <a:cs typeface="Arial" pitchFamily="34" charset="-120"/>
              </a:rPr>
              <a:t>•  The Collaborative Advocate</a:t>
            </a:r>
            <a:endParaRPr lang="en-US" sz="1000" dirty="0"/>
          </a:p>
        </p:txBody>
      </p:sp>
      <p:sp>
        <p:nvSpPr>
          <p:cNvPr id="46" name="Text 44"/>
          <p:cNvSpPr/>
          <p:nvPr/>
        </p:nvSpPr>
        <p:spPr>
          <a:xfrm>
            <a:off x="8183880" y="6382512"/>
            <a:ext cx="3474720" cy="329184"/>
          </a:xfrm>
          <a:prstGeom prst="rect">
            <a:avLst/>
          </a:prstGeom>
          <a:noFill/>
          <a:ln/>
        </p:spPr>
        <p:txBody>
          <a:bodyPr wrap="square" rtlCol="0" anchor="ctr"/>
          <a:lstStyle/>
          <a:p>
            <a:pPr indent="0" marL="0">
              <a:buNone/>
            </a:pPr>
            <a:r>
              <a:rPr lang="en-US" sz="1000" dirty="0">
                <a:solidFill>
                  <a:srgbClr val="8B949E"/>
                </a:solidFill>
                <a:latin typeface="Arial" pitchFamily="34" charset="0"/>
                <a:ea typeface="Arial" pitchFamily="34" charset="-122"/>
                <a:cs typeface="Arial" pitchFamily="34" charset="-120"/>
              </a:rPr>
              <a:t>•  Holistic Black Feminine Health</a:t>
            </a:r>
            <a:endParaRPr lang="en-US" sz="1000" dirty="0"/>
          </a:p>
        </p:txBody>
      </p:sp>
      <p:sp>
        <p:nvSpPr>
          <p:cNvPr id="47" name="Text 45"/>
          <p:cNvSpPr/>
          <p:nvPr/>
        </p:nvSpPr>
        <p:spPr>
          <a:xfrm>
            <a:off x="8183880" y="6729984"/>
            <a:ext cx="3474720" cy="329184"/>
          </a:xfrm>
          <a:prstGeom prst="rect">
            <a:avLst/>
          </a:prstGeom>
          <a:noFill/>
          <a:ln/>
        </p:spPr>
        <p:txBody>
          <a:bodyPr wrap="square" rtlCol="0" anchor="ctr"/>
          <a:lstStyle/>
          <a:p>
            <a:pPr indent="0" marL="0">
              <a:buNone/>
            </a:pPr>
            <a:r>
              <a:rPr lang="en-US" sz="1000" dirty="0">
                <a:solidFill>
                  <a:srgbClr val="8B949E"/>
                </a:solidFill>
                <a:latin typeface="Arial" pitchFamily="34" charset="0"/>
                <a:ea typeface="Arial" pitchFamily="34" charset="-122"/>
                <a:cs typeface="Arial" pitchFamily="34" charset="-120"/>
              </a:rPr>
              <a:t>•  Advertising / Outreach</a:t>
            </a:r>
            <a:endParaRPr lang="en-US" sz="1000" dirty="0"/>
          </a:p>
        </p:txBody>
      </p:sp>
      <p:sp>
        <p:nvSpPr>
          <p:cNvPr id="48" name="Text 46"/>
          <p:cNvSpPr/>
          <p:nvPr/>
        </p:nvSpPr>
        <p:spPr>
          <a:xfrm>
            <a:off x="8183880" y="7077456"/>
            <a:ext cx="3474720" cy="329184"/>
          </a:xfrm>
          <a:prstGeom prst="rect">
            <a:avLst/>
          </a:prstGeom>
          <a:noFill/>
          <a:ln/>
        </p:spPr>
        <p:txBody>
          <a:bodyPr wrap="square" rtlCol="0" anchor="ctr"/>
          <a:lstStyle/>
          <a:p>
            <a:pPr indent="0" marL="0">
              <a:buNone/>
            </a:pPr>
            <a:r>
              <a:rPr lang="en-US" sz="1000" dirty="0">
                <a:solidFill>
                  <a:srgbClr val="8B949E"/>
                </a:solidFill>
                <a:latin typeface="Arial" pitchFamily="34" charset="0"/>
                <a:ea typeface="Arial" pitchFamily="34" charset="-122"/>
                <a:cs typeface="Arial" pitchFamily="34" charset="-120"/>
              </a:rPr>
              <a:t>•  Video Creator AI (Content)</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731520" y="365760"/>
            <a:ext cx="4572000" cy="384048"/>
          </a:xfrm>
          <a:prstGeom prst="rect">
            <a:avLst/>
          </a:prstGeom>
          <a:noFill/>
          <a:ln/>
        </p:spPr>
        <p:txBody>
          <a:bodyPr wrap="square" rtlCol="0" anchor="ctr"/>
          <a:lstStyle/>
          <a:p>
            <a:pPr indent="0" marL="0">
              <a:buNone/>
            </a:pPr>
            <a:r>
              <a:rPr lang="en-US" sz="1300" b="1" dirty="0">
                <a:solidFill>
                  <a:srgbClr val="0079F2"/>
                </a:solidFill>
                <a:latin typeface="Arial" pitchFamily="34" charset="0"/>
                <a:ea typeface="Arial" pitchFamily="34" charset="-122"/>
                <a:cs typeface="Arial" pitchFamily="34" charset="-120"/>
              </a:rPr>
              <a:t>How It Works</a:t>
            </a:r>
            <a:endParaRPr lang="en-US" sz="1300" dirty="0"/>
          </a:p>
        </p:txBody>
      </p:sp>
      <p:sp>
        <p:nvSpPr>
          <p:cNvPr id="3" name="Text 1"/>
          <p:cNvSpPr/>
          <p:nvPr/>
        </p:nvSpPr>
        <p:spPr>
          <a:xfrm>
            <a:off x="731520" y="777240"/>
            <a:ext cx="10698480" cy="1051560"/>
          </a:xfrm>
          <a:prstGeom prst="rect">
            <a:avLst/>
          </a:prstGeom>
          <a:noFill/>
          <a:ln/>
        </p:spPr>
        <p:txBody>
          <a:bodyPr wrap="square" rtlCol="0" anchor="ctr"/>
          <a:lstStyle/>
          <a:p>
            <a:pPr indent="0" marL="0">
              <a:lnSpc>
                <a:spcPct val="110000"/>
              </a:lnSpc>
              <a:buNone/>
            </a:pPr>
            <a:r>
              <a:rPr lang="en-US" sz="3300" b="1" dirty="0">
                <a:solidFill>
                  <a:srgbClr val="FFFFFF"/>
                </a:solidFill>
                <a:latin typeface="Arial" pitchFamily="34" charset="0"/>
                <a:ea typeface="Arial" pitchFamily="34" charset="-122"/>
                <a:cs typeface="Arial" pitchFamily="34" charset="-120"/>
              </a:rPr>
              <a:t>Platforms That Hold Each Other</a:t>
            </a:r>
            <a:endParaRPr lang="en-US" sz="3300" dirty="0"/>
          </a:p>
          <a:p>
            <a:pPr indent="0" marL="0">
              <a:lnSpc>
                <a:spcPct val="110000"/>
              </a:lnSpc>
              <a:buNone/>
            </a:pPr>
            <a:r>
              <a:rPr lang="en-US" sz="3300" b="1" dirty="0">
                <a:solidFill>
                  <a:srgbClr val="FFFFFF"/>
                </a:solidFill>
                <a:latin typeface="Arial" pitchFamily="34" charset="0"/>
                <a:ea typeface="Arial" pitchFamily="34" charset="-122"/>
                <a:cs typeface="Arial" pitchFamily="34" charset="-120"/>
              </a:rPr>
              <a:t>Accountable — Across Every Domain</a:t>
            </a:r>
            <a:endParaRPr lang="en-US" sz="3300" dirty="0"/>
          </a:p>
        </p:txBody>
      </p:sp>
      <p:sp>
        <p:nvSpPr>
          <p:cNvPr id="4" name="Text 2"/>
          <p:cNvSpPr/>
          <p:nvPr/>
        </p:nvSpPr>
        <p:spPr>
          <a:xfrm>
            <a:off x="731520" y="1874520"/>
            <a:ext cx="10515600" cy="640080"/>
          </a:xfrm>
          <a:prstGeom prst="rect">
            <a:avLst/>
          </a:prstGeom>
          <a:noFill/>
          <a:ln/>
        </p:spPr>
        <p:txBody>
          <a:bodyPr wrap="square" rtlCol="0" anchor="ctr"/>
          <a:lstStyle/>
          <a:p>
            <a:pPr indent="0" marL="0">
              <a:lnSpc>
                <a:spcPct val="135000"/>
              </a:lnSpc>
              <a:buNone/>
            </a:pPr>
            <a:r>
              <a:rPr lang="en-US" sz="1300" dirty="0">
                <a:solidFill>
                  <a:srgbClr val="8B949E"/>
                </a:solidFill>
                <a:latin typeface="Arial" pitchFamily="34" charset="0"/>
                <a:ea typeface="Arial" pitchFamily="34" charset="-122"/>
                <a:cs typeface="Arial" pitchFamily="34" charset="-120"/>
              </a:rPr>
              <a:t>When someone has co-occurring issues — and they almost always do — the platforms don't just coexist. They COMMUNICATE. Each site can see the others, flag gaps, escalate needs, and trigger services. No person has to explain their story eight times to eight different agencies.</a:t>
            </a:r>
            <a:endParaRPr lang="en-US" sz="1300" dirty="0"/>
          </a:p>
        </p:txBody>
      </p:sp>
      <p:sp>
        <p:nvSpPr>
          <p:cNvPr id="5" name="Shape 3"/>
          <p:cNvSpPr/>
          <p:nvPr/>
        </p:nvSpPr>
        <p:spPr>
          <a:xfrm>
            <a:off x="274320" y="2651760"/>
            <a:ext cx="3749040" cy="3931920"/>
          </a:xfrm>
          <a:prstGeom prst="roundRect">
            <a:avLst>
              <a:gd name="adj" fmla="val 2439"/>
            </a:avLst>
          </a:prstGeom>
          <a:solidFill>
            <a:srgbClr val="161B22"/>
          </a:solidFill>
          <a:ln w="19050">
            <a:solidFill>
              <a:srgbClr val="E8459E"/>
            </a:solidFill>
            <a:prstDash val="solid"/>
          </a:ln>
        </p:spPr>
      </p:sp>
      <p:sp>
        <p:nvSpPr>
          <p:cNvPr id="6" name="Text 4"/>
          <p:cNvSpPr/>
          <p:nvPr/>
        </p:nvSpPr>
        <p:spPr>
          <a:xfrm>
            <a:off x="274320" y="2697480"/>
            <a:ext cx="3749040" cy="640080"/>
          </a:xfrm>
          <a:prstGeom prst="rect">
            <a:avLst/>
          </a:prstGeom>
          <a:noFill/>
          <a:ln/>
        </p:spPr>
        <p:txBody>
          <a:bodyPr wrap="square" rtlCol="0" anchor="ctr"/>
          <a:lstStyle/>
          <a:p>
            <a:pPr algn="ctr" indent="0" marL="0">
              <a:lnSpc>
                <a:spcPct val="120000"/>
              </a:lnSpc>
              <a:buNone/>
            </a:pPr>
            <a:r>
              <a:rPr lang="en-US" sz="1200" b="1" dirty="0">
                <a:solidFill>
                  <a:srgbClr val="E8459E"/>
                </a:solidFill>
                <a:latin typeface="Arial" pitchFamily="34" charset="0"/>
                <a:ea typeface="Arial" pitchFamily="34" charset="-122"/>
                <a:cs typeface="Arial" pitchFamily="34" charset="-120"/>
              </a:rPr>
              <a:t>A mother enters through</a:t>
            </a:r>
            <a:endParaRPr lang="en-US" sz="1200" dirty="0"/>
          </a:p>
          <a:p>
            <a:pPr algn="ctr" indent="0" marL="0">
              <a:lnSpc>
                <a:spcPct val="120000"/>
              </a:lnSpc>
              <a:buNone/>
            </a:pPr>
            <a:r>
              <a:rPr lang="en-US" sz="1200" b="1" dirty="0">
                <a:solidFill>
                  <a:srgbClr val="E8459E"/>
                </a:solidFill>
                <a:latin typeface="Arial" pitchFamily="34" charset="0"/>
                <a:ea typeface="Arial" pitchFamily="34" charset="-122"/>
                <a:cs typeface="Arial" pitchFamily="34" charset="-120"/>
              </a:rPr>
              <a:t>Black Maternal Health Network</a:t>
            </a:r>
            <a:endParaRPr lang="en-US" sz="1200" dirty="0"/>
          </a:p>
        </p:txBody>
      </p:sp>
      <p:sp>
        <p:nvSpPr>
          <p:cNvPr id="7" name="Shape 5"/>
          <p:cNvSpPr/>
          <p:nvPr/>
        </p:nvSpPr>
        <p:spPr>
          <a:xfrm>
            <a:off x="548640" y="3383280"/>
            <a:ext cx="3200400" cy="18288"/>
          </a:xfrm>
          <a:prstGeom prst="rect">
            <a:avLst/>
          </a:prstGeom>
          <a:solidFill>
            <a:srgbClr val="E8459E"/>
          </a:solidFill>
          <a:ln/>
        </p:spPr>
      </p:sp>
      <p:sp>
        <p:nvSpPr>
          <p:cNvPr id="8" name="Text 6"/>
          <p:cNvSpPr/>
          <p:nvPr/>
        </p:nvSpPr>
        <p:spPr>
          <a:xfrm>
            <a:off x="365760" y="3520440"/>
            <a:ext cx="1463040" cy="320040"/>
          </a:xfrm>
          <a:prstGeom prst="rect">
            <a:avLst/>
          </a:prstGeom>
          <a:noFill/>
          <a:ln/>
        </p:spPr>
        <p:txBody>
          <a:bodyPr wrap="square" rtlCol="0" anchor="ctr"/>
          <a:lstStyle/>
          <a:p>
            <a:pPr indent="0" marL="0">
              <a:buNone/>
            </a:pPr>
            <a:r>
              <a:rPr lang="en-US" sz="1000" b="1" dirty="0">
                <a:solidFill>
                  <a:srgbClr val="0079F2"/>
                </a:solidFill>
                <a:latin typeface="Arial" pitchFamily="34" charset="0"/>
                <a:ea typeface="Arial" pitchFamily="34" charset="-122"/>
                <a:cs typeface="Arial" pitchFamily="34" charset="-120"/>
              </a:rPr>
              <a:t>→  Workforce:</a:t>
            </a:r>
            <a:endParaRPr lang="en-US" sz="1000" dirty="0"/>
          </a:p>
        </p:txBody>
      </p:sp>
      <p:sp>
        <p:nvSpPr>
          <p:cNvPr id="9" name="Text 7"/>
          <p:cNvSpPr/>
          <p:nvPr/>
        </p:nvSpPr>
        <p:spPr>
          <a:xfrm>
            <a:off x="365760" y="3794760"/>
            <a:ext cx="3566160" cy="365760"/>
          </a:xfrm>
          <a:prstGeom prst="rect">
            <a:avLst/>
          </a:prstGeom>
          <a:noFill/>
          <a:ln/>
        </p:spPr>
        <p:txBody>
          <a:bodyPr wrap="square" rtlCol="0" anchor="ctr"/>
          <a:lstStyle/>
          <a:p>
            <a:pPr indent="0" marL="0">
              <a:lnSpc>
                <a:spcPct val="120000"/>
              </a:lnSpc>
              <a:buNone/>
            </a:pPr>
            <a:r>
              <a:rPr lang="en-US" sz="950" dirty="0">
                <a:solidFill>
                  <a:srgbClr val="8B949E"/>
                </a:solidFill>
                <a:latin typeface="Arial" pitchFamily="34" charset="0"/>
                <a:ea typeface="Arial" pitchFamily="34" charset="-122"/>
                <a:cs typeface="Arial" pitchFamily="34" charset="-120"/>
              </a:rPr>
              <a:t>If she's unemployed → career pipeline activates</a:t>
            </a:r>
            <a:endParaRPr lang="en-US" sz="950" dirty="0"/>
          </a:p>
        </p:txBody>
      </p:sp>
      <p:sp>
        <p:nvSpPr>
          <p:cNvPr id="10" name="Text 8"/>
          <p:cNvSpPr/>
          <p:nvPr/>
        </p:nvSpPr>
        <p:spPr>
          <a:xfrm>
            <a:off x="365760" y="4233672"/>
            <a:ext cx="1463040" cy="320040"/>
          </a:xfrm>
          <a:prstGeom prst="rect">
            <a:avLst/>
          </a:prstGeom>
          <a:noFill/>
          <a:ln/>
        </p:spPr>
        <p:txBody>
          <a:bodyPr wrap="square" rtlCol="0" anchor="ctr"/>
          <a:lstStyle/>
          <a:p>
            <a:pPr indent="0" marL="0">
              <a:buNone/>
            </a:pPr>
            <a:r>
              <a:rPr lang="en-US" sz="1000" b="1" dirty="0">
                <a:solidFill>
                  <a:srgbClr val="8B5CF6"/>
                </a:solidFill>
                <a:latin typeface="Arial" pitchFamily="34" charset="0"/>
                <a:ea typeface="Arial" pitchFamily="34" charset="-122"/>
                <a:cs typeface="Arial" pitchFamily="34" charset="-120"/>
              </a:rPr>
              <a:t>→  Behavioral Health:</a:t>
            </a:r>
            <a:endParaRPr lang="en-US" sz="1000" dirty="0"/>
          </a:p>
        </p:txBody>
      </p:sp>
      <p:sp>
        <p:nvSpPr>
          <p:cNvPr id="11" name="Text 9"/>
          <p:cNvSpPr/>
          <p:nvPr/>
        </p:nvSpPr>
        <p:spPr>
          <a:xfrm>
            <a:off x="365760" y="4507992"/>
            <a:ext cx="3566160" cy="365760"/>
          </a:xfrm>
          <a:prstGeom prst="rect">
            <a:avLst/>
          </a:prstGeom>
          <a:noFill/>
          <a:ln/>
        </p:spPr>
        <p:txBody>
          <a:bodyPr wrap="square" rtlCol="0" anchor="ctr"/>
          <a:lstStyle/>
          <a:p>
            <a:pPr indent="0" marL="0">
              <a:lnSpc>
                <a:spcPct val="120000"/>
              </a:lnSpc>
              <a:buNone/>
            </a:pPr>
            <a:r>
              <a:rPr lang="en-US" sz="950" dirty="0">
                <a:solidFill>
                  <a:srgbClr val="8B949E"/>
                </a:solidFill>
                <a:latin typeface="Arial" pitchFamily="34" charset="0"/>
                <a:ea typeface="Arial" pitchFamily="34" charset="-122"/>
                <a:cs typeface="Arial" pitchFamily="34" charset="-120"/>
              </a:rPr>
              <a:t>If depression screening flags → counselor matched</a:t>
            </a:r>
            <a:endParaRPr lang="en-US" sz="950" dirty="0"/>
          </a:p>
        </p:txBody>
      </p:sp>
      <p:sp>
        <p:nvSpPr>
          <p:cNvPr id="12" name="Text 10"/>
          <p:cNvSpPr/>
          <p:nvPr/>
        </p:nvSpPr>
        <p:spPr>
          <a:xfrm>
            <a:off x="365760" y="4946904"/>
            <a:ext cx="1463040" cy="320040"/>
          </a:xfrm>
          <a:prstGeom prst="rect">
            <a:avLst/>
          </a:prstGeom>
          <a:noFill/>
          <a:ln/>
        </p:spPr>
        <p:txBody>
          <a:bodyPr wrap="square" rtlCol="0" anchor="ctr"/>
          <a:lstStyle/>
          <a:p>
            <a:pPr indent="0" marL="0">
              <a:buNone/>
            </a:pPr>
            <a:r>
              <a:rPr lang="en-US" sz="1000" b="1" dirty="0">
                <a:solidFill>
                  <a:srgbClr val="00C9A7"/>
                </a:solidFill>
                <a:latin typeface="Arial" pitchFamily="34" charset="0"/>
                <a:ea typeface="Arial" pitchFamily="34" charset="-122"/>
                <a:cs typeface="Arial" pitchFamily="34" charset="-120"/>
              </a:rPr>
              <a:t>→  Community:</a:t>
            </a:r>
            <a:endParaRPr lang="en-US" sz="1000" dirty="0"/>
          </a:p>
        </p:txBody>
      </p:sp>
      <p:sp>
        <p:nvSpPr>
          <p:cNvPr id="13" name="Text 11"/>
          <p:cNvSpPr/>
          <p:nvPr/>
        </p:nvSpPr>
        <p:spPr>
          <a:xfrm>
            <a:off x="365760" y="5221224"/>
            <a:ext cx="3566160" cy="365760"/>
          </a:xfrm>
          <a:prstGeom prst="rect">
            <a:avLst/>
          </a:prstGeom>
          <a:noFill/>
          <a:ln/>
        </p:spPr>
        <p:txBody>
          <a:bodyPr wrap="square" rtlCol="0" anchor="ctr"/>
          <a:lstStyle/>
          <a:p>
            <a:pPr indent="0" marL="0">
              <a:lnSpc>
                <a:spcPct val="120000"/>
              </a:lnSpc>
              <a:buNone/>
            </a:pPr>
            <a:r>
              <a:rPr lang="en-US" sz="950" dirty="0">
                <a:solidFill>
                  <a:srgbClr val="8B949E"/>
                </a:solidFill>
                <a:latin typeface="Arial" pitchFamily="34" charset="0"/>
                <a:ea typeface="Arial" pitchFamily="34" charset="-122"/>
                <a:cs typeface="Arial" pitchFamily="34" charset="-120"/>
              </a:rPr>
              <a:t>If housing unstable → navigation + legal aid activate</a:t>
            </a:r>
            <a:endParaRPr lang="en-US" sz="950" dirty="0"/>
          </a:p>
        </p:txBody>
      </p:sp>
      <p:sp>
        <p:nvSpPr>
          <p:cNvPr id="14" name="Text 12"/>
          <p:cNvSpPr/>
          <p:nvPr/>
        </p:nvSpPr>
        <p:spPr>
          <a:xfrm>
            <a:off x="365760" y="5660136"/>
            <a:ext cx="1463040" cy="320040"/>
          </a:xfrm>
          <a:prstGeom prst="rect">
            <a:avLst/>
          </a:prstGeom>
          <a:noFill/>
          <a:ln/>
        </p:spPr>
        <p:txBody>
          <a:bodyPr wrap="square" rtlCol="0" anchor="ctr"/>
          <a:lstStyle/>
          <a:p>
            <a:pPr indent="0" marL="0">
              <a:buNone/>
            </a:pPr>
            <a:r>
              <a:rPr lang="en-US" sz="1000" b="1" dirty="0">
                <a:solidFill>
                  <a:srgbClr val="F0B429"/>
                </a:solidFill>
                <a:latin typeface="Arial" pitchFamily="34" charset="0"/>
                <a:ea typeface="Arial" pitchFamily="34" charset="-122"/>
                <a:cs typeface="Arial" pitchFamily="34" charset="-120"/>
              </a:rPr>
              <a:t>→  Education:</a:t>
            </a:r>
            <a:endParaRPr lang="en-US" sz="1000" dirty="0"/>
          </a:p>
        </p:txBody>
      </p:sp>
      <p:sp>
        <p:nvSpPr>
          <p:cNvPr id="15" name="Text 13"/>
          <p:cNvSpPr/>
          <p:nvPr/>
        </p:nvSpPr>
        <p:spPr>
          <a:xfrm>
            <a:off x="365760" y="5934456"/>
            <a:ext cx="3566160" cy="365760"/>
          </a:xfrm>
          <a:prstGeom prst="rect">
            <a:avLst/>
          </a:prstGeom>
          <a:noFill/>
          <a:ln/>
        </p:spPr>
        <p:txBody>
          <a:bodyPr wrap="square" rtlCol="0" anchor="ctr"/>
          <a:lstStyle/>
          <a:p>
            <a:pPr indent="0" marL="0">
              <a:lnSpc>
                <a:spcPct val="120000"/>
              </a:lnSpc>
              <a:buNone/>
            </a:pPr>
            <a:r>
              <a:rPr lang="en-US" sz="950" dirty="0">
                <a:solidFill>
                  <a:srgbClr val="8B949E"/>
                </a:solidFill>
                <a:latin typeface="Arial" pitchFamily="34" charset="0"/>
                <a:ea typeface="Arial" pitchFamily="34" charset="-122"/>
                <a:cs typeface="Arial" pitchFamily="34" charset="-120"/>
              </a:rPr>
              <a:t>If her kids are struggling → school liaison notified</a:t>
            </a:r>
            <a:endParaRPr lang="en-US" sz="950" dirty="0"/>
          </a:p>
        </p:txBody>
      </p:sp>
      <p:sp>
        <p:nvSpPr>
          <p:cNvPr id="16" name="Shape 14"/>
          <p:cNvSpPr/>
          <p:nvPr/>
        </p:nvSpPr>
        <p:spPr>
          <a:xfrm>
            <a:off x="4206240" y="2651760"/>
            <a:ext cx="3749040" cy="3931920"/>
          </a:xfrm>
          <a:prstGeom prst="roundRect">
            <a:avLst>
              <a:gd name="adj" fmla="val 2439"/>
            </a:avLst>
          </a:prstGeom>
          <a:solidFill>
            <a:srgbClr val="161B22"/>
          </a:solidFill>
          <a:ln w="19050">
            <a:solidFill>
              <a:srgbClr val="2EA043"/>
            </a:solidFill>
            <a:prstDash val="solid"/>
          </a:ln>
        </p:spPr>
      </p:sp>
      <p:sp>
        <p:nvSpPr>
          <p:cNvPr id="17" name="Text 15"/>
          <p:cNvSpPr/>
          <p:nvPr/>
        </p:nvSpPr>
        <p:spPr>
          <a:xfrm>
            <a:off x="4206240" y="2697480"/>
            <a:ext cx="3749040" cy="640080"/>
          </a:xfrm>
          <a:prstGeom prst="rect">
            <a:avLst/>
          </a:prstGeom>
          <a:noFill/>
          <a:ln/>
        </p:spPr>
        <p:txBody>
          <a:bodyPr wrap="square" rtlCol="0" anchor="ctr"/>
          <a:lstStyle/>
          <a:p>
            <a:pPr algn="ctr" indent="0" marL="0">
              <a:lnSpc>
                <a:spcPct val="120000"/>
              </a:lnSpc>
              <a:buNone/>
            </a:pPr>
            <a:r>
              <a:rPr lang="en-US" sz="1200" b="1" dirty="0">
                <a:solidFill>
                  <a:srgbClr val="2EA043"/>
                </a:solidFill>
                <a:latin typeface="Arial" pitchFamily="34" charset="0"/>
                <a:ea typeface="Arial" pitchFamily="34" charset="-122"/>
                <a:cs typeface="Arial" pitchFamily="34" charset="-120"/>
              </a:rPr>
              <a:t>A veteran enters through</a:t>
            </a:r>
            <a:endParaRPr lang="en-US" sz="1200" dirty="0"/>
          </a:p>
          <a:p>
            <a:pPr algn="ctr" indent="0" marL="0">
              <a:lnSpc>
                <a:spcPct val="120000"/>
              </a:lnSpc>
              <a:buNone/>
            </a:pPr>
            <a:r>
              <a:rPr lang="en-US" sz="1200" b="1" dirty="0">
                <a:solidFill>
                  <a:srgbClr val="2EA043"/>
                </a:solidFill>
                <a:latin typeface="Arial" pitchFamily="34" charset="0"/>
                <a:ea typeface="Arial" pitchFamily="34" charset="-122"/>
                <a:cs typeface="Arial" pitchFamily="34" charset="-120"/>
              </a:rPr>
              <a:t>Mission Transition</a:t>
            </a:r>
            <a:endParaRPr lang="en-US" sz="1200" dirty="0"/>
          </a:p>
        </p:txBody>
      </p:sp>
      <p:sp>
        <p:nvSpPr>
          <p:cNvPr id="18" name="Shape 16"/>
          <p:cNvSpPr/>
          <p:nvPr/>
        </p:nvSpPr>
        <p:spPr>
          <a:xfrm>
            <a:off x="4480560" y="3383280"/>
            <a:ext cx="3200400" cy="18288"/>
          </a:xfrm>
          <a:prstGeom prst="rect">
            <a:avLst/>
          </a:prstGeom>
          <a:solidFill>
            <a:srgbClr val="2EA043"/>
          </a:solidFill>
          <a:ln/>
        </p:spPr>
      </p:sp>
      <p:sp>
        <p:nvSpPr>
          <p:cNvPr id="19" name="Text 17"/>
          <p:cNvSpPr/>
          <p:nvPr/>
        </p:nvSpPr>
        <p:spPr>
          <a:xfrm>
            <a:off x="4297680" y="3520440"/>
            <a:ext cx="1463040" cy="320040"/>
          </a:xfrm>
          <a:prstGeom prst="rect">
            <a:avLst/>
          </a:prstGeom>
          <a:noFill/>
          <a:ln/>
        </p:spPr>
        <p:txBody>
          <a:bodyPr wrap="square" rtlCol="0" anchor="ctr"/>
          <a:lstStyle/>
          <a:p>
            <a:pPr indent="0" marL="0">
              <a:buNone/>
            </a:pPr>
            <a:r>
              <a:rPr lang="en-US" sz="1000" b="1" dirty="0">
                <a:solidFill>
                  <a:srgbClr val="8B5CF6"/>
                </a:solidFill>
                <a:latin typeface="Arial" pitchFamily="34" charset="0"/>
                <a:ea typeface="Arial" pitchFamily="34" charset="-122"/>
                <a:cs typeface="Arial" pitchFamily="34" charset="-120"/>
              </a:rPr>
              <a:t>→  Behavioral Health:</a:t>
            </a:r>
            <a:endParaRPr lang="en-US" sz="1000" dirty="0"/>
          </a:p>
        </p:txBody>
      </p:sp>
      <p:sp>
        <p:nvSpPr>
          <p:cNvPr id="20" name="Text 18"/>
          <p:cNvSpPr/>
          <p:nvPr/>
        </p:nvSpPr>
        <p:spPr>
          <a:xfrm>
            <a:off x="4297680" y="3794760"/>
            <a:ext cx="3566160" cy="365760"/>
          </a:xfrm>
          <a:prstGeom prst="rect">
            <a:avLst/>
          </a:prstGeom>
          <a:noFill/>
          <a:ln/>
        </p:spPr>
        <p:txBody>
          <a:bodyPr wrap="square" rtlCol="0" anchor="ctr"/>
          <a:lstStyle/>
          <a:p>
            <a:pPr indent="0" marL="0">
              <a:lnSpc>
                <a:spcPct val="120000"/>
              </a:lnSpc>
              <a:buNone/>
            </a:pPr>
            <a:r>
              <a:rPr lang="en-US" sz="950" dirty="0">
                <a:solidFill>
                  <a:srgbClr val="8B949E"/>
                </a:solidFill>
                <a:latin typeface="Arial" pitchFamily="34" charset="0"/>
                <a:ea typeface="Arial" pitchFamily="34" charset="-122"/>
                <a:cs typeface="Arial" pitchFamily="34" charset="-120"/>
              </a:rPr>
              <a:t>PTSD screening + substance abuse assessment auto-triggered</a:t>
            </a:r>
            <a:endParaRPr lang="en-US" sz="950" dirty="0"/>
          </a:p>
        </p:txBody>
      </p:sp>
      <p:sp>
        <p:nvSpPr>
          <p:cNvPr id="21" name="Text 19"/>
          <p:cNvSpPr/>
          <p:nvPr/>
        </p:nvSpPr>
        <p:spPr>
          <a:xfrm>
            <a:off x="4297680" y="4233672"/>
            <a:ext cx="1463040" cy="320040"/>
          </a:xfrm>
          <a:prstGeom prst="rect">
            <a:avLst/>
          </a:prstGeom>
          <a:noFill/>
          <a:ln/>
        </p:spPr>
        <p:txBody>
          <a:bodyPr wrap="square" rtlCol="0" anchor="ctr"/>
          <a:lstStyle/>
          <a:p>
            <a:pPr indent="0" marL="0">
              <a:buNone/>
            </a:pPr>
            <a:r>
              <a:rPr lang="en-US" sz="1000" b="1" dirty="0">
                <a:solidFill>
                  <a:srgbClr val="E8459E"/>
                </a:solidFill>
                <a:latin typeface="Arial" pitchFamily="34" charset="0"/>
                <a:ea typeface="Arial" pitchFamily="34" charset="-122"/>
                <a:cs typeface="Arial" pitchFamily="34" charset="-120"/>
              </a:rPr>
              <a:t>→  Health Equity:</a:t>
            </a:r>
            <a:endParaRPr lang="en-US" sz="1000" dirty="0"/>
          </a:p>
        </p:txBody>
      </p:sp>
      <p:sp>
        <p:nvSpPr>
          <p:cNvPr id="22" name="Text 20"/>
          <p:cNvSpPr/>
          <p:nvPr/>
        </p:nvSpPr>
        <p:spPr>
          <a:xfrm>
            <a:off x="4297680" y="4507992"/>
            <a:ext cx="3566160" cy="365760"/>
          </a:xfrm>
          <a:prstGeom prst="rect">
            <a:avLst/>
          </a:prstGeom>
          <a:noFill/>
          <a:ln/>
        </p:spPr>
        <p:txBody>
          <a:bodyPr wrap="square" rtlCol="0" anchor="ctr"/>
          <a:lstStyle/>
          <a:p>
            <a:pPr indent="0" marL="0">
              <a:lnSpc>
                <a:spcPct val="120000"/>
              </a:lnSpc>
              <a:buNone/>
            </a:pPr>
            <a:r>
              <a:rPr lang="en-US" sz="950" dirty="0">
                <a:solidFill>
                  <a:srgbClr val="8B949E"/>
                </a:solidFill>
                <a:latin typeface="Arial" pitchFamily="34" charset="0"/>
                <a:ea typeface="Arial" pitchFamily="34" charset="-122"/>
                <a:cs typeface="Arial" pitchFamily="34" charset="-120"/>
              </a:rPr>
              <a:t>Full health intake → connected to VA + community providers</a:t>
            </a:r>
            <a:endParaRPr lang="en-US" sz="950" dirty="0"/>
          </a:p>
        </p:txBody>
      </p:sp>
      <p:sp>
        <p:nvSpPr>
          <p:cNvPr id="23" name="Text 21"/>
          <p:cNvSpPr/>
          <p:nvPr/>
        </p:nvSpPr>
        <p:spPr>
          <a:xfrm>
            <a:off x="4297680" y="4946904"/>
            <a:ext cx="1463040" cy="320040"/>
          </a:xfrm>
          <a:prstGeom prst="rect">
            <a:avLst/>
          </a:prstGeom>
          <a:noFill/>
          <a:ln/>
        </p:spPr>
        <p:txBody>
          <a:bodyPr wrap="square" rtlCol="0" anchor="ctr"/>
          <a:lstStyle/>
          <a:p>
            <a:pPr indent="0" marL="0">
              <a:buNone/>
            </a:pPr>
            <a:r>
              <a:rPr lang="en-US" sz="1000" b="1" dirty="0">
                <a:solidFill>
                  <a:srgbClr val="F0B429"/>
                </a:solidFill>
                <a:latin typeface="Arial" pitchFamily="34" charset="0"/>
                <a:ea typeface="Arial" pitchFamily="34" charset="-122"/>
                <a:cs typeface="Arial" pitchFamily="34" charset="-120"/>
              </a:rPr>
              <a:t>→  Education:</a:t>
            </a:r>
            <a:endParaRPr lang="en-US" sz="1000" dirty="0"/>
          </a:p>
        </p:txBody>
      </p:sp>
      <p:sp>
        <p:nvSpPr>
          <p:cNvPr id="24" name="Text 22"/>
          <p:cNvSpPr/>
          <p:nvPr/>
        </p:nvSpPr>
        <p:spPr>
          <a:xfrm>
            <a:off x="4297680" y="5221224"/>
            <a:ext cx="3566160" cy="365760"/>
          </a:xfrm>
          <a:prstGeom prst="rect">
            <a:avLst/>
          </a:prstGeom>
          <a:noFill/>
          <a:ln/>
        </p:spPr>
        <p:txBody>
          <a:bodyPr wrap="square" rtlCol="0" anchor="ctr"/>
          <a:lstStyle/>
          <a:p>
            <a:pPr indent="0" marL="0">
              <a:lnSpc>
                <a:spcPct val="120000"/>
              </a:lnSpc>
              <a:buNone/>
            </a:pPr>
            <a:r>
              <a:rPr lang="en-US" sz="950" dirty="0">
                <a:solidFill>
                  <a:srgbClr val="8B949E"/>
                </a:solidFill>
                <a:latin typeface="Arial" pitchFamily="34" charset="0"/>
                <a:ea typeface="Arial" pitchFamily="34" charset="-122"/>
                <a:cs typeface="Arial" pitchFamily="34" charset="-120"/>
              </a:rPr>
              <a:t>If credentials need updating → training pipeline activates</a:t>
            </a:r>
            <a:endParaRPr lang="en-US" sz="950" dirty="0"/>
          </a:p>
        </p:txBody>
      </p:sp>
      <p:sp>
        <p:nvSpPr>
          <p:cNvPr id="25" name="Text 23"/>
          <p:cNvSpPr/>
          <p:nvPr/>
        </p:nvSpPr>
        <p:spPr>
          <a:xfrm>
            <a:off x="4297680" y="5660136"/>
            <a:ext cx="1463040" cy="320040"/>
          </a:xfrm>
          <a:prstGeom prst="rect">
            <a:avLst/>
          </a:prstGeom>
          <a:noFill/>
          <a:ln/>
        </p:spPr>
        <p:txBody>
          <a:bodyPr wrap="square" rtlCol="0" anchor="ctr"/>
          <a:lstStyle/>
          <a:p>
            <a:pPr indent="0" marL="0">
              <a:buNone/>
            </a:pPr>
            <a:r>
              <a:rPr lang="en-US" sz="1000" b="1" dirty="0">
                <a:solidFill>
                  <a:srgbClr val="00C9A7"/>
                </a:solidFill>
                <a:latin typeface="Arial" pitchFamily="34" charset="0"/>
                <a:ea typeface="Arial" pitchFamily="34" charset="-122"/>
                <a:cs typeface="Arial" pitchFamily="34" charset="-120"/>
              </a:rPr>
              <a:t>→  Community:</a:t>
            </a:r>
            <a:endParaRPr lang="en-US" sz="1000" dirty="0"/>
          </a:p>
        </p:txBody>
      </p:sp>
      <p:sp>
        <p:nvSpPr>
          <p:cNvPr id="26" name="Text 24"/>
          <p:cNvSpPr/>
          <p:nvPr/>
        </p:nvSpPr>
        <p:spPr>
          <a:xfrm>
            <a:off x="4297680" y="5934456"/>
            <a:ext cx="3566160" cy="365760"/>
          </a:xfrm>
          <a:prstGeom prst="rect">
            <a:avLst/>
          </a:prstGeom>
          <a:noFill/>
          <a:ln/>
        </p:spPr>
        <p:txBody>
          <a:bodyPr wrap="square" rtlCol="0" anchor="ctr"/>
          <a:lstStyle/>
          <a:p>
            <a:pPr indent="0" marL="0">
              <a:lnSpc>
                <a:spcPct val="120000"/>
              </a:lnSpc>
              <a:buNone/>
            </a:pPr>
            <a:r>
              <a:rPr lang="en-US" sz="950" dirty="0">
                <a:solidFill>
                  <a:srgbClr val="8B949E"/>
                </a:solidFill>
                <a:latin typeface="Arial" pitchFamily="34" charset="0"/>
                <a:ea typeface="Arial" pitchFamily="34" charset="-122"/>
                <a:cs typeface="Arial" pitchFamily="34" charset="-120"/>
              </a:rPr>
              <a:t>Family services, legal aid, housing — all from one profile</a:t>
            </a:r>
            <a:endParaRPr lang="en-US" sz="950" dirty="0"/>
          </a:p>
        </p:txBody>
      </p:sp>
      <p:sp>
        <p:nvSpPr>
          <p:cNvPr id="27" name="Shape 25"/>
          <p:cNvSpPr/>
          <p:nvPr/>
        </p:nvSpPr>
        <p:spPr>
          <a:xfrm>
            <a:off x="8138160" y="2651760"/>
            <a:ext cx="3749040" cy="3931920"/>
          </a:xfrm>
          <a:prstGeom prst="roundRect">
            <a:avLst>
              <a:gd name="adj" fmla="val 2439"/>
            </a:avLst>
          </a:prstGeom>
          <a:solidFill>
            <a:srgbClr val="161B22"/>
          </a:solidFill>
          <a:ln w="19050">
            <a:solidFill>
              <a:srgbClr val="EF4444"/>
            </a:solidFill>
            <a:prstDash val="solid"/>
          </a:ln>
        </p:spPr>
      </p:sp>
      <p:sp>
        <p:nvSpPr>
          <p:cNvPr id="28" name="Text 26"/>
          <p:cNvSpPr/>
          <p:nvPr/>
        </p:nvSpPr>
        <p:spPr>
          <a:xfrm>
            <a:off x="8138160" y="2697480"/>
            <a:ext cx="3749040" cy="640080"/>
          </a:xfrm>
          <a:prstGeom prst="rect">
            <a:avLst/>
          </a:prstGeom>
          <a:noFill/>
          <a:ln/>
        </p:spPr>
        <p:txBody>
          <a:bodyPr wrap="square" rtlCol="0" anchor="ctr"/>
          <a:lstStyle/>
          <a:p>
            <a:pPr algn="ctr" indent="0" marL="0">
              <a:lnSpc>
                <a:spcPct val="120000"/>
              </a:lnSpc>
              <a:buNone/>
            </a:pPr>
            <a:r>
              <a:rPr lang="en-US" sz="1200" b="1" dirty="0">
                <a:solidFill>
                  <a:srgbClr val="EF4444"/>
                </a:solidFill>
                <a:latin typeface="Arial" pitchFamily="34" charset="0"/>
                <a:ea typeface="Arial" pitchFamily="34" charset="-122"/>
                <a:cs typeface="Arial" pitchFamily="34" charset="-120"/>
              </a:rPr>
              <a:t>A returning citizen enters</a:t>
            </a:r>
            <a:endParaRPr lang="en-US" sz="1200" dirty="0"/>
          </a:p>
          <a:p>
            <a:pPr algn="ctr" indent="0" marL="0">
              <a:lnSpc>
                <a:spcPct val="120000"/>
              </a:lnSpc>
              <a:buNone/>
            </a:pPr>
            <a:r>
              <a:rPr lang="en-US" sz="1200" b="1" dirty="0">
                <a:solidFill>
                  <a:srgbClr val="EF4444"/>
                </a:solidFill>
                <a:latin typeface="Arial" pitchFamily="34" charset="0"/>
                <a:ea typeface="Arial" pitchFamily="34" charset="-122"/>
                <a:cs typeface="Arial" pitchFamily="34" charset="-120"/>
              </a:rPr>
              <a:t>through LifeBridge</a:t>
            </a:r>
            <a:endParaRPr lang="en-US" sz="1200" dirty="0"/>
          </a:p>
        </p:txBody>
      </p:sp>
      <p:sp>
        <p:nvSpPr>
          <p:cNvPr id="29" name="Shape 27"/>
          <p:cNvSpPr/>
          <p:nvPr/>
        </p:nvSpPr>
        <p:spPr>
          <a:xfrm>
            <a:off x="8412480" y="3383280"/>
            <a:ext cx="3200400" cy="18288"/>
          </a:xfrm>
          <a:prstGeom prst="rect">
            <a:avLst/>
          </a:prstGeom>
          <a:solidFill>
            <a:srgbClr val="EF4444"/>
          </a:solidFill>
          <a:ln/>
        </p:spPr>
      </p:sp>
      <p:sp>
        <p:nvSpPr>
          <p:cNvPr id="30" name="Text 28"/>
          <p:cNvSpPr/>
          <p:nvPr/>
        </p:nvSpPr>
        <p:spPr>
          <a:xfrm>
            <a:off x="8229600" y="3520440"/>
            <a:ext cx="1463040" cy="320040"/>
          </a:xfrm>
          <a:prstGeom prst="rect">
            <a:avLst/>
          </a:prstGeom>
          <a:noFill/>
          <a:ln/>
        </p:spPr>
        <p:txBody>
          <a:bodyPr wrap="square" rtlCol="0" anchor="ctr"/>
          <a:lstStyle/>
          <a:p>
            <a:pPr indent="0" marL="0">
              <a:buNone/>
            </a:pPr>
            <a:r>
              <a:rPr lang="en-US" sz="1000" b="1" dirty="0">
                <a:solidFill>
                  <a:srgbClr val="0079F2"/>
                </a:solidFill>
                <a:latin typeface="Arial" pitchFamily="34" charset="0"/>
                <a:ea typeface="Arial" pitchFamily="34" charset="-122"/>
                <a:cs typeface="Arial" pitchFamily="34" charset="-120"/>
              </a:rPr>
              <a:t>→  Workforce:</a:t>
            </a:r>
            <a:endParaRPr lang="en-US" sz="1000" dirty="0"/>
          </a:p>
        </p:txBody>
      </p:sp>
      <p:sp>
        <p:nvSpPr>
          <p:cNvPr id="31" name="Text 29"/>
          <p:cNvSpPr/>
          <p:nvPr/>
        </p:nvSpPr>
        <p:spPr>
          <a:xfrm>
            <a:off x="8229600" y="3794760"/>
            <a:ext cx="3566160" cy="365760"/>
          </a:xfrm>
          <a:prstGeom prst="rect">
            <a:avLst/>
          </a:prstGeom>
          <a:noFill/>
          <a:ln/>
        </p:spPr>
        <p:txBody>
          <a:bodyPr wrap="square" rtlCol="0" anchor="ctr"/>
          <a:lstStyle/>
          <a:p>
            <a:pPr indent="0" marL="0">
              <a:lnSpc>
                <a:spcPct val="120000"/>
              </a:lnSpc>
              <a:buNone/>
            </a:pPr>
            <a:r>
              <a:rPr lang="en-US" sz="950" dirty="0">
                <a:solidFill>
                  <a:srgbClr val="8B949E"/>
                </a:solidFill>
                <a:latin typeface="Arial" pitchFamily="34" charset="0"/>
                <a:ea typeface="Arial" pitchFamily="34" charset="-122"/>
                <a:cs typeface="Arial" pitchFamily="34" charset="-120"/>
              </a:rPr>
              <a:t>Skills assessment + employer matching begins immediately</a:t>
            </a:r>
            <a:endParaRPr lang="en-US" sz="950" dirty="0"/>
          </a:p>
        </p:txBody>
      </p:sp>
      <p:sp>
        <p:nvSpPr>
          <p:cNvPr id="32" name="Text 30"/>
          <p:cNvSpPr/>
          <p:nvPr/>
        </p:nvSpPr>
        <p:spPr>
          <a:xfrm>
            <a:off x="8229600" y="4233672"/>
            <a:ext cx="1463040" cy="320040"/>
          </a:xfrm>
          <a:prstGeom prst="rect">
            <a:avLst/>
          </a:prstGeom>
          <a:noFill/>
          <a:ln/>
        </p:spPr>
        <p:txBody>
          <a:bodyPr wrap="square" rtlCol="0" anchor="ctr"/>
          <a:lstStyle/>
          <a:p>
            <a:pPr indent="0" marL="0">
              <a:buNone/>
            </a:pPr>
            <a:r>
              <a:rPr lang="en-US" sz="1000" b="1" dirty="0">
                <a:solidFill>
                  <a:srgbClr val="8B5CF6"/>
                </a:solidFill>
                <a:latin typeface="Arial" pitchFamily="34" charset="0"/>
                <a:ea typeface="Arial" pitchFamily="34" charset="-122"/>
                <a:cs typeface="Arial" pitchFamily="34" charset="-120"/>
              </a:rPr>
              <a:t>→  Behavioral Health:</a:t>
            </a:r>
            <a:endParaRPr lang="en-US" sz="1000" dirty="0"/>
          </a:p>
        </p:txBody>
      </p:sp>
      <p:sp>
        <p:nvSpPr>
          <p:cNvPr id="33" name="Text 31"/>
          <p:cNvSpPr/>
          <p:nvPr/>
        </p:nvSpPr>
        <p:spPr>
          <a:xfrm>
            <a:off x="8229600" y="4507992"/>
            <a:ext cx="3566160" cy="365760"/>
          </a:xfrm>
          <a:prstGeom prst="rect">
            <a:avLst/>
          </a:prstGeom>
          <a:noFill/>
          <a:ln/>
        </p:spPr>
        <p:txBody>
          <a:bodyPr wrap="square" rtlCol="0" anchor="ctr"/>
          <a:lstStyle/>
          <a:p>
            <a:pPr indent="0" marL="0">
              <a:lnSpc>
                <a:spcPct val="120000"/>
              </a:lnSpc>
              <a:buNone/>
            </a:pPr>
            <a:r>
              <a:rPr lang="en-US" sz="950" dirty="0">
                <a:solidFill>
                  <a:srgbClr val="8B949E"/>
                </a:solidFill>
                <a:latin typeface="Arial" pitchFamily="34" charset="0"/>
                <a:ea typeface="Arial" pitchFamily="34" charset="-122"/>
                <a:cs typeface="Arial" pitchFamily="34" charset="-120"/>
              </a:rPr>
              <a:t>Mental health + substance abuse screening auto-triggered</a:t>
            </a:r>
            <a:endParaRPr lang="en-US" sz="950" dirty="0"/>
          </a:p>
        </p:txBody>
      </p:sp>
      <p:sp>
        <p:nvSpPr>
          <p:cNvPr id="34" name="Text 32"/>
          <p:cNvSpPr/>
          <p:nvPr/>
        </p:nvSpPr>
        <p:spPr>
          <a:xfrm>
            <a:off x="8229600" y="4946904"/>
            <a:ext cx="1463040" cy="320040"/>
          </a:xfrm>
          <a:prstGeom prst="rect">
            <a:avLst/>
          </a:prstGeom>
          <a:noFill/>
          <a:ln/>
        </p:spPr>
        <p:txBody>
          <a:bodyPr wrap="square" rtlCol="0" anchor="ctr"/>
          <a:lstStyle/>
          <a:p>
            <a:pPr indent="0" marL="0">
              <a:buNone/>
            </a:pPr>
            <a:r>
              <a:rPr lang="en-US" sz="1000" b="1" dirty="0">
                <a:solidFill>
                  <a:srgbClr val="EF4444"/>
                </a:solidFill>
                <a:latin typeface="Arial" pitchFamily="34" charset="0"/>
                <a:ea typeface="Arial" pitchFamily="34" charset="-122"/>
                <a:cs typeface="Arial" pitchFamily="34" charset="-120"/>
              </a:rPr>
              <a:t>→  Safety:</a:t>
            </a:r>
            <a:endParaRPr lang="en-US" sz="1000" dirty="0"/>
          </a:p>
        </p:txBody>
      </p:sp>
      <p:sp>
        <p:nvSpPr>
          <p:cNvPr id="35" name="Text 33"/>
          <p:cNvSpPr/>
          <p:nvPr/>
        </p:nvSpPr>
        <p:spPr>
          <a:xfrm>
            <a:off x="8229600" y="5221224"/>
            <a:ext cx="3566160" cy="365760"/>
          </a:xfrm>
          <a:prstGeom prst="rect">
            <a:avLst/>
          </a:prstGeom>
          <a:noFill/>
          <a:ln/>
        </p:spPr>
        <p:txBody>
          <a:bodyPr wrap="square" rtlCol="0" anchor="ctr"/>
          <a:lstStyle/>
          <a:p>
            <a:pPr indent="0" marL="0">
              <a:lnSpc>
                <a:spcPct val="120000"/>
              </a:lnSpc>
              <a:buNone/>
            </a:pPr>
            <a:r>
              <a:rPr lang="en-US" sz="950" dirty="0">
                <a:solidFill>
                  <a:srgbClr val="8B949E"/>
                </a:solidFill>
                <a:latin typeface="Arial" pitchFamily="34" charset="0"/>
                <a:ea typeface="Arial" pitchFamily="34" charset="-122"/>
                <a:cs typeface="Arial" pitchFamily="34" charset="-120"/>
              </a:rPr>
              <a:t>SafeReport verifies mandated reporting compliance for family</a:t>
            </a:r>
            <a:endParaRPr lang="en-US" sz="950" dirty="0"/>
          </a:p>
        </p:txBody>
      </p:sp>
      <p:sp>
        <p:nvSpPr>
          <p:cNvPr id="36" name="Text 34"/>
          <p:cNvSpPr/>
          <p:nvPr/>
        </p:nvSpPr>
        <p:spPr>
          <a:xfrm>
            <a:off x="8229600" y="5660136"/>
            <a:ext cx="1463040" cy="320040"/>
          </a:xfrm>
          <a:prstGeom prst="rect">
            <a:avLst/>
          </a:prstGeom>
          <a:noFill/>
          <a:ln/>
        </p:spPr>
        <p:txBody>
          <a:bodyPr wrap="square" rtlCol="0" anchor="ctr"/>
          <a:lstStyle/>
          <a:p>
            <a:pPr indent="0" marL="0">
              <a:buNone/>
            </a:pPr>
            <a:r>
              <a:rPr lang="en-US" sz="1000" b="1" dirty="0">
                <a:solidFill>
                  <a:srgbClr val="00C9A7"/>
                </a:solidFill>
                <a:latin typeface="Arial" pitchFamily="34" charset="0"/>
                <a:ea typeface="Arial" pitchFamily="34" charset="-122"/>
                <a:cs typeface="Arial" pitchFamily="34" charset="-120"/>
              </a:rPr>
              <a:t>→  Community:</a:t>
            </a:r>
            <a:endParaRPr lang="en-US" sz="1000" dirty="0"/>
          </a:p>
        </p:txBody>
      </p:sp>
      <p:sp>
        <p:nvSpPr>
          <p:cNvPr id="37" name="Text 35"/>
          <p:cNvSpPr/>
          <p:nvPr/>
        </p:nvSpPr>
        <p:spPr>
          <a:xfrm>
            <a:off x="8229600" y="5934456"/>
            <a:ext cx="3566160" cy="365760"/>
          </a:xfrm>
          <a:prstGeom prst="rect">
            <a:avLst/>
          </a:prstGeom>
          <a:noFill/>
          <a:ln/>
        </p:spPr>
        <p:txBody>
          <a:bodyPr wrap="square" rtlCol="0" anchor="ctr"/>
          <a:lstStyle/>
          <a:p>
            <a:pPr indent="0" marL="0">
              <a:lnSpc>
                <a:spcPct val="120000"/>
              </a:lnSpc>
              <a:buNone/>
            </a:pPr>
            <a:r>
              <a:rPr lang="en-US" sz="950" dirty="0">
                <a:solidFill>
                  <a:srgbClr val="8B949E"/>
                </a:solidFill>
                <a:latin typeface="Arial" pitchFamily="34" charset="0"/>
                <a:ea typeface="Arial" pitchFamily="34" charset="-122"/>
                <a:cs typeface="Arial" pitchFamily="34" charset="-120"/>
              </a:rPr>
              <a:t>Housing, benefits, legal aid — coordinated, not referred</a:t>
            </a:r>
            <a:endParaRPr lang="en-US" sz="9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731520" y="365760"/>
            <a:ext cx="4572000" cy="384048"/>
          </a:xfrm>
          <a:prstGeom prst="rect">
            <a:avLst/>
          </a:prstGeom>
          <a:noFill/>
          <a:ln/>
        </p:spPr>
        <p:txBody>
          <a:bodyPr wrap="square" rtlCol="0" anchor="ctr"/>
          <a:lstStyle/>
          <a:p>
            <a:pPr indent="0" marL="0">
              <a:buNone/>
            </a:pPr>
            <a:r>
              <a:rPr lang="en-US" sz="1300" b="1" dirty="0">
                <a:solidFill>
                  <a:srgbClr val="F0B429"/>
                </a:solidFill>
                <a:latin typeface="Arial" pitchFamily="34" charset="0"/>
                <a:ea typeface="Arial" pitchFamily="34" charset="-122"/>
                <a:cs typeface="Arial" pitchFamily="34" charset="-120"/>
              </a:rPr>
              <a:t>The Intelligence Layer</a:t>
            </a:r>
            <a:endParaRPr lang="en-US" sz="1300" dirty="0"/>
          </a:p>
        </p:txBody>
      </p:sp>
      <p:sp>
        <p:nvSpPr>
          <p:cNvPr id="3" name="Text 1"/>
          <p:cNvSpPr/>
          <p:nvPr/>
        </p:nvSpPr>
        <p:spPr>
          <a:xfrm>
            <a:off x="731520" y="777240"/>
            <a:ext cx="10698480" cy="1051560"/>
          </a:xfrm>
          <a:prstGeom prst="rect">
            <a:avLst/>
          </a:prstGeom>
          <a:noFill/>
          <a:ln/>
        </p:spPr>
        <p:txBody>
          <a:bodyPr wrap="square" rtlCol="0" anchor="ctr"/>
          <a:lstStyle/>
          <a:p>
            <a:pPr indent="0" marL="0">
              <a:lnSpc>
                <a:spcPct val="110000"/>
              </a:lnSpc>
              <a:buNone/>
            </a:pPr>
            <a:r>
              <a:rPr lang="en-US" sz="3300" b="1" dirty="0">
                <a:solidFill>
                  <a:srgbClr val="FFFFFF"/>
                </a:solidFill>
                <a:latin typeface="Arial" pitchFamily="34" charset="0"/>
                <a:ea typeface="Arial" pitchFamily="34" charset="-122"/>
                <a:cs typeface="Arial" pitchFamily="34" charset="-120"/>
              </a:rPr>
              <a:t>AI That Sees Across All 24 Platforms —</a:t>
            </a:r>
            <a:endParaRPr lang="en-US" sz="3300" dirty="0"/>
          </a:p>
          <a:p>
            <a:pPr indent="0" marL="0">
              <a:lnSpc>
                <a:spcPct val="110000"/>
              </a:lnSpc>
              <a:buNone/>
            </a:pPr>
            <a:r>
              <a:rPr lang="en-US" sz="3300" b="1" dirty="0">
                <a:solidFill>
                  <a:srgbClr val="FFFFFF"/>
                </a:solidFill>
                <a:latin typeface="Arial" pitchFamily="34" charset="0"/>
                <a:ea typeface="Arial" pitchFamily="34" charset="-122"/>
                <a:cs typeface="Arial" pitchFamily="34" charset="-120"/>
              </a:rPr>
              <a:t>Not Just One Slice of Someone's Life</a:t>
            </a:r>
            <a:endParaRPr lang="en-US" sz="3300" dirty="0"/>
          </a:p>
        </p:txBody>
      </p:sp>
      <p:sp>
        <p:nvSpPr>
          <p:cNvPr id="4" name="Text 2"/>
          <p:cNvSpPr/>
          <p:nvPr/>
        </p:nvSpPr>
        <p:spPr>
          <a:xfrm>
            <a:off x="731520" y="1874520"/>
            <a:ext cx="10515600" cy="502920"/>
          </a:xfrm>
          <a:prstGeom prst="rect">
            <a:avLst/>
          </a:prstGeom>
          <a:noFill/>
          <a:ln/>
        </p:spPr>
        <p:txBody>
          <a:bodyPr wrap="square" rtlCol="0" anchor="ctr"/>
          <a:lstStyle/>
          <a:p>
            <a:pPr indent="0" marL="0">
              <a:lnSpc>
                <a:spcPct val="135000"/>
              </a:lnSpc>
              <a:buNone/>
            </a:pPr>
            <a:r>
              <a:rPr lang="en-US" sz="1300" dirty="0">
                <a:solidFill>
                  <a:srgbClr val="8B949E"/>
                </a:solidFill>
                <a:latin typeface="Arial" pitchFamily="34" charset="0"/>
                <a:ea typeface="Arial" pitchFamily="34" charset="-122"/>
                <a:cs typeface="Arial" pitchFamily="34" charset="-120"/>
              </a:rPr>
              <a:t>This isn't a chatbot added to a website. It's a cross-platform intelligence layer that connects data points no single app can see. Four AI engines work together — if one hallucinates, three catch it.</a:t>
            </a:r>
            <a:endParaRPr lang="en-US" sz="1300" dirty="0"/>
          </a:p>
        </p:txBody>
      </p:sp>
      <p:sp>
        <p:nvSpPr>
          <p:cNvPr id="5" name="Shape 3"/>
          <p:cNvSpPr/>
          <p:nvPr/>
        </p:nvSpPr>
        <p:spPr>
          <a:xfrm>
            <a:off x="457200" y="2560320"/>
            <a:ext cx="5486400" cy="1828800"/>
          </a:xfrm>
          <a:prstGeom prst="roundRect">
            <a:avLst>
              <a:gd name="adj" fmla="val 5000"/>
            </a:avLst>
          </a:prstGeom>
          <a:solidFill>
            <a:srgbClr val="161B22"/>
          </a:solidFill>
          <a:ln w="19050">
            <a:solidFill>
              <a:srgbClr val="E8459E"/>
            </a:solidFill>
            <a:prstDash val="solid"/>
          </a:ln>
        </p:spPr>
      </p:sp>
      <p:sp>
        <p:nvSpPr>
          <p:cNvPr id="6" name="Text 4"/>
          <p:cNvSpPr/>
          <p:nvPr/>
        </p:nvSpPr>
        <p:spPr>
          <a:xfrm>
            <a:off x="594360" y="2651760"/>
            <a:ext cx="1828800" cy="685800"/>
          </a:xfrm>
          <a:prstGeom prst="rect">
            <a:avLst/>
          </a:prstGeom>
          <a:noFill/>
          <a:ln/>
        </p:spPr>
        <p:txBody>
          <a:bodyPr wrap="square" rtlCol="0" anchor="ctr"/>
          <a:lstStyle/>
          <a:p>
            <a:pPr indent="0" marL="0">
              <a:buNone/>
            </a:pPr>
            <a:r>
              <a:rPr lang="en-US" sz="1400" b="1" dirty="0">
                <a:solidFill>
                  <a:srgbClr val="E8459E"/>
                </a:solidFill>
                <a:latin typeface="Arial" pitchFamily="34" charset="0"/>
                <a:ea typeface="Arial" pitchFamily="34" charset="-122"/>
                <a:cs typeface="Arial" pitchFamily="34" charset="-120"/>
              </a:rPr>
              <a:t>Predictive Risk</a:t>
            </a:r>
            <a:endParaRPr lang="en-US" sz="1400" dirty="0"/>
          </a:p>
          <a:p>
            <a:pPr indent="0" marL="0">
              <a:buNone/>
            </a:pPr>
            <a:r>
              <a:rPr lang="en-US" sz="1400" b="1" dirty="0">
                <a:solidFill>
                  <a:srgbClr val="E8459E"/>
                </a:solidFill>
                <a:latin typeface="Arial" pitchFamily="34" charset="0"/>
                <a:ea typeface="Arial" pitchFamily="34" charset="-122"/>
                <a:cs typeface="Arial" pitchFamily="34" charset="-120"/>
              </a:rPr>
              <a:t>Detection</a:t>
            </a:r>
            <a:endParaRPr lang="en-US" sz="1400" dirty="0"/>
          </a:p>
        </p:txBody>
      </p:sp>
      <p:sp>
        <p:nvSpPr>
          <p:cNvPr id="7" name="Text 5"/>
          <p:cNvSpPr/>
          <p:nvPr/>
        </p:nvSpPr>
        <p:spPr>
          <a:xfrm>
            <a:off x="2423160" y="2651760"/>
            <a:ext cx="3337560" cy="1600200"/>
          </a:xfrm>
          <a:prstGeom prst="rect">
            <a:avLst/>
          </a:prstGeom>
          <a:noFill/>
          <a:ln/>
        </p:spPr>
        <p:txBody>
          <a:bodyPr wrap="square" rtlCol="0" anchor="ctr"/>
          <a:lstStyle/>
          <a:p>
            <a:pPr indent="0" marL="0">
              <a:lnSpc>
                <a:spcPct val="130000"/>
              </a:lnSpc>
              <a:buNone/>
            </a:pPr>
            <a:r>
              <a:rPr lang="en-US" sz="1050" dirty="0">
                <a:solidFill>
                  <a:srgbClr val="8B949E"/>
                </a:solidFill>
                <a:latin typeface="Arial" pitchFamily="34" charset="0"/>
                <a:ea typeface="Arial" pitchFamily="34" charset="-122"/>
                <a:cs typeface="Arial" pitchFamily="34" charset="-120"/>
              </a:rPr>
              <a:t>Job loss (workforce) + missed prenatal (health) + housing instability (community) = automatic high-risk alert to the entire care team — before crisis, not after.</a:t>
            </a:r>
            <a:endParaRPr lang="en-US" sz="1050" dirty="0"/>
          </a:p>
        </p:txBody>
      </p:sp>
      <p:sp>
        <p:nvSpPr>
          <p:cNvPr id="8" name="Shape 6"/>
          <p:cNvSpPr/>
          <p:nvPr/>
        </p:nvSpPr>
        <p:spPr>
          <a:xfrm>
            <a:off x="6217920" y="2560320"/>
            <a:ext cx="5486400" cy="1828800"/>
          </a:xfrm>
          <a:prstGeom prst="roundRect">
            <a:avLst>
              <a:gd name="adj" fmla="val 5000"/>
            </a:avLst>
          </a:prstGeom>
          <a:solidFill>
            <a:srgbClr val="161B22"/>
          </a:solidFill>
          <a:ln w="19050">
            <a:solidFill>
              <a:srgbClr val="F0B429"/>
            </a:solidFill>
            <a:prstDash val="solid"/>
          </a:ln>
        </p:spPr>
      </p:sp>
      <p:sp>
        <p:nvSpPr>
          <p:cNvPr id="9" name="Text 7"/>
          <p:cNvSpPr/>
          <p:nvPr/>
        </p:nvSpPr>
        <p:spPr>
          <a:xfrm>
            <a:off x="6355080" y="2651760"/>
            <a:ext cx="1828800" cy="685800"/>
          </a:xfrm>
          <a:prstGeom prst="rect">
            <a:avLst/>
          </a:prstGeom>
          <a:noFill/>
          <a:ln/>
        </p:spPr>
        <p:txBody>
          <a:bodyPr wrap="square" rtlCol="0" anchor="ctr"/>
          <a:lstStyle/>
          <a:p>
            <a:pPr indent="0" marL="0">
              <a:buNone/>
            </a:pPr>
            <a:r>
              <a:rPr lang="en-US" sz="1400" b="1" dirty="0">
                <a:solidFill>
                  <a:srgbClr val="F0B429"/>
                </a:solidFill>
                <a:latin typeface="Arial" pitchFamily="34" charset="0"/>
                <a:ea typeface="Arial" pitchFamily="34" charset="-122"/>
                <a:cs typeface="Arial" pitchFamily="34" charset="-120"/>
              </a:rPr>
              <a:t>Cross-Domain</a:t>
            </a:r>
            <a:endParaRPr lang="en-US" sz="1400" dirty="0"/>
          </a:p>
          <a:p>
            <a:pPr indent="0" marL="0">
              <a:buNone/>
            </a:pPr>
            <a:r>
              <a:rPr lang="en-US" sz="1400" b="1" dirty="0">
                <a:solidFill>
                  <a:srgbClr val="F0B429"/>
                </a:solidFill>
                <a:latin typeface="Arial" pitchFamily="34" charset="0"/>
                <a:ea typeface="Arial" pitchFamily="34" charset="-122"/>
                <a:cs typeface="Arial" pitchFamily="34" charset="-120"/>
              </a:rPr>
              <a:t>Early Warning</a:t>
            </a:r>
            <a:endParaRPr lang="en-US" sz="1400" dirty="0"/>
          </a:p>
        </p:txBody>
      </p:sp>
      <p:sp>
        <p:nvSpPr>
          <p:cNvPr id="10" name="Text 8"/>
          <p:cNvSpPr/>
          <p:nvPr/>
        </p:nvSpPr>
        <p:spPr>
          <a:xfrm>
            <a:off x="8183880" y="2651760"/>
            <a:ext cx="3337560" cy="1600200"/>
          </a:xfrm>
          <a:prstGeom prst="rect">
            <a:avLst/>
          </a:prstGeom>
          <a:noFill/>
          <a:ln/>
        </p:spPr>
        <p:txBody>
          <a:bodyPr wrap="square" rtlCol="0" anchor="ctr"/>
          <a:lstStyle/>
          <a:p>
            <a:pPr indent="0" marL="0">
              <a:lnSpc>
                <a:spcPct val="130000"/>
              </a:lnSpc>
              <a:buNone/>
            </a:pPr>
            <a:r>
              <a:rPr lang="en-US" sz="1050" dirty="0">
                <a:solidFill>
                  <a:srgbClr val="8B949E"/>
                </a:solidFill>
                <a:latin typeface="Arial" pitchFamily="34" charset="0"/>
                <a:ea typeface="Arial" pitchFamily="34" charset="-122"/>
                <a:cs typeface="Arial" pitchFamily="34" charset="-120"/>
              </a:rPr>
              <a:t>Student absences spike (education) → parent's workforce file shows job loss → family services activates → housing navigation begins. One signal, four platforms respond.</a:t>
            </a:r>
            <a:endParaRPr lang="en-US" sz="1050" dirty="0"/>
          </a:p>
        </p:txBody>
      </p:sp>
      <p:sp>
        <p:nvSpPr>
          <p:cNvPr id="11" name="Shape 9"/>
          <p:cNvSpPr/>
          <p:nvPr/>
        </p:nvSpPr>
        <p:spPr>
          <a:xfrm>
            <a:off x="457200" y="4617720"/>
            <a:ext cx="5486400" cy="1828800"/>
          </a:xfrm>
          <a:prstGeom prst="roundRect">
            <a:avLst>
              <a:gd name="adj" fmla="val 5000"/>
            </a:avLst>
          </a:prstGeom>
          <a:solidFill>
            <a:srgbClr val="161B22"/>
          </a:solidFill>
          <a:ln w="19050">
            <a:solidFill>
              <a:srgbClr val="00C9A7"/>
            </a:solidFill>
            <a:prstDash val="solid"/>
          </a:ln>
        </p:spPr>
      </p:sp>
      <p:sp>
        <p:nvSpPr>
          <p:cNvPr id="12" name="Text 10"/>
          <p:cNvSpPr/>
          <p:nvPr/>
        </p:nvSpPr>
        <p:spPr>
          <a:xfrm>
            <a:off x="594360" y="4709160"/>
            <a:ext cx="1828800" cy="685800"/>
          </a:xfrm>
          <a:prstGeom prst="rect">
            <a:avLst/>
          </a:prstGeom>
          <a:noFill/>
          <a:ln/>
        </p:spPr>
        <p:txBody>
          <a:bodyPr wrap="square" rtlCol="0" anchor="ctr"/>
          <a:lstStyle/>
          <a:p>
            <a:pPr indent="0" marL="0">
              <a:buNone/>
            </a:pPr>
            <a:r>
              <a:rPr lang="en-US" sz="1400" b="1" dirty="0">
                <a:solidFill>
                  <a:srgbClr val="00C9A7"/>
                </a:solidFill>
                <a:latin typeface="Arial" pitchFamily="34" charset="0"/>
                <a:ea typeface="Arial" pitchFamily="34" charset="-122"/>
                <a:cs typeface="Arial" pitchFamily="34" charset="-120"/>
              </a:rPr>
              <a:t>Accountability</a:t>
            </a:r>
            <a:endParaRPr lang="en-US" sz="1400" dirty="0"/>
          </a:p>
          <a:p>
            <a:pPr indent="0" marL="0">
              <a:buNone/>
            </a:pPr>
            <a:r>
              <a:rPr lang="en-US" sz="1400" b="1" dirty="0">
                <a:solidFill>
                  <a:srgbClr val="00C9A7"/>
                </a:solidFill>
                <a:latin typeface="Arial" pitchFamily="34" charset="0"/>
                <a:ea typeface="Arial" pitchFamily="34" charset="-122"/>
                <a:cs typeface="Arial" pitchFamily="34" charset="-120"/>
              </a:rPr>
              <a:t>Engine</a:t>
            </a:r>
            <a:endParaRPr lang="en-US" sz="1400" dirty="0"/>
          </a:p>
        </p:txBody>
      </p:sp>
      <p:sp>
        <p:nvSpPr>
          <p:cNvPr id="13" name="Text 11"/>
          <p:cNvSpPr/>
          <p:nvPr/>
        </p:nvSpPr>
        <p:spPr>
          <a:xfrm>
            <a:off x="2423160" y="4709160"/>
            <a:ext cx="3337560" cy="1600200"/>
          </a:xfrm>
          <a:prstGeom prst="rect">
            <a:avLst/>
          </a:prstGeom>
          <a:noFill/>
          <a:ln/>
        </p:spPr>
        <p:txBody>
          <a:bodyPr wrap="square" rtlCol="0" anchor="ctr"/>
          <a:lstStyle/>
          <a:p>
            <a:pPr indent="0" marL="0">
              <a:lnSpc>
                <a:spcPct val="130000"/>
              </a:lnSpc>
              <a:buNone/>
            </a:pPr>
            <a:r>
              <a:rPr lang="en-US" sz="1050" dirty="0">
                <a:solidFill>
                  <a:srgbClr val="8B949E"/>
                </a:solidFill>
                <a:latin typeface="Arial" pitchFamily="34" charset="0"/>
                <a:ea typeface="Arial" pitchFamily="34" charset="-122"/>
                <a:cs typeface="Arial" pitchFamily="34" charset="-120"/>
              </a:rPr>
              <a:t>If a platform isn't following through — a referral sitting unacknowledged, a screening overdue, a service gap growing — the ecosystem flags it. Platforms hold each other accountable because AI monitors the handoffs.</a:t>
            </a:r>
            <a:endParaRPr lang="en-US" sz="1050" dirty="0"/>
          </a:p>
        </p:txBody>
      </p:sp>
      <p:sp>
        <p:nvSpPr>
          <p:cNvPr id="14" name="Shape 12"/>
          <p:cNvSpPr/>
          <p:nvPr/>
        </p:nvSpPr>
        <p:spPr>
          <a:xfrm>
            <a:off x="6217920" y="4617720"/>
            <a:ext cx="5486400" cy="1828800"/>
          </a:xfrm>
          <a:prstGeom prst="roundRect">
            <a:avLst>
              <a:gd name="adj" fmla="val 5000"/>
            </a:avLst>
          </a:prstGeom>
          <a:solidFill>
            <a:srgbClr val="161B22"/>
          </a:solidFill>
          <a:ln w="19050">
            <a:solidFill>
              <a:srgbClr val="0079F2"/>
            </a:solidFill>
            <a:prstDash val="solid"/>
          </a:ln>
        </p:spPr>
      </p:sp>
      <p:sp>
        <p:nvSpPr>
          <p:cNvPr id="15" name="Text 13"/>
          <p:cNvSpPr/>
          <p:nvPr/>
        </p:nvSpPr>
        <p:spPr>
          <a:xfrm>
            <a:off x="6355080" y="4709160"/>
            <a:ext cx="1828800" cy="685800"/>
          </a:xfrm>
          <a:prstGeom prst="rect">
            <a:avLst/>
          </a:prstGeom>
          <a:noFill/>
          <a:ln/>
        </p:spPr>
        <p:txBody>
          <a:bodyPr wrap="square" rtlCol="0" anchor="ctr"/>
          <a:lstStyle/>
          <a:p>
            <a:pPr indent="0" marL="0">
              <a:buNone/>
            </a:pPr>
            <a:r>
              <a:rPr lang="en-US" sz="1400" b="1" dirty="0">
                <a:solidFill>
                  <a:srgbClr val="0079F2"/>
                </a:solidFill>
                <a:latin typeface="Arial" pitchFamily="34" charset="0"/>
                <a:ea typeface="Arial" pitchFamily="34" charset="-122"/>
                <a:cs typeface="Arial" pitchFamily="34" charset="-120"/>
              </a:rPr>
              <a:t>Multi-Engine</a:t>
            </a:r>
            <a:endParaRPr lang="en-US" sz="1400" dirty="0"/>
          </a:p>
          <a:p>
            <a:pPr indent="0" marL="0">
              <a:buNone/>
            </a:pPr>
            <a:r>
              <a:rPr lang="en-US" sz="1400" b="1" dirty="0">
                <a:solidFill>
                  <a:srgbClr val="0079F2"/>
                </a:solidFill>
                <a:latin typeface="Arial" pitchFamily="34" charset="0"/>
                <a:ea typeface="Arial" pitchFamily="34" charset="-122"/>
                <a:cs typeface="Arial" pitchFamily="34" charset="-120"/>
              </a:rPr>
              <a:t>Consensus</a:t>
            </a:r>
            <a:endParaRPr lang="en-US" sz="1400" dirty="0"/>
          </a:p>
        </p:txBody>
      </p:sp>
      <p:sp>
        <p:nvSpPr>
          <p:cNvPr id="16" name="Text 14"/>
          <p:cNvSpPr/>
          <p:nvPr/>
        </p:nvSpPr>
        <p:spPr>
          <a:xfrm>
            <a:off x="8183880" y="4709160"/>
            <a:ext cx="3337560" cy="1600200"/>
          </a:xfrm>
          <a:prstGeom prst="rect">
            <a:avLst/>
          </a:prstGeom>
          <a:noFill/>
          <a:ln/>
        </p:spPr>
        <p:txBody>
          <a:bodyPr wrap="square" rtlCol="0" anchor="ctr"/>
          <a:lstStyle/>
          <a:p>
            <a:pPr indent="0" marL="0">
              <a:lnSpc>
                <a:spcPct val="130000"/>
              </a:lnSpc>
              <a:buNone/>
            </a:pPr>
            <a:r>
              <a:rPr lang="en-US" sz="1050" dirty="0">
                <a:solidFill>
                  <a:srgbClr val="8B949E"/>
                </a:solidFill>
                <a:latin typeface="Arial" pitchFamily="34" charset="0"/>
                <a:ea typeface="Arial" pitchFamily="34" charset="-122"/>
                <a:cs typeface="Arial" pitchFamily="34" charset="-120"/>
              </a:rPr>
              <a:t>4 AI models (GPT-4o, Claude, Gemini, DeepSeek) process every critical decision together. Proposals, risk assessments, care recommendations — all consensus-verified. No single point of failure.</a:t>
            </a:r>
            <a:endParaRPr lang="en-US" sz="10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D1117"/>
        </a:solidFill>
      </p:bgPr>
    </p:bg>
    <p:spTree>
      <p:nvGrpSpPr>
        <p:cNvPr id="1" name=""/>
        <p:cNvGrpSpPr/>
        <p:nvPr/>
      </p:nvGrpSpPr>
      <p:grpSpPr>
        <a:xfrm>
          <a:off x="0" y="0"/>
          <a:ext cx="0" cy="0"/>
          <a:chOff x="0" y="0"/>
          <a:chExt cx="0" cy="0"/>
        </a:xfrm>
      </p:grpSpPr>
      <p:sp>
        <p:nvSpPr>
          <p:cNvPr id="2" name="Shape 0"/>
          <p:cNvSpPr/>
          <p:nvPr/>
        </p:nvSpPr>
        <p:spPr>
          <a:xfrm>
            <a:off x="0" y="0"/>
            <a:ext cx="12188952" cy="109728"/>
          </a:xfrm>
          <a:prstGeom prst="rect">
            <a:avLst/>
          </a:prstGeom>
          <a:solidFill>
            <a:srgbClr val="EF4444"/>
          </a:solidFill>
          <a:ln/>
        </p:spPr>
      </p:sp>
      <p:sp>
        <p:nvSpPr>
          <p:cNvPr id="3" name="Text 1"/>
          <p:cNvSpPr/>
          <p:nvPr/>
        </p:nvSpPr>
        <p:spPr>
          <a:xfrm>
            <a:off x="731520" y="365760"/>
            <a:ext cx="4572000" cy="384048"/>
          </a:xfrm>
          <a:prstGeom prst="rect">
            <a:avLst/>
          </a:prstGeom>
          <a:noFill/>
          <a:ln/>
        </p:spPr>
        <p:txBody>
          <a:bodyPr wrap="square" rtlCol="0" anchor="ctr"/>
          <a:lstStyle/>
          <a:p>
            <a:pPr indent="0" marL="0">
              <a:buNone/>
            </a:pPr>
            <a:r>
              <a:rPr lang="en-US" sz="1300" b="1" dirty="0">
                <a:solidFill>
                  <a:srgbClr val="EF4444"/>
                </a:solidFill>
                <a:latin typeface="Arial" pitchFamily="34" charset="0"/>
                <a:ea typeface="Arial" pitchFamily="34" charset="-122"/>
                <a:cs typeface="Arial" pitchFamily="34" charset="-120"/>
              </a:rPr>
              <a:t>The Ecosystem in Action: Criminal Justice</a:t>
            </a:r>
            <a:endParaRPr lang="en-US" sz="1300" dirty="0"/>
          </a:p>
        </p:txBody>
      </p:sp>
      <p:sp>
        <p:nvSpPr>
          <p:cNvPr id="4" name="Text 2"/>
          <p:cNvSpPr/>
          <p:nvPr/>
        </p:nvSpPr>
        <p:spPr>
          <a:xfrm>
            <a:off x="731520" y="777240"/>
            <a:ext cx="10698480" cy="1051560"/>
          </a:xfrm>
          <a:prstGeom prst="rect">
            <a:avLst/>
          </a:prstGeom>
          <a:noFill/>
          <a:ln/>
        </p:spPr>
        <p:txBody>
          <a:bodyPr wrap="square" rtlCol="0" anchor="ctr"/>
          <a:lstStyle/>
          <a:p>
            <a:pPr indent="0" marL="0">
              <a:lnSpc>
                <a:spcPct val="110000"/>
              </a:lnSpc>
              <a:buNone/>
            </a:pPr>
            <a:r>
              <a:rPr lang="en-US" sz="3300" b="1" dirty="0">
                <a:solidFill>
                  <a:srgbClr val="FFFFFF"/>
                </a:solidFill>
                <a:latin typeface="Arial" pitchFamily="34" charset="0"/>
                <a:ea typeface="Arial" pitchFamily="34" charset="-122"/>
                <a:cs typeface="Arial" pitchFamily="34" charset="-120"/>
              </a:rPr>
              <a:t>One Person. Co-Occurring Needs.</a:t>
            </a:r>
            <a:endParaRPr lang="en-US" sz="3300" dirty="0"/>
          </a:p>
          <a:p>
            <a:pPr indent="0" marL="0">
              <a:lnSpc>
                <a:spcPct val="110000"/>
              </a:lnSpc>
              <a:buNone/>
            </a:pPr>
            <a:r>
              <a:rPr lang="en-US" sz="3300" b="1" dirty="0">
                <a:solidFill>
                  <a:srgbClr val="FFFFFF"/>
                </a:solidFill>
                <a:latin typeface="Arial" pitchFamily="34" charset="0"/>
                <a:ea typeface="Arial" pitchFamily="34" charset="-122"/>
                <a:cs typeface="Arial" pitchFamily="34" charset="-120"/>
              </a:rPr>
              <a:t>Every Platform Responds.</a:t>
            </a:r>
            <a:endParaRPr lang="en-US" sz="3300" dirty="0"/>
          </a:p>
        </p:txBody>
      </p:sp>
      <p:sp>
        <p:nvSpPr>
          <p:cNvPr id="5" name="Text 3"/>
          <p:cNvSpPr/>
          <p:nvPr/>
        </p:nvSpPr>
        <p:spPr>
          <a:xfrm>
            <a:off x="731520" y="1874520"/>
            <a:ext cx="10515600" cy="502920"/>
          </a:xfrm>
          <a:prstGeom prst="rect">
            <a:avLst/>
          </a:prstGeom>
          <a:noFill/>
          <a:ln/>
        </p:spPr>
        <p:txBody>
          <a:bodyPr wrap="square" rtlCol="0" anchor="ctr"/>
          <a:lstStyle/>
          <a:p>
            <a:pPr indent="0" marL="0">
              <a:lnSpc>
                <a:spcPct val="130000"/>
              </a:lnSpc>
              <a:buNone/>
            </a:pPr>
            <a:r>
              <a:rPr lang="en-US" sz="1300" i="1" dirty="0">
                <a:solidFill>
                  <a:srgbClr val="8B949E"/>
                </a:solidFill>
                <a:latin typeface="Arial" pitchFamily="34" charset="0"/>
                <a:ea typeface="Arial" pitchFamily="34" charset="-122"/>
                <a:cs typeface="Arial" pitchFamily="34" charset="-120"/>
              </a:rPr>
              <a:t>Marcus is released from a Texas state facility after 4 years. Today, he gets a bus ticket and a list of phone numbers. In the ThriveUp ecosystem, every platform that can help him already knows he's coming:</a:t>
            </a:r>
            <a:endParaRPr lang="en-US" sz="1300" dirty="0"/>
          </a:p>
        </p:txBody>
      </p:sp>
      <p:sp>
        <p:nvSpPr>
          <p:cNvPr id="6" name="Shape 4"/>
          <p:cNvSpPr/>
          <p:nvPr/>
        </p:nvSpPr>
        <p:spPr>
          <a:xfrm>
            <a:off x="365760" y="2606040"/>
            <a:ext cx="3611880" cy="1783080"/>
          </a:xfrm>
          <a:prstGeom prst="roundRect">
            <a:avLst>
              <a:gd name="adj" fmla="val 4103"/>
            </a:avLst>
          </a:prstGeom>
          <a:solidFill>
            <a:srgbClr val="161B22"/>
          </a:solidFill>
          <a:ln w="12700">
            <a:solidFill>
              <a:srgbClr val="EF4444"/>
            </a:solidFill>
            <a:prstDash val="solid"/>
          </a:ln>
        </p:spPr>
      </p:sp>
      <p:sp>
        <p:nvSpPr>
          <p:cNvPr id="7" name="Text 5"/>
          <p:cNvSpPr/>
          <p:nvPr/>
        </p:nvSpPr>
        <p:spPr>
          <a:xfrm>
            <a:off x="457200" y="2651760"/>
            <a:ext cx="1005840" cy="274320"/>
          </a:xfrm>
          <a:prstGeom prst="rect">
            <a:avLst/>
          </a:prstGeom>
          <a:noFill/>
          <a:ln/>
        </p:spPr>
        <p:txBody>
          <a:bodyPr wrap="square" rtlCol="0" anchor="ctr"/>
          <a:lstStyle/>
          <a:p>
            <a:pPr indent="0" marL="0">
              <a:buNone/>
            </a:pPr>
            <a:r>
              <a:rPr lang="en-US" sz="1100" b="1" dirty="0">
                <a:solidFill>
                  <a:srgbClr val="EF4444"/>
                </a:solidFill>
                <a:latin typeface="Arial" pitchFamily="34" charset="0"/>
                <a:ea typeface="Arial" pitchFamily="34" charset="-122"/>
                <a:cs typeface="Arial" pitchFamily="34" charset="-120"/>
              </a:rPr>
              <a:t>Day 1</a:t>
            </a:r>
            <a:endParaRPr lang="en-US" sz="1100" dirty="0"/>
          </a:p>
        </p:txBody>
      </p:sp>
      <p:sp>
        <p:nvSpPr>
          <p:cNvPr id="8" name="Text 6"/>
          <p:cNvSpPr/>
          <p:nvPr/>
        </p:nvSpPr>
        <p:spPr>
          <a:xfrm>
            <a:off x="1463040" y="2651760"/>
            <a:ext cx="2423160" cy="274320"/>
          </a:xfrm>
          <a:prstGeom prst="rect">
            <a:avLst/>
          </a:prstGeom>
          <a:noFill/>
          <a:ln/>
        </p:spPr>
        <p:txBody>
          <a:bodyPr wrap="square" rtlCol="0" anchor="ctr"/>
          <a:lstStyle/>
          <a:p>
            <a:pPr algn="r" indent="0" marL="0">
              <a:buNone/>
            </a:pPr>
            <a:r>
              <a:rPr lang="en-US" sz="1100" b="1" dirty="0">
                <a:solidFill>
                  <a:srgbClr val="FFFFFF"/>
                </a:solidFill>
                <a:latin typeface="Arial" pitchFamily="34" charset="0"/>
                <a:ea typeface="Arial" pitchFamily="34" charset="-122"/>
                <a:cs typeface="Arial" pitchFamily="34" charset="-120"/>
              </a:rPr>
              <a:t>LifeBridge</a:t>
            </a:r>
            <a:endParaRPr lang="en-US" sz="1100" dirty="0"/>
          </a:p>
        </p:txBody>
      </p:sp>
      <p:sp>
        <p:nvSpPr>
          <p:cNvPr id="9" name="Shape 7"/>
          <p:cNvSpPr/>
          <p:nvPr/>
        </p:nvSpPr>
        <p:spPr>
          <a:xfrm>
            <a:off x="548640" y="2953512"/>
            <a:ext cx="3246120" cy="18288"/>
          </a:xfrm>
          <a:prstGeom prst="rect">
            <a:avLst/>
          </a:prstGeom>
          <a:solidFill>
            <a:srgbClr val="EF4444"/>
          </a:solidFill>
          <a:ln/>
        </p:spPr>
      </p:sp>
      <p:sp>
        <p:nvSpPr>
          <p:cNvPr id="10" name="Text 8"/>
          <p:cNvSpPr/>
          <p:nvPr/>
        </p:nvSpPr>
        <p:spPr>
          <a:xfrm>
            <a:off x="457200" y="3017520"/>
            <a:ext cx="3429000" cy="1234440"/>
          </a:xfrm>
          <a:prstGeom prst="rect">
            <a:avLst/>
          </a:prstGeom>
          <a:noFill/>
          <a:ln/>
        </p:spPr>
        <p:txBody>
          <a:bodyPr wrap="square" rtlCol="0" anchor="ctr"/>
          <a:lstStyle/>
          <a:p>
            <a:pPr indent="0" marL="0">
              <a:lnSpc>
                <a:spcPct val="130000"/>
              </a:lnSpc>
              <a:buNone/>
            </a:pPr>
            <a:r>
              <a:rPr lang="en-US" sz="1000" dirty="0">
                <a:solidFill>
                  <a:srgbClr val="8B949E"/>
                </a:solidFill>
                <a:latin typeface="Arial" pitchFamily="34" charset="0"/>
                <a:ea typeface="Arial" pitchFamily="34" charset="-122"/>
                <a:cs typeface="Arial" pitchFamily="34" charset="-120"/>
              </a:rPr>
              <a:t>Reentry profile created. One record connected to every platform. Housing, health, employment needs assessed in one intake — not eight.</a:t>
            </a:r>
            <a:endParaRPr lang="en-US" sz="1000" dirty="0"/>
          </a:p>
        </p:txBody>
      </p:sp>
      <p:sp>
        <p:nvSpPr>
          <p:cNvPr id="11" name="Shape 9"/>
          <p:cNvSpPr/>
          <p:nvPr/>
        </p:nvSpPr>
        <p:spPr>
          <a:xfrm>
            <a:off x="4206240" y="2606040"/>
            <a:ext cx="3611880" cy="1783080"/>
          </a:xfrm>
          <a:prstGeom prst="roundRect">
            <a:avLst>
              <a:gd name="adj" fmla="val 4103"/>
            </a:avLst>
          </a:prstGeom>
          <a:solidFill>
            <a:srgbClr val="161B22"/>
          </a:solidFill>
          <a:ln w="12700">
            <a:solidFill>
              <a:srgbClr val="0079F2"/>
            </a:solidFill>
            <a:prstDash val="solid"/>
          </a:ln>
        </p:spPr>
      </p:sp>
      <p:sp>
        <p:nvSpPr>
          <p:cNvPr id="12" name="Text 10"/>
          <p:cNvSpPr/>
          <p:nvPr/>
        </p:nvSpPr>
        <p:spPr>
          <a:xfrm>
            <a:off x="4297680" y="2651760"/>
            <a:ext cx="1005840" cy="274320"/>
          </a:xfrm>
          <a:prstGeom prst="rect">
            <a:avLst/>
          </a:prstGeom>
          <a:noFill/>
          <a:ln/>
        </p:spPr>
        <p:txBody>
          <a:bodyPr wrap="square" rtlCol="0" anchor="ctr"/>
          <a:lstStyle/>
          <a:p>
            <a:pPr indent="0" marL="0">
              <a:buNone/>
            </a:pPr>
            <a:r>
              <a:rPr lang="en-US" sz="1100" b="1" dirty="0">
                <a:solidFill>
                  <a:srgbClr val="0079F2"/>
                </a:solidFill>
                <a:latin typeface="Arial" pitchFamily="34" charset="0"/>
                <a:ea typeface="Arial" pitchFamily="34" charset="-122"/>
                <a:cs typeface="Arial" pitchFamily="34" charset="-120"/>
              </a:rPr>
              <a:t>Week 1</a:t>
            </a:r>
            <a:endParaRPr lang="en-US" sz="1100" dirty="0"/>
          </a:p>
        </p:txBody>
      </p:sp>
      <p:sp>
        <p:nvSpPr>
          <p:cNvPr id="13" name="Text 11"/>
          <p:cNvSpPr/>
          <p:nvPr/>
        </p:nvSpPr>
        <p:spPr>
          <a:xfrm>
            <a:off x="5303520" y="2651760"/>
            <a:ext cx="2423160" cy="274320"/>
          </a:xfrm>
          <a:prstGeom prst="rect">
            <a:avLst/>
          </a:prstGeom>
          <a:noFill/>
          <a:ln/>
        </p:spPr>
        <p:txBody>
          <a:bodyPr wrap="square" rtlCol="0" anchor="ctr"/>
          <a:lstStyle/>
          <a:p>
            <a:pPr algn="r" indent="0" marL="0">
              <a:buNone/>
            </a:pPr>
            <a:r>
              <a:rPr lang="en-US" sz="1100" b="1" dirty="0">
                <a:solidFill>
                  <a:srgbClr val="FFFFFF"/>
                </a:solidFill>
                <a:latin typeface="Arial" pitchFamily="34" charset="0"/>
                <a:ea typeface="Arial" pitchFamily="34" charset="-122"/>
                <a:cs typeface="Arial" pitchFamily="34" charset="-120"/>
              </a:rPr>
              <a:t>Workforce + Education</a:t>
            </a:r>
            <a:endParaRPr lang="en-US" sz="1100" dirty="0"/>
          </a:p>
        </p:txBody>
      </p:sp>
      <p:sp>
        <p:nvSpPr>
          <p:cNvPr id="14" name="Shape 12"/>
          <p:cNvSpPr/>
          <p:nvPr/>
        </p:nvSpPr>
        <p:spPr>
          <a:xfrm>
            <a:off x="4389120" y="2953512"/>
            <a:ext cx="3246120" cy="18288"/>
          </a:xfrm>
          <a:prstGeom prst="rect">
            <a:avLst/>
          </a:prstGeom>
          <a:solidFill>
            <a:srgbClr val="0079F2"/>
          </a:solidFill>
          <a:ln/>
        </p:spPr>
      </p:sp>
      <p:sp>
        <p:nvSpPr>
          <p:cNvPr id="15" name="Text 13"/>
          <p:cNvSpPr/>
          <p:nvPr/>
        </p:nvSpPr>
        <p:spPr>
          <a:xfrm>
            <a:off x="4297680" y="3017520"/>
            <a:ext cx="3429000" cy="1234440"/>
          </a:xfrm>
          <a:prstGeom prst="rect">
            <a:avLst/>
          </a:prstGeom>
          <a:noFill/>
          <a:ln/>
        </p:spPr>
        <p:txBody>
          <a:bodyPr wrap="square" rtlCol="0" anchor="ctr"/>
          <a:lstStyle/>
          <a:p>
            <a:pPr indent="0" marL="0">
              <a:lnSpc>
                <a:spcPct val="130000"/>
              </a:lnSpc>
              <a:buNone/>
            </a:pPr>
            <a:r>
              <a:rPr lang="en-US" sz="1000" dirty="0">
                <a:solidFill>
                  <a:srgbClr val="8B949E"/>
                </a:solidFill>
                <a:latin typeface="Arial" pitchFamily="34" charset="0"/>
                <a:ea typeface="Arial" pitchFamily="34" charset="-122"/>
                <a:cs typeface="Arial" pitchFamily="34" charset="-120"/>
              </a:rPr>
              <a:t>AI maps his skills. Identifies certifications. Matches 3 employers. If he needs training first, education pipeline activates automatically.</a:t>
            </a:r>
            <a:endParaRPr lang="en-US" sz="1000" dirty="0"/>
          </a:p>
        </p:txBody>
      </p:sp>
      <p:sp>
        <p:nvSpPr>
          <p:cNvPr id="16" name="Shape 14"/>
          <p:cNvSpPr/>
          <p:nvPr/>
        </p:nvSpPr>
        <p:spPr>
          <a:xfrm>
            <a:off x="8046720" y="2606040"/>
            <a:ext cx="3611880" cy="1783080"/>
          </a:xfrm>
          <a:prstGeom prst="roundRect">
            <a:avLst>
              <a:gd name="adj" fmla="val 4103"/>
            </a:avLst>
          </a:prstGeom>
          <a:solidFill>
            <a:srgbClr val="161B22"/>
          </a:solidFill>
          <a:ln w="12700">
            <a:solidFill>
              <a:srgbClr val="8B5CF6"/>
            </a:solidFill>
            <a:prstDash val="solid"/>
          </a:ln>
        </p:spPr>
      </p:sp>
      <p:sp>
        <p:nvSpPr>
          <p:cNvPr id="17" name="Text 15"/>
          <p:cNvSpPr/>
          <p:nvPr/>
        </p:nvSpPr>
        <p:spPr>
          <a:xfrm>
            <a:off x="8138160" y="2651760"/>
            <a:ext cx="1005840" cy="274320"/>
          </a:xfrm>
          <a:prstGeom prst="rect">
            <a:avLst/>
          </a:prstGeom>
          <a:noFill/>
          <a:ln/>
        </p:spPr>
        <p:txBody>
          <a:bodyPr wrap="square" rtlCol="0" anchor="ctr"/>
          <a:lstStyle/>
          <a:p>
            <a:pPr indent="0" marL="0">
              <a:buNone/>
            </a:pPr>
            <a:r>
              <a:rPr lang="en-US" sz="1100" b="1" dirty="0">
                <a:solidFill>
                  <a:srgbClr val="8B5CF6"/>
                </a:solidFill>
                <a:latin typeface="Arial" pitchFamily="34" charset="0"/>
                <a:ea typeface="Arial" pitchFamily="34" charset="-122"/>
                <a:cs typeface="Arial" pitchFamily="34" charset="-120"/>
              </a:rPr>
              <a:t>Week 2</a:t>
            </a:r>
            <a:endParaRPr lang="en-US" sz="1100" dirty="0"/>
          </a:p>
        </p:txBody>
      </p:sp>
      <p:sp>
        <p:nvSpPr>
          <p:cNvPr id="18" name="Text 16"/>
          <p:cNvSpPr/>
          <p:nvPr/>
        </p:nvSpPr>
        <p:spPr>
          <a:xfrm>
            <a:off x="9144000" y="2651760"/>
            <a:ext cx="2423160" cy="274320"/>
          </a:xfrm>
          <a:prstGeom prst="rect">
            <a:avLst/>
          </a:prstGeom>
          <a:noFill/>
          <a:ln/>
        </p:spPr>
        <p:txBody>
          <a:bodyPr wrap="square" rtlCol="0" anchor="ctr"/>
          <a:lstStyle/>
          <a:p>
            <a:pPr algn="r" indent="0" marL="0">
              <a:buNone/>
            </a:pPr>
            <a:r>
              <a:rPr lang="en-US" sz="1100" b="1" dirty="0">
                <a:solidFill>
                  <a:srgbClr val="FFFFFF"/>
                </a:solidFill>
                <a:latin typeface="Arial" pitchFamily="34" charset="0"/>
                <a:ea typeface="Arial" pitchFamily="34" charset="-122"/>
                <a:cs typeface="Arial" pitchFamily="34" charset="-120"/>
              </a:rPr>
              <a:t>Whole-Person Health</a:t>
            </a:r>
            <a:endParaRPr lang="en-US" sz="1100" dirty="0"/>
          </a:p>
        </p:txBody>
      </p:sp>
      <p:sp>
        <p:nvSpPr>
          <p:cNvPr id="19" name="Shape 17"/>
          <p:cNvSpPr/>
          <p:nvPr/>
        </p:nvSpPr>
        <p:spPr>
          <a:xfrm>
            <a:off x="8229600" y="2953512"/>
            <a:ext cx="3246120" cy="18288"/>
          </a:xfrm>
          <a:prstGeom prst="rect">
            <a:avLst/>
          </a:prstGeom>
          <a:solidFill>
            <a:srgbClr val="8B5CF6"/>
          </a:solidFill>
          <a:ln/>
        </p:spPr>
      </p:sp>
      <p:sp>
        <p:nvSpPr>
          <p:cNvPr id="20" name="Text 18"/>
          <p:cNvSpPr/>
          <p:nvPr/>
        </p:nvSpPr>
        <p:spPr>
          <a:xfrm>
            <a:off x="8138160" y="3017520"/>
            <a:ext cx="3429000" cy="1234440"/>
          </a:xfrm>
          <a:prstGeom prst="rect">
            <a:avLst/>
          </a:prstGeom>
          <a:noFill/>
          <a:ln/>
        </p:spPr>
        <p:txBody>
          <a:bodyPr wrap="square" rtlCol="0" anchor="ctr"/>
          <a:lstStyle/>
          <a:p>
            <a:pPr indent="0" marL="0">
              <a:lnSpc>
                <a:spcPct val="130000"/>
              </a:lnSpc>
              <a:buNone/>
            </a:pPr>
            <a:r>
              <a:rPr lang="en-US" sz="1000" dirty="0">
                <a:solidFill>
                  <a:srgbClr val="8B949E"/>
                </a:solidFill>
                <a:latin typeface="Arial" pitchFamily="34" charset="0"/>
                <a:ea typeface="Arial" pitchFamily="34" charset="-122"/>
                <a:cs typeface="Arial" pitchFamily="34" charset="-120"/>
              </a:rPr>
              <a:t>Behavioral health screening. Substance abuse history flagged. Matched to a provider who understands reentry — not a random referral.</a:t>
            </a:r>
            <a:endParaRPr lang="en-US" sz="1000" dirty="0"/>
          </a:p>
        </p:txBody>
      </p:sp>
      <p:sp>
        <p:nvSpPr>
          <p:cNvPr id="21" name="Shape 19"/>
          <p:cNvSpPr/>
          <p:nvPr/>
        </p:nvSpPr>
        <p:spPr>
          <a:xfrm>
            <a:off x="365760" y="4572000"/>
            <a:ext cx="3611880" cy="1783080"/>
          </a:xfrm>
          <a:prstGeom prst="roundRect">
            <a:avLst>
              <a:gd name="adj" fmla="val 4103"/>
            </a:avLst>
          </a:prstGeom>
          <a:solidFill>
            <a:srgbClr val="161B22"/>
          </a:solidFill>
          <a:ln w="12700">
            <a:solidFill>
              <a:srgbClr val="F0B429"/>
            </a:solidFill>
            <a:prstDash val="solid"/>
          </a:ln>
        </p:spPr>
      </p:sp>
      <p:sp>
        <p:nvSpPr>
          <p:cNvPr id="22" name="Text 20"/>
          <p:cNvSpPr/>
          <p:nvPr/>
        </p:nvSpPr>
        <p:spPr>
          <a:xfrm>
            <a:off x="457200" y="4617720"/>
            <a:ext cx="1005840" cy="274320"/>
          </a:xfrm>
          <a:prstGeom prst="rect">
            <a:avLst/>
          </a:prstGeom>
          <a:noFill/>
          <a:ln/>
        </p:spPr>
        <p:txBody>
          <a:bodyPr wrap="square" rtlCol="0" anchor="ctr"/>
          <a:lstStyle/>
          <a:p>
            <a:pPr indent="0" marL="0">
              <a:buNone/>
            </a:pPr>
            <a:r>
              <a:rPr lang="en-US" sz="1100" b="1" dirty="0">
                <a:solidFill>
                  <a:srgbClr val="F0B429"/>
                </a:solidFill>
                <a:latin typeface="Arial" pitchFamily="34" charset="0"/>
                <a:ea typeface="Arial" pitchFamily="34" charset="-122"/>
                <a:cs typeface="Arial" pitchFamily="34" charset="-120"/>
              </a:rPr>
              <a:t>Week 3</a:t>
            </a:r>
            <a:endParaRPr lang="en-US" sz="1100" dirty="0"/>
          </a:p>
        </p:txBody>
      </p:sp>
      <p:sp>
        <p:nvSpPr>
          <p:cNvPr id="23" name="Text 21"/>
          <p:cNvSpPr/>
          <p:nvPr/>
        </p:nvSpPr>
        <p:spPr>
          <a:xfrm>
            <a:off x="1463040" y="4617720"/>
            <a:ext cx="2423160" cy="274320"/>
          </a:xfrm>
          <a:prstGeom prst="rect">
            <a:avLst/>
          </a:prstGeom>
          <a:noFill/>
          <a:ln/>
        </p:spPr>
        <p:txBody>
          <a:bodyPr wrap="square" rtlCol="0" anchor="ctr"/>
          <a:lstStyle/>
          <a:p>
            <a:pPr algn="r" indent="0" marL="0">
              <a:buNone/>
            </a:pPr>
            <a:r>
              <a:rPr lang="en-US" sz="1100" b="1" dirty="0">
                <a:solidFill>
                  <a:srgbClr val="FFFFFF"/>
                </a:solidFill>
                <a:latin typeface="Arial" pitchFamily="34" charset="0"/>
                <a:ea typeface="Arial" pitchFamily="34" charset="-122"/>
                <a:cs typeface="Arial" pitchFamily="34" charset="-120"/>
              </a:rPr>
              <a:t>SafeReport + ISSS</a:t>
            </a:r>
            <a:endParaRPr lang="en-US" sz="1100" dirty="0"/>
          </a:p>
        </p:txBody>
      </p:sp>
      <p:sp>
        <p:nvSpPr>
          <p:cNvPr id="24" name="Shape 22"/>
          <p:cNvSpPr/>
          <p:nvPr/>
        </p:nvSpPr>
        <p:spPr>
          <a:xfrm>
            <a:off x="548640" y="4919472"/>
            <a:ext cx="3246120" cy="18288"/>
          </a:xfrm>
          <a:prstGeom prst="rect">
            <a:avLst/>
          </a:prstGeom>
          <a:solidFill>
            <a:srgbClr val="F0B429"/>
          </a:solidFill>
          <a:ln/>
        </p:spPr>
      </p:sp>
      <p:sp>
        <p:nvSpPr>
          <p:cNvPr id="25" name="Text 23"/>
          <p:cNvSpPr/>
          <p:nvPr/>
        </p:nvSpPr>
        <p:spPr>
          <a:xfrm>
            <a:off x="457200" y="4983480"/>
            <a:ext cx="3429000" cy="1234440"/>
          </a:xfrm>
          <a:prstGeom prst="rect">
            <a:avLst/>
          </a:prstGeom>
          <a:noFill/>
          <a:ln/>
        </p:spPr>
        <p:txBody>
          <a:bodyPr wrap="square" rtlCol="0" anchor="ctr"/>
          <a:lstStyle/>
          <a:p>
            <a:pPr indent="0" marL="0">
              <a:lnSpc>
                <a:spcPct val="130000"/>
              </a:lnSpc>
              <a:buNone/>
            </a:pPr>
            <a:r>
              <a:rPr lang="en-US" sz="1000" dirty="0">
                <a:solidFill>
                  <a:srgbClr val="8B949E"/>
                </a:solidFill>
                <a:latin typeface="Arial" pitchFamily="34" charset="0"/>
                <a:ea typeface="Arial" pitchFamily="34" charset="-122"/>
                <a:cs typeface="Arial" pitchFamily="34" charset="-120"/>
              </a:rPr>
              <a:t>If he has children — family reunification protocol. Mandated reporting compliance built in. Youth supports connected for his kids.</a:t>
            </a:r>
            <a:endParaRPr lang="en-US" sz="1000" dirty="0"/>
          </a:p>
        </p:txBody>
      </p:sp>
      <p:sp>
        <p:nvSpPr>
          <p:cNvPr id="26" name="Shape 24"/>
          <p:cNvSpPr/>
          <p:nvPr/>
        </p:nvSpPr>
        <p:spPr>
          <a:xfrm>
            <a:off x="4206240" y="4572000"/>
            <a:ext cx="3611880" cy="1783080"/>
          </a:xfrm>
          <a:prstGeom prst="roundRect">
            <a:avLst>
              <a:gd name="adj" fmla="val 4103"/>
            </a:avLst>
          </a:prstGeom>
          <a:solidFill>
            <a:srgbClr val="161B22"/>
          </a:solidFill>
          <a:ln w="12700">
            <a:solidFill>
              <a:srgbClr val="00C9A7"/>
            </a:solidFill>
            <a:prstDash val="solid"/>
          </a:ln>
        </p:spPr>
      </p:sp>
      <p:sp>
        <p:nvSpPr>
          <p:cNvPr id="27" name="Text 25"/>
          <p:cNvSpPr/>
          <p:nvPr/>
        </p:nvSpPr>
        <p:spPr>
          <a:xfrm>
            <a:off x="4297680" y="4617720"/>
            <a:ext cx="1005840" cy="274320"/>
          </a:xfrm>
          <a:prstGeom prst="rect">
            <a:avLst/>
          </a:prstGeom>
          <a:noFill/>
          <a:ln/>
        </p:spPr>
        <p:txBody>
          <a:bodyPr wrap="square" rtlCol="0" anchor="ctr"/>
          <a:lstStyle/>
          <a:p>
            <a:pPr indent="0" marL="0">
              <a:buNone/>
            </a:pPr>
            <a:r>
              <a:rPr lang="en-US" sz="1100" b="1" dirty="0">
                <a:solidFill>
                  <a:srgbClr val="00C9A7"/>
                </a:solidFill>
                <a:latin typeface="Arial" pitchFamily="34" charset="0"/>
                <a:ea typeface="Arial" pitchFamily="34" charset="-122"/>
                <a:cs typeface="Arial" pitchFamily="34" charset="-120"/>
              </a:rPr>
              <a:t>Month 2</a:t>
            </a:r>
            <a:endParaRPr lang="en-US" sz="1100" dirty="0"/>
          </a:p>
        </p:txBody>
      </p:sp>
      <p:sp>
        <p:nvSpPr>
          <p:cNvPr id="28" name="Text 26"/>
          <p:cNvSpPr/>
          <p:nvPr/>
        </p:nvSpPr>
        <p:spPr>
          <a:xfrm>
            <a:off x="5303520" y="4617720"/>
            <a:ext cx="2423160" cy="274320"/>
          </a:xfrm>
          <a:prstGeom prst="rect">
            <a:avLst/>
          </a:prstGeom>
          <a:noFill/>
          <a:ln/>
        </p:spPr>
        <p:txBody>
          <a:bodyPr wrap="square" rtlCol="0" anchor="ctr"/>
          <a:lstStyle/>
          <a:p>
            <a:pPr algn="r" indent="0" marL="0">
              <a:buNone/>
            </a:pPr>
            <a:r>
              <a:rPr lang="en-US" sz="1100" b="1" dirty="0">
                <a:solidFill>
                  <a:srgbClr val="FFFFFF"/>
                </a:solidFill>
                <a:latin typeface="Arial" pitchFamily="34" charset="0"/>
                <a:ea typeface="Arial" pitchFamily="34" charset="-122"/>
                <a:cs typeface="Arial" pitchFamily="34" charset="-120"/>
              </a:rPr>
              <a:t>Collaborative Advocate</a:t>
            </a:r>
            <a:endParaRPr lang="en-US" sz="1100" dirty="0"/>
          </a:p>
        </p:txBody>
      </p:sp>
      <p:sp>
        <p:nvSpPr>
          <p:cNvPr id="29" name="Shape 27"/>
          <p:cNvSpPr/>
          <p:nvPr/>
        </p:nvSpPr>
        <p:spPr>
          <a:xfrm>
            <a:off x="4389120" y="4919472"/>
            <a:ext cx="3246120" cy="18288"/>
          </a:xfrm>
          <a:prstGeom prst="rect">
            <a:avLst/>
          </a:prstGeom>
          <a:solidFill>
            <a:srgbClr val="00C9A7"/>
          </a:solidFill>
          <a:ln/>
        </p:spPr>
      </p:sp>
      <p:sp>
        <p:nvSpPr>
          <p:cNvPr id="30" name="Text 28"/>
          <p:cNvSpPr/>
          <p:nvPr/>
        </p:nvSpPr>
        <p:spPr>
          <a:xfrm>
            <a:off x="4297680" y="4983480"/>
            <a:ext cx="3429000" cy="1234440"/>
          </a:xfrm>
          <a:prstGeom prst="rect">
            <a:avLst/>
          </a:prstGeom>
          <a:noFill/>
          <a:ln/>
        </p:spPr>
        <p:txBody>
          <a:bodyPr wrap="square" rtlCol="0" anchor="ctr"/>
          <a:lstStyle/>
          <a:p>
            <a:pPr indent="0" marL="0">
              <a:lnSpc>
                <a:spcPct val="130000"/>
              </a:lnSpc>
              <a:buNone/>
            </a:pPr>
            <a:r>
              <a:rPr lang="en-US" sz="1000" dirty="0">
                <a:solidFill>
                  <a:srgbClr val="8B949E"/>
                </a:solidFill>
                <a:latin typeface="Arial" pitchFamily="34" charset="0"/>
                <a:ea typeface="Arial" pitchFamily="34" charset="-122"/>
                <a:cs typeface="Arial" pitchFamily="34" charset="-120"/>
              </a:rPr>
              <a:t>Legal aid. Record expungement eligibility. Benefits enrollment. All in the same record his employer and health provider can see.</a:t>
            </a:r>
            <a:endParaRPr lang="en-US" sz="1000" dirty="0"/>
          </a:p>
        </p:txBody>
      </p:sp>
      <p:sp>
        <p:nvSpPr>
          <p:cNvPr id="31" name="Shape 29"/>
          <p:cNvSpPr/>
          <p:nvPr/>
        </p:nvSpPr>
        <p:spPr>
          <a:xfrm>
            <a:off x="8046720" y="4572000"/>
            <a:ext cx="3611880" cy="1783080"/>
          </a:xfrm>
          <a:prstGeom prst="roundRect">
            <a:avLst>
              <a:gd name="adj" fmla="val 4103"/>
            </a:avLst>
          </a:prstGeom>
          <a:solidFill>
            <a:srgbClr val="161B22"/>
          </a:solidFill>
          <a:ln w="12700">
            <a:solidFill>
              <a:srgbClr val="F97316"/>
            </a:solidFill>
            <a:prstDash val="solid"/>
          </a:ln>
        </p:spPr>
      </p:sp>
      <p:sp>
        <p:nvSpPr>
          <p:cNvPr id="32" name="Text 30"/>
          <p:cNvSpPr/>
          <p:nvPr/>
        </p:nvSpPr>
        <p:spPr>
          <a:xfrm>
            <a:off x="8138160" y="4617720"/>
            <a:ext cx="1005840" cy="274320"/>
          </a:xfrm>
          <a:prstGeom prst="rect">
            <a:avLst/>
          </a:prstGeom>
          <a:noFill/>
          <a:ln/>
        </p:spPr>
        <p:txBody>
          <a:bodyPr wrap="square" rtlCol="0" anchor="ctr"/>
          <a:lstStyle/>
          <a:p>
            <a:pPr indent="0" marL="0">
              <a:buNone/>
            </a:pPr>
            <a:r>
              <a:rPr lang="en-US" sz="1100" b="1" dirty="0">
                <a:solidFill>
                  <a:srgbClr val="F97316"/>
                </a:solidFill>
                <a:latin typeface="Arial" pitchFamily="34" charset="0"/>
                <a:ea typeface="Arial" pitchFamily="34" charset="-122"/>
                <a:cs typeface="Arial" pitchFamily="34" charset="-120"/>
              </a:rPr>
              <a:t>Month 6+</a:t>
            </a:r>
            <a:endParaRPr lang="en-US" sz="1100" dirty="0"/>
          </a:p>
        </p:txBody>
      </p:sp>
      <p:sp>
        <p:nvSpPr>
          <p:cNvPr id="33" name="Text 31"/>
          <p:cNvSpPr/>
          <p:nvPr/>
        </p:nvSpPr>
        <p:spPr>
          <a:xfrm>
            <a:off x="9144000" y="4617720"/>
            <a:ext cx="2423160" cy="274320"/>
          </a:xfrm>
          <a:prstGeom prst="rect">
            <a:avLst/>
          </a:prstGeom>
          <a:noFill/>
          <a:ln/>
        </p:spPr>
        <p:txBody>
          <a:bodyPr wrap="square" rtlCol="0" anchor="ctr"/>
          <a:lstStyle/>
          <a:p>
            <a:pPr algn="r" indent="0" marL="0">
              <a:buNone/>
            </a:pPr>
            <a:r>
              <a:rPr lang="en-US" sz="1100" b="1" dirty="0">
                <a:solidFill>
                  <a:srgbClr val="FFFFFF"/>
                </a:solidFill>
                <a:latin typeface="Arial" pitchFamily="34" charset="0"/>
                <a:ea typeface="Arial" pitchFamily="34" charset="-122"/>
                <a:cs typeface="Arial" pitchFamily="34" charset="-120"/>
              </a:rPr>
              <a:t>AI Early Warning</a:t>
            </a:r>
            <a:endParaRPr lang="en-US" sz="1100" dirty="0"/>
          </a:p>
        </p:txBody>
      </p:sp>
      <p:sp>
        <p:nvSpPr>
          <p:cNvPr id="34" name="Shape 32"/>
          <p:cNvSpPr/>
          <p:nvPr/>
        </p:nvSpPr>
        <p:spPr>
          <a:xfrm>
            <a:off x="8229600" y="4919472"/>
            <a:ext cx="3246120" cy="18288"/>
          </a:xfrm>
          <a:prstGeom prst="rect">
            <a:avLst/>
          </a:prstGeom>
          <a:solidFill>
            <a:srgbClr val="F97316"/>
          </a:solidFill>
          <a:ln/>
        </p:spPr>
      </p:sp>
      <p:sp>
        <p:nvSpPr>
          <p:cNvPr id="35" name="Text 33"/>
          <p:cNvSpPr/>
          <p:nvPr/>
        </p:nvSpPr>
        <p:spPr>
          <a:xfrm>
            <a:off x="8138160" y="4983480"/>
            <a:ext cx="3429000" cy="1234440"/>
          </a:xfrm>
          <a:prstGeom prst="rect">
            <a:avLst/>
          </a:prstGeom>
          <a:noFill/>
          <a:ln/>
        </p:spPr>
        <p:txBody>
          <a:bodyPr wrap="square" rtlCol="0" anchor="ctr"/>
          <a:lstStyle/>
          <a:p>
            <a:pPr indent="0" marL="0">
              <a:lnSpc>
                <a:spcPct val="130000"/>
              </a:lnSpc>
              <a:buNone/>
            </a:pPr>
            <a:r>
              <a:rPr lang="en-US" sz="1000" dirty="0">
                <a:solidFill>
                  <a:srgbClr val="8B949E"/>
                </a:solidFill>
                <a:latin typeface="Arial" pitchFamily="34" charset="0"/>
                <a:ea typeface="Arial" pitchFamily="34" charset="-122"/>
                <a:cs typeface="Arial" pitchFamily="34" charset="-120"/>
              </a:rPr>
              <a:t>Cross-platform monitoring. If job lost, health declines, or housing destabilizes — the system flags BEFORE crisis. Whole team alerted.</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731520" y="365760"/>
            <a:ext cx="4572000" cy="384048"/>
          </a:xfrm>
          <a:prstGeom prst="rect">
            <a:avLst/>
          </a:prstGeom>
          <a:noFill/>
          <a:ln/>
        </p:spPr>
        <p:txBody>
          <a:bodyPr wrap="square" rtlCol="0" anchor="ctr"/>
          <a:lstStyle/>
          <a:p>
            <a:pPr indent="0" marL="0">
              <a:buNone/>
            </a:pPr>
            <a:r>
              <a:rPr lang="en-US" sz="1300" b="1" dirty="0">
                <a:solidFill>
                  <a:srgbClr val="E8459E"/>
                </a:solidFill>
                <a:latin typeface="Arial" pitchFamily="34" charset="0"/>
                <a:ea typeface="Arial" pitchFamily="34" charset="-122"/>
                <a:cs typeface="Arial" pitchFamily="34" charset="-120"/>
              </a:rPr>
              <a:t>The Ecosystem in Action: Health • Veterans • Education</a:t>
            </a:r>
            <a:endParaRPr lang="en-US" sz="1300" dirty="0"/>
          </a:p>
        </p:txBody>
      </p:sp>
      <p:sp>
        <p:nvSpPr>
          <p:cNvPr id="3" name="Text 1"/>
          <p:cNvSpPr/>
          <p:nvPr/>
        </p:nvSpPr>
        <p:spPr>
          <a:xfrm>
            <a:off x="731520" y="777240"/>
            <a:ext cx="10698480" cy="1051560"/>
          </a:xfrm>
          <a:prstGeom prst="rect">
            <a:avLst/>
          </a:prstGeom>
          <a:noFill/>
          <a:ln/>
        </p:spPr>
        <p:txBody>
          <a:bodyPr wrap="square" rtlCol="0" anchor="ctr"/>
          <a:lstStyle/>
          <a:p>
            <a:pPr indent="0" marL="0">
              <a:lnSpc>
                <a:spcPct val="110000"/>
              </a:lnSpc>
              <a:buNone/>
            </a:pPr>
            <a:r>
              <a:rPr lang="en-US" sz="3300" b="1" dirty="0">
                <a:solidFill>
                  <a:srgbClr val="FFFFFF"/>
                </a:solidFill>
                <a:latin typeface="Arial" pitchFamily="34" charset="0"/>
                <a:ea typeface="Arial" pitchFamily="34" charset="-122"/>
                <a:cs typeface="Arial" pitchFamily="34" charset="-120"/>
              </a:rPr>
              <a:t>Communities See Themselves —</a:t>
            </a:r>
            <a:endParaRPr lang="en-US" sz="3300" dirty="0"/>
          </a:p>
          <a:p>
            <a:pPr indent="0" marL="0">
              <a:lnSpc>
                <a:spcPct val="110000"/>
              </a:lnSpc>
              <a:buNone/>
            </a:pPr>
            <a:r>
              <a:rPr lang="en-US" sz="3300" b="1" dirty="0">
                <a:solidFill>
                  <a:srgbClr val="FFFFFF"/>
                </a:solidFill>
                <a:latin typeface="Arial" pitchFamily="34" charset="0"/>
                <a:ea typeface="Arial" pitchFamily="34" charset="-122"/>
                <a:cs typeface="Arial" pitchFamily="34" charset="-120"/>
              </a:rPr>
              <a:t>And Find Every Resource They Need</a:t>
            </a:r>
            <a:endParaRPr lang="en-US" sz="3300" dirty="0"/>
          </a:p>
        </p:txBody>
      </p:sp>
      <p:sp>
        <p:nvSpPr>
          <p:cNvPr id="4" name="Shape 2"/>
          <p:cNvSpPr/>
          <p:nvPr/>
        </p:nvSpPr>
        <p:spPr>
          <a:xfrm>
            <a:off x="274320" y="2011680"/>
            <a:ext cx="3703320" cy="4663440"/>
          </a:xfrm>
          <a:prstGeom prst="roundRect">
            <a:avLst>
              <a:gd name="adj" fmla="val 2469"/>
            </a:avLst>
          </a:prstGeom>
          <a:solidFill>
            <a:srgbClr val="161B22"/>
          </a:solidFill>
          <a:ln w="19050">
            <a:solidFill>
              <a:srgbClr val="E8459E"/>
            </a:solidFill>
            <a:prstDash val="solid"/>
          </a:ln>
        </p:spPr>
      </p:sp>
      <p:sp>
        <p:nvSpPr>
          <p:cNvPr id="5" name="Text 3"/>
          <p:cNvSpPr/>
          <p:nvPr/>
        </p:nvSpPr>
        <p:spPr>
          <a:xfrm>
            <a:off x="274320" y="2057400"/>
            <a:ext cx="3703320" cy="365760"/>
          </a:xfrm>
          <a:prstGeom prst="rect">
            <a:avLst/>
          </a:prstGeom>
          <a:noFill/>
          <a:ln/>
        </p:spPr>
        <p:txBody>
          <a:bodyPr wrap="square" rtlCol="0" anchor="ctr"/>
          <a:lstStyle/>
          <a:p>
            <a:pPr algn="ctr" indent="0" marL="0">
              <a:buNone/>
            </a:pPr>
            <a:r>
              <a:rPr lang="en-US" sz="1300" b="1" dirty="0">
                <a:solidFill>
                  <a:srgbClr val="E8459E"/>
                </a:solidFill>
                <a:latin typeface="Arial" pitchFamily="34" charset="0"/>
                <a:ea typeface="Arial" pitchFamily="34" charset="-122"/>
                <a:cs typeface="Arial" pitchFamily="34" charset="-120"/>
              </a:rPr>
              <a:t>HEALTH EQUITY</a:t>
            </a:r>
            <a:endParaRPr lang="en-US" sz="1300" dirty="0"/>
          </a:p>
        </p:txBody>
      </p:sp>
      <p:sp>
        <p:nvSpPr>
          <p:cNvPr id="6" name="Text 4"/>
          <p:cNvSpPr/>
          <p:nvPr/>
        </p:nvSpPr>
        <p:spPr>
          <a:xfrm>
            <a:off x="411480" y="2514600"/>
            <a:ext cx="3429000" cy="274320"/>
          </a:xfrm>
          <a:prstGeom prst="rect">
            <a:avLst/>
          </a:prstGeom>
          <a:noFill/>
          <a:ln/>
        </p:spPr>
        <p:txBody>
          <a:bodyPr wrap="square" rtlCol="0" anchor="ctr"/>
          <a:lstStyle/>
          <a:p>
            <a:pPr indent="0" marL="0">
              <a:buNone/>
            </a:pPr>
            <a:r>
              <a:rPr lang="en-US" sz="1000" b="1" dirty="0">
                <a:solidFill>
                  <a:srgbClr val="FFFFFF"/>
                </a:solidFill>
                <a:latin typeface="Arial" pitchFamily="34" charset="0"/>
                <a:ea typeface="Arial" pitchFamily="34" charset="-122"/>
                <a:cs typeface="Arial" pitchFamily="34" charset="-120"/>
              </a:rPr>
              <a:t>Black Maternal Health Network</a:t>
            </a:r>
            <a:endParaRPr lang="en-US" sz="1000" dirty="0"/>
          </a:p>
        </p:txBody>
      </p:sp>
      <p:sp>
        <p:nvSpPr>
          <p:cNvPr id="7" name="Text 5"/>
          <p:cNvSpPr/>
          <p:nvPr/>
        </p:nvSpPr>
        <p:spPr>
          <a:xfrm>
            <a:off x="411480" y="2743200"/>
            <a:ext cx="3429000" cy="274320"/>
          </a:xfrm>
          <a:prstGeom prst="rect">
            <a:avLst/>
          </a:prstGeom>
          <a:noFill/>
          <a:ln/>
        </p:spPr>
        <p:txBody>
          <a:bodyPr wrap="square" rtlCol="0" anchor="ctr"/>
          <a:lstStyle/>
          <a:p>
            <a:pPr indent="0" marL="0">
              <a:buNone/>
            </a:pPr>
            <a:r>
              <a:rPr lang="en-US" sz="900" dirty="0">
                <a:solidFill>
                  <a:srgbClr val="8B949E"/>
                </a:solidFill>
                <a:latin typeface="Arial" pitchFamily="34" charset="0"/>
                <a:ea typeface="Arial" pitchFamily="34" charset="-122"/>
                <a:cs typeface="Arial" pitchFamily="34" charset="-120"/>
              </a:rPr>
              <a:t>AI risk screening, doula coordination, care matched to lived experience</a:t>
            </a:r>
            <a:endParaRPr lang="en-US" sz="900" dirty="0"/>
          </a:p>
        </p:txBody>
      </p:sp>
      <p:sp>
        <p:nvSpPr>
          <p:cNvPr id="8" name="Text 6"/>
          <p:cNvSpPr/>
          <p:nvPr/>
        </p:nvSpPr>
        <p:spPr>
          <a:xfrm>
            <a:off x="411480" y="3154680"/>
            <a:ext cx="3429000" cy="274320"/>
          </a:xfrm>
          <a:prstGeom prst="rect">
            <a:avLst/>
          </a:prstGeom>
          <a:noFill/>
          <a:ln/>
        </p:spPr>
        <p:txBody>
          <a:bodyPr wrap="square" rtlCol="0" anchor="ctr"/>
          <a:lstStyle/>
          <a:p>
            <a:pPr indent="0" marL="0">
              <a:buNone/>
            </a:pPr>
            <a:r>
              <a:rPr lang="en-US" sz="1000" b="1" dirty="0">
                <a:solidFill>
                  <a:srgbClr val="FFFFFF"/>
                </a:solidFill>
                <a:latin typeface="Arial" pitchFamily="34" charset="0"/>
                <a:ea typeface="Arial" pitchFamily="34" charset="-122"/>
                <a:cs typeface="Arial" pitchFamily="34" charset="-120"/>
              </a:rPr>
              <a:t>Sankofa Health (Breast Cancer)</a:t>
            </a:r>
            <a:endParaRPr lang="en-US" sz="1000" dirty="0"/>
          </a:p>
        </p:txBody>
      </p:sp>
      <p:sp>
        <p:nvSpPr>
          <p:cNvPr id="9" name="Text 7"/>
          <p:cNvSpPr/>
          <p:nvPr/>
        </p:nvSpPr>
        <p:spPr>
          <a:xfrm>
            <a:off x="411480" y="3383280"/>
            <a:ext cx="3429000" cy="274320"/>
          </a:xfrm>
          <a:prstGeom prst="rect">
            <a:avLst/>
          </a:prstGeom>
          <a:noFill/>
          <a:ln/>
        </p:spPr>
        <p:txBody>
          <a:bodyPr wrap="square" rtlCol="0" anchor="ctr"/>
          <a:lstStyle/>
          <a:p>
            <a:pPr indent="0" marL="0">
              <a:buNone/>
            </a:pPr>
            <a:r>
              <a:rPr lang="en-US" sz="900" dirty="0">
                <a:solidFill>
                  <a:srgbClr val="8B949E"/>
                </a:solidFill>
                <a:latin typeface="Arial" pitchFamily="34" charset="0"/>
                <a:ea typeface="Arial" pitchFamily="34" charset="-122"/>
                <a:cs typeface="Arial" pitchFamily="34" charset="-120"/>
              </a:rPr>
              <a:t>Screening navigation, BRCA testing, survivor support networks</a:t>
            </a:r>
            <a:endParaRPr lang="en-US" sz="900" dirty="0"/>
          </a:p>
        </p:txBody>
      </p:sp>
      <p:sp>
        <p:nvSpPr>
          <p:cNvPr id="10" name="Text 8"/>
          <p:cNvSpPr/>
          <p:nvPr/>
        </p:nvSpPr>
        <p:spPr>
          <a:xfrm>
            <a:off x="411480" y="3794760"/>
            <a:ext cx="3429000" cy="274320"/>
          </a:xfrm>
          <a:prstGeom prst="rect">
            <a:avLst/>
          </a:prstGeom>
          <a:noFill/>
          <a:ln/>
        </p:spPr>
        <p:txBody>
          <a:bodyPr wrap="square" rtlCol="0" anchor="ctr"/>
          <a:lstStyle/>
          <a:p>
            <a:pPr indent="0" marL="0">
              <a:buNone/>
            </a:pPr>
            <a:r>
              <a:rPr lang="en-US" sz="1000" b="1" dirty="0">
                <a:solidFill>
                  <a:srgbClr val="FFFFFF"/>
                </a:solidFill>
                <a:latin typeface="Arial" pitchFamily="34" charset="0"/>
                <a:ea typeface="Arial" pitchFamily="34" charset="-122"/>
                <a:cs typeface="Arial" pitchFamily="34" charset="-120"/>
              </a:rPr>
              <a:t>Black Men's Health Hub</a:t>
            </a:r>
            <a:endParaRPr lang="en-US" sz="1000" dirty="0"/>
          </a:p>
        </p:txBody>
      </p:sp>
      <p:sp>
        <p:nvSpPr>
          <p:cNvPr id="11" name="Text 9"/>
          <p:cNvSpPr/>
          <p:nvPr/>
        </p:nvSpPr>
        <p:spPr>
          <a:xfrm>
            <a:off x="411480" y="4023360"/>
            <a:ext cx="3429000" cy="274320"/>
          </a:xfrm>
          <a:prstGeom prst="rect">
            <a:avLst/>
          </a:prstGeom>
          <a:noFill/>
          <a:ln/>
        </p:spPr>
        <p:txBody>
          <a:bodyPr wrap="square" rtlCol="0" anchor="ctr"/>
          <a:lstStyle/>
          <a:p>
            <a:pPr indent="0" marL="0">
              <a:buNone/>
            </a:pPr>
            <a:r>
              <a:rPr lang="en-US" sz="900" dirty="0">
                <a:solidFill>
                  <a:srgbClr val="8B949E"/>
                </a:solidFill>
                <a:latin typeface="Arial" pitchFamily="34" charset="0"/>
                <a:ea typeface="Arial" pitchFamily="34" charset="-122"/>
                <a:cs typeface="Arial" pitchFamily="34" charset="-120"/>
              </a:rPr>
              <a:t>Prostate, cardiovascular, mental health — culturally specific</a:t>
            </a:r>
            <a:endParaRPr lang="en-US" sz="900" dirty="0"/>
          </a:p>
        </p:txBody>
      </p:sp>
      <p:sp>
        <p:nvSpPr>
          <p:cNvPr id="12" name="Text 10"/>
          <p:cNvSpPr/>
          <p:nvPr/>
        </p:nvSpPr>
        <p:spPr>
          <a:xfrm>
            <a:off x="411480" y="4434840"/>
            <a:ext cx="3429000" cy="274320"/>
          </a:xfrm>
          <a:prstGeom prst="rect">
            <a:avLst/>
          </a:prstGeom>
          <a:noFill/>
          <a:ln/>
        </p:spPr>
        <p:txBody>
          <a:bodyPr wrap="square" rtlCol="0" anchor="ctr"/>
          <a:lstStyle/>
          <a:p>
            <a:pPr indent="0" marL="0">
              <a:buNone/>
            </a:pPr>
            <a:r>
              <a:rPr lang="en-US" sz="1000" b="1" dirty="0">
                <a:solidFill>
                  <a:srgbClr val="FFFFFF"/>
                </a:solidFill>
                <a:latin typeface="Arial" pitchFamily="34" charset="0"/>
                <a:ea typeface="Arial" pitchFamily="34" charset="-122"/>
                <a:cs typeface="Arial" pitchFamily="34" charset="-120"/>
              </a:rPr>
              <a:t>Autoimmune CoE</a:t>
            </a:r>
            <a:endParaRPr lang="en-US" sz="1000" dirty="0"/>
          </a:p>
        </p:txBody>
      </p:sp>
      <p:sp>
        <p:nvSpPr>
          <p:cNvPr id="13" name="Text 11"/>
          <p:cNvSpPr/>
          <p:nvPr/>
        </p:nvSpPr>
        <p:spPr>
          <a:xfrm>
            <a:off x="411480" y="4663440"/>
            <a:ext cx="3429000" cy="274320"/>
          </a:xfrm>
          <a:prstGeom prst="rect">
            <a:avLst/>
          </a:prstGeom>
          <a:noFill/>
          <a:ln/>
        </p:spPr>
        <p:txBody>
          <a:bodyPr wrap="square" rtlCol="0" anchor="ctr"/>
          <a:lstStyle/>
          <a:p>
            <a:pPr indent="0" marL="0">
              <a:buNone/>
            </a:pPr>
            <a:r>
              <a:rPr lang="en-US" sz="900" dirty="0">
                <a:solidFill>
                  <a:srgbClr val="8B949E"/>
                </a:solidFill>
                <a:latin typeface="Arial" pitchFamily="34" charset="0"/>
                <a:ea typeface="Arial" pitchFamily="34" charset="-122"/>
                <a:cs typeface="Arial" pitchFamily="34" charset="-120"/>
              </a:rPr>
              <a:t>Lupus, MS, RA — disproportionately affects women of color</a:t>
            </a:r>
            <a:endParaRPr lang="en-US" sz="900" dirty="0"/>
          </a:p>
        </p:txBody>
      </p:sp>
      <p:sp>
        <p:nvSpPr>
          <p:cNvPr id="14" name="Text 12"/>
          <p:cNvSpPr/>
          <p:nvPr/>
        </p:nvSpPr>
        <p:spPr>
          <a:xfrm>
            <a:off x="411480" y="5074920"/>
            <a:ext cx="3429000" cy="274320"/>
          </a:xfrm>
          <a:prstGeom prst="rect">
            <a:avLst/>
          </a:prstGeom>
          <a:noFill/>
          <a:ln/>
        </p:spPr>
        <p:txBody>
          <a:bodyPr wrap="square" rtlCol="0" anchor="ctr"/>
          <a:lstStyle/>
          <a:p>
            <a:pPr indent="0" marL="0">
              <a:buNone/>
            </a:pPr>
            <a:r>
              <a:rPr lang="en-US" sz="1000" b="1" dirty="0">
                <a:solidFill>
                  <a:srgbClr val="FFFFFF"/>
                </a:solidFill>
                <a:latin typeface="Arial" pitchFamily="34" charset="0"/>
                <a:ea typeface="Arial" pitchFamily="34" charset="-122"/>
                <a:cs typeface="Arial" pitchFamily="34" charset="-120"/>
              </a:rPr>
              <a:t>Holistic Black Feminine Health</a:t>
            </a:r>
            <a:endParaRPr lang="en-US" sz="1000" dirty="0"/>
          </a:p>
        </p:txBody>
      </p:sp>
      <p:sp>
        <p:nvSpPr>
          <p:cNvPr id="15" name="Text 13"/>
          <p:cNvSpPr/>
          <p:nvPr/>
        </p:nvSpPr>
        <p:spPr>
          <a:xfrm>
            <a:off x="411480" y="5303520"/>
            <a:ext cx="3429000" cy="274320"/>
          </a:xfrm>
          <a:prstGeom prst="rect">
            <a:avLst/>
          </a:prstGeom>
          <a:noFill/>
          <a:ln/>
        </p:spPr>
        <p:txBody>
          <a:bodyPr wrap="square" rtlCol="0" anchor="ctr"/>
          <a:lstStyle/>
          <a:p>
            <a:pPr indent="0" marL="0">
              <a:buNone/>
            </a:pPr>
            <a:r>
              <a:rPr lang="en-US" sz="900" dirty="0">
                <a:solidFill>
                  <a:srgbClr val="8B949E"/>
                </a:solidFill>
                <a:latin typeface="Arial" pitchFamily="34" charset="0"/>
                <a:ea typeface="Arial" pitchFamily="34" charset="-122"/>
                <a:cs typeface="Arial" pitchFamily="34" charset="-120"/>
              </a:rPr>
              <a:t>Reproductive, mental, spiritual — whole-person wellness</a:t>
            </a:r>
            <a:endParaRPr lang="en-US" sz="900" dirty="0"/>
          </a:p>
        </p:txBody>
      </p:sp>
      <p:sp>
        <p:nvSpPr>
          <p:cNvPr id="16" name="Text 14"/>
          <p:cNvSpPr/>
          <p:nvPr/>
        </p:nvSpPr>
        <p:spPr>
          <a:xfrm>
            <a:off x="411480" y="5715000"/>
            <a:ext cx="3429000" cy="274320"/>
          </a:xfrm>
          <a:prstGeom prst="rect">
            <a:avLst/>
          </a:prstGeom>
          <a:noFill/>
          <a:ln/>
        </p:spPr>
        <p:txBody>
          <a:bodyPr wrap="square" rtlCol="0" anchor="ctr"/>
          <a:lstStyle/>
          <a:p>
            <a:pPr indent="0" marL="0">
              <a:buNone/>
            </a:pPr>
            <a:r>
              <a:rPr lang="en-US" sz="1000" b="1" dirty="0">
                <a:solidFill>
                  <a:srgbClr val="FFFFFF"/>
                </a:solidFill>
                <a:latin typeface="Arial" pitchFamily="34" charset="0"/>
                <a:ea typeface="Arial" pitchFamily="34" charset="-122"/>
                <a:cs typeface="Arial" pitchFamily="34" charset="-120"/>
              </a:rPr>
              <a:t>PillScheduler + SafeCogniCare</a:t>
            </a:r>
            <a:endParaRPr lang="en-US" sz="1000" dirty="0"/>
          </a:p>
        </p:txBody>
      </p:sp>
      <p:sp>
        <p:nvSpPr>
          <p:cNvPr id="17" name="Text 15"/>
          <p:cNvSpPr/>
          <p:nvPr/>
        </p:nvSpPr>
        <p:spPr>
          <a:xfrm>
            <a:off x="411480" y="5943600"/>
            <a:ext cx="3429000" cy="274320"/>
          </a:xfrm>
          <a:prstGeom prst="rect">
            <a:avLst/>
          </a:prstGeom>
          <a:noFill/>
          <a:ln/>
        </p:spPr>
        <p:txBody>
          <a:bodyPr wrap="square" rtlCol="0" anchor="ctr"/>
          <a:lstStyle/>
          <a:p>
            <a:pPr indent="0" marL="0">
              <a:buNone/>
            </a:pPr>
            <a:r>
              <a:rPr lang="en-US" sz="900" dirty="0">
                <a:solidFill>
                  <a:srgbClr val="8B949E"/>
                </a:solidFill>
                <a:latin typeface="Arial" pitchFamily="34" charset="0"/>
                <a:ea typeface="Arial" pitchFamily="34" charset="-122"/>
                <a:cs typeface="Arial" pitchFamily="34" charset="-120"/>
              </a:rPr>
              <a:t>Medication adherence + cognitive health screening</a:t>
            </a:r>
            <a:endParaRPr lang="en-US" sz="900" dirty="0"/>
          </a:p>
        </p:txBody>
      </p:sp>
      <p:sp>
        <p:nvSpPr>
          <p:cNvPr id="18" name="Shape 16"/>
          <p:cNvSpPr/>
          <p:nvPr/>
        </p:nvSpPr>
        <p:spPr>
          <a:xfrm>
            <a:off x="4251960" y="2011680"/>
            <a:ext cx="3703320" cy="4663440"/>
          </a:xfrm>
          <a:prstGeom prst="roundRect">
            <a:avLst>
              <a:gd name="adj" fmla="val 2469"/>
            </a:avLst>
          </a:prstGeom>
          <a:solidFill>
            <a:srgbClr val="161B22"/>
          </a:solidFill>
          <a:ln w="19050">
            <a:solidFill>
              <a:srgbClr val="2EA043"/>
            </a:solidFill>
            <a:prstDash val="solid"/>
          </a:ln>
        </p:spPr>
      </p:sp>
      <p:sp>
        <p:nvSpPr>
          <p:cNvPr id="19" name="Text 17"/>
          <p:cNvSpPr/>
          <p:nvPr/>
        </p:nvSpPr>
        <p:spPr>
          <a:xfrm>
            <a:off x="4251960" y="2057400"/>
            <a:ext cx="3703320" cy="365760"/>
          </a:xfrm>
          <a:prstGeom prst="rect">
            <a:avLst/>
          </a:prstGeom>
          <a:noFill/>
          <a:ln/>
        </p:spPr>
        <p:txBody>
          <a:bodyPr wrap="square" rtlCol="0" anchor="ctr"/>
          <a:lstStyle/>
          <a:p>
            <a:pPr algn="ctr" indent="0" marL="0">
              <a:buNone/>
            </a:pPr>
            <a:r>
              <a:rPr lang="en-US" sz="1300" b="1" dirty="0">
                <a:solidFill>
                  <a:srgbClr val="2EA043"/>
                </a:solidFill>
                <a:latin typeface="Arial" pitchFamily="34" charset="0"/>
                <a:ea typeface="Arial" pitchFamily="34" charset="-122"/>
                <a:cs typeface="Arial" pitchFamily="34" charset="-120"/>
              </a:rPr>
              <a:t>VETERANS &amp; WORKFORCE</a:t>
            </a:r>
            <a:endParaRPr lang="en-US" sz="1300" dirty="0"/>
          </a:p>
        </p:txBody>
      </p:sp>
      <p:sp>
        <p:nvSpPr>
          <p:cNvPr id="20" name="Text 18"/>
          <p:cNvSpPr/>
          <p:nvPr/>
        </p:nvSpPr>
        <p:spPr>
          <a:xfrm>
            <a:off x="4389120" y="2514600"/>
            <a:ext cx="3429000" cy="274320"/>
          </a:xfrm>
          <a:prstGeom prst="rect">
            <a:avLst/>
          </a:prstGeom>
          <a:noFill/>
          <a:ln/>
        </p:spPr>
        <p:txBody>
          <a:bodyPr wrap="square" rtlCol="0" anchor="ctr"/>
          <a:lstStyle/>
          <a:p>
            <a:pPr indent="0" marL="0">
              <a:buNone/>
            </a:pPr>
            <a:r>
              <a:rPr lang="en-US" sz="1000" b="1" dirty="0">
                <a:solidFill>
                  <a:srgbClr val="FFFFFF"/>
                </a:solidFill>
                <a:latin typeface="Arial" pitchFamily="34" charset="0"/>
                <a:ea typeface="Arial" pitchFamily="34" charset="-122"/>
                <a:cs typeface="Arial" pitchFamily="34" charset="-120"/>
              </a:rPr>
              <a:t>Mission Transition (M2C)</a:t>
            </a:r>
            <a:endParaRPr lang="en-US" sz="1000" dirty="0"/>
          </a:p>
        </p:txBody>
      </p:sp>
      <p:sp>
        <p:nvSpPr>
          <p:cNvPr id="21" name="Text 19"/>
          <p:cNvSpPr/>
          <p:nvPr/>
        </p:nvSpPr>
        <p:spPr>
          <a:xfrm>
            <a:off x="4389120" y="2743200"/>
            <a:ext cx="3429000" cy="411480"/>
          </a:xfrm>
          <a:prstGeom prst="rect">
            <a:avLst/>
          </a:prstGeom>
          <a:noFill/>
          <a:ln/>
        </p:spPr>
        <p:txBody>
          <a:bodyPr wrap="square" rtlCol="0" anchor="ctr"/>
          <a:lstStyle/>
          <a:p>
            <a:pPr indent="0" marL="0">
              <a:lnSpc>
                <a:spcPct val="120000"/>
              </a:lnSpc>
              <a:buNone/>
            </a:pPr>
            <a:r>
              <a:rPr lang="en-US" sz="900" dirty="0">
                <a:solidFill>
                  <a:srgbClr val="8B949E"/>
                </a:solidFill>
                <a:latin typeface="Arial" pitchFamily="34" charset="0"/>
                <a:ea typeface="Arial" pitchFamily="34" charset="-122"/>
                <a:cs typeface="Arial" pitchFamily="34" charset="-120"/>
              </a:rPr>
              <a:t>Full pipeline: service record → skills translation → credentialing → employer match → career tracking</a:t>
            </a:r>
            <a:endParaRPr lang="en-US" sz="900" dirty="0"/>
          </a:p>
        </p:txBody>
      </p:sp>
      <p:sp>
        <p:nvSpPr>
          <p:cNvPr id="22" name="Text 20"/>
          <p:cNvSpPr/>
          <p:nvPr/>
        </p:nvSpPr>
        <p:spPr>
          <a:xfrm>
            <a:off x="4389120" y="3291840"/>
            <a:ext cx="3429000" cy="274320"/>
          </a:xfrm>
          <a:prstGeom prst="rect">
            <a:avLst/>
          </a:prstGeom>
          <a:noFill/>
          <a:ln/>
        </p:spPr>
        <p:txBody>
          <a:bodyPr wrap="square" rtlCol="0" anchor="ctr"/>
          <a:lstStyle/>
          <a:p>
            <a:pPr indent="0" marL="0">
              <a:buNone/>
            </a:pPr>
            <a:r>
              <a:rPr lang="en-US" sz="1000" b="1" dirty="0">
                <a:solidFill>
                  <a:srgbClr val="FFFFFF"/>
                </a:solidFill>
                <a:latin typeface="Arial" pitchFamily="34" charset="0"/>
                <a:ea typeface="Arial" pitchFamily="34" charset="-122"/>
                <a:cs typeface="Arial" pitchFamily="34" charset="-120"/>
              </a:rPr>
              <a:t>Connected to Behavioral Health</a:t>
            </a:r>
            <a:endParaRPr lang="en-US" sz="1000" dirty="0"/>
          </a:p>
        </p:txBody>
      </p:sp>
      <p:sp>
        <p:nvSpPr>
          <p:cNvPr id="23" name="Text 21"/>
          <p:cNvSpPr/>
          <p:nvPr/>
        </p:nvSpPr>
        <p:spPr>
          <a:xfrm>
            <a:off x="4389120" y="3520440"/>
            <a:ext cx="3429000" cy="411480"/>
          </a:xfrm>
          <a:prstGeom prst="rect">
            <a:avLst/>
          </a:prstGeom>
          <a:noFill/>
          <a:ln/>
        </p:spPr>
        <p:txBody>
          <a:bodyPr wrap="square" rtlCol="0" anchor="ctr"/>
          <a:lstStyle/>
          <a:p>
            <a:pPr indent="0" marL="0">
              <a:lnSpc>
                <a:spcPct val="120000"/>
              </a:lnSpc>
              <a:buNone/>
            </a:pPr>
            <a:r>
              <a:rPr lang="en-US" sz="900" dirty="0">
                <a:solidFill>
                  <a:srgbClr val="8B949E"/>
                </a:solidFill>
                <a:latin typeface="Arial" pitchFamily="34" charset="0"/>
                <a:ea typeface="Arial" pitchFamily="34" charset="-122"/>
                <a:cs typeface="Arial" pitchFamily="34" charset="-120"/>
              </a:rPr>
              <a:t>PTSD, substance abuse, family counseling — in the same ecosystem, same record</a:t>
            </a:r>
            <a:endParaRPr lang="en-US" sz="900" dirty="0"/>
          </a:p>
        </p:txBody>
      </p:sp>
      <p:sp>
        <p:nvSpPr>
          <p:cNvPr id="24" name="Text 22"/>
          <p:cNvSpPr/>
          <p:nvPr/>
        </p:nvSpPr>
        <p:spPr>
          <a:xfrm>
            <a:off x="4389120" y="4069080"/>
            <a:ext cx="3429000" cy="274320"/>
          </a:xfrm>
          <a:prstGeom prst="rect">
            <a:avLst/>
          </a:prstGeom>
          <a:noFill/>
          <a:ln/>
        </p:spPr>
        <p:txBody>
          <a:bodyPr wrap="square" rtlCol="0" anchor="ctr"/>
          <a:lstStyle/>
          <a:p>
            <a:pPr indent="0" marL="0">
              <a:buNone/>
            </a:pPr>
            <a:r>
              <a:rPr lang="en-US" sz="1000" b="1" dirty="0">
                <a:solidFill>
                  <a:srgbClr val="FFFFFF"/>
                </a:solidFill>
                <a:latin typeface="Arial" pitchFamily="34" charset="0"/>
                <a:ea typeface="Arial" pitchFamily="34" charset="-122"/>
                <a:cs typeface="Arial" pitchFamily="34" charset="-120"/>
              </a:rPr>
              <a:t>Pinnacle Business Conglomerate</a:t>
            </a:r>
            <a:endParaRPr lang="en-US" sz="1000" dirty="0"/>
          </a:p>
        </p:txBody>
      </p:sp>
      <p:sp>
        <p:nvSpPr>
          <p:cNvPr id="25" name="Text 23"/>
          <p:cNvSpPr/>
          <p:nvPr/>
        </p:nvSpPr>
        <p:spPr>
          <a:xfrm>
            <a:off x="4389120" y="4297680"/>
            <a:ext cx="3429000" cy="411480"/>
          </a:xfrm>
          <a:prstGeom prst="rect">
            <a:avLst/>
          </a:prstGeom>
          <a:noFill/>
          <a:ln/>
        </p:spPr>
        <p:txBody>
          <a:bodyPr wrap="square" rtlCol="0" anchor="ctr"/>
          <a:lstStyle/>
          <a:p>
            <a:pPr indent="0" marL="0">
              <a:lnSpc>
                <a:spcPct val="120000"/>
              </a:lnSpc>
              <a:buNone/>
            </a:pPr>
            <a:r>
              <a:rPr lang="en-US" sz="900" dirty="0">
                <a:solidFill>
                  <a:srgbClr val="8B949E"/>
                </a:solidFill>
                <a:latin typeface="Arial" pitchFamily="34" charset="0"/>
                <a:ea typeface="Arial" pitchFamily="34" charset="-122"/>
                <a:cs typeface="Arial" pitchFamily="34" charset="-120"/>
              </a:rPr>
              <a:t>Veteran entrepreneurship — business planning, funding, mentorship</a:t>
            </a:r>
            <a:endParaRPr lang="en-US" sz="900" dirty="0"/>
          </a:p>
        </p:txBody>
      </p:sp>
      <p:sp>
        <p:nvSpPr>
          <p:cNvPr id="26" name="Text 24"/>
          <p:cNvSpPr/>
          <p:nvPr/>
        </p:nvSpPr>
        <p:spPr>
          <a:xfrm>
            <a:off x="4389120" y="4846320"/>
            <a:ext cx="3429000" cy="274320"/>
          </a:xfrm>
          <a:prstGeom prst="rect">
            <a:avLst/>
          </a:prstGeom>
          <a:noFill/>
          <a:ln/>
        </p:spPr>
        <p:txBody>
          <a:bodyPr wrap="square" rtlCol="0" anchor="ctr"/>
          <a:lstStyle/>
          <a:p>
            <a:pPr indent="0" marL="0">
              <a:buNone/>
            </a:pPr>
            <a:r>
              <a:rPr lang="en-US" sz="1000" b="1" dirty="0">
                <a:solidFill>
                  <a:srgbClr val="FFFFFF"/>
                </a:solidFill>
                <a:latin typeface="Arial" pitchFamily="34" charset="0"/>
                <a:ea typeface="Arial" pitchFamily="34" charset="-122"/>
                <a:cs typeface="Arial" pitchFamily="34" charset="-120"/>
              </a:rPr>
              <a:t>Ecosystem Nexus</a:t>
            </a:r>
            <a:endParaRPr lang="en-US" sz="1000" dirty="0"/>
          </a:p>
        </p:txBody>
      </p:sp>
      <p:sp>
        <p:nvSpPr>
          <p:cNvPr id="27" name="Text 25"/>
          <p:cNvSpPr/>
          <p:nvPr/>
        </p:nvSpPr>
        <p:spPr>
          <a:xfrm>
            <a:off x="4389120" y="5074920"/>
            <a:ext cx="3429000" cy="411480"/>
          </a:xfrm>
          <a:prstGeom prst="rect">
            <a:avLst/>
          </a:prstGeom>
          <a:noFill/>
          <a:ln/>
        </p:spPr>
        <p:txBody>
          <a:bodyPr wrap="square" rtlCol="0" anchor="ctr"/>
          <a:lstStyle/>
          <a:p>
            <a:pPr indent="0" marL="0">
              <a:lnSpc>
                <a:spcPct val="120000"/>
              </a:lnSpc>
              <a:buNone/>
            </a:pPr>
            <a:r>
              <a:rPr lang="en-US" sz="900" dirty="0">
                <a:solidFill>
                  <a:srgbClr val="8B949E"/>
                </a:solidFill>
                <a:latin typeface="Arial" pitchFamily="34" charset="0"/>
                <a:ea typeface="Arial" pitchFamily="34" charset="-122"/>
                <a:cs typeface="Arial" pitchFamily="34" charset="-120"/>
              </a:rPr>
              <a:t>Career marketplace connecting trained candidates to employers</a:t>
            </a:r>
            <a:endParaRPr lang="en-US" sz="900" dirty="0"/>
          </a:p>
        </p:txBody>
      </p:sp>
      <p:sp>
        <p:nvSpPr>
          <p:cNvPr id="28" name="Text 26"/>
          <p:cNvSpPr/>
          <p:nvPr/>
        </p:nvSpPr>
        <p:spPr>
          <a:xfrm>
            <a:off x="4389120" y="5623560"/>
            <a:ext cx="3429000" cy="274320"/>
          </a:xfrm>
          <a:prstGeom prst="rect">
            <a:avLst/>
          </a:prstGeom>
          <a:noFill/>
          <a:ln/>
        </p:spPr>
        <p:txBody>
          <a:bodyPr wrap="square" rtlCol="0" anchor="ctr"/>
          <a:lstStyle/>
          <a:p>
            <a:pPr indent="0" marL="0">
              <a:buNone/>
            </a:pPr>
            <a:r>
              <a:rPr lang="en-US" sz="1000" b="1" dirty="0">
                <a:solidFill>
                  <a:srgbClr val="FFFFFF"/>
                </a:solidFill>
                <a:latin typeface="Arial" pitchFamily="34" charset="0"/>
                <a:ea typeface="Arial" pitchFamily="34" charset="-122"/>
                <a:cs typeface="Arial" pitchFamily="34" charset="-120"/>
              </a:rPr>
              <a:t>Minority Center of Excellence</a:t>
            </a:r>
            <a:endParaRPr lang="en-US" sz="1000" dirty="0"/>
          </a:p>
        </p:txBody>
      </p:sp>
      <p:sp>
        <p:nvSpPr>
          <p:cNvPr id="29" name="Text 27"/>
          <p:cNvSpPr/>
          <p:nvPr/>
        </p:nvSpPr>
        <p:spPr>
          <a:xfrm>
            <a:off x="4389120" y="5852160"/>
            <a:ext cx="3429000" cy="411480"/>
          </a:xfrm>
          <a:prstGeom prst="rect">
            <a:avLst/>
          </a:prstGeom>
          <a:noFill/>
          <a:ln/>
        </p:spPr>
        <p:txBody>
          <a:bodyPr wrap="square" rtlCol="0" anchor="ctr"/>
          <a:lstStyle/>
          <a:p>
            <a:pPr indent="0" marL="0">
              <a:lnSpc>
                <a:spcPct val="120000"/>
              </a:lnSpc>
              <a:buNone/>
            </a:pPr>
            <a:r>
              <a:rPr lang="en-US" sz="900" dirty="0">
                <a:solidFill>
                  <a:srgbClr val="8B949E"/>
                </a:solidFill>
                <a:latin typeface="Arial" pitchFamily="34" charset="0"/>
                <a:ea typeface="Arial" pitchFamily="34" charset="-122"/>
                <a:cs typeface="Arial" pitchFamily="34" charset="-120"/>
              </a:rPr>
              <a:t>Small business dev, SAM.gov, government contracting</a:t>
            </a:r>
            <a:endParaRPr lang="en-US" sz="900" dirty="0"/>
          </a:p>
        </p:txBody>
      </p:sp>
      <p:sp>
        <p:nvSpPr>
          <p:cNvPr id="30" name="Shape 28"/>
          <p:cNvSpPr/>
          <p:nvPr/>
        </p:nvSpPr>
        <p:spPr>
          <a:xfrm>
            <a:off x="8229600" y="2011680"/>
            <a:ext cx="3703320" cy="4663440"/>
          </a:xfrm>
          <a:prstGeom prst="roundRect">
            <a:avLst>
              <a:gd name="adj" fmla="val 2469"/>
            </a:avLst>
          </a:prstGeom>
          <a:solidFill>
            <a:srgbClr val="161B22"/>
          </a:solidFill>
          <a:ln w="19050">
            <a:solidFill>
              <a:srgbClr val="F0B429"/>
            </a:solidFill>
            <a:prstDash val="solid"/>
          </a:ln>
        </p:spPr>
      </p:sp>
      <p:sp>
        <p:nvSpPr>
          <p:cNvPr id="31" name="Text 29"/>
          <p:cNvSpPr/>
          <p:nvPr/>
        </p:nvSpPr>
        <p:spPr>
          <a:xfrm>
            <a:off x="8229600" y="2057400"/>
            <a:ext cx="3703320" cy="365760"/>
          </a:xfrm>
          <a:prstGeom prst="rect">
            <a:avLst/>
          </a:prstGeom>
          <a:noFill/>
          <a:ln/>
        </p:spPr>
        <p:txBody>
          <a:bodyPr wrap="square" rtlCol="0" anchor="ctr"/>
          <a:lstStyle/>
          <a:p>
            <a:pPr algn="ctr" indent="0" marL="0">
              <a:buNone/>
            </a:pPr>
            <a:r>
              <a:rPr lang="en-US" sz="1300" b="1" dirty="0">
                <a:solidFill>
                  <a:srgbClr val="F0B429"/>
                </a:solidFill>
                <a:latin typeface="Arial" pitchFamily="34" charset="0"/>
                <a:ea typeface="Arial" pitchFamily="34" charset="-122"/>
                <a:cs typeface="Arial" pitchFamily="34" charset="-120"/>
              </a:rPr>
              <a:t>EDUCATION &amp; LEARNING</a:t>
            </a:r>
            <a:endParaRPr lang="en-US" sz="1300" dirty="0"/>
          </a:p>
        </p:txBody>
      </p:sp>
      <p:sp>
        <p:nvSpPr>
          <p:cNvPr id="32" name="Text 30"/>
          <p:cNvSpPr/>
          <p:nvPr/>
        </p:nvSpPr>
        <p:spPr>
          <a:xfrm>
            <a:off x="8366760" y="2514600"/>
            <a:ext cx="3429000" cy="274320"/>
          </a:xfrm>
          <a:prstGeom prst="rect">
            <a:avLst/>
          </a:prstGeom>
          <a:noFill/>
          <a:ln/>
        </p:spPr>
        <p:txBody>
          <a:bodyPr wrap="square" rtlCol="0" anchor="ctr"/>
          <a:lstStyle/>
          <a:p>
            <a:pPr indent="0" marL="0">
              <a:buNone/>
            </a:pPr>
            <a:r>
              <a:rPr lang="en-US" sz="1000" b="1" dirty="0">
                <a:solidFill>
                  <a:srgbClr val="FFFFFF"/>
                </a:solidFill>
                <a:latin typeface="Arial" pitchFamily="34" charset="0"/>
                <a:ea typeface="Arial" pitchFamily="34" charset="-122"/>
                <a:cs typeface="Arial" pitchFamily="34" charset="-120"/>
              </a:rPr>
              <a:t>ThriveUp Academy</a:t>
            </a:r>
            <a:endParaRPr lang="en-US" sz="1000" dirty="0"/>
          </a:p>
        </p:txBody>
      </p:sp>
      <p:sp>
        <p:nvSpPr>
          <p:cNvPr id="33" name="Text 31"/>
          <p:cNvSpPr/>
          <p:nvPr/>
        </p:nvSpPr>
        <p:spPr>
          <a:xfrm>
            <a:off x="8366760" y="2743200"/>
            <a:ext cx="3429000" cy="411480"/>
          </a:xfrm>
          <a:prstGeom prst="rect">
            <a:avLst/>
          </a:prstGeom>
          <a:noFill/>
          <a:ln/>
        </p:spPr>
        <p:txBody>
          <a:bodyPr wrap="square" rtlCol="0" anchor="ctr"/>
          <a:lstStyle/>
          <a:p>
            <a:pPr indent="0" marL="0">
              <a:lnSpc>
                <a:spcPct val="120000"/>
              </a:lnSpc>
              <a:buNone/>
            </a:pPr>
            <a:r>
              <a:rPr lang="en-US" sz="900" dirty="0">
                <a:solidFill>
                  <a:srgbClr val="8B949E"/>
                </a:solidFill>
                <a:latin typeface="Arial" pitchFamily="34" charset="0"/>
                <a:ea typeface="Arial" pitchFamily="34" charset="-122"/>
                <a:cs typeface="Arial" pitchFamily="34" charset="-120"/>
              </a:rPr>
              <a:t>K-12 + Adult Ed. WIOA-aligned. 100% TEKS coverage verified via live API.</a:t>
            </a:r>
            <a:endParaRPr lang="en-US" sz="900" dirty="0"/>
          </a:p>
        </p:txBody>
      </p:sp>
      <p:sp>
        <p:nvSpPr>
          <p:cNvPr id="34" name="Text 32"/>
          <p:cNvSpPr/>
          <p:nvPr/>
        </p:nvSpPr>
        <p:spPr>
          <a:xfrm>
            <a:off x="8366760" y="3291840"/>
            <a:ext cx="3429000" cy="274320"/>
          </a:xfrm>
          <a:prstGeom prst="rect">
            <a:avLst/>
          </a:prstGeom>
          <a:noFill/>
          <a:ln/>
        </p:spPr>
        <p:txBody>
          <a:bodyPr wrap="square" rtlCol="0" anchor="ctr"/>
          <a:lstStyle/>
          <a:p>
            <a:pPr indent="0" marL="0">
              <a:buNone/>
            </a:pPr>
            <a:r>
              <a:rPr lang="en-US" sz="1000" b="1" dirty="0">
                <a:solidFill>
                  <a:srgbClr val="FFFFFF"/>
                </a:solidFill>
                <a:latin typeface="Arial" pitchFamily="34" charset="0"/>
                <a:ea typeface="Arial" pitchFamily="34" charset="-122"/>
                <a:cs typeface="Arial" pitchFamily="34" charset="-120"/>
              </a:rPr>
              <a:t>Better Science Lab / RPLICE</a:t>
            </a:r>
            <a:endParaRPr lang="en-US" sz="1000" dirty="0"/>
          </a:p>
        </p:txBody>
      </p:sp>
      <p:sp>
        <p:nvSpPr>
          <p:cNvPr id="35" name="Text 33"/>
          <p:cNvSpPr/>
          <p:nvPr/>
        </p:nvSpPr>
        <p:spPr>
          <a:xfrm>
            <a:off x="8366760" y="3520440"/>
            <a:ext cx="3429000" cy="411480"/>
          </a:xfrm>
          <a:prstGeom prst="rect">
            <a:avLst/>
          </a:prstGeom>
          <a:noFill/>
          <a:ln/>
        </p:spPr>
        <p:txBody>
          <a:bodyPr wrap="square" rtlCol="0" anchor="ctr"/>
          <a:lstStyle/>
          <a:p>
            <a:pPr indent="0" marL="0">
              <a:lnSpc>
                <a:spcPct val="120000"/>
              </a:lnSpc>
              <a:buNone/>
            </a:pPr>
            <a:r>
              <a:rPr lang="en-US" sz="900" dirty="0">
                <a:solidFill>
                  <a:srgbClr val="8B949E"/>
                </a:solidFill>
                <a:latin typeface="Arial" pitchFamily="34" charset="0"/>
                <a:ea typeface="Arial" pitchFamily="34" charset="-122"/>
                <a:cs typeface="Arial" pitchFamily="34" charset="-120"/>
              </a:rPr>
              <a:t>Implementation science — CFIR, RE-AIM frameworks for evidence-based practice</a:t>
            </a:r>
            <a:endParaRPr lang="en-US" sz="900" dirty="0"/>
          </a:p>
        </p:txBody>
      </p:sp>
      <p:sp>
        <p:nvSpPr>
          <p:cNvPr id="36" name="Text 34"/>
          <p:cNvSpPr/>
          <p:nvPr/>
        </p:nvSpPr>
        <p:spPr>
          <a:xfrm>
            <a:off x="8366760" y="4069080"/>
            <a:ext cx="3429000" cy="274320"/>
          </a:xfrm>
          <a:prstGeom prst="rect">
            <a:avLst/>
          </a:prstGeom>
          <a:noFill/>
          <a:ln/>
        </p:spPr>
        <p:txBody>
          <a:bodyPr wrap="square" rtlCol="0" anchor="ctr"/>
          <a:lstStyle/>
          <a:p>
            <a:pPr indent="0" marL="0">
              <a:buNone/>
            </a:pPr>
            <a:r>
              <a:rPr lang="en-US" sz="1000" b="1" dirty="0">
                <a:solidFill>
                  <a:srgbClr val="FFFFFF"/>
                </a:solidFill>
                <a:latin typeface="Arial" pitchFamily="34" charset="0"/>
                <a:ea typeface="Arial" pitchFamily="34" charset="-122"/>
                <a:cs typeface="Arial" pitchFamily="34" charset="-120"/>
              </a:rPr>
              <a:t>Perfectly Different</a:t>
            </a:r>
            <a:endParaRPr lang="en-US" sz="1000" dirty="0"/>
          </a:p>
        </p:txBody>
      </p:sp>
      <p:sp>
        <p:nvSpPr>
          <p:cNvPr id="37" name="Text 35"/>
          <p:cNvSpPr/>
          <p:nvPr/>
        </p:nvSpPr>
        <p:spPr>
          <a:xfrm>
            <a:off x="8366760" y="4297680"/>
            <a:ext cx="3429000" cy="411480"/>
          </a:xfrm>
          <a:prstGeom prst="rect">
            <a:avLst/>
          </a:prstGeom>
          <a:noFill/>
          <a:ln/>
        </p:spPr>
        <p:txBody>
          <a:bodyPr wrap="square" rtlCol="0" anchor="ctr"/>
          <a:lstStyle/>
          <a:p>
            <a:pPr indent="0" marL="0">
              <a:lnSpc>
                <a:spcPct val="120000"/>
              </a:lnSpc>
              <a:buNone/>
            </a:pPr>
            <a:r>
              <a:rPr lang="en-US" sz="900" dirty="0">
                <a:solidFill>
                  <a:srgbClr val="8B949E"/>
                </a:solidFill>
                <a:latin typeface="Arial" pitchFamily="34" charset="0"/>
                <a:ea typeface="Arial" pitchFamily="34" charset="-122"/>
                <a:cs typeface="Arial" pitchFamily="34" charset="-120"/>
              </a:rPr>
              <a:t>Special needs education — IEP tracking, adaptive learning, family integration</a:t>
            </a:r>
            <a:endParaRPr lang="en-US" sz="900" dirty="0"/>
          </a:p>
        </p:txBody>
      </p:sp>
      <p:sp>
        <p:nvSpPr>
          <p:cNvPr id="38" name="Text 36"/>
          <p:cNvSpPr/>
          <p:nvPr/>
        </p:nvSpPr>
        <p:spPr>
          <a:xfrm>
            <a:off x="8366760" y="4846320"/>
            <a:ext cx="3429000" cy="274320"/>
          </a:xfrm>
          <a:prstGeom prst="rect">
            <a:avLst/>
          </a:prstGeom>
          <a:noFill/>
          <a:ln/>
        </p:spPr>
        <p:txBody>
          <a:bodyPr wrap="square" rtlCol="0" anchor="ctr"/>
          <a:lstStyle/>
          <a:p>
            <a:pPr indent="0" marL="0">
              <a:buNone/>
            </a:pPr>
            <a:r>
              <a:rPr lang="en-US" sz="1000" b="1" dirty="0">
                <a:solidFill>
                  <a:srgbClr val="FFFFFF"/>
                </a:solidFill>
                <a:latin typeface="Arial" pitchFamily="34" charset="0"/>
                <a:ea typeface="Arial" pitchFamily="34" charset="-122"/>
                <a:cs typeface="Arial" pitchFamily="34" charset="-120"/>
              </a:rPr>
              <a:t>LexiBridge</a:t>
            </a:r>
            <a:endParaRPr lang="en-US" sz="1000" dirty="0"/>
          </a:p>
        </p:txBody>
      </p:sp>
      <p:sp>
        <p:nvSpPr>
          <p:cNvPr id="39" name="Text 37"/>
          <p:cNvSpPr/>
          <p:nvPr/>
        </p:nvSpPr>
        <p:spPr>
          <a:xfrm>
            <a:off x="8366760" y="5074920"/>
            <a:ext cx="3429000" cy="411480"/>
          </a:xfrm>
          <a:prstGeom prst="rect">
            <a:avLst/>
          </a:prstGeom>
          <a:noFill/>
          <a:ln/>
        </p:spPr>
        <p:txBody>
          <a:bodyPr wrap="square" rtlCol="0" anchor="ctr"/>
          <a:lstStyle/>
          <a:p>
            <a:pPr indent="0" marL="0">
              <a:lnSpc>
                <a:spcPct val="120000"/>
              </a:lnSpc>
              <a:buNone/>
            </a:pPr>
            <a:r>
              <a:rPr lang="en-US" sz="900" dirty="0">
                <a:solidFill>
                  <a:srgbClr val="8B949E"/>
                </a:solidFill>
                <a:latin typeface="Arial" pitchFamily="34" charset="0"/>
                <a:ea typeface="Arial" pitchFamily="34" charset="-122"/>
                <a:cs typeface="Arial" pitchFamily="34" charset="-120"/>
              </a:rPr>
              <a:t>Multilingual communication — breaks language barriers across all services</a:t>
            </a:r>
            <a:endParaRPr lang="en-US" sz="900" dirty="0"/>
          </a:p>
        </p:txBody>
      </p:sp>
      <p:sp>
        <p:nvSpPr>
          <p:cNvPr id="40" name="Text 38"/>
          <p:cNvSpPr/>
          <p:nvPr/>
        </p:nvSpPr>
        <p:spPr>
          <a:xfrm>
            <a:off x="8366760" y="5623560"/>
            <a:ext cx="3429000" cy="274320"/>
          </a:xfrm>
          <a:prstGeom prst="rect">
            <a:avLst/>
          </a:prstGeom>
          <a:noFill/>
          <a:ln/>
        </p:spPr>
        <p:txBody>
          <a:bodyPr wrap="square" rtlCol="0" anchor="ctr"/>
          <a:lstStyle/>
          <a:p>
            <a:pPr indent="0" marL="0">
              <a:buNone/>
            </a:pPr>
            <a:r>
              <a:rPr lang="en-US" sz="1000" b="1" dirty="0">
                <a:solidFill>
                  <a:srgbClr val="FFFFFF"/>
                </a:solidFill>
                <a:latin typeface="Arial" pitchFamily="34" charset="0"/>
                <a:ea typeface="Arial" pitchFamily="34" charset="-122"/>
                <a:cs typeface="Arial" pitchFamily="34" charset="-120"/>
              </a:rPr>
              <a:t>WholeMind Learning</a:t>
            </a:r>
            <a:endParaRPr lang="en-US" sz="1000" dirty="0"/>
          </a:p>
        </p:txBody>
      </p:sp>
      <p:sp>
        <p:nvSpPr>
          <p:cNvPr id="41" name="Text 39"/>
          <p:cNvSpPr/>
          <p:nvPr/>
        </p:nvSpPr>
        <p:spPr>
          <a:xfrm>
            <a:off x="8366760" y="5852160"/>
            <a:ext cx="3429000" cy="411480"/>
          </a:xfrm>
          <a:prstGeom prst="rect">
            <a:avLst/>
          </a:prstGeom>
          <a:noFill/>
          <a:ln/>
        </p:spPr>
        <p:txBody>
          <a:bodyPr wrap="square" rtlCol="0" anchor="ctr"/>
          <a:lstStyle/>
          <a:p>
            <a:pPr indent="0" marL="0">
              <a:lnSpc>
                <a:spcPct val="120000"/>
              </a:lnSpc>
              <a:buNone/>
            </a:pPr>
            <a:r>
              <a:rPr lang="en-US" sz="900" dirty="0">
                <a:solidFill>
                  <a:srgbClr val="8B949E"/>
                </a:solidFill>
                <a:latin typeface="Arial" pitchFamily="34" charset="0"/>
                <a:ea typeface="Arial" pitchFamily="34" charset="-122"/>
                <a:cs typeface="Arial" pitchFamily="34" charset="-120"/>
              </a:rPr>
              <a:t>Mental health literacy + coping skills curriculum</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731520" y="365760"/>
            <a:ext cx="4572000" cy="384048"/>
          </a:xfrm>
          <a:prstGeom prst="rect">
            <a:avLst/>
          </a:prstGeom>
          <a:noFill/>
          <a:ln/>
        </p:spPr>
        <p:txBody>
          <a:bodyPr wrap="square" rtlCol="0" anchor="ctr"/>
          <a:lstStyle/>
          <a:p>
            <a:pPr indent="0" marL="0">
              <a:buNone/>
            </a:pPr>
            <a:r>
              <a:rPr lang="en-US" sz="1300" b="1" dirty="0">
                <a:solidFill>
                  <a:srgbClr val="0079F2"/>
                </a:solidFill>
                <a:latin typeface="Arial" pitchFamily="34" charset="0"/>
                <a:ea typeface="Arial" pitchFamily="34" charset="-122"/>
                <a:cs typeface="Arial" pitchFamily="34" charset="-120"/>
              </a:rPr>
              <a:t>Business Model</a:t>
            </a:r>
            <a:endParaRPr lang="en-US" sz="1300" dirty="0"/>
          </a:p>
        </p:txBody>
      </p:sp>
      <p:sp>
        <p:nvSpPr>
          <p:cNvPr id="3" name="Text 1"/>
          <p:cNvSpPr/>
          <p:nvPr/>
        </p:nvSpPr>
        <p:spPr>
          <a:xfrm>
            <a:off x="731520" y="777240"/>
            <a:ext cx="10698480" cy="1051560"/>
          </a:xfrm>
          <a:prstGeom prst="rect">
            <a:avLst/>
          </a:prstGeom>
          <a:noFill/>
          <a:ln/>
        </p:spPr>
        <p:txBody>
          <a:bodyPr wrap="square" rtlCol="0" anchor="ctr"/>
          <a:lstStyle/>
          <a:p>
            <a:pPr indent="0" marL="0">
              <a:lnSpc>
                <a:spcPct val="110000"/>
              </a:lnSpc>
              <a:buNone/>
            </a:pPr>
            <a:r>
              <a:rPr lang="en-US" sz="3300" b="1" dirty="0">
                <a:solidFill>
                  <a:srgbClr val="FFFFFF"/>
                </a:solidFill>
                <a:latin typeface="Arial" pitchFamily="34" charset="0"/>
                <a:ea typeface="Arial" pitchFamily="34" charset="-122"/>
                <a:cs typeface="Arial" pitchFamily="34" charset="-120"/>
              </a:rPr>
              <a:t>SaaS Licensing — Communities Pay</a:t>
            </a:r>
            <a:endParaRPr lang="en-US" sz="3300" dirty="0"/>
          </a:p>
          <a:p>
            <a:pPr indent="0" marL="0">
              <a:lnSpc>
                <a:spcPct val="110000"/>
              </a:lnSpc>
              <a:buNone/>
            </a:pPr>
            <a:r>
              <a:rPr lang="en-US" sz="3300" b="1" dirty="0">
                <a:solidFill>
                  <a:srgbClr val="FFFFFF"/>
                </a:solidFill>
                <a:latin typeface="Arial" pitchFamily="34" charset="0"/>
                <a:ea typeface="Arial" pitchFamily="34" charset="-122"/>
                <a:cs typeface="Arial" pitchFamily="34" charset="-120"/>
              </a:rPr>
              <a:t>for What They Need, When They Need It</a:t>
            </a:r>
            <a:endParaRPr lang="en-US" sz="3300" dirty="0"/>
          </a:p>
        </p:txBody>
      </p:sp>
      <p:sp>
        <p:nvSpPr>
          <p:cNvPr id="4" name="Text 2"/>
          <p:cNvSpPr/>
          <p:nvPr/>
        </p:nvSpPr>
        <p:spPr>
          <a:xfrm>
            <a:off x="731520" y="1874520"/>
            <a:ext cx="10515600" cy="548640"/>
          </a:xfrm>
          <a:prstGeom prst="rect">
            <a:avLst/>
          </a:prstGeom>
          <a:noFill/>
          <a:ln/>
        </p:spPr>
        <p:txBody>
          <a:bodyPr wrap="square" rtlCol="0" anchor="ctr"/>
          <a:lstStyle/>
          <a:p>
            <a:pPr indent="0" marL="0">
              <a:lnSpc>
                <a:spcPct val="135000"/>
              </a:lnSpc>
              <a:buNone/>
            </a:pPr>
            <a:r>
              <a:rPr lang="en-US" sz="1300" dirty="0">
                <a:solidFill>
                  <a:srgbClr val="8B949E"/>
                </a:solidFill>
                <a:latin typeface="Arial" pitchFamily="34" charset="0"/>
                <a:ea typeface="Arial" pitchFamily="34" charset="-122"/>
                <a:cs typeface="Arial" pitchFamily="34" charset="-120"/>
              </a:rPr>
              <a:t>Communities don't buy all 24 platforms at once. They enter where their gap is — maternal health, reentry, workforce, education — and expand as they see what's connected. The ecosystem grows WITH the community.</a:t>
            </a:r>
            <a:endParaRPr lang="en-US" sz="1300" dirty="0"/>
          </a:p>
        </p:txBody>
      </p:sp>
      <p:sp>
        <p:nvSpPr>
          <p:cNvPr id="5" name="Shape 3"/>
          <p:cNvSpPr/>
          <p:nvPr/>
        </p:nvSpPr>
        <p:spPr>
          <a:xfrm>
            <a:off x="731520" y="2651760"/>
            <a:ext cx="3383280" cy="2560320"/>
          </a:xfrm>
          <a:prstGeom prst="roundRect">
            <a:avLst>
              <a:gd name="adj" fmla="val 4286"/>
            </a:avLst>
          </a:prstGeom>
          <a:solidFill>
            <a:srgbClr val="161B22"/>
          </a:solidFill>
          <a:ln w="25400">
            <a:solidFill>
              <a:srgbClr val="0079F2"/>
            </a:solidFill>
            <a:prstDash val="solid"/>
          </a:ln>
        </p:spPr>
      </p:sp>
      <p:sp>
        <p:nvSpPr>
          <p:cNvPr id="6" name="Text 4"/>
          <p:cNvSpPr/>
          <p:nvPr/>
        </p:nvSpPr>
        <p:spPr>
          <a:xfrm>
            <a:off x="731520" y="2697480"/>
            <a:ext cx="3383280" cy="457200"/>
          </a:xfrm>
          <a:prstGeom prst="rect">
            <a:avLst/>
          </a:prstGeom>
          <a:noFill/>
          <a:ln/>
        </p:spPr>
        <p:txBody>
          <a:bodyPr wrap="square" rtlCol="0" anchor="ctr"/>
          <a:lstStyle/>
          <a:p>
            <a:pPr algn="ctr" indent="0" marL="0">
              <a:buNone/>
            </a:pPr>
            <a:r>
              <a:rPr lang="en-US" sz="1800" b="1" dirty="0">
                <a:solidFill>
                  <a:srgbClr val="0079F2"/>
                </a:solidFill>
                <a:latin typeface="Arial" pitchFamily="34" charset="0"/>
                <a:ea typeface="Arial" pitchFamily="34" charset="-122"/>
                <a:cs typeface="Arial" pitchFamily="34" charset="-120"/>
              </a:rPr>
              <a:t>Entry Point</a:t>
            </a:r>
            <a:endParaRPr lang="en-US" sz="1800" dirty="0"/>
          </a:p>
        </p:txBody>
      </p:sp>
      <p:sp>
        <p:nvSpPr>
          <p:cNvPr id="7" name="Shape 5"/>
          <p:cNvSpPr/>
          <p:nvPr/>
        </p:nvSpPr>
        <p:spPr>
          <a:xfrm>
            <a:off x="1097280" y="3154680"/>
            <a:ext cx="2651760" cy="18288"/>
          </a:xfrm>
          <a:prstGeom prst="rect">
            <a:avLst/>
          </a:prstGeom>
          <a:solidFill>
            <a:srgbClr val="0079F2"/>
          </a:solidFill>
          <a:ln/>
        </p:spPr>
      </p:sp>
      <p:sp>
        <p:nvSpPr>
          <p:cNvPr id="8" name="Text 6"/>
          <p:cNvSpPr/>
          <p:nvPr/>
        </p:nvSpPr>
        <p:spPr>
          <a:xfrm>
            <a:off x="914400" y="3246120"/>
            <a:ext cx="3017520" cy="548640"/>
          </a:xfrm>
          <a:prstGeom prst="rect">
            <a:avLst/>
          </a:prstGeom>
          <a:noFill/>
          <a:ln/>
        </p:spPr>
        <p:txBody>
          <a:bodyPr wrap="square" rtlCol="0" anchor="ctr"/>
          <a:lstStyle/>
          <a:p>
            <a:pPr algn="ctr" indent="0" marL="0">
              <a:lnSpc>
                <a:spcPct val="120000"/>
              </a:lnSpc>
              <a:buNone/>
            </a:pPr>
            <a:r>
              <a:rPr lang="en-US" sz="1300" dirty="0">
                <a:solidFill>
                  <a:srgbClr val="FFFFFF"/>
                </a:solidFill>
                <a:latin typeface="Arial" pitchFamily="34" charset="0"/>
                <a:ea typeface="Arial" pitchFamily="34" charset="-122"/>
                <a:cs typeface="Arial" pitchFamily="34" charset="-120"/>
              </a:rPr>
              <a:t>1-3 platforms</a:t>
            </a:r>
            <a:endParaRPr lang="en-US" sz="1300" dirty="0"/>
          </a:p>
          <a:p>
            <a:pPr algn="ctr" indent="0" marL="0">
              <a:lnSpc>
                <a:spcPct val="120000"/>
              </a:lnSpc>
              <a:buNone/>
            </a:pPr>
            <a:r>
              <a:rPr lang="en-US" sz="1300" dirty="0">
                <a:solidFill>
                  <a:srgbClr val="FFFFFF"/>
                </a:solidFill>
                <a:latin typeface="Arial" pitchFamily="34" charset="0"/>
                <a:ea typeface="Arial" pitchFamily="34" charset="-122"/>
                <a:cs typeface="Arial" pitchFamily="34" charset="-120"/>
              </a:rPr>
              <a:t>where the gap is greatest</a:t>
            </a:r>
            <a:endParaRPr lang="en-US" sz="1300" dirty="0"/>
          </a:p>
        </p:txBody>
      </p:sp>
      <p:sp>
        <p:nvSpPr>
          <p:cNvPr id="9" name="Text 7"/>
          <p:cNvSpPr/>
          <p:nvPr/>
        </p:nvSpPr>
        <p:spPr>
          <a:xfrm>
            <a:off x="914400" y="3886200"/>
            <a:ext cx="3017520" cy="1005840"/>
          </a:xfrm>
          <a:prstGeom prst="rect">
            <a:avLst/>
          </a:prstGeom>
          <a:noFill/>
          <a:ln/>
        </p:spPr>
        <p:txBody>
          <a:bodyPr wrap="square" rtlCol="0" anchor="ctr"/>
          <a:lstStyle/>
          <a:p>
            <a:pPr algn="ctr" indent="0" marL="0">
              <a:lnSpc>
                <a:spcPct val="130000"/>
              </a:lnSpc>
              <a:buNone/>
            </a:pPr>
            <a:r>
              <a:rPr lang="en-US" sz="1000" i="1" dirty="0">
                <a:solidFill>
                  <a:srgbClr val="8B949E"/>
                </a:solidFill>
                <a:latin typeface="Arial" pitchFamily="34" charset="0"/>
                <a:ea typeface="Arial" pitchFamily="34" charset="-122"/>
                <a:cs typeface="Arial" pitchFamily="34" charset="-120"/>
              </a:rPr>
              <a:t>A school district starts with Education + Behavioral Health. A reentry org starts with LifeBridge + Workforce.</a:t>
            </a:r>
            <a:endParaRPr lang="en-US" sz="1000" dirty="0"/>
          </a:p>
        </p:txBody>
      </p:sp>
      <p:sp>
        <p:nvSpPr>
          <p:cNvPr id="10" name="Shape 8"/>
          <p:cNvSpPr/>
          <p:nvPr/>
        </p:nvSpPr>
        <p:spPr>
          <a:xfrm>
            <a:off x="4389120" y="2651760"/>
            <a:ext cx="3383280" cy="2560320"/>
          </a:xfrm>
          <a:prstGeom prst="roundRect">
            <a:avLst>
              <a:gd name="adj" fmla="val 4286"/>
            </a:avLst>
          </a:prstGeom>
          <a:solidFill>
            <a:srgbClr val="161B22"/>
          </a:solidFill>
          <a:ln w="25400">
            <a:solidFill>
              <a:srgbClr val="00C9A7"/>
            </a:solidFill>
            <a:prstDash val="solid"/>
          </a:ln>
        </p:spPr>
      </p:sp>
      <p:sp>
        <p:nvSpPr>
          <p:cNvPr id="11" name="Text 9"/>
          <p:cNvSpPr/>
          <p:nvPr/>
        </p:nvSpPr>
        <p:spPr>
          <a:xfrm>
            <a:off x="4389120" y="2697480"/>
            <a:ext cx="3383280" cy="457200"/>
          </a:xfrm>
          <a:prstGeom prst="rect">
            <a:avLst/>
          </a:prstGeom>
          <a:noFill/>
          <a:ln/>
        </p:spPr>
        <p:txBody>
          <a:bodyPr wrap="square" rtlCol="0" anchor="ctr"/>
          <a:lstStyle/>
          <a:p>
            <a:pPr algn="ctr" indent="0" marL="0">
              <a:buNone/>
            </a:pPr>
            <a:r>
              <a:rPr lang="en-US" sz="1800" b="1" dirty="0">
                <a:solidFill>
                  <a:srgbClr val="00C9A7"/>
                </a:solidFill>
                <a:latin typeface="Arial" pitchFamily="34" charset="0"/>
                <a:ea typeface="Arial" pitchFamily="34" charset="-122"/>
                <a:cs typeface="Arial" pitchFamily="34" charset="-120"/>
              </a:rPr>
              <a:t>Expansion</a:t>
            </a:r>
            <a:endParaRPr lang="en-US" sz="1800" dirty="0"/>
          </a:p>
        </p:txBody>
      </p:sp>
      <p:sp>
        <p:nvSpPr>
          <p:cNvPr id="12" name="Shape 10"/>
          <p:cNvSpPr/>
          <p:nvPr/>
        </p:nvSpPr>
        <p:spPr>
          <a:xfrm>
            <a:off x="4754880" y="3154680"/>
            <a:ext cx="2651760" cy="18288"/>
          </a:xfrm>
          <a:prstGeom prst="rect">
            <a:avLst/>
          </a:prstGeom>
          <a:solidFill>
            <a:srgbClr val="00C9A7"/>
          </a:solidFill>
          <a:ln/>
        </p:spPr>
      </p:sp>
      <p:sp>
        <p:nvSpPr>
          <p:cNvPr id="13" name="Text 11"/>
          <p:cNvSpPr/>
          <p:nvPr/>
        </p:nvSpPr>
        <p:spPr>
          <a:xfrm>
            <a:off x="4572000" y="3246120"/>
            <a:ext cx="3017520" cy="548640"/>
          </a:xfrm>
          <a:prstGeom prst="rect">
            <a:avLst/>
          </a:prstGeom>
          <a:noFill/>
          <a:ln/>
        </p:spPr>
        <p:txBody>
          <a:bodyPr wrap="square" rtlCol="0" anchor="ctr"/>
          <a:lstStyle/>
          <a:p>
            <a:pPr algn="ctr" indent="0" marL="0">
              <a:lnSpc>
                <a:spcPct val="120000"/>
              </a:lnSpc>
              <a:buNone/>
            </a:pPr>
            <a:r>
              <a:rPr lang="en-US" sz="1300" dirty="0">
                <a:solidFill>
                  <a:srgbClr val="FFFFFF"/>
                </a:solidFill>
                <a:latin typeface="Arial" pitchFamily="34" charset="0"/>
                <a:ea typeface="Arial" pitchFamily="34" charset="-122"/>
                <a:cs typeface="Arial" pitchFamily="34" charset="-120"/>
              </a:rPr>
              <a:t>5-10 connected platforms</a:t>
            </a:r>
            <a:endParaRPr lang="en-US" sz="1300" dirty="0"/>
          </a:p>
          <a:p>
            <a:pPr algn="ctr" indent="0" marL="0">
              <a:lnSpc>
                <a:spcPct val="120000"/>
              </a:lnSpc>
              <a:buNone/>
            </a:pPr>
            <a:r>
              <a:rPr lang="en-US" sz="1300" dirty="0">
                <a:solidFill>
                  <a:srgbClr val="FFFFFF"/>
                </a:solidFill>
                <a:latin typeface="Arial" pitchFamily="34" charset="0"/>
                <a:ea typeface="Arial" pitchFamily="34" charset="-122"/>
                <a:cs typeface="Arial" pitchFamily="34" charset="-120"/>
              </a:rPr>
              <a:t>as community sees more gaps</a:t>
            </a:r>
            <a:endParaRPr lang="en-US" sz="1300" dirty="0"/>
          </a:p>
        </p:txBody>
      </p:sp>
      <p:sp>
        <p:nvSpPr>
          <p:cNvPr id="14" name="Text 12"/>
          <p:cNvSpPr/>
          <p:nvPr/>
        </p:nvSpPr>
        <p:spPr>
          <a:xfrm>
            <a:off x="4572000" y="3886200"/>
            <a:ext cx="3017520" cy="1005840"/>
          </a:xfrm>
          <a:prstGeom prst="rect">
            <a:avLst/>
          </a:prstGeom>
          <a:noFill/>
          <a:ln/>
        </p:spPr>
        <p:txBody>
          <a:bodyPr wrap="square" rtlCol="0" anchor="ctr"/>
          <a:lstStyle/>
          <a:p>
            <a:pPr algn="ctr" indent="0" marL="0">
              <a:lnSpc>
                <a:spcPct val="130000"/>
              </a:lnSpc>
              <a:buNone/>
            </a:pPr>
            <a:r>
              <a:rPr lang="en-US" sz="1000" i="1" dirty="0">
                <a:solidFill>
                  <a:srgbClr val="8B949E"/>
                </a:solidFill>
                <a:latin typeface="Arial" pitchFamily="34" charset="0"/>
                <a:ea typeface="Arial" pitchFamily="34" charset="-122"/>
                <a:cs typeface="Arial" pitchFamily="34" charset="-120"/>
              </a:rPr>
              <a:t>The school district adds SafeReport, Community Navigation, Health Screening. Same data, same people, more support.</a:t>
            </a:r>
            <a:endParaRPr lang="en-US" sz="1000" dirty="0"/>
          </a:p>
        </p:txBody>
      </p:sp>
      <p:sp>
        <p:nvSpPr>
          <p:cNvPr id="15" name="Shape 13"/>
          <p:cNvSpPr/>
          <p:nvPr/>
        </p:nvSpPr>
        <p:spPr>
          <a:xfrm>
            <a:off x="8046720" y="2651760"/>
            <a:ext cx="3383280" cy="2560320"/>
          </a:xfrm>
          <a:prstGeom prst="roundRect">
            <a:avLst>
              <a:gd name="adj" fmla="val 4286"/>
            </a:avLst>
          </a:prstGeom>
          <a:solidFill>
            <a:srgbClr val="161B22"/>
          </a:solidFill>
          <a:ln w="25400">
            <a:solidFill>
              <a:srgbClr val="F0B429"/>
            </a:solidFill>
            <a:prstDash val="solid"/>
          </a:ln>
        </p:spPr>
      </p:sp>
      <p:sp>
        <p:nvSpPr>
          <p:cNvPr id="16" name="Text 14"/>
          <p:cNvSpPr/>
          <p:nvPr/>
        </p:nvSpPr>
        <p:spPr>
          <a:xfrm>
            <a:off x="8046720" y="2697480"/>
            <a:ext cx="3383280" cy="457200"/>
          </a:xfrm>
          <a:prstGeom prst="rect">
            <a:avLst/>
          </a:prstGeom>
          <a:noFill/>
          <a:ln/>
        </p:spPr>
        <p:txBody>
          <a:bodyPr wrap="square" rtlCol="0" anchor="ctr"/>
          <a:lstStyle/>
          <a:p>
            <a:pPr algn="ctr" indent="0" marL="0">
              <a:buNone/>
            </a:pPr>
            <a:r>
              <a:rPr lang="en-US" sz="1800" b="1" dirty="0">
                <a:solidFill>
                  <a:srgbClr val="F0B429"/>
                </a:solidFill>
                <a:latin typeface="Arial" pitchFamily="34" charset="0"/>
                <a:ea typeface="Arial" pitchFamily="34" charset="-122"/>
                <a:cs typeface="Arial" pitchFamily="34" charset="-120"/>
              </a:rPr>
              <a:t>Full Ecosystem</a:t>
            </a:r>
            <a:endParaRPr lang="en-US" sz="1800" dirty="0"/>
          </a:p>
        </p:txBody>
      </p:sp>
      <p:sp>
        <p:nvSpPr>
          <p:cNvPr id="17" name="Shape 15"/>
          <p:cNvSpPr/>
          <p:nvPr/>
        </p:nvSpPr>
        <p:spPr>
          <a:xfrm>
            <a:off x="8412480" y="3154680"/>
            <a:ext cx="2651760" cy="18288"/>
          </a:xfrm>
          <a:prstGeom prst="rect">
            <a:avLst/>
          </a:prstGeom>
          <a:solidFill>
            <a:srgbClr val="F0B429"/>
          </a:solidFill>
          <a:ln/>
        </p:spPr>
      </p:sp>
      <p:sp>
        <p:nvSpPr>
          <p:cNvPr id="18" name="Text 16"/>
          <p:cNvSpPr/>
          <p:nvPr/>
        </p:nvSpPr>
        <p:spPr>
          <a:xfrm>
            <a:off x="8229600" y="3246120"/>
            <a:ext cx="3017520" cy="548640"/>
          </a:xfrm>
          <a:prstGeom prst="rect">
            <a:avLst/>
          </a:prstGeom>
          <a:noFill/>
          <a:ln/>
        </p:spPr>
        <p:txBody>
          <a:bodyPr wrap="square" rtlCol="0" anchor="ctr"/>
          <a:lstStyle/>
          <a:p>
            <a:pPr algn="ctr" indent="0" marL="0">
              <a:lnSpc>
                <a:spcPct val="120000"/>
              </a:lnSpc>
              <a:buNone/>
            </a:pPr>
            <a:r>
              <a:rPr lang="en-US" sz="1300" dirty="0">
                <a:solidFill>
                  <a:srgbClr val="FFFFFF"/>
                </a:solidFill>
                <a:latin typeface="Arial" pitchFamily="34" charset="0"/>
                <a:ea typeface="Arial" pitchFamily="34" charset="-122"/>
                <a:cs typeface="Arial" pitchFamily="34" charset="-120"/>
              </a:rPr>
              <a:t>All 24 platforms</a:t>
            </a:r>
            <a:endParaRPr lang="en-US" sz="1300" dirty="0"/>
          </a:p>
          <a:p>
            <a:pPr algn="ctr" indent="0" marL="0">
              <a:lnSpc>
                <a:spcPct val="120000"/>
              </a:lnSpc>
              <a:buNone/>
            </a:pPr>
            <a:r>
              <a:rPr lang="en-US" sz="1300" dirty="0">
                <a:solidFill>
                  <a:srgbClr val="FFFFFF"/>
                </a:solidFill>
                <a:latin typeface="Arial" pitchFamily="34" charset="0"/>
                <a:ea typeface="Arial" pitchFamily="34" charset="-122"/>
                <a:cs typeface="Arial" pitchFamily="34" charset="-120"/>
              </a:rPr>
              <a:t>complete community OS</a:t>
            </a:r>
            <a:endParaRPr lang="en-US" sz="1300" dirty="0"/>
          </a:p>
        </p:txBody>
      </p:sp>
      <p:sp>
        <p:nvSpPr>
          <p:cNvPr id="19" name="Text 17"/>
          <p:cNvSpPr/>
          <p:nvPr/>
        </p:nvSpPr>
        <p:spPr>
          <a:xfrm>
            <a:off x="8229600" y="3886200"/>
            <a:ext cx="3017520" cy="1005840"/>
          </a:xfrm>
          <a:prstGeom prst="rect">
            <a:avLst/>
          </a:prstGeom>
          <a:noFill/>
          <a:ln/>
        </p:spPr>
        <p:txBody>
          <a:bodyPr wrap="square" rtlCol="0" anchor="ctr"/>
          <a:lstStyle/>
          <a:p>
            <a:pPr algn="ctr" indent="0" marL="0">
              <a:lnSpc>
                <a:spcPct val="130000"/>
              </a:lnSpc>
              <a:buNone/>
            </a:pPr>
            <a:r>
              <a:rPr lang="en-US" sz="1000" i="1" dirty="0">
                <a:solidFill>
                  <a:srgbClr val="8B949E"/>
                </a:solidFill>
                <a:latin typeface="Arial" pitchFamily="34" charset="0"/>
                <a:ea typeface="Arial" pitchFamily="34" charset="-122"/>
                <a:cs typeface="Arial" pitchFamily="34" charset="-120"/>
              </a:rPr>
              <a:t>A community action agency deploys everything. Every person, every need, every service — connected through one architecture.</a:t>
            </a:r>
            <a:endParaRPr lang="en-US" sz="1000" dirty="0"/>
          </a:p>
        </p:txBody>
      </p:sp>
      <p:sp>
        <p:nvSpPr>
          <p:cNvPr id="20" name="Text 18"/>
          <p:cNvSpPr/>
          <p:nvPr/>
        </p:nvSpPr>
        <p:spPr>
          <a:xfrm>
            <a:off x="731520" y="5394960"/>
            <a:ext cx="10698480" cy="320040"/>
          </a:xfrm>
          <a:prstGeom prst="rect">
            <a:avLst/>
          </a:prstGeom>
          <a:noFill/>
          <a:ln/>
        </p:spPr>
        <p:txBody>
          <a:bodyPr wrap="square" rtlCol="0" anchor="ctr"/>
          <a:lstStyle/>
          <a:p>
            <a:pPr algn="ctr" indent="0" marL="0">
              <a:buNone/>
            </a:pPr>
            <a:r>
              <a:rPr lang="en-US" sz="1200" dirty="0">
                <a:solidFill>
                  <a:srgbClr val="8B949E"/>
                </a:solidFill>
                <a:latin typeface="Arial" pitchFamily="34" charset="0"/>
                <a:ea typeface="Arial" pitchFamily="34" charset="-122"/>
                <a:cs typeface="Arial" pitchFamily="34" charset="-120"/>
              </a:rPr>
              <a:t>Revenue: Monthly/annual recurring  •  Customers: Community orgs, school districts, workforce boards, government agencies, health centers</a:t>
            </a:r>
            <a:endParaRPr lang="en-US" sz="1200" dirty="0"/>
          </a:p>
        </p:txBody>
      </p:sp>
      <p:sp>
        <p:nvSpPr>
          <p:cNvPr id="21" name="Text 19"/>
          <p:cNvSpPr/>
          <p:nvPr/>
        </p:nvSpPr>
        <p:spPr>
          <a:xfrm>
            <a:off x="731520" y="5760720"/>
            <a:ext cx="10698480" cy="320040"/>
          </a:xfrm>
          <a:prstGeom prst="rect">
            <a:avLst/>
          </a:prstGeom>
          <a:noFill/>
          <a:ln/>
        </p:spPr>
        <p:txBody>
          <a:bodyPr wrap="square" rtlCol="0" anchor="ctr"/>
          <a:lstStyle/>
          <a:p>
            <a:pPr algn="ctr" indent="0" marL="0">
              <a:buNone/>
            </a:pPr>
            <a:r>
              <a:rPr lang="en-US" sz="1200" i="1" dirty="0">
                <a:solidFill>
                  <a:srgbClr val="0079F2"/>
                </a:solidFill>
                <a:latin typeface="Arial" pitchFamily="34" charset="0"/>
                <a:ea typeface="Arial" pitchFamily="34" charset="-122"/>
                <a:cs typeface="Arial" pitchFamily="34" charset="-120"/>
              </a:rPr>
              <a:t>Federal funding alignment: WIOA • ESSA • SAMHSA • HRSA • DOL • DOJ • HHS — these buyers already have budget for technology</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731520" y="365760"/>
            <a:ext cx="4572000" cy="384048"/>
          </a:xfrm>
          <a:prstGeom prst="rect">
            <a:avLst/>
          </a:prstGeom>
          <a:noFill/>
          <a:ln/>
        </p:spPr>
        <p:txBody>
          <a:bodyPr wrap="square" rtlCol="0" anchor="ctr"/>
          <a:lstStyle/>
          <a:p>
            <a:pPr indent="0" marL="0">
              <a:buNone/>
            </a:pPr>
            <a:r>
              <a:rPr lang="en-US" sz="1300" b="1" dirty="0">
                <a:solidFill>
                  <a:srgbClr val="00C9A7"/>
                </a:solidFill>
                <a:latin typeface="Arial" pitchFamily="34" charset="0"/>
                <a:ea typeface="Arial" pitchFamily="34" charset="-122"/>
                <a:cs typeface="Arial" pitchFamily="34" charset="-120"/>
              </a:rPr>
              <a:t>Market &amp; Traction</a:t>
            </a:r>
            <a:endParaRPr lang="en-US" sz="1300" dirty="0"/>
          </a:p>
        </p:txBody>
      </p:sp>
      <p:sp>
        <p:nvSpPr>
          <p:cNvPr id="3" name="Text 1"/>
          <p:cNvSpPr/>
          <p:nvPr/>
        </p:nvSpPr>
        <p:spPr>
          <a:xfrm>
            <a:off x="731520" y="777240"/>
            <a:ext cx="10698480" cy="1051560"/>
          </a:xfrm>
          <a:prstGeom prst="rect">
            <a:avLst/>
          </a:prstGeom>
          <a:noFill/>
          <a:ln/>
        </p:spPr>
        <p:txBody>
          <a:bodyPr wrap="square" rtlCol="0" anchor="ctr"/>
          <a:lstStyle/>
          <a:p>
            <a:pPr indent="0" marL="0">
              <a:lnSpc>
                <a:spcPct val="110000"/>
              </a:lnSpc>
              <a:buNone/>
            </a:pPr>
            <a:r>
              <a:rPr lang="en-US" sz="3300" b="1" dirty="0">
                <a:solidFill>
                  <a:srgbClr val="FFFFFF"/>
                </a:solidFill>
                <a:latin typeface="Arial" pitchFamily="34" charset="0"/>
                <a:ea typeface="Arial" pitchFamily="34" charset="-122"/>
                <a:cs typeface="Arial" pitchFamily="34" charset="-120"/>
              </a:rPr>
              <a:t>Every Underserved Community</a:t>
            </a:r>
            <a:endParaRPr lang="en-US" sz="3300" dirty="0"/>
          </a:p>
          <a:p>
            <a:pPr indent="0" marL="0">
              <a:lnSpc>
                <a:spcPct val="110000"/>
              </a:lnSpc>
              <a:buNone/>
            </a:pPr>
            <a:r>
              <a:rPr lang="en-US" sz="3300" b="1" dirty="0">
                <a:solidFill>
                  <a:srgbClr val="FFFFFF"/>
                </a:solidFill>
                <a:latin typeface="Arial" pitchFamily="34" charset="0"/>
                <a:ea typeface="Arial" pitchFamily="34" charset="-122"/>
                <a:cs typeface="Arial" pitchFamily="34" charset="-120"/>
              </a:rPr>
              <a:t>is a Customer. We're Already Live.</a:t>
            </a:r>
            <a:endParaRPr lang="en-US" sz="3300" dirty="0"/>
          </a:p>
        </p:txBody>
      </p:sp>
      <p:sp>
        <p:nvSpPr>
          <p:cNvPr id="4" name="Text 2"/>
          <p:cNvSpPr/>
          <p:nvPr/>
        </p:nvSpPr>
        <p:spPr>
          <a:xfrm>
            <a:off x="457200" y="1920240"/>
            <a:ext cx="4572000" cy="320040"/>
          </a:xfrm>
          <a:prstGeom prst="rect">
            <a:avLst/>
          </a:prstGeom>
          <a:noFill/>
          <a:ln/>
        </p:spPr>
        <p:txBody>
          <a:bodyPr wrap="square" rtlCol="0" anchor="ctr"/>
          <a:lstStyle/>
          <a:p>
            <a:pPr indent="0" marL="0">
              <a:buNone/>
            </a:pPr>
            <a:r>
              <a:rPr lang="en-US" sz="1200" b="1" dirty="0">
                <a:solidFill>
                  <a:srgbClr val="00C9A7"/>
                </a:solidFill>
                <a:latin typeface="Arial" pitchFamily="34" charset="0"/>
                <a:ea typeface="Arial" pitchFamily="34" charset="-122"/>
                <a:cs typeface="Arial" pitchFamily="34" charset="-120"/>
              </a:rPr>
              <a:t>TOTAL ADDRESSABLE MARKET</a:t>
            </a:r>
            <a:endParaRPr lang="en-US" sz="1200" dirty="0"/>
          </a:p>
        </p:txBody>
      </p:sp>
      <p:sp>
        <p:nvSpPr>
          <p:cNvPr id="5" name="Text 3"/>
          <p:cNvSpPr/>
          <p:nvPr/>
        </p:nvSpPr>
        <p:spPr>
          <a:xfrm>
            <a:off x="457200" y="2331720"/>
            <a:ext cx="1463040" cy="457200"/>
          </a:xfrm>
          <a:prstGeom prst="rect">
            <a:avLst/>
          </a:prstGeom>
          <a:noFill/>
          <a:ln/>
        </p:spPr>
        <p:txBody>
          <a:bodyPr wrap="square" rtlCol="0" anchor="ctr"/>
          <a:lstStyle/>
          <a:p>
            <a:pPr algn="r" indent="0" marL="0">
              <a:buNone/>
            </a:pPr>
            <a:r>
              <a:rPr lang="en-US" sz="1900" b="1" dirty="0">
                <a:solidFill>
                  <a:srgbClr val="0079F2"/>
                </a:solidFill>
                <a:latin typeface="Arial" pitchFamily="34" charset="0"/>
                <a:ea typeface="Arial" pitchFamily="34" charset="-122"/>
                <a:cs typeface="Arial" pitchFamily="34" charset="-120"/>
              </a:rPr>
              <a:t>40,000+</a:t>
            </a:r>
            <a:endParaRPr lang="en-US" sz="1900" dirty="0"/>
          </a:p>
        </p:txBody>
      </p:sp>
      <p:sp>
        <p:nvSpPr>
          <p:cNvPr id="6" name="Text 4"/>
          <p:cNvSpPr/>
          <p:nvPr/>
        </p:nvSpPr>
        <p:spPr>
          <a:xfrm>
            <a:off x="2011680" y="2331720"/>
            <a:ext cx="3474720" cy="457200"/>
          </a:xfrm>
          <a:prstGeom prst="rect">
            <a:avLst/>
          </a:prstGeom>
          <a:noFill/>
          <a:ln/>
        </p:spPr>
        <p:txBody>
          <a:bodyPr wrap="square" rtlCol="0" anchor="ctr"/>
          <a:lstStyle/>
          <a:p>
            <a:pPr indent="0" marL="0">
              <a:buNone/>
            </a:pPr>
            <a:r>
              <a:rPr lang="en-US" sz="1300" dirty="0">
                <a:solidFill>
                  <a:srgbClr val="FFFFFF"/>
                </a:solidFill>
                <a:latin typeface="Arial" pitchFamily="34" charset="0"/>
                <a:ea typeface="Arial" pitchFamily="34" charset="-122"/>
                <a:cs typeface="Arial" pitchFamily="34" charset="-120"/>
              </a:rPr>
              <a:t>Community Action Agencies</a:t>
            </a:r>
            <a:endParaRPr lang="en-US" sz="1300" dirty="0"/>
          </a:p>
        </p:txBody>
      </p:sp>
      <p:sp>
        <p:nvSpPr>
          <p:cNvPr id="7" name="Text 5"/>
          <p:cNvSpPr/>
          <p:nvPr/>
        </p:nvSpPr>
        <p:spPr>
          <a:xfrm>
            <a:off x="457200" y="2880360"/>
            <a:ext cx="1463040" cy="457200"/>
          </a:xfrm>
          <a:prstGeom prst="rect">
            <a:avLst/>
          </a:prstGeom>
          <a:noFill/>
          <a:ln/>
        </p:spPr>
        <p:txBody>
          <a:bodyPr wrap="square" rtlCol="0" anchor="ctr"/>
          <a:lstStyle/>
          <a:p>
            <a:pPr algn="r" indent="0" marL="0">
              <a:buNone/>
            </a:pPr>
            <a:r>
              <a:rPr lang="en-US" sz="1900" b="1" dirty="0">
                <a:solidFill>
                  <a:srgbClr val="F0B429"/>
                </a:solidFill>
                <a:latin typeface="Arial" pitchFamily="34" charset="0"/>
                <a:ea typeface="Arial" pitchFamily="34" charset="-122"/>
                <a:cs typeface="Arial" pitchFamily="34" charset="-120"/>
              </a:rPr>
              <a:t>13,000+</a:t>
            </a:r>
            <a:endParaRPr lang="en-US" sz="1900" dirty="0"/>
          </a:p>
        </p:txBody>
      </p:sp>
      <p:sp>
        <p:nvSpPr>
          <p:cNvPr id="8" name="Text 6"/>
          <p:cNvSpPr/>
          <p:nvPr/>
        </p:nvSpPr>
        <p:spPr>
          <a:xfrm>
            <a:off x="2011680" y="2880360"/>
            <a:ext cx="3474720" cy="457200"/>
          </a:xfrm>
          <a:prstGeom prst="rect">
            <a:avLst/>
          </a:prstGeom>
          <a:noFill/>
          <a:ln/>
        </p:spPr>
        <p:txBody>
          <a:bodyPr wrap="square" rtlCol="0" anchor="ctr"/>
          <a:lstStyle/>
          <a:p>
            <a:pPr indent="0" marL="0">
              <a:buNone/>
            </a:pPr>
            <a:r>
              <a:rPr lang="en-US" sz="1300" dirty="0">
                <a:solidFill>
                  <a:srgbClr val="FFFFFF"/>
                </a:solidFill>
                <a:latin typeface="Arial" pitchFamily="34" charset="0"/>
                <a:ea typeface="Arial" pitchFamily="34" charset="-122"/>
                <a:cs typeface="Arial" pitchFamily="34" charset="-120"/>
              </a:rPr>
              <a:t>School Districts</a:t>
            </a:r>
            <a:endParaRPr lang="en-US" sz="1300" dirty="0"/>
          </a:p>
        </p:txBody>
      </p:sp>
      <p:sp>
        <p:nvSpPr>
          <p:cNvPr id="9" name="Text 7"/>
          <p:cNvSpPr/>
          <p:nvPr/>
        </p:nvSpPr>
        <p:spPr>
          <a:xfrm>
            <a:off x="457200" y="3429000"/>
            <a:ext cx="1463040" cy="457200"/>
          </a:xfrm>
          <a:prstGeom prst="rect">
            <a:avLst/>
          </a:prstGeom>
          <a:noFill/>
          <a:ln/>
        </p:spPr>
        <p:txBody>
          <a:bodyPr wrap="square" rtlCol="0" anchor="ctr"/>
          <a:lstStyle/>
          <a:p>
            <a:pPr algn="r" indent="0" marL="0">
              <a:buNone/>
            </a:pPr>
            <a:r>
              <a:rPr lang="en-US" sz="1900" b="1" dirty="0">
                <a:solidFill>
                  <a:srgbClr val="EF4444"/>
                </a:solidFill>
                <a:latin typeface="Arial" pitchFamily="34" charset="0"/>
                <a:ea typeface="Arial" pitchFamily="34" charset="-122"/>
                <a:cs typeface="Arial" pitchFamily="34" charset="-120"/>
              </a:rPr>
              <a:t>4,700+</a:t>
            </a:r>
            <a:endParaRPr lang="en-US" sz="1900" dirty="0"/>
          </a:p>
        </p:txBody>
      </p:sp>
      <p:sp>
        <p:nvSpPr>
          <p:cNvPr id="10" name="Text 8"/>
          <p:cNvSpPr/>
          <p:nvPr/>
        </p:nvSpPr>
        <p:spPr>
          <a:xfrm>
            <a:off x="2011680" y="3429000"/>
            <a:ext cx="3474720" cy="457200"/>
          </a:xfrm>
          <a:prstGeom prst="rect">
            <a:avLst/>
          </a:prstGeom>
          <a:noFill/>
          <a:ln/>
        </p:spPr>
        <p:txBody>
          <a:bodyPr wrap="square" rtlCol="0" anchor="ctr"/>
          <a:lstStyle/>
          <a:p>
            <a:pPr indent="0" marL="0">
              <a:buNone/>
            </a:pPr>
            <a:r>
              <a:rPr lang="en-US" sz="1300" dirty="0">
                <a:solidFill>
                  <a:srgbClr val="FFFFFF"/>
                </a:solidFill>
                <a:latin typeface="Arial" pitchFamily="34" charset="0"/>
                <a:ea typeface="Arial" pitchFamily="34" charset="-122"/>
                <a:cs typeface="Arial" pitchFamily="34" charset="-120"/>
              </a:rPr>
              <a:t>Correctional Facilities</a:t>
            </a:r>
            <a:endParaRPr lang="en-US" sz="1300" dirty="0"/>
          </a:p>
        </p:txBody>
      </p:sp>
      <p:sp>
        <p:nvSpPr>
          <p:cNvPr id="11" name="Text 9"/>
          <p:cNvSpPr/>
          <p:nvPr/>
        </p:nvSpPr>
        <p:spPr>
          <a:xfrm>
            <a:off x="457200" y="3977640"/>
            <a:ext cx="1463040" cy="457200"/>
          </a:xfrm>
          <a:prstGeom prst="rect">
            <a:avLst/>
          </a:prstGeom>
          <a:noFill/>
          <a:ln/>
        </p:spPr>
        <p:txBody>
          <a:bodyPr wrap="square" rtlCol="0" anchor="ctr"/>
          <a:lstStyle/>
          <a:p>
            <a:pPr algn="r" indent="0" marL="0">
              <a:buNone/>
            </a:pPr>
            <a:r>
              <a:rPr lang="en-US" sz="1900" b="1" dirty="0">
                <a:solidFill>
                  <a:srgbClr val="E8459E"/>
                </a:solidFill>
                <a:latin typeface="Arial" pitchFamily="34" charset="0"/>
                <a:ea typeface="Arial" pitchFamily="34" charset="-122"/>
                <a:cs typeface="Arial" pitchFamily="34" charset="-120"/>
              </a:rPr>
              <a:t>3,000+</a:t>
            </a:r>
            <a:endParaRPr lang="en-US" sz="1900" dirty="0"/>
          </a:p>
        </p:txBody>
      </p:sp>
      <p:sp>
        <p:nvSpPr>
          <p:cNvPr id="12" name="Text 10"/>
          <p:cNvSpPr/>
          <p:nvPr/>
        </p:nvSpPr>
        <p:spPr>
          <a:xfrm>
            <a:off x="2011680" y="3977640"/>
            <a:ext cx="3474720" cy="457200"/>
          </a:xfrm>
          <a:prstGeom prst="rect">
            <a:avLst/>
          </a:prstGeom>
          <a:noFill/>
          <a:ln/>
        </p:spPr>
        <p:txBody>
          <a:bodyPr wrap="square" rtlCol="0" anchor="ctr"/>
          <a:lstStyle/>
          <a:p>
            <a:pPr indent="0" marL="0">
              <a:buNone/>
            </a:pPr>
            <a:r>
              <a:rPr lang="en-US" sz="1300" dirty="0">
                <a:solidFill>
                  <a:srgbClr val="FFFFFF"/>
                </a:solidFill>
                <a:latin typeface="Arial" pitchFamily="34" charset="0"/>
                <a:ea typeface="Arial" pitchFamily="34" charset="-122"/>
                <a:cs typeface="Arial" pitchFamily="34" charset="-120"/>
              </a:rPr>
              <a:t>Community Health Centers</a:t>
            </a:r>
            <a:endParaRPr lang="en-US" sz="1300" dirty="0"/>
          </a:p>
        </p:txBody>
      </p:sp>
      <p:sp>
        <p:nvSpPr>
          <p:cNvPr id="13" name="Text 11"/>
          <p:cNvSpPr/>
          <p:nvPr/>
        </p:nvSpPr>
        <p:spPr>
          <a:xfrm>
            <a:off x="457200" y="4526280"/>
            <a:ext cx="1463040" cy="457200"/>
          </a:xfrm>
          <a:prstGeom prst="rect">
            <a:avLst/>
          </a:prstGeom>
          <a:noFill/>
          <a:ln/>
        </p:spPr>
        <p:txBody>
          <a:bodyPr wrap="square" rtlCol="0" anchor="ctr"/>
          <a:lstStyle/>
          <a:p>
            <a:pPr algn="r" indent="0" marL="0">
              <a:buNone/>
            </a:pPr>
            <a:r>
              <a:rPr lang="en-US" sz="1900" b="1" dirty="0">
                <a:solidFill>
                  <a:srgbClr val="2EA043"/>
                </a:solidFill>
                <a:latin typeface="Arial" pitchFamily="34" charset="0"/>
                <a:ea typeface="Arial" pitchFamily="34" charset="-122"/>
                <a:cs typeface="Arial" pitchFamily="34" charset="-120"/>
              </a:rPr>
              <a:t>550+</a:t>
            </a:r>
            <a:endParaRPr lang="en-US" sz="1900" dirty="0"/>
          </a:p>
        </p:txBody>
      </p:sp>
      <p:sp>
        <p:nvSpPr>
          <p:cNvPr id="14" name="Text 12"/>
          <p:cNvSpPr/>
          <p:nvPr/>
        </p:nvSpPr>
        <p:spPr>
          <a:xfrm>
            <a:off x="2011680" y="4526280"/>
            <a:ext cx="3474720" cy="457200"/>
          </a:xfrm>
          <a:prstGeom prst="rect">
            <a:avLst/>
          </a:prstGeom>
          <a:noFill/>
          <a:ln/>
        </p:spPr>
        <p:txBody>
          <a:bodyPr wrap="square" rtlCol="0" anchor="ctr"/>
          <a:lstStyle/>
          <a:p>
            <a:pPr indent="0" marL="0">
              <a:buNone/>
            </a:pPr>
            <a:r>
              <a:rPr lang="en-US" sz="1300" dirty="0">
                <a:solidFill>
                  <a:srgbClr val="FFFFFF"/>
                </a:solidFill>
                <a:latin typeface="Arial" pitchFamily="34" charset="0"/>
                <a:ea typeface="Arial" pitchFamily="34" charset="-122"/>
                <a:cs typeface="Arial" pitchFamily="34" charset="-120"/>
              </a:rPr>
              <a:t>Workforce Development Boards</a:t>
            </a:r>
            <a:endParaRPr lang="en-US" sz="1300" dirty="0"/>
          </a:p>
        </p:txBody>
      </p:sp>
      <p:sp>
        <p:nvSpPr>
          <p:cNvPr id="15" name="Text 13"/>
          <p:cNvSpPr/>
          <p:nvPr/>
        </p:nvSpPr>
        <p:spPr>
          <a:xfrm>
            <a:off x="457200" y="5074920"/>
            <a:ext cx="1463040" cy="457200"/>
          </a:xfrm>
          <a:prstGeom prst="rect">
            <a:avLst/>
          </a:prstGeom>
          <a:noFill/>
          <a:ln/>
        </p:spPr>
        <p:txBody>
          <a:bodyPr wrap="square" rtlCol="0" anchor="ctr"/>
          <a:lstStyle/>
          <a:p>
            <a:pPr algn="r" indent="0" marL="0">
              <a:buNone/>
            </a:pPr>
            <a:r>
              <a:rPr lang="en-US" sz="1900" b="1" dirty="0">
                <a:solidFill>
                  <a:srgbClr val="8B5CF6"/>
                </a:solidFill>
                <a:latin typeface="Arial" pitchFamily="34" charset="0"/>
                <a:ea typeface="Arial" pitchFamily="34" charset="-122"/>
                <a:cs typeface="Arial" pitchFamily="34" charset="-120"/>
              </a:rPr>
              <a:t>32,000+</a:t>
            </a:r>
            <a:endParaRPr lang="en-US" sz="1900" dirty="0"/>
          </a:p>
        </p:txBody>
      </p:sp>
      <p:sp>
        <p:nvSpPr>
          <p:cNvPr id="16" name="Text 14"/>
          <p:cNvSpPr/>
          <p:nvPr/>
        </p:nvSpPr>
        <p:spPr>
          <a:xfrm>
            <a:off x="2011680" y="5074920"/>
            <a:ext cx="3474720" cy="457200"/>
          </a:xfrm>
          <a:prstGeom prst="rect">
            <a:avLst/>
          </a:prstGeom>
          <a:noFill/>
          <a:ln/>
        </p:spPr>
        <p:txBody>
          <a:bodyPr wrap="square" rtlCol="0" anchor="ctr"/>
          <a:lstStyle/>
          <a:p>
            <a:pPr indent="0" marL="0">
              <a:buNone/>
            </a:pPr>
            <a:r>
              <a:rPr lang="en-US" sz="1300" dirty="0">
                <a:solidFill>
                  <a:srgbClr val="FFFFFF"/>
                </a:solidFill>
                <a:latin typeface="Arial" pitchFamily="34" charset="0"/>
                <a:ea typeface="Arial" pitchFamily="34" charset="-122"/>
                <a:cs typeface="Arial" pitchFamily="34" charset="-120"/>
              </a:rPr>
              <a:t>Behavioral Health Providers</a:t>
            </a:r>
            <a:endParaRPr lang="en-US" sz="1300" dirty="0"/>
          </a:p>
        </p:txBody>
      </p:sp>
      <p:sp>
        <p:nvSpPr>
          <p:cNvPr id="17" name="Text 15"/>
          <p:cNvSpPr/>
          <p:nvPr/>
        </p:nvSpPr>
        <p:spPr>
          <a:xfrm>
            <a:off x="457200" y="5760720"/>
            <a:ext cx="5029200" cy="274320"/>
          </a:xfrm>
          <a:prstGeom prst="rect">
            <a:avLst/>
          </a:prstGeom>
          <a:noFill/>
          <a:ln/>
        </p:spPr>
        <p:txBody>
          <a:bodyPr wrap="square" rtlCol="0" anchor="ctr"/>
          <a:lstStyle/>
          <a:p>
            <a:pPr indent="0" marL="0">
              <a:buNone/>
            </a:pPr>
            <a:r>
              <a:rPr lang="en-US" sz="1000" i="1" dirty="0">
                <a:solidFill>
                  <a:srgbClr val="8B949E"/>
                </a:solidFill>
                <a:latin typeface="Arial" pitchFamily="34" charset="0"/>
                <a:ea typeface="Arial" pitchFamily="34" charset="-122"/>
                <a:cs typeface="Arial" pitchFamily="34" charset="-120"/>
              </a:rPr>
              <a:t>$180B+ US social services market  •  International: same architecture</a:t>
            </a:r>
            <a:endParaRPr lang="en-US" sz="1000" dirty="0"/>
          </a:p>
        </p:txBody>
      </p:sp>
      <p:sp>
        <p:nvSpPr>
          <p:cNvPr id="18" name="Shape 16"/>
          <p:cNvSpPr/>
          <p:nvPr/>
        </p:nvSpPr>
        <p:spPr>
          <a:xfrm>
            <a:off x="5943600" y="1920240"/>
            <a:ext cx="5760720" cy="4389120"/>
          </a:xfrm>
          <a:prstGeom prst="roundRect">
            <a:avLst>
              <a:gd name="adj" fmla="val 2500"/>
            </a:avLst>
          </a:prstGeom>
          <a:solidFill>
            <a:srgbClr val="161B22"/>
          </a:solidFill>
          <a:ln w="19050">
            <a:solidFill>
              <a:srgbClr val="00C9A7"/>
            </a:solidFill>
            <a:prstDash val="solid"/>
          </a:ln>
        </p:spPr>
      </p:sp>
      <p:sp>
        <p:nvSpPr>
          <p:cNvPr id="19" name="Text 17"/>
          <p:cNvSpPr/>
          <p:nvPr/>
        </p:nvSpPr>
        <p:spPr>
          <a:xfrm>
            <a:off x="5943600" y="1965960"/>
            <a:ext cx="5760720" cy="411480"/>
          </a:xfrm>
          <a:prstGeom prst="rect">
            <a:avLst/>
          </a:prstGeom>
          <a:noFill/>
          <a:ln/>
        </p:spPr>
        <p:txBody>
          <a:bodyPr wrap="square" rtlCol="0" anchor="ctr"/>
          <a:lstStyle/>
          <a:p>
            <a:pPr algn="ctr" indent="0" marL="0">
              <a:buNone/>
            </a:pPr>
            <a:r>
              <a:rPr lang="en-US" sz="1400" b="1" dirty="0">
                <a:solidFill>
                  <a:srgbClr val="00C9A7"/>
                </a:solidFill>
                <a:latin typeface="Arial" pitchFamily="34" charset="0"/>
                <a:ea typeface="Arial" pitchFamily="34" charset="-122"/>
                <a:cs typeface="Arial" pitchFamily="34" charset="-120"/>
              </a:rPr>
              <a:t>TRACTION — TODAY</a:t>
            </a:r>
            <a:endParaRPr lang="en-US" sz="1400" dirty="0"/>
          </a:p>
        </p:txBody>
      </p:sp>
      <p:sp>
        <p:nvSpPr>
          <p:cNvPr id="20" name="Text 18"/>
          <p:cNvSpPr/>
          <p:nvPr/>
        </p:nvSpPr>
        <p:spPr>
          <a:xfrm>
            <a:off x="6217920" y="2468880"/>
            <a:ext cx="3200400" cy="320040"/>
          </a:xfrm>
          <a:prstGeom prst="rect">
            <a:avLst/>
          </a:prstGeom>
          <a:noFill/>
          <a:ln/>
        </p:spPr>
        <p:txBody>
          <a:bodyPr wrap="square" rtlCol="0" anchor="ctr"/>
          <a:lstStyle/>
          <a:p>
            <a:pPr indent="0" marL="0">
              <a:buNone/>
            </a:pPr>
            <a:r>
              <a:rPr lang="en-US" sz="1050" dirty="0">
                <a:solidFill>
                  <a:srgbClr val="8B949E"/>
                </a:solidFill>
                <a:latin typeface="Arial" pitchFamily="34" charset="0"/>
                <a:ea typeface="Arial" pitchFamily="34" charset="-122"/>
                <a:cs typeface="Arial" pitchFamily="34" charset="-120"/>
              </a:rPr>
              <a:t>Interconnected Platforms Live</a:t>
            </a:r>
            <a:endParaRPr lang="en-US" sz="1050" dirty="0"/>
          </a:p>
        </p:txBody>
      </p:sp>
      <p:sp>
        <p:nvSpPr>
          <p:cNvPr id="21" name="Text 19"/>
          <p:cNvSpPr/>
          <p:nvPr/>
        </p:nvSpPr>
        <p:spPr>
          <a:xfrm>
            <a:off x="9418320" y="2468880"/>
            <a:ext cx="2103120" cy="320040"/>
          </a:xfrm>
          <a:prstGeom prst="rect">
            <a:avLst/>
          </a:prstGeom>
          <a:noFill/>
          <a:ln/>
        </p:spPr>
        <p:txBody>
          <a:bodyPr wrap="square" rtlCol="0" anchor="ctr"/>
          <a:lstStyle/>
          <a:p>
            <a:pPr algn="r" indent="0" marL="0">
              <a:buNone/>
            </a:pPr>
            <a:r>
              <a:rPr lang="en-US" sz="1050" b="1" dirty="0">
                <a:solidFill>
                  <a:srgbClr val="00C9A7"/>
                </a:solidFill>
                <a:latin typeface="Arial" pitchFamily="34" charset="0"/>
                <a:ea typeface="Arial" pitchFamily="34" charset="-122"/>
                <a:cs typeface="Arial" pitchFamily="34" charset="-120"/>
              </a:rPr>
              <a:t>24 / 24</a:t>
            </a:r>
            <a:endParaRPr lang="en-US" sz="1050" dirty="0"/>
          </a:p>
        </p:txBody>
      </p:sp>
      <p:sp>
        <p:nvSpPr>
          <p:cNvPr id="22" name="Text 20"/>
          <p:cNvSpPr/>
          <p:nvPr/>
        </p:nvSpPr>
        <p:spPr>
          <a:xfrm>
            <a:off x="6217920" y="2816352"/>
            <a:ext cx="3200400" cy="320040"/>
          </a:xfrm>
          <a:prstGeom prst="rect">
            <a:avLst/>
          </a:prstGeom>
          <a:noFill/>
          <a:ln/>
        </p:spPr>
        <p:txBody>
          <a:bodyPr wrap="square" rtlCol="0" anchor="ctr"/>
          <a:lstStyle/>
          <a:p>
            <a:pPr indent="0" marL="0">
              <a:buNone/>
            </a:pPr>
            <a:r>
              <a:rPr lang="en-US" sz="1050" dirty="0">
                <a:solidFill>
                  <a:srgbClr val="8B949E"/>
                </a:solidFill>
                <a:latin typeface="Arial" pitchFamily="34" charset="0"/>
                <a:ea typeface="Arial" pitchFamily="34" charset="-122"/>
                <a:cs typeface="Arial" pitchFamily="34" charset="-120"/>
              </a:rPr>
              <a:t>Domains Covered</a:t>
            </a:r>
            <a:endParaRPr lang="en-US" sz="1050" dirty="0"/>
          </a:p>
        </p:txBody>
      </p:sp>
      <p:sp>
        <p:nvSpPr>
          <p:cNvPr id="23" name="Text 21"/>
          <p:cNvSpPr/>
          <p:nvPr/>
        </p:nvSpPr>
        <p:spPr>
          <a:xfrm>
            <a:off x="9418320" y="2816352"/>
            <a:ext cx="2103120" cy="320040"/>
          </a:xfrm>
          <a:prstGeom prst="rect">
            <a:avLst/>
          </a:prstGeom>
          <a:noFill/>
          <a:ln/>
        </p:spPr>
        <p:txBody>
          <a:bodyPr wrap="square" rtlCol="0" anchor="ctr"/>
          <a:lstStyle/>
          <a:p>
            <a:pPr algn="r" indent="0" marL="0">
              <a:buNone/>
            </a:pPr>
            <a:r>
              <a:rPr lang="en-US" sz="1050" b="1" dirty="0">
                <a:solidFill>
                  <a:srgbClr val="0079F2"/>
                </a:solidFill>
                <a:latin typeface="Arial" pitchFamily="34" charset="0"/>
                <a:ea typeface="Arial" pitchFamily="34" charset="-122"/>
                <a:cs typeface="Arial" pitchFamily="34" charset="-120"/>
              </a:rPr>
              <a:t>6 (Justice, Health, BH, Workforce, Ed, Community)</a:t>
            </a:r>
            <a:endParaRPr lang="en-US" sz="1050" dirty="0"/>
          </a:p>
        </p:txBody>
      </p:sp>
      <p:sp>
        <p:nvSpPr>
          <p:cNvPr id="24" name="Text 22"/>
          <p:cNvSpPr/>
          <p:nvPr/>
        </p:nvSpPr>
        <p:spPr>
          <a:xfrm>
            <a:off x="6217920" y="3163824"/>
            <a:ext cx="3200400" cy="320040"/>
          </a:xfrm>
          <a:prstGeom prst="rect">
            <a:avLst/>
          </a:prstGeom>
          <a:noFill/>
          <a:ln/>
        </p:spPr>
        <p:txBody>
          <a:bodyPr wrap="square" rtlCol="0" anchor="ctr"/>
          <a:lstStyle/>
          <a:p>
            <a:pPr indent="0" marL="0">
              <a:buNone/>
            </a:pPr>
            <a:r>
              <a:rPr lang="en-US" sz="1050" dirty="0">
                <a:solidFill>
                  <a:srgbClr val="8B949E"/>
                </a:solidFill>
                <a:latin typeface="Arial" pitchFamily="34" charset="0"/>
                <a:ea typeface="Arial" pitchFamily="34" charset="-122"/>
                <a:cs typeface="Arial" pitchFamily="34" charset="-120"/>
              </a:rPr>
              <a:t>First Customer Active</a:t>
            </a:r>
            <a:endParaRPr lang="en-US" sz="1050" dirty="0"/>
          </a:p>
        </p:txBody>
      </p:sp>
      <p:sp>
        <p:nvSpPr>
          <p:cNvPr id="25" name="Text 23"/>
          <p:cNvSpPr/>
          <p:nvPr/>
        </p:nvSpPr>
        <p:spPr>
          <a:xfrm>
            <a:off x="9418320" y="3163824"/>
            <a:ext cx="2103120" cy="320040"/>
          </a:xfrm>
          <a:prstGeom prst="rect">
            <a:avLst/>
          </a:prstGeom>
          <a:noFill/>
          <a:ln/>
        </p:spPr>
        <p:txBody>
          <a:bodyPr wrap="square" rtlCol="0" anchor="ctr"/>
          <a:lstStyle/>
          <a:p>
            <a:pPr algn="r" indent="0" marL="0">
              <a:buNone/>
            </a:pPr>
            <a:r>
              <a:rPr lang="en-US" sz="1050" b="1" dirty="0">
                <a:solidFill>
                  <a:srgbClr val="2EA043"/>
                </a:solidFill>
                <a:latin typeface="Arial" pitchFamily="34" charset="0"/>
                <a:ea typeface="Arial" pitchFamily="34" charset="-122"/>
                <a:cs typeface="Arial" pitchFamily="34" charset="-120"/>
              </a:rPr>
              <a:t>TCAF (501c3)</a:t>
            </a:r>
            <a:endParaRPr lang="en-US" sz="1050" dirty="0"/>
          </a:p>
        </p:txBody>
      </p:sp>
      <p:sp>
        <p:nvSpPr>
          <p:cNvPr id="26" name="Text 24"/>
          <p:cNvSpPr/>
          <p:nvPr/>
        </p:nvSpPr>
        <p:spPr>
          <a:xfrm>
            <a:off x="6217920" y="3511296"/>
            <a:ext cx="3200400" cy="320040"/>
          </a:xfrm>
          <a:prstGeom prst="rect">
            <a:avLst/>
          </a:prstGeom>
          <a:noFill/>
          <a:ln/>
        </p:spPr>
        <p:txBody>
          <a:bodyPr wrap="square" rtlCol="0" anchor="ctr"/>
          <a:lstStyle/>
          <a:p>
            <a:pPr indent="0" marL="0">
              <a:buNone/>
            </a:pPr>
            <a:r>
              <a:rPr lang="en-US" sz="1050" dirty="0">
                <a:solidFill>
                  <a:srgbClr val="8B949E"/>
                </a:solidFill>
                <a:latin typeface="Arial" pitchFamily="34" charset="0"/>
                <a:ea typeface="Arial" pitchFamily="34" charset="-122"/>
                <a:cs typeface="Arial" pitchFamily="34" charset="-120"/>
              </a:rPr>
              <a:t>AI Engines Running</a:t>
            </a:r>
            <a:endParaRPr lang="en-US" sz="1050" dirty="0"/>
          </a:p>
        </p:txBody>
      </p:sp>
      <p:sp>
        <p:nvSpPr>
          <p:cNvPr id="27" name="Text 25"/>
          <p:cNvSpPr/>
          <p:nvPr/>
        </p:nvSpPr>
        <p:spPr>
          <a:xfrm>
            <a:off x="9418320" y="3511296"/>
            <a:ext cx="2103120" cy="320040"/>
          </a:xfrm>
          <a:prstGeom prst="rect">
            <a:avLst/>
          </a:prstGeom>
          <a:noFill/>
          <a:ln/>
        </p:spPr>
        <p:txBody>
          <a:bodyPr wrap="square" rtlCol="0" anchor="ctr"/>
          <a:lstStyle/>
          <a:p>
            <a:pPr algn="r" indent="0" marL="0">
              <a:buNone/>
            </a:pPr>
            <a:r>
              <a:rPr lang="en-US" sz="1050" b="1" dirty="0">
                <a:solidFill>
                  <a:srgbClr val="F0B429"/>
                </a:solidFill>
                <a:latin typeface="Arial" pitchFamily="34" charset="0"/>
                <a:ea typeface="Arial" pitchFamily="34" charset="-122"/>
                <a:cs typeface="Arial" pitchFamily="34" charset="-120"/>
              </a:rPr>
              <a:t>4 (GPT-4o, Claude, Gemini, DeepSeek)</a:t>
            </a:r>
            <a:endParaRPr lang="en-US" sz="1050" dirty="0"/>
          </a:p>
        </p:txBody>
      </p:sp>
      <p:sp>
        <p:nvSpPr>
          <p:cNvPr id="28" name="Text 26"/>
          <p:cNvSpPr/>
          <p:nvPr/>
        </p:nvSpPr>
        <p:spPr>
          <a:xfrm>
            <a:off x="6217920" y="3858768"/>
            <a:ext cx="3200400" cy="320040"/>
          </a:xfrm>
          <a:prstGeom prst="rect">
            <a:avLst/>
          </a:prstGeom>
          <a:noFill/>
          <a:ln/>
        </p:spPr>
        <p:txBody>
          <a:bodyPr wrap="square" rtlCol="0" anchor="ctr"/>
          <a:lstStyle/>
          <a:p>
            <a:pPr indent="0" marL="0">
              <a:buNone/>
            </a:pPr>
            <a:r>
              <a:rPr lang="en-US" sz="1050" dirty="0">
                <a:solidFill>
                  <a:srgbClr val="8B949E"/>
                </a:solidFill>
                <a:latin typeface="Arial" pitchFamily="34" charset="0"/>
                <a:ea typeface="Arial" pitchFamily="34" charset="-122"/>
                <a:cs typeface="Arial" pitchFamily="34" charset="-120"/>
              </a:rPr>
              <a:t>TEKS Curriculum Coverage</a:t>
            </a:r>
            <a:endParaRPr lang="en-US" sz="1050" dirty="0"/>
          </a:p>
        </p:txBody>
      </p:sp>
      <p:sp>
        <p:nvSpPr>
          <p:cNvPr id="29" name="Text 27"/>
          <p:cNvSpPr/>
          <p:nvPr/>
        </p:nvSpPr>
        <p:spPr>
          <a:xfrm>
            <a:off x="9418320" y="3858768"/>
            <a:ext cx="2103120" cy="320040"/>
          </a:xfrm>
          <a:prstGeom prst="rect">
            <a:avLst/>
          </a:prstGeom>
          <a:noFill/>
          <a:ln/>
        </p:spPr>
        <p:txBody>
          <a:bodyPr wrap="square" rtlCol="0" anchor="ctr"/>
          <a:lstStyle/>
          <a:p>
            <a:pPr algn="r" indent="0" marL="0">
              <a:buNone/>
            </a:pPr>
            <a:r>
              <a:rPr lang="en-US" sz="1050" b="1" dirty="0">
                <a:solidFill>
                  <a:srgbClr val="F0B429"/>
                </a:solidFill>
                <a:latin typeface="Arial" pitchFamily="34" charset="0"/>
                <a:ea typeface="Arial" pitchFamily="34" charset="-122"/>
                <a:cs typeface="Arial" pitchFamily="34" charset="-120"/>
              </a:rPr>
              <a:t>100%</a:t>
            </a:r>
            <a:endParaRPr lang="en-US" sz="1050" dirty="0"/>
          </a:p>
        </p:txBody>
      </p:sp>
      <p:sp>
        <p:nvSpPr>
          <p:cNvPr id="30" name="Shape 28"/>
          <p:cNvSpPr/>
          <p:nvPr/>
        </p:nvSpPr>
        <p:spPr>
          <a:xfrm>
            <a:off x="6217920" y="4206240"/>
            <a:ext cx="5212080" cy="18288"/>
          </a:xfrm>
          <a:prstGeom prst="rect">
            <a:avLst/>
          </a:prstGeom>
          <a:solidFill>
            <a:srgbClr val="8B949E"/>
          </a:solidFill>
          <a:ln/>
        </p:spPr>
      </p:sp>
      <p:sp>
        <p:nvSpPr>
          <p:cNvPr id="31" name="Text 29"/>
          <p:cNvSpPr/>
          <p:nvPr/>
        </p:nvSpPr>
        <p:spPr>
          <a:xfrm>
            <a:off x="6217920" y="4553712"/>
            <a:ext cx="3200400" cy="320040"/>
          </a:xfrm>
          <a:prstGeom prst="rect">
            <a:avLst/>
          </a:prstGeom>
          <a:noFill/>
          <a:ln/>
        </p:spPr>
        <p:txBody>
          <a:bodyPr wrap="square" rtlCol="0" anchor="ctr"/>
          <a:lstStyle/>
          <a:p>
            <a:pPr indent="0" marL="0">
              <a:buNone/>
            </a:pPr>
            <a:r>
              <a:rPr lang="en-US" sz="1050" dirty="0">
                <a:solidFill>
                  <a:srgbClr val="8B949E"/>
                </a:solidFill>
                <a:latin typeface="Arial" pitchFamily="34" charset="0"/>
                <a:ea typeface="Arial" pitchFamily="34" charset="-122"/>
                <a:cs typeface="Arial" pitchFamily="34" charset="-120"/>
              </a:rPr>
              <a:t>TWC Pipeline</a:t>
            </a:r>
            <a:endParaRPr lang="en-US" sz="1050" dirty="0"/>
          </a:p>
        </p:txBody>
      </p:sp>
      <p:sp>
        <p:nvSpPr>
          <p:cNvPr id="32" name="Text 30"/>
          <p:cNvSpPr/>
          <p:nvPr/>
        </p:nvSpPr>
        <p:spPr>
          <a:xfrm>
            <a:off x="9418320" y="4553712"/>
            <a:ext cx="2103120" cy="320040"/>
          </a:xfrm>
          <a:prstGeom prst="rect">
            <a:avLst/>
          </a:prstGeom>
          <a:noFill/>
          <a:ln/>
        </p:spPr>
        <p:txBody>
          <a:bodyPr wrap="square" rtlCol="0" anchor="ctr"/>
          <a:lstStyle/>
          <a:p>
            <a:pPr algn="r" indent="0" marL="0">
              <a:buNone/>
            </a:pPr>
            <a:r>
              <a:rPr lang="en-US" sz="1050" b="1" dirty="0">
                <a:solidFill>
                  <a:srgbClr val="F0B429"/>
                </a:solidFill>
                <a:latin typeface="Arial" pitchFamily="34" charset="0"/>
                <a:ea typeface="Arial" pitchFamily="34" charset="-122"/>
                <a:cs typeface="Arial" pitchFamily="34" charset="-120"/>
              </a:rPr>
              <a:t>$1.6M</a:t>
            </a:r>
            <a:endParaRPr lang="en-US" sz="1050" dirty="0"/>
          </a:p>
        </p:txBody>
      </p:sp>
      <p:sp>
        <p:nvSpPr>
          <p:cNvPr id="33" name="Text 31"/>
          <p:cNvSpPr/>
          <p:nvPr/>
        </p:nvSpPr>
        <p:spPr>
          <a:xfrm>
            <a:off x="6217920" y="4901184"/>
            <a:ext cx="3200400" cy="320040"/>
          </a:xfrm>
          <a:prstGeom prst="rect">
            <a:avLst/>
          </a:prstGeom>
          <a:noFill/>
          <a:ln/>
        </p:spPr>
        <p:txBody>
          <a:bodyPr wrap="square" rtlCol="0" anchor="ctr"/>
          <a:lstStyle/>
          <a:p>
            <a:pPr indent="0" marL="0">
              <a:buNone/>
            </a:pPr>
            <a:r>
              <a:rPr lang="en-US" sz="1050" dirty="0">
                <a:solidFill>
                  <a:srgbClr val="8B949E"/>
                </a:solidFill>
                <a:latin typeface="Arial" pitchFamily="34" charset="0"/>
                <a:ea typeface="Arial" pitchFamily="34" charset="-122"/>
                <a:cs typeface="Arial" pitchFamily="34" charset="-120"/>
              </a:rPr>
              <a:t>DOL RESTART</a:t>
            </a:r>
            <a:endParaRPr lang="en-US" sz="1050" dirty="0"/>
          </a:p>
        </p:txBody>
      </p:sp>
      <p:sp>
        <p:nvSpPr>
          <p:cNvPr id="34" name="Text 32"/>
          <p:cNvSpPr/>
          <p:nvPr/>
        </p:nvSpPr>
        <p:spPr>
          <a:xfrm>
            <a:off x="9418320" y="4901184"/>
            <a:ext cx="2103120" cy="320040"/>
          </a:xfrm>
          <a:prstGeom prst="rect">
            <a:avLst/>
          </a:prstGeom>
          <a:noFill/>
          <a:ln/>
        </p:spPr>
        <p:txBody>
          <a:bodyPr wrap="square" rtlCol="0" anchor="ctr"/>
          <a:lstStyle/>
          <a:p>
            <a:pPr algn="r" indent="0" marL="0">
              <a:buNone/>
            </a:pPr>
            <a:r>
              <a:rPr lang="en-US" sz="1050" b="1" dirty="0">
                <a:solidFill>
                  <a:srgbClr val="F0B429"/>
                </a:solidFill>
                <a:latin typeface="Arial" pitchFamily="34" charset="0"/>
                <a:ea typeface="Arial" pitchFamily="34" charset="-122"/>
                <a:cs typeface="Arial" pitchFamily="34" charset="-120"/>
              </a:rPr>
              <a:t>$5.1M (In Progress)</a:t>
            </a:r>
            <a:endParaRPr lang="en-US" sz="1050" dirty="0"/>
          </a:p>
        </p:txBody>
      </p:sp>
      <p:sp>
        <p:nvSpPr>
          <p:cNvPr id="35" name="Text 33"/>
          <p:cNvSpPr/>
          <p:nvPr/>
        </p:nvSpPr>
        <p:spPr>
          <a:xfrm>
            <a:off x="6217920" y="5248656"/>
            <a:ext cx="3200400" cy="320040"/>
          </a:xfrm>
          <a:prstGeom prst="rect">
            <a:avLst/>
          </a:prstGeom>
          <a:noFill/>
          <a:ln/>
        </p:spPr>
        <p:txBody>
          <a:bodyPr wrap="square" rtlCol="0" anchor="ctr"/>
          <a:lstStyle/>
          <a:p>
            <a:pPr indent="0" marL="0">
              <a:buNone/>
            </a:pPr>
            <a:r>
              <a:rPr lang="en-US" sz="1050" dirty="0">
                <a:solidFill>
                  <a:srgbClr val="8B949E"/>
                </a:solidFill>
                <a:latin typeface="Arial" pitchFamily="34" charset="0"/>
                <a:ea typeface="Arial" pitchFamily="34" charset="-122"/>
                <a:cs typeface="Arial" pitchFamily="34" charset="-120"/>
              </a:rPr>
              <a:t>Google.org</a:t>
            </a:r>
            <a:endParaRPr lang="en-US" sz="1050" dirty="0"/>
          </a:p>
        </p:txBody>
      </p:sp>
      <p:sp>
        <p:nvSpPr>
          <p:cNvPr id="36" name="Text 34"/>
          <p:cNvSpPr/>
          <p:nvPr/>
        </p:nvSpPr>
        <p:spPr>
          <a:xfrm>
            <a:off x="9418320" y="5248656"/>
            <a:ext cx="2103120" cy="320040"/>
          </a:xfrm>
          <a:prstGeom prst="rect">
            <a:avLst/>
          </a:prstGeom>
          <a:noFill/>
          <a:ln/>
        </p:spPr>
        <p:txBody>
          <a:bodyPr wrap="square" rtlCol="0" anchor="ctr"/>
          <a:lstStyle/>
          <a:p>
            <a:pPr algn="r" indent="0" marL="0">
              <a:buNone/>
            </a:pPr>
            <a:r>
              <a:rPr lang="en-US" sz="1050" b="1" dirty="0">
                <a:solidFill>
                  <a:srgbClr val="8B949E"/>
                </a:solidFill>
                <a:latin typeface="Arial" pitchFamily="34" charset="0"/>
                <a:ea typeface="Arial" pitchFamily="34" charset="-122"/>
                <a:cs typeface="Arial" pitchFamily="34" charset="-120"/>
              </a:rPr>
              <a:t>Applied</a:t>
            </a:r>
            <a:endParaRPr lang="en-US" sz="1050" dirty="0"/>
          </a:p>
        </p:txBody>
      </p:sp>
      <p:sp>
        <p:nvSpPr>
          <p:cNvPr id="37" name="Text 35"/>
          <p:cNvSpPr/>
          <p:nvPr/>
        </p:nvSpPr>
        <p:spPr>
          <a:xfrm>
            <a:off x="6217920" y="5596128"/>
            <a:ext cx="3200400" cy="320040"/>
          </a:xfrm>
          <a:prstGeom prst="rect">
            <a:avLst/>
          </a:prstGeom>
          <a:noFill/>
          <a:ln/>
        </p:spPr>
        <p:txBody>
          <a:bodyPr wrap="square" rtlCol="0" anchor="ctr"/>
          <a:lstStyle/>
          <a:p>
            <a:pPr indent="0" marL="0">
              <a:buNone/>
            </a:pPr>
            <a:r>
              <a:rPr lang="en-US" sz="1050" dirty="0">
                <a:solidFill>
                  <a:srgbClr val="8B949E"/>
                </a:solidFill>
                <a:latin typeface="Arial" pitchFamily="34" charset="0"/>
                <a:ea typeface="Arial" pitchFamily="34" charset="-122"/>
                <a:cs typeface="Arial" pitchFamily="34" charset="-120"/>
              </a:rPr>
              <a:t>Gates Foundation</a:t>
            </a:r>
            <a:endParaRPr lang="en-US" sz="1050" dirty="0"/>
          </a:p>
        </p:txBody>
      </p:sp>
      <p:sp>
        <p:nvSpPr>
          <p:cNvPr id="38" name="Text 36"/>
          <p:cNvSpPr/>
          <p:nvPr/>
        </p:nvSpPr>
        <p:spPr>
          <a:xfrm>
            <a:off x="9418320" y="5596128"/>
            <a:ext cx="2103120" cy="320040"/>
          </a:xfrm>
          <a:prstGeom prst="rect">
            <a:avLst/>
          </a:prstGeom>
          <a:noFill/>
          <a:ln/>
        </p:spPr>
        <p:txBody>
          <a:bodyPr wrap="square" rtlCol="0" anchor="ctr"/>
          <a:lstStyle/>
          <a:p>
            <a:pPr algn="r" indent="0" marL="0">
              <a:buNone/>
            </a:pPr>
            <a:r>
              <a:rPr lang="en-US" sz="1050" b="1" dirty="0">
                <a:solidFill>
                  <a:srgbClr val="8B949E"/>
                </a:solidFill>
                <a:latin typeface="Arial" pitchFamily="34" charset="0"/>
                <a:ea typeface="Arial" pitchFamily="34" charset="-122"/>
                <a:cs typeface="Arial" pitchFamily="34" charset="-120"/>
              </a:rPr>
              <a:t>Applied</a:t>
            </a:r>
            <a:endParaRPr lang="en-US" sz="1050" dirty="0"/>
          </a:p>
        </p:txBody>
      </p:sp>
      <p:sp>
        <p:nvSpPr>
          <p:cNvPr id="39" name="Text 37"/>
          <p:cNvSpPr/>
          <p:nvPr/>
        </p:nvSpPr>
        <p:spPr>
          <a:xfrm>
            <a:off x="6217920" y="5943600"/>
            <a:ext cx="3200400" cy="320040"/>
          </a:xfrm>
          <a:prstGeom prst="rect">
            <a:avLst/>
          </a:prstGeom>
          <a:noFill/>
          <a:ln/>
        </p:spPr>
        <p:txBody>
          <a:bodyPr wrap="square" rtlCol="0" anchor="ctr"/>
          <a:lstStyle/>
          <a:p>
            <a:pPr indent="0" marL="0">
              <a:buNone/>
            </a:pPr>
            <a:r>
              <a:rPr lang="en-US" sz="1050" dirty="0">
                <a:solidFill>
                  <a:srgbClr val="8B949E"/>
                </a:solidFill>
                <a:latin typeface="Arial" pitchFamily="34" charset="0"/>
                <a:ea typeface="Arial" pitchFamily="34" charset="-122"/>
                <a:cs typeface="Arial" pitchFamily="34" charset="-120"/>
              </a:rPr>
              <a:t>NSF</a:t>
            </a:r>
            <a:endParaRPr lang="en-US" sz="1050" dirty="0"/>
          </a:p>
        </p:txBody>
      </p:sp>
      <p:sp>
        <p:nvSpPr>
          <p:cNvPr id="40" name="Text 38"/>
          <p:cNvSpPr/>
          <p:nvPr/>
        </p:nvSpPr>
        <p:spPr>
          <a:xfrm>
            <a:off x="9418320" y="5943600"/>
            <a:ext cx="2103120" cy="320040"/>
          </a:xfrm>
          <a:prstGeom prst="rect">
            <a:avLst/>
          </a:prstGeom>
          <a:noFill/>
          <a:ln/>
        </p:spPr>
        <p:txBody>
          <a:bodyPr wrap="square" rtlCol="0" anchor="ctr"/>
          <a:lstStyle/>
          <a:p>
            <a:pPr algn="r" indent="0" marL="0">
              <a:buNone/>
            </a:pPr>
            <a:r>
              <a:rPr lang="en-US" sz="1050" b="1" dirty="0">
                <a:solidFill>
                  <a:srgbClr val="8B949E"/>
                </a:solidFill>
                <a:latin typeface="Arial" pitchFamily="34" charset="0"/>
                <a:ea typeface="Arial" pitchFamily="34" charset="-122"/>
                <a:cs typeface="Arial" pitchFamily="34" charset="-120"/>
              </a:rPr>
              <a:t>Applied</a:t>
            </a:r>
            <a:endParaRPr lang="en-US" sz="10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731520" y="365760"/>
            <a:ext cx="4572000" cy="384048"/>
          </a:xfrm>
          <a:prstGeom prst="rect">
            <a:avLst/>
          </a:prstGeom>
          <a:noFill/>
          <a:ln/>
        </p:spPr>
        <p:txBody>
          <a:bodyPr wrap="square" rtlCol="0" anchor="ctr"/>
          <a:lstStyle/>
          <a:p>
            <a:pPr indent="0" marL="0">
              <a:buNone/>
            </a:pPr>
            <a:r>
              <a:rPr lang="en-US" sz="1300" b="1" dirty="0">
                <a:solidFill>
                  <a:srgbClr val="F0B429"/>
                </a:solidFill>
                <a:latin typeface="Arial" pitchFamily="34" charset="0"/>
                <a:ea typeface="Arial" pitchFamily="34" charset="-122"/>
                <a:cs typeface="Arial" pitchFamily="34" charset="-120"/>
              </a:rPr>
              <a:t>The Ask</a:t>
            </a:r>
            <a:endParaRPr lang="en-US" sz="1300" dirty="0"/>
          </a:p>
        </p:txBody>
      </p:sp>
      <p:sp>
        <p:nvSpPr>
          <p:cNvPr id="3" name="Text 1"/>
          <p:cNvSpPr/>
          <p:nvPr/>
        </p:nvSpPr>
        <p:spPr>
          <a:xfrm>
            <a:off x="731520" y="594360"/>
            <a:ext cx="10698480" cy="868680"/>
          </a:xfrm>
          <a:prstGeom prst="rect">
            <a:avLst/>
          </a:prstGeom>
          <a:noFill/>
          <a:ln/>
        </p:spPr>
        <p:txBody>
          <a:bodyPr wrap="square" rtlCol="0" anchor="ctr"/>
          <a:lstStyle/>
          <a:p>
            <a:pPr algn="ctr" indent="0" marL="0">
              <a:buNone/>
            </a:pPr>
            <a:r>
              <a:rPr lang="en-US" sz="5800" b="1" dirty="0">
                <a:solidFill>
                  <a:srgbClr val="F0B429"/>
                </a:solidFill>
                <a:latin typeface="Arial" pitchFamily="34" charset="0"/>
                <a:ea typeface="Arial" pitchFamily="34" charset="-122"/>
                <a:cs typeface="Arial" pitchFamily="34" charset="-120"/>
              </a:rPr>
              <a:t>$1,000,000</a:t>
            </a:r>
            <a:endParaRPr lang="en-US" sz="5800" dirty="0"/>
          </a:p>
        </p:txBody>
      </p:sp>
      <p:sp>
        <p:nvSpPr>
          <p:cNvPr id="4" name="Text 2"/>
          <p:cNvSpPr/>
          <p:nvPr/>
        </p:nvSpPr>
        <p:spPr>
          <a:xfrm>
            <a:off x="731520" y="1371600"/>
            <a:ext cx="10698480" cy="274320"/>
          </a:xfrm>
          <a:prstGeom prst="rect">
            <a:avLst/>
          </a:prstGeom>
          <a:noFill/>
          <a:ln/>
        </p:spPr>
        <p:txBody>
          <a:bodyPr wrap="square" rtlCol="0" anchor="ctr"/>
          <a:lstStyle/>
          <a:p>
            <a:pPr algn="ctr" indent="0" marL="0">
              <a:buNone/>
            </a:pPr>
            <a:r>
              <a:rPr lang="en-US" sz="1400" dirty="0">
                <a:solidFill>
                  <a:srgbClr val="8B949E"/>
                </a:solidFill>
                <a:latin typeface="Arial" pitchFamily="34" charset="0"/>
                <a:ea typeface="Arial" pitchFamily="34" charset="-122"/>
                <a:cs typeface="Arial" pitchFamily="34" charset="-120"/>
              </a:rPr>
              <a:t>SAFE Investment  •  Integrated Services and Solutions LLC</a:t>
            </a:r>
            <a:endParaRPr lang="en-US" sz="1400" dirty="0"/>
          </a:p>
        </p:txBody>
      </p:sp>
      <p:sp>
        <p:nvSpPr>
          <p:cNvPr id="5" name="Shape 3"/>
          <p:cNvSpPr/>
          <p:nvPr/>
        </p:nvSpPr>
        <p:spPr>
          <a:xfrm>
            <a:off x="731520" y="1828800"/>
            <a:ext cx="3383280" cy="1463040"/>
          </a:xfrm>
          <a:prstGeom prst="roundRect">
            <a:avLst>
              <a:gd name="adj" fmla="val 6250"/>
            </a:avLst>
          </a:prstGeom>
          <a:solidFill>
            <a:srgbClr val="161B22"/>
          </a:solidFill>
          <a:ln w="25400">
            <a:solidFill>
              <a:srgbClr val="0079F2"/>
            </a:solidFill>
            <a:prstDash val="solid"/>
          </a:ln>
        </p:spPr>
      </p:sp>
      <p:sp>
        <p:nvSpPr>
          <p:cNvPr id="6" name="Text 4"/>
          <p:cNvSpPr/>
          <p:nvPr/>
        </p:nvSpPr>
        <p:spPr>
          <a:xfrm>
            <a:off x="731520" y="1874520"/>
            <a:ext cx="3383280" cy="411480"/>
          </a:xfrm>
          <a:prstGeom prst="rect">
            <a:avLst/>
          </a:prstGeom>
          <a:noFill/>
          <a:ln/>
        </p:spPr>
        <p:txBody>
          <a:bodyPr wrap="square" rtlCol="0" anchor="ctr"/>
          <a:lstStyle/>
          <a:p>
            <a:pPr algn="ctr" indent="0" marL="0">
              <a:buNone/>
            </a:pPr>
            <a:r>
              <a:rPr lang="en-US" sz="2200" b="1" dirty="0">
                <a:solidFill>
                  <a:srgbClr val="0079F2"/>
                </a:solidFill>
                <a:latin typeface="Arial" pitchFamily="34" charset="0"/>
                <a:ea typeface="Arial" pitchFamily="34" charset="-122"/>
                <a:cs typeface="Arial" pitchFamily="34" charset="-120"/>
              </a:rPr>
              <a:t>40%</a:t>
            </a:r>
            <a:endParaRPr lang="en-US" sz="2200" dirty="0"/>
          </a:p>
        </p:txBody>
      </p:sp>
      <p:sp>
        <p:nvSpPr>
          <p:cNvPr id="7" name="Text 5"/>
          <p:cNvSpPr/>
          <p:nvPr/>
        </p:nvSpPr>
        <p:spPr>
          <a:xfrm>
            <a:off x="731520" y="2240280"/>
            <a:ext cx="3383280" cy="320040"/>
          </a:xfrm>
          <a:prstGeom prst="rect">
            <a:avLst/>
          </a:prstGeom>
          <a:noFill/>
          <a:ln/>
        </p:spPr>
        <p:txBody>
          <a:bodyPr wrap="square"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5 New Markets</a:t>
            </a:r>
            <a:endParaRPr lang="en-US" sz="1300" dirty="0"/>
          </a:p>
        </p:txBody>
      </p:sp>
      <p:sp>
        <p:nvSpPr>
          <p:cNvPr id="8" name="Text 6"/>
          <p:cNvSpPr/>
          <p:nvPr/>
        </p:nvSpPr>
        <p:spPr>
          <a:xfrm>
            <a:off x="1005840" y="2606040"/>
            <a:ext cx="2834640" cy="502920"/>
          </a:xfrm>
          <a:prstGeom prst="rect">
            <a:avLst/>
          </a:prstGeom>
          <a:noFill/>
          <a:ln/>
        </p:spPr>
        <p:txBody>
          <a:bodyPr wrap="square" rtlCol="0" anchor="ctr"/>
          <a:lstStyle/>
          <a:p>
            <a:pPr algn="ctr" indent="0" marL="0">
              <a:lnSpc>
                <a:spcPct val="120000"/>
              </a:lnSpc>
              <a:buNone/>
            </a:pPr>
            <a:r>
              <a:rPr lang="en-US" sz="1000" dirty="0">
                <a:solidFill>
                  <a:srgbClr val="8B949E"/>
                </a:solidFill>
                <a:latin typeface="Arial" pitchFamily="34" charset="0"/>
                <a:ea typeface="Arial" pitchFamily="34" charset="-122"/>
                <a:cs typeface="Arial" pitchFamily="34" charset="-120"/>
              </a:rPr>
              <a:t>Scale from Central Texas</a:t>
            </a:r>
            <a:endParaRPr lang="en-US" sz="1000" dirty="0"/>
          </a:p>
          <a:p>
            <a:pPr algn="ctr" indent="0" marL="0">
              <a:lnSpc>
                <a:spcPct val="120000"/>
              </a:lnSpc>
              <a:buNone/>
            </a:pPr>
            <a:r>
              <a:rPr lang="en-US" sz="1000" dirty="0">
                <a:solidFill>
                  <a:srgbClr val="8B949E"/>
                </a:solidFill>
                <a:latin typeface="Arial" pitchFamily="34" charset="0"/>
                <a:ea typeface="Arial" pitchFamily="34" charset="-122"/>
                <a:cs typeface="Arial" pitchFamily="34" charset="-120"/>
              </a:rPr>
              <a:t>to 5 additional communities</a:t>
            </a:r>
            <a:endParaRPr lang="en-US" sz="1000" dirty="0"/>
          </a:p>
        </p:txBody>
      </p:sp>
      <p:sp>
        <p:nvSpPr>
          <p:cNvPr id="9" name="Shape 7"/>
          <p:cNvSpPr/>
          <p:nvPr/>
        </p:nvSpPr>
        <p:spPr>
          <a:xfrm>
            <a:off x="4389120" y="1828800"/>
            <a:ext cx="3383280" cy="1463040"/>
          </a:xfrm>
          <a:prstGeom prst="roundRect">
            <a:avLst>
              <a:gd name="adj" fmla="val 6250"/>
            </a:avLst>
          </a:prstGeom>
          <a:solidFill>
            <a:srgbClr val="161B22"/>
          </a:solidFill>
          <a:ln w="25400">
            <a:solidFill>
              <a:srgbClr val="00C9A7"/>
            </a:solidFill>
            <a:prstDash val="solid"/>
          </a:ln>
        </p:spPr>
      </p:sp>
      <p:sp>
        <p:nvSpPr>
          <p:cNvPr id="10" name="Text 8"/>
          <p:cNvSpPr/>
          <p:nvPr/>
        </p:nvSpPr>
        <p:spPr>
          <a:xfrm>
            <a:off x="4389120" y="1874520"/>
            <a:ext cx="3383280" cy="411480"/>
          </a:xfrm>
          <a:prstGeom prst="rect">
            <a:avLst/>
          </a:prstGeom>
          <a:noFill/>
          <a:ln/>
        </p:spPr>
        <p:txBody>
          <a:bodyPr wrap="square" rtlCol="0" anchor="ctr"/>
          <a:lstStyle/>
          <a:p>
            <a:pPr algn="ctr" indent="0" marL="0">
              <a:buNone/>
            </a:pPr>
            <a:r>
              <a:rPr lang="en-US" sz="2200" b="1" dirty="0">
                <a:solidFill>
                  <a:srgbClr val="00C9A7"/>
                </a:solidFill>
                <a:latin typeface="Arial" pitchFamily="34" charset="0"/>
                <a:ea typeface="Arial" pitchFamily="34" charset="-122"/>
                <a:cs typeface="Arial" pitchFamily="34" charset="-120"/>
              </a:rPr>
              <a:t>35%</a:t>
            </a:r>
            <a:endParaRPr lang="en-US" sz="2200" dirty="0"/>
          </a:p>
        </p:txBody>
      </p:sp>
      <p:sp>
        <p:nvSpPr>
          <p:cNvPr id="11" name="Text 9"/>
          <p:cNvSpPr/>
          <p:nvPr/>
        </p:nvSpPr>
        <p:spPr>
          <a:xfrm>
            <a:off x="4389120" y="2240280"/>
            <a:ext cx="3383280" cy="320040"/>
          </a:xfrm>
          <a:prstGeom prst="rect">
            <a:avLst/>
          </a:prstGeom>
          <a:noFill/>
          <a:ln/>
        </p:spPr>
        <p:txBody>
          <a:bodyPr wrap="square"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Sales &amp; Success</a:t>
            </a:r>
            <a:endParaRPr lang="en-US" sz="1300" dirty="0"/>
          </a:p>
        </p:txBody>
      </p:sp>
      <p:sp>
        <p:nvSpPr>
          <p:cNvPr id="12" name="Text 10"/>
          <p:cNvSpPr/>
          <p:nvPr/>
        </p:nvSpPr>
        <p:spPr>
          <a:xfrm>
            <a:off x="4663440" y="2606040"/>
            <a:ext cx="2834640" cy="502920"/>
          </a:xfrm>
          <a:prstGeom prst="rect">
            <a:avLst/>
          </a:prstGeom>
          <a:noFill/>
          <a:ln/>
        </p:spPr>
        <p:txBody>
          <a:bodyPr wrap="square" rtlCol="0" anchor="ctr"/>
          <a:lstStyle/>
          <a:p>
            <a:pPr algn="ctr" indent="0" marL="0">
              <a:lnSpc>
                <a:spcPct val="120000"/>
              </a:lnSpc>
              <a:buNone/>
            </a:pPr>
            <a:r>
              <a:rPr lang="en-US" sz="1000" dirty="0">
                <a:solidFill>
                  <a:srgbClr val="8B949E"/>
                </a:solidFill>
                <a:latin typeface="Arial" pitchFamily="34" charset="0"/>
                <a:ea typeface="Arial" pitchFamily="34" charset="-122"/>
                <a:cs typeface="Arial" pitchFamily="34" charset="-120"/>
              </a:rPr>
              <a:t>Team to onboard communities</a:t>
            </a:r>
            <a:endParaRPr lang="en-US" sz="1000" dirty="0"/>
          </a:p>
          <a:p>
            <a:pPr algn="ctr" indent="0" marL="0">
              <a:lnSpc>
                <a:spcPct val="120000"/>
              </a:lnSpc>
              <a:buNone/>
            </a:pPr>
            <a:r>
              <a:rPr lang="en-US" sz="1000" dirty="0">
                <a:solidFill>
                  <a:srgbClr val="8B949E"/>
                </a:solidFill>
                <a:latin typeface="Arial" pitchFamily="34" charset="0"/>
                <a:ea typeface="Arial" pitchFamily="34" charset="-122"/>
                <a:cs typeface="Arial" pitchFamily="34" charset="-120"/>
              </a:rPr>
              <a:t>and expand platform adoption</a:t>
            </a:r>
            <a:endParaRPr lang="en-US" sz="1000" dirty="0"/>
          </a:p>
        </p:txBody>
      </p:sp>
      <p:sp>
        <p:nvSpPr>
          <p:cNvPr id="13" name="Shape 11"/>
          <p:cNvSpPr/>
          <p:nvPr/>
        </p:nvSpPr>
        <p:spPr>
          <a:xfrm>
            <a:off x="8046720" y="1828800"/>
            <a:ext cx="3383280" cy="1463040"/>
          </a:xfrm>
          <a:prstGeom prst="roundRect">
            <a:avLst>
              <a:gd name="adj" fmla="val 6250"/>
            </a:avLst>
          </a:prstGeom>
          <a:solidFill>
            <a:srgbClr val="161B22"/>
          </a:solidFill>
          <a:ln w="25400">
            <a:solidFill>
              <a:srgbClr val="F0B429"/>
            </a:solidFill>
            <a:prstDash val="solid"/>
          </a:ln>
        </p:spPr>
      </p:sp>
      <p:sp>
        <p:nvSpPr>
          <p:cNvPr id="14" name="Text 12"/>
          <p:cNvSpPr/>
          <p:nvPr/>
        </p:nvSpPr>
        <p:spPr>
          <a:xfrm>
            <a:off x="8046720" y="1874520"/>
            <a:ext cx="3383280" cy="411480"/>
          </a:xfrm>
          <a:prstGeom prst="rect">
            <a:avLst/>
          </a:prstGeom>
          <a:noFill/>
          <a:ln/>
        </p:spPr>
        <p:txBody>
          <a:bodyPr wrap="square" rtlCol="0" anchor="ctr"/>
          <a:lstStyle/>
          <a:p>
            <a:pPr algn="ctr" indent="0" marL="0">
              <a:buNone/>
            </a:pPr>
            <a:r>
              <a:rPr lang="en-US" sz="2200" b="1" dirty="0">
                <a:solidFill>
                  <a:srgbClr val="F0B429"/>
                </a:solidFill>
                <a:latin typeface="Arial" pitchFamily="34" charset="0"/>
                <a:ea typeface="Arial" pitchFamily="34" charset="-122"/>
                <a:cs typeface="Arial" pitchFamily="34" charset="-120"/>
              </a:rPr>
              <a:t>25%</a:t>
            </a:r>
            <a:endParaRPr lang="en-US" sz="2200" dirty="0"/>
          </a:p>
        </p:txBody>
      </p:sp>
      <p:sp>
        <p:nvSpPr>
          <p:cNvPr id="15" name="Text 13"/>
          <p:cNvSpPr/>
          <p:nvPr/>
        </p:nvSpPr>
        <p:spPr>
          <a:xfrm>
            <a:off x="8046720" y="2240280"/>
            <a:ext cx="3383280" cy="320040"/>
          </a:xfrm>
          <a:prstGeom prst="rect">
            <a:avLst/>
          </a:prstGeom>
          <a:noFill/>
          <a:ln/>
        </p:spPr>
        <p:txBody>
          <a:bodyPr wrap="square"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Product &amp; Infra</a:t>
            </a:r>
            <a:endParaRPr lang="en-US" sz="1300" dirty="0"/>
          </a:p>
        </p:txBody>
      </p:sp>
      <p:sp>
        <p:nvSpPr>
          <p:cNvPr id="16" name="Text 14"/>
          <p:cNvSpPr/>
          <p:nvPr/>
        </p:nvSpPr>
        <p:spPr>
          <a:xfrm>
            <a:off x="8321040" y="2606040"/>
            <a:ext cx="2834640" cy="502920"/>
          </a:xfrm>
          <a:prstGeom prst="rect">
            <a:avLst/>
          </a:prstGeom>
          <a:noFill/>
          <a:ln/>
        </p:spPr>
        <p:txBody>
          <a:bodyPr wrap="square" rtlCol="0" anchor="ctr"/>
          <a:lstStyle/>
          <a:p>
            <a:pPr algn="ctr" indent="0" marL="0">
              <a:lnSpc>
                <a:spcPct val="120000"/>
              </a:lnSpc>
              <a:buNone/>
            </a:pPr>
            <a:r>
              <a:rPr lang="en-US" sz="1000" dirty="0">
                <a:solidFill>
                  <a:srgbClr val="8B949E"/>
                </a:solidFill>
                <a:latin typeface="Arial" pitchFamily="34" charset="0"/>
                <a:ea typeface="Arial" pitchFamily="34" charset="-122"/>
                <a:cs typeface="Arial" pitchFamily="34" charset="-120"/>
              </a:rPr>
              <a:t>Platform hardening, compliance,</a:t>
            </a:r>
            <a:endParaRPr lang="en-US" sz="1000" dirty="0"/>
          </a:p>
          <a:p>
            <a:pPr algn="ctr" indent="0" marL="0">
              <a:lnSpc>
                <a:spcPct val="120000"/>
              </a:lnSpc>
              <a:buNone/>
            </a:pPr>
            <a:r>
              <a:rPr lang="en-US" sz="1000" dirty="0">
                <a:solidFill>
                  <a:srgbClr val="8B949E"/>
                </a:solidFill>
                <a:latin typeface="Arial" pitchFamily="34" charset="0"/>
                <a:ea typeface="Arial" pitchFamily="34" charset="-122"/>
                <a:cs typeface="Arial" pitchFamily="34" charset="-120"/>
              </a:rPr>
              <a:t>scale infrastructure</a:t>
            </a:r>
            <a:endParaRPr lang="en-US" sz="1000" dirty="0"/>
          </a:p>
        </p:txBody>
      </p:sp>
      <p:sp>
        <p:nvSpPr>
          <p:cNvPr id="17" name="Shape 15"/>
          <p:cNvSpPr/>
          <p:nvPr/>
        </p:nvSpPr>
        <p:spPr>
          <a:xfrm>
            <a:off x="2286000" y="3520440"/>
            <a:ext cx="7589520" cy="457200"/>
          </a:xfrm>
          <a:prstGeom prst="roundRect">
            <a:avLst>
              <a:gd name="adj" fmla="val 20000"/>
            </a:avLst>
          </a:prstGeom>
          <a:solidFill>
            <a:srgbClr val="161B22"/>
          </a:solidFill>
          <a:ln w="12700">
            <a:solidFill>
              <a:srgbClr val="F0B429"/>
            </a:solidFill>
            <a:prstDash val="solid"/>
          </a:ln>
        </p:spPr>
      </p:sp>
      <p:sp>
        <p:nvSpPr>
          <p:cNvPr id="18" name="Text 16"/>
          <p:cNvSpPr/>
          <p:nvPr/>
        </p:nvSpPr>
        <p:spPr>
          <a:xfrm>
            <a:off x="2286000" y="3520440"/>
            <a:ext cx="7589520" cy="457200"/>
          </a:xfrm>
          <a:prstGeom prst="rect">
            <a:avLst/>
          </a:prstGeom>
          <a:noFill/>
          <a:ln/>
        </p:spPr>
        <p:txBody>
          <a:bodyPr wrap="square" rtlCol="0" anchor="ctr"/>
          <a:lstStyle/>
          <a:p>
            <a:pPr algn="ctr" indent="0" marL="0">
              <a:buNone/>
            </a:pPr>
            <a:r>
              <a:rPr lang="en-US" sz="1300" b="1" dirty="0">
                <a:solidFill>
                  <a:srgbClr val="F0B429"/>
                </a:solidFill>
                <a:latin typeface="Arial" pitchFamily="34" charset="0"/>
                <a:ea typeface="Arial" pitchFamily="34" charset="-122"/>
                <a:cs typeface="Arial" pitchFamily="34" charset="-120"/>
              </a:rPr>
              <a:t>12-Month Target:   $2M ARR   •   5 Communities   •   50+ Licensed Organizations</a:t>
            </a:r>
            <a:endParaRPr lang="en-US" sz="1300" dirty="0"/>
          </a:p>
        </p:txBody>
      </p:sp>
      <p:sp>
        <p:nvSpPr>
          <p:cNvPr id="19" name="Shape 17"/>
          <p:cNvSpPr/>
          <p:nvPr/>
        </p:nvSpPr>
        <p:spPr>
          <a:xfrm>
            <a:off x="731520" y="4206240"/>
            <a:ext cx="10698480" cy="27432"/>
          </a:xfrm>
          <a:prstGeom prst="rect">
            <a:avLst/>
          </a:prstGeom>
          <a:solidFill>
            <a:srgbClr val="0079F2"/>
          </a:solidFill>
          <a:ln/>
        </p:spPr>
      </p:sp>
      <p:sp>
        <p:nvSpPr>
          <p:cNvPr id="20" name="Text 18"/>
          <p:cNvSpPr/>
          <p:nvPr/>
        </p:nvSpPr>
        <p:spPr>
          <a:xfrm>
            <a:off x="731520" y="4343400"/>
            <a:ext cx="7315200" cy="320040"/>
          </a:xfrm>
          <a:prstGeom prst="rect">
            <a:avLst/>
          </a:prstGeom>
          <a:noFill/>
          <a:ln/>
        </p:spPr>
        <p:txBody>
          <a:bodyPr wrap="square" rtlCol="0" anchor="ctr"/>
          <a:lstStyle/>
          <a:p>
            <a:pPr indent="0" marL="0">
              <a:buNone/>
            </a:pPr>
            <a:r>
              <a:rPr lang="en-US" sz="1600" b="1" dirty="0">
                <a:solidFill>
                  <a:srgbClr val="FFFFFF"/>
                </a:solidFill>
                <a:latin typeface="Arial" pitchFamily="34" charset="0"/>
                <a:ea typeface="Arial" pitchFamily="34" charset="-122"/>
                <a:cs typeface="Arial" pitchFamily="34" charset="-120"/>
              </a:rPr>
              <a:t>Dr. Terry Flood, DHA, DBA  —  Founder &amp; CEO</a:t>
            </a:r>
            <a:endParaRPr lang="en-US" sz="1600" dirty="0"/>
          </a:p>
        </p:txBody>
      </p:sp>
      <p:sp>
        <p:nvSpPr>
          <p:cNvPr id="21" name="Text 19"/>
          <p:cNvSpPr/>
          <p:nvPr/>
        </p:nvSpPr>
        <p:spPr>
          <a:xfrm>
            <a:off x="731520" y="4663440"/>
            <a:ext cx="9144000" cy="502920"/>
          </a:xfrm>
          <a:prstGeom prst="rect">
            <a:avLst/>
          </a:prstGeom>
          <a:noFill/>
          <a:ln/>
        </p:spPr>
        <p:txBody>
          <a:bodyPr wrap="square" rtlCol="0" anchor="ctr"/>
          <a:lstStyle/>
          <a:p>
            <a:pPr indent="0" marL="0">
              <a:lnSpc>
                <a:spcPct val="130000"/>
              </a:lnSpc>
              <a:buNone/>
            </a:pPr>
            <a:r>
              <a:rPr lang="en-US" sz="1000" dirty="0">
                <a:solidFill>
                  <a:srgbClr val="8B949E"/>
                </a:solidFill>
                <a:latin typeface="Arial" pitchFamily="34" charset="0"/>
                <a:ea typeface="Arial" pitchFamily="34" charset="-122"/>
                <a:cs typeface="Arial" pitchFamily="34" charset="-120"/>
              </a:rPr>
              <a:t>U.S. Army Veteran  •  DHA  •  DBA  •  MS Criminal Justice  •  MS I/O Psychology  •  MS HRM</a:t>
            </a:r>
            <a:endParaRPr lang="en-US" sz="1000" dirty="0"/>
          </a:p>
          <a:p>
            <a:pPr indent="0" marL="0">
              <a:lnSpc>
                <a:spcPct val="130000"/>
              </a:lnSpc>
              <a:buNone/>
            </a:pPr>
            <a:r>
              <a:rPr lang="en-US" sz="1000" dirty="0">
                <a:solidFill>
                  <a:srgbClr val="8B949E"/>
                </a:solidFill>
                <a:latin typeface="Arial" pitchFamily="34" charset="0"/>
                <a:ea typeface="Arial" pitchFamily="34" charset="-122"/>
                <a:cs typeface="Arial" pitchFamily="34" charset="-120"/>
              </a:rPr>
              <a:t>Implementation Science (Dartmouth)  •  VA Crisis Line Trainer  •  25 Years Direct Service  •  Black-led, Veteran-founded</a:t>
            </a:r>
            <a:endParaRPr lang="en-US" sz="1000" dirty="0"/>
          </a:p>
        </p:txBody>
      </p:sp>
      <p:sp>
        <p:nvSpPr>
          <p:cNvPr id="22" name="Shape 20"/>
          <p:cNvSpPr/>
          <p:nvPr/>
        </p:nvSpPr>
        <p:spPr>
          <a:xfrm>
            <a:off x="914400" y="5303520"/>
            <a:ext cx="10332720" cy="1188720"/>
          </a:xfrm>
          <a:prstGeom prst="roundRect">
            <a:avLst>
              <a:gd name="adj" fmla="val 9231"/>
            </a:avLst>
          </a:prstGeom>
          <a:solidFill>
            <a:srgbClr val="161B22"/>
          </a:solidFill>
          <a:ln w="25400">
            <a:solidFill>
              <a:srgbClr val="00C9A7"/>
            </a:solidFill>
            <a:prstDash val="solid"/>
          </a:ln>
        </p:spPr>
      </p:sp>
      <p:sp>
        <p:nvSpPr>
          <p:cNvPr id="23" name="Text 21"/>
          <p:cNvSpPr/>
          <p:nvPr/>
        </p:nvSpPr>
        <p:spPr>
          <a:xfrm>
            <a:off x="914400" y="5303520"/>
            <a:ext cx="10332720" cy="1188720"/>
          </a:xfrm>
          <a:prstGeom prst="rect">
            <a:avLst/>
          </a:prstGeom>
          <a:noFill/>
          <a:ln/>
        </p:spPr>
        <p:txBody>
          <a:bodyPr wrap="square" rtlCol="0" anchor="ctr"/>
          <a:lstStyle/>
          <a:p>
            <a:pPr algn="ctr" indent="0" marL="0">
              <a:lnSpc>
                <a:spcPct val="130000"/>
              </a:lnSpc>
              <a:buNone/>
            </a:pPr>
            <a:r>
              <a:rPr lang="en-US" sz="1400" b="1" i="1" dirty="0">
                <a:solidFill>
                  <a:srgbClr val="00C9A7"/>
                </a:solidFill>
                <a:latin typeface="Arial" pitchFamily="34" charset="0"/>
                <a:ea typeface="Arial" pitchFamily="34" charset="-122"/>
                <a:cs typeface="Arial" pitchFamily="34" charset="-120"/>
              </a:rPr>
              <a:t>"I didn't build ThriveUp because it would be a good business.</a:t>
            </a:r>
            <a:endParaRPr lang="en-US" sz="1400" dirty="0"/>
          </a:p>
          <a:p>
            <a:pPr algn="ctr" indent="0" marL="0">
              <a:lnSpc>
                <a:spcPct val="130000"/>
              </a:lnSpc>
              <a:buNone/>
            </a:pPr>
            <a:r>
              <a:rPr lang="en-US" sz="1400" b="1" i="1" dirty="0">
                <a:solidFill>
                  <a:srgbClr val="00C9A7"/>
                </a:solidFill>
                <a:latin typeface="Arial" pitchFamily="34" charset="0"/>
                <a:ea typeface="Arial" pitchFamily="34" charset="-122"/>
                <a:cs typeface="Arial" pitchFamily="34" charset="-120"/>
              </a:rPr>
              <a:t>I built it because the communities I serve were dying without it.</a:t>
            </a:r>
            <a:endParaRPr lang="en-US" sz="1400" dirty="0"/>
          </a:p>
          <a:p>
            <a:pPr algn="ctr" indent="0" marL="0">
              <a:lnSpc>
                <a:spcPct val="130000"/>
              </a:lnSpc>
              <a:buNone/>
            </a:pPr>
            <a:endParaRPr lang="en-US" sz="1400" dirty="0"/>
          </a:p>
          <a:p>
            <a:pPr algn="ctr" indent="0" marL="0">
              <a:lnSpc>
                <a:spcPct val="130000"/>
              </a:lnSpc>
              <a:buNone/>
            </a:pPr>
            <a:r>
              <a:rPr lang="en-US" sz="1400" b="1" i="1" dirty="0">
                <a:solidFill>
                  <a:srgbClr val="00C9A7"/>
                </a:solidFill>
                <a:latin typeface="Arial" pitchFamily="34" charset="0"/>
                <a:ea typeface="Arial" pitchFamily="34" charset="-122"/>
                <a:cs typeface="Arial" pitchFamily="34" charset="-120"/>
              </a:rPr>
              <a:t>Walk through any door. Get help in every room.</a:t>
            </a:r>
            <a:endParaRPr lang="en-US" sz="1400" dirty="0"/>
          </a:p>
          <a:p>
            <a:pPr algn="ctr" indent="0" marL="0">
              <a:lnSpc>
                <a:spcPct val="130000"/>
              </a:lnSpc>
              <a:buNone/>
            </a:pPr>
            <a:r>
              <a:rPr lang="en-US" sz="1400" b="1" i="1" dirty="0">
                <a:solidFill>
                  <a:srgbClr val="00C9A7"/>
                </a:solidFill>
                <a:latin typeface="Arial" pitchFamily="34" charset="0"/>
                <a:ea typeface="Arial" pitchFamily="34" charset="-122"/>
                <a:cs typeface="Arial" pitchFamily="34" charset="-120"/>
              </a:rPr>
              <a:t>It exists. It's live. It works. Now it needs to scale."</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Integrated Services and Solutions LLC</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ThriveUp Ecosystem — The Pitch by Deel 2026</dc:title>
  <dc:subject>PptxGenJS Presentation</dc:subject>
  <dc:creator>Dr. Terry Flood</dc:creator>
  <cp:lastModifiedBy>Dr. Terry Flood</cp:lastModifiedBy>
  <cp:revision>1</cp:revision>
  <dcterms:created xsi:type="dcterms:W3CDTF">2026-04-04T18:02:02Z</dcterms:created>
  <dcterms:modified xsi:type="dcterms:W3CDTF">2026-04-04T18:02:02Z</dcterms:modified>
</cp:coreProperties>
</file>