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ThriveUp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System for Community Impact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200400"/>
            <a:ext cx="3657600" cy="36576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474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Terry Flood, DHA, DBA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  |  Integrated Services and Solutions LLC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Army Veteran  •  5× Master's  •  Implementation Science (Dartmouth)  •  25 Years Direct Service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Pitch by Deel  |  New York  |  May 13,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 Billion Lost to Fragmentation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United States spends $180B+ annually on social services — workforce development, behavioral health, education, crisis intervention, reentry. Most of it is lost to disconnected systems, duplicated effort, and people falling through the cracks.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468880" cy="25603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platforms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returning citizen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3474720"/>
            <a:ext cx="2468880" cy="25603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36576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657600" y="4754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tools per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district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3474720"/>
            <a:ext cx="2468880" cy="25603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36576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4+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400800" y="4754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Agencies per veteran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transitioning out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3474720"/>
            <a:ext cx="2468880" cy="25603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0" y="36576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144000" y="475488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designed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connect them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AI-Powered Platforms.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Ecosystem.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 24 products duct-taped together. One ecosystem."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007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2004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0" y="30175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E845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32004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30175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32004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0175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K-12 &amp; Adult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75488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9377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74720" y="475488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49377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475488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49377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961120" y="475488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25400">
            <a:solidFill>
              <a:srgbClr val="2EA0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0" y="49377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6217920"/>
            <a:ext cx="2468880" cy="411480"/>
          </a:xfrm>
          <a:prstGeom prst="roundRect">
            <a:avLst>
              <a:gd name="adj" fmla="val 33333"/>
            </a:avLst>
          </a:prstGeom>
          <a:solidFill>
            <a:srgbClr val="0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6217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74720" y="6217920"/>
            <a:ext cx="2468880" cy="411480"/>
          </a:xfrm>
          <a:prstGeom prst="roundRect">
            <a:avLst>
              <a:gd name="adj" fmla="val 33333"/>
            </a:avLst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6217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(EN/ES)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6217920"/>
            <a:ext cx="2468880" cy="411480"/>
          </a:xfrm>
          <a:prstGeom prst="roundRect">
            <a:avLst>
              <a:gd name="adj" fmla="val 33333"/>
            </a:avLst>
          </a:prstGeom>
          <a:solidFill>
            <a:srgbClr val="00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6217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WCAG Accessible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61120" y="6217920"/>
            <a:ext cx="2468880" cy="411480"/>
          </a:xfrm>
          <a:prstGeom prst="roundRect">
            <a:avLst>
              <a:gd name="adj" fmla="val 33333"/>
            </a:avLst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0" y="62179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Science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oundRect">
            <a:avLst/>
          </a:prstGeom>
          <a:solidFill>
            <a:srgbClr val="2EA0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Spotlight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Transition (M2C)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Veteran Career Pipeline — End to End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517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Military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duty / separation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3291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A043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43200" y="256032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26517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34640" y="32004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3464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 → civilian equivalencies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3291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A043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0" y="256032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6517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120640" y="32004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Certifications &amp; licensing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A043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315200" y="256032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26517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06640" y="32004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job placement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26880" y="3291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A043"/>
                </a:solidFill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161B22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6517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92640" y="32004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success monitoring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" y="5669280"/>
            <a:ext cx="1069848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200,000+ service members transition annually  •  Most receive a 3-day TAP class and a handshake  •  Mission Transition replaces that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oundRect">
            <a:avLst/>
          </a:prstGeom>
          <a:solidFill>
            <a:srgbClr val="E8459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Spotlight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Maternal Health Network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 Mother Should Die From a Preventable Complication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2700">
            <a:solidFill>
              <a:srgbClr val="E845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517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32918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Risk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41148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analytics identify high-risk pregnancies before complications arise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25603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2700">
            <a:solidFill>
              <a:srgbClr val="E845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26517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🤝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29000" y="32918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Culturally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Care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29000" y="41148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to providers who understand the patient's lived experience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25603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2700">
            <a:solidFill>
              <a:srgbClr val="E845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26517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👩‍⚕️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63640" y="32918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Doula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63640" y="41148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to trained birth workers in their own community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25603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12700">
            <a:solidFill>
              <a:srgbClr val="E845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26517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💜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098280" y="32918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Postpartum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Continued monitoring and support through the full postnatal period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0" y="5577840"/>
            <a:ext cx="7589520" cy="1005840"/>
          </a:xfrm>
          <a:prstGeom prst="roundRect">
            <a:avLst>
              <a:gd name="adj" fmla="val 13636"/>
            </a:avLst>
          </a:prstGeom>
          <a:solidFill>
            <a:srgbClr val="2D0A1E"/>
          </a:solidFill>
          <a:ln w="25400">
            <a:solidFill>
              <a:srgbClr val="E845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557784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women are 3× more likely to die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pregnancy-related complications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Spotlight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Sankofa Health Network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Equity Across the Full Continuum of Care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256032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25400">
            <a:solidFill>
              <a:srgbClr val="E845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5603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Breast Cancer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Navigation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3520440"/>
            <a:ext cx="1463040" cy="27432"/>
          </a:xfrm>
          <a:prstGeom prst="rect">
            <a:avLst/>
          </a:prstGeom>
          <a:solidFill>
            <a:srgbClr val="E8459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6576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underserved women to mammography, removes barriers to early detection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2377440"/>
            <a:ext cx="256032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603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Counseling Access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40480" y="3520440"/>
            <a:ext cx="1463040" cy="2743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36576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BRCA testing navigation and risk assessment for high-risk populations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2377440"/>
            <a:ext cx="256032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5603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 Support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675120" y="3520440"/>
            <a:ext cx="1463040" cy="2743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36576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mentorship, treatment navigation, and long-term wellness tracking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2377440"/>
            <a:ext cx="2560320" cy="2560320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98280" y="25603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Chronic Disease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Preventive Care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09760" y="3520440"/>
            <a:ext cx="1463040" cy="27432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21" name="Text 19"/>
          <p:cNvSpPr/>
          <p:nvPr/>
        </p:nvSpPr>
        <p:spPr>
          <a:xfrm>
            <a:off x="9098280" y="36576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Autoimmune conditions, diabetes management, cardiovascular health equity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Sankofa (Akan): "Go back and get it" — Reclaiming health equity through technology, data, and community.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56692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1097280" y="6126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Black women diagnosed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breast cancer at later stages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0" y="56692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4572000" y="6126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mortality rate for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breast cancer patients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56692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046720" y="6126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health disparities linked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social determinants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Licensing — Recurring Revenue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3383280" cy="320040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 w="25400">
            <a:solidFill>
              <a:srgbClr val="0079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945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Platform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2468880" cy="27432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platform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one solution: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Workforce, Health, Education,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Crisis, or any other platform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2011680"/>
            <a:ext cx="3383280" cy="320040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21945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46320" y="2834640"/>
            <a:ext cx="2468880" cy="2743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30175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39319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5-10 connected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with shared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architecture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383280" cy="3200400"/>
          </a:xfrm>
          <a:prstGeom prst="roundRect">
            <a:avLst>
              <a:gd name="adj" fmla="val 4286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219456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Ecosystem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503920" y="2834640"/>
            <a:ext cx="2468880" cy="27432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301752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93192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24 platforms — complete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operating system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full interoperability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Customers: Community Organizations  •  School Districts  •  Workforce Boards  •  Government Agencies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Model: Monthly / Annual Recurring  •  Per-Seat or Per-Organization  •  Federal Grant Aligned (WIOA, ESSA, SAMHSA)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Underserved Community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America Is a Customer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25603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25400">
            <a:solidFill>
              <a:srgbClr val="0079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7432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40,000+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Agencies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25603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27432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13,000+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474720" y="38404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Districts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25603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25400">
            <a:solidFill>
              <a:srgbClr val="2EA04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27432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09360" y="38404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Boards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61120" y="256032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25400">
            <a:solidFill>
              <a:srgbClr val="E845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274320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3,000+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44000" y="38404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Centers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US Social Services Market: $180B+  •  International Expansion: Same Architecture, Any Geography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Live. Deployed. Real.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1031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Live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Deployed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21031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474720" y="3200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Workforce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 Pipeline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21031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309360" y="3200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TEKS Curriculum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Verified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2011680"/>
            <a:ext cx="2560320" cy="2011680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144000" y="3200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Already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Grant &amp; Funding Pipeline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" y="4937760"/>
            <a:ext cx="137160" cy="13716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8463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Workforce Commission — $1.6M (Submitted)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" y="5257800"/>
            <a:ext cx="137160" cy="13716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5166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Google.org — AI for Social Good (Applied)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4400" y="5577840"/>
            <a:ext cx="137160" cy="13716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5486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 Foundation — Education Innovation (Applied)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14400" y="5897880"/>
            <a:ext cx="137160" cy="13716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4" name="Text 22"/>
          <p:cNvSpPr/>
          <p:nvPr/>
        </p:nvSpPr>
        <p:spPr>
          <a:xfrm>
            <a:off x="1188720" y="5806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 — STEM Workforce (Applied)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4400" y="6217920"/>
            <a:ext cx="137160" cy="137160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6" name="Text 24"/>
          <p:cNvSpPr/>
          <p:nvPr/>
        </p:nvSpPr>
        <p:spPr>
          <a:xfrm>
            <a:off x="1188720" y="6126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 RESTART — $5.1M (In Progress)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$1,000,000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Investment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 w="25400">
            <a:solidFill>
              <a:srgbClr val="007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77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New Markets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from Central Texas to 5 additional regions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22860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2377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38912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CS Team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sales reps and customer success managers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286000"/>
            <a:ext cx="3383280" cy="1645920"/>
          </a:xfrm>
          <a:prstGeom prst="roundRect">
            <a:avLst>
              <a:gd name="adj" fmla="val 5556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2377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046720" y="28346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Ops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32918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hardening, compliance, infrastructure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0" y="420624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0" y="4206240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12-Month Target:  $2M ARR  •  5 Markets  •  50+ Licensed Organizations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120640"/>
            <a:ext cx="10698480" cy="27432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3035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Terry Flood, DHA, DBA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" y="56692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Army Veteran  •  DHA  •  DBA  •  5× Master's Degrees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Criminal Justice  •  MS I/O Psychology  •  MS Human Resource Management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Science (Dartmouth)  •  25 Years Direct Service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63093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"Built by someone who serves these communities —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 one else would."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Integrated Services and Solutions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ThriveUp — The Pitch by Deel 2026</dc:title>
  <dc:subject>PptxGenJS Presentation</dc:subject>
  <dc:creator>ThriveUp</dc:creator>
  <cp:lastModifiedBy>ThriveUp</cp:lastModifiedBy>
  <cp:revision>1</cp:revision>
  <dcterms:created xsi:type="dcterms:W3CDTF">2026-04-04T17:24:39Z</dcterms:created>
  <dcterms:modified xsi:type="dcterms:W3CDTF">2026-04-04T17:24:39Z</dcterms:modified>
</cp:coreProperties>
</file>