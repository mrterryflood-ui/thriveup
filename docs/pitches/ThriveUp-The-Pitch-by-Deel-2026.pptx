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1097280"/>
            <a:ext cx="10698480" cy="1371600"/>
          </a:xfrm>
          <a:prstGeom prst="rect">
            <a:avLst/>
          </a:prstGeom>
          <a:noFill/>
          <a:ln/>
        </p:spPr>
        <p:txBody>
          <a:bodyPr wrap="square" rtlCol="0" anchor="ctr"/>
          <a:lstStyle/>
          <a:p>
            <a:pPr indent="0" marL="0">
              <a:buNone/>
            </a:pPr>
            <a:r>
              <a:rPr lang="en-US" sz="7200" b="1" dirty="0">
                <a:solidFill>
                  <a:srgbClr val="FFFFFF"/>
                </a:solidFill>
                <a:latin typeface="Arial" pitchFamily="34" charset="0"/>
                <a:ea typeface="Arial" pitchFamily="34" charset="-122"/>
                <a:cs typeface="Arial" pitchFamily="34" charset="-120"/>
              </a:rPr>
              <a:t>ThriveUp</a:t>
            </a:r>
            <a:endParaRPr lang="en-US" sz="7200" dirty="0"/>
          </a:p>
        </p:txBody>
      </p:sp>
      <p:sp>
        <p:nvSpPr>
          <p:cNvPr id="3" name="Text 1"/>
          <p:cNvSpPr/>
          <p:nvPr/>
        </p:nvSpPr>
        <p:spPr>
          <a:xfrm>
            <a:off x="731520" y="2377440"/>
            <a:ext cx="10698480" cy="640080"/>
          </a:xfrm>
          <a:prstGeom prst="rect">
            <a:avLst/>
          </a:prstGeom>
          <a:noFill/>
          <a:ln/>
        </p:spPr>
        <p:txBody>
          <a:bodyPr wrap="square" rtlCol="0" anchor="ctr"/>
          <a:lstStyle/>
          <a:p>
            <a:pPr indent="0" marL="0">
              <a:buNone/>
            </a:pPr>
            <a:r>
              <a:rPr lang="en-US" sz="2600" dirty="0">
                <a:solidFill>
                  <a:srgbClr val="00C9A7"/>
                </a:solidFill>
                <a:latin typeface="Arial" pitchFamily="34" charset="0"/>
                <a:ea typeface="Arial" pitchFamily="34" charset="-122"/>
                <a:cs typeface="Arial" pitchFamily="34" charset="-120"/>
              </a:rPr>
              <a:t>The Operating System for Community Impact</a:t>
            </a:r>
            <a:endParaRPr lang="en-US" sz="2600" dirty="0"/>
          </a:p>
        </p:txBody>
      </p:sp>
      <p:sp>
        <p:nvSpPr>
          <p:cNvPr id="4" name="Shape 2"/>
          <p:cNvSpPr/>
          <p:nvPr/>
        </p:nvSpPr>
        <p:spPr>
          <a:xfrm>
            <a:off x="731520" y="3291840"/>
            <a:ext cx="3657600" cy="36576"/>
          </a:xfrm>
          <a:prstGeom prst="rect">
            <a:avLst/>
          </a:prstGeom>
          <a:solidFill>
            <a:srgbClr val="0079F2"/>
          </a:solidFill>
          <a:ln/>
        </p:spPr>
      </p:sp>
      <p:sp>
        <p:nvSpPr>
          <p:cNvPr id="5" name="Text 3"/>
          <p:cNvSpPr/>
          <p:nvPr/>
        </p:nvSpPr>
        <p:spPr>
          <a:xfrm>
            <a:off x="731520" y="3566160"/>
            <a:ext cx="73152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Dr. Terry Flood, DHA, DBA</a:t>
            </a:r>
            <a:endParaRPr lang="en-US" sz="2200" dirty="0"/>
          </a:p>
        </p:txBody>
      </p:sp>
      <p:sp>
        <p:nvSpPr>
          <p:cNvPr id="6" name="Text 4"/>
          <p:cNvSpPr/>
          <p:nvPr/>
        </p:nvSpPr>
        <p:spPr>
          <a:xfrm>
            <a:off x="731520" y="4023360"/>
            <a:ext cx="7315200" cy="365760"/>
          </a:xfrm>
          <a:prstGeom prst="rect">
            <a:avLst/>
          </a:prstGeom>
          <a:noFill/>
          <a:ln/>
        </p:spPr>
        <p:txBody>
          <a:bodyPr wrap="square" rtlCol="0" anchor="ctr"/>
          <a:lstStyle/>
          <a:p>
            <a:pPr indent="0" marL="0">
              <a:buNone/>
            </a:pPr>
            <a:r>
              <a:rPr lang="en-US" sz="1600" dirty="0">
                <a:solidFill>
                  <a:srgbClr val="8B949E"/>
                </a:solidFill>
                <a:latin typeface="Arial" pitchFamily="34" charset="0"/>
                <a:ea typeface="Arial" pitchFamily="34" charset="-122"/>
                <a:cs typeface="Arial" pitchFamily="34" charset="-120"/>
              </a:rPr>
              <a:t>Founder &amp; CEO  |  Integrated Services and Solutions LLC</a:t>
            </a:r>
            <a:endParaRPr lang="en-US" sz="1600" dirty="0"/>
          </a:p>
        </p:txBody>
      </p:sp>
      <p:sp>
        <p:nvSpPr>
          <p:cNvPr id="7" name="Text 5"/>
          <p:cNvSpPr/>
          <p:nvPr/>
        </p:nvSpPr>
        <p:spPr>
          <a:xfrm>
            <a:off x="731520" y="4480560"/>
            <a:ext cx="9144000" cy="365760"/>
          </a:xfrm>
          <a:prstGeom prst="rect">
            <a:avLst/>
          </a:prstGeom>
          <a:noFill/>
          <a:ln/>
        </p:spPr>
        <p:txBody>
          <a:bodyPr wrap="square" rtlCol="0" anchor="ctr"/>
          <a:lstStyle/>
          <a:p>
            <a:pPr indent="0" marL="0">
              <a:buNone/>
            </a:pPr>
            <a:r>
              <a:rPr lang="en-US" sz="1300" dirty="0">
                <a:solidFill>
                  <a:srgbClr val="8B949E"/>
                </a:solidFill>
                <a:latin typeface="Arial" pitchFamily="34" charset="0"/>
                <a:ea typeface="Arial" pitchFamily="34" charset="-122"/>
                <a:cs typeface="Arial" pitchFamily="34" charset="-120"/>
              </a:rPr>
              <a:t>U.S. Army Veteran  •  5× Master's  •  Implementation Science (Dartmouth)  •  25 Years Direct Service</a:t>
            </a:r>
            <a:endParaRPr lang="en-US" sz="1300" dirty="0"/>
          </a:p>
        </p:txBody>
      </p:sp>
      <p:sp>
        <p:nvSpPr>
          <p:cNvPr id="8" name="Text 6"/>
          <p:cNvSpPr/>
          <p:nvPr/>
        </p:nvSpPr>
        <p:spPr>
          <a:xfrm>
            <a:off x="731520" y="5943600"/>
            <a:ext cx="7315200" cy="365760"/>
          </a:xfrm>
          <a:prstGeom prst="rect">
            <a:avLst/>
          </a:prstGeom>
          <a:noFill/>
          <a:ln/>
        </p:spPr>
        <p:txBody>
          <a:bodyPr wrap="square" rtlCol="0" anchor="ctr"/>
          <a:lstStyle/>
          <a:p>
            <a:pPr indent="0" marL="0">
              <a:buNone/>
            </a:pPr>
            <a:r>
              <a:rPr lang="en-US" sz="1200" i="1" dirty="0">
                <a:solidFill>
                  <a:srgbClr val="8B949E"/>
                </a:solidFill>
                <a:latin typeface="Arial" pitchFamily="34" charset="0"/>
                <a:ea typeface="Arial" pitchFamily="34" charset="-122"/>
                <a:cs typeface="Arial" pitchFamily="34" charset="-120"/>
              </a:rPr>
              <a:t>The Pitch by Deel  |  New York  |  May 13,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EF4444"/>
                </a:solidFill>
                <a:latin typeface="Arial" pitchFamily="34" charset="0"/>
                <a:ea typeface="Arial" pitchFamily="34" charset="-122"/>
                <a:cs typeface="Arial" pitchFamily="34" charset="-120"/>
              </a:rPr>
              <a:t>The Problem</a:t>
            </a:r>
            <a:endParaRPr lang="en-US" sz="1300" dirty="0"/>
          </a:p>
        </p:txBody>
      </p:sp>
      <p:sp>
        <p:nvSpPr>
          <p:cNvPr id="3" name="Text 1"/>
          <p:cNvSpPr/>
          <p:nvPr/>
        </p:nvSpPr>
        <p:spPr>
          <a:xfrm>
            <a:off x="731520" y="822960"/>
            <a:ext cx="10698480" cy="1188720"/>
          </a:xfrm>
          <a:prstGeom prst="rect">
            <a:avLst/>
          </a:prstGeom>
          <a:noFill/>
          <a:ln/>
        </p:spPr>
        <p:txBody>
          <a:bodyPr wrap="square" rtlCol="0" anchor="ctr"/>
          <a:lstStyle/>
          <a:p>
            <a:pPr indent="0" marL="0">
              <a:lnSpc>
                <a:spcPct val="110000"/>
              </a:lnSpc>
              <a:buNone/>
            </a:pPr>
            <a:r>
              <a:rPr lang="en-US" sz="3600" b="1" dirty="0">
                <a:solidFill>
                  <a:srgbClr val="FFFFFF"/>
                </a:solidFill>
                <a:latin typeface="Arial" pitchFamily="34" charset="0"/>
                <a:ea typeface="Arial" pitchFamily="34" charset="-122"/>
                <a:cs typeface="Arial" pitchFamily="34" charset="-120"/>
              </a:rPr>
              <a:t>Fragmentation Is Killing</a:t>
            </a:r>
            <a:endParaRPr lang="en-US" sz="3600" dirty="0"/>
          </a:p>
          <a:p>
            <a:pPr indent="0" marL="0">
              <a:lnSpc>
                <a:spcPct val="110000"/>
              </a:lnSpc>
              <a:buNone/>
            </a:pPr>
            <a:r>
              <a:rPr lang="en-US" sz="3600" b="1" dirty="0">
                <a:solidFill>
                  <a:srgbClr val="FFFFFF"/>
                </a:solidFill>
                <a:latin typeface="Arial" pitchFamily="34" charset="0"/>
                <a:ea typeface="Arial" pitchFamily="34" charset="-122"/>
                <a:cs typeface="Arial" pitchFamily="34" charset="-120"/>
              </a:rPr>
              <a:t>the People We're Trying to Save</a:t>
            </a:r>
            <a:endParaRPr lang="en-US" sz="3600" dirty="0"/>
          </a:p>
        </p:txBody>
      </p:sp>
      <p:sp>
        <p:nvSpPr>
          <p:cNvPr id="4" name="Text 2"/>
          <p:cNvSpPr/>
          <p:nvPr/>
        </p:nvSpPr>
        <p:spPr>
          <a:xfrm>
            <a:off x="731520" y="2103120"/>
            <a:ext cx="10515600" cy="1188720"/>
          </a:xfrm>
          <a:prstGeom prst="rect">
            <a:avLst/>
          </a:prstGeom>
          <a:noFill/>
          <a:ln/>
        </p:spPr>
        <p:txBody>
          <a:bodyPr wrap="square" rtlCol="0" anchor="ctr"/>
          <a:lstStyle/>
          <a:p>
            <a:pPr indent="0" marL="0">
              <a:lnSpc>
                <a:spcPct val="135000"/>
              </a:lnSpc>
              <a:buNone/>
            </a:pPr>
            <a:r>
              <a:rPr lang="en-US" sz="1500" dirty="0">
                <a:solidFill>
                  <a:srgbClr val="8B949E"/>
                </a:solidFill>
                <a:latin typeface="Arial" pitchFamily="34" charset="0"/>
                <a:ea typeface="Arial" pitchFamily="34" charset="-122"/>
                <a:cs typeface="Arial" pitchFamily="34" charset="-120"/>
              </a:rPr>
              <a:t>The US spends $180B+ annually on social services. But every agency, school, workforce board, and health center runs its own disconnected tools. No one system sees the whole person. So the same mother gets screened for depression at one clinic, referred to a job program at another, and loses childcare in between — because none of those systems talk to each other.</a:t>
            </a:r>
            <a:endParaRPr lang="en-US" sz="1500" dirty="0"/>
          </a:p>
        </p:txBody>
      </p:sp>
      <p:sp>
        <p:nvSpPr>
          <p:cNvPr id="5" name="Shape 3"/>
          <p:cNvSpPr/>
          <p:nvPr/>
        </p:nvSpPr>
        <p:spPr>
          <a:xfrm>
            <a:off x="731520" y="3657600"/>
            <a:ext cx="3383280" cy="2743200"/>
          </a:xfrm>
          <a:prstGeom prst="roundRect">
            <a:avLst>
              <a:gd name="adj" fmla="val 4000"/>
            </a:avLst>
          </a:prstGeom>
          <a:solidFill>
            <a:srgbClr val="161B22"/>
          </a:solidFill>
          <a:ln w="25400">
            <a:solidFill>
              <a:srgbClr val="E8459E"/>
            </a:solidFill>
            <a:prstDash val="solid"/>
          </a:ln>
        </p:spPr>
      </p:sp>
      <p:sp>
        <p:nvSpPr>
          <p:cNvPr id="6" name="Text 4"/>
          <p:cNvSpPr/>
          <p:nvPr/>
        </p:nvSpPr>
        <p:spPr>
          <a:xfrm>
            <a:off x="731520" y="3749040"/>
            <a:ext cx="3383280" cy="822960"/>
          </a:xfrm>
          <a:prstGeom prst="rect">
            <a:avLst/>
          </a:prstGeom>
          <a:noFill/>
          <a:ln/>
        </p:spPr>
        <p:txBody>
          <a:bodyPr wrap="square" rtlCol="0" anchor="ctr"/>
          <a:lstStyle/>
          <a:p>
            <a:pPr algn="ctr" indent="0" marL="0">
              <a:buNone/>
            </a:pPr>
            <a:r>
              <a:rPr lang="en-US" sz="4000" b="1" dirty="0">
                <a:solidFill>
                  <a:srgbClr val="E8459E"/>
                </a:solidFill>
                <a:latin typeface="Arial" pitchFamily="34" charset="0"/>
                <a:ea typeface="Arial" pitchFamily="34" charset="-122"/>
                <a:cs typeface="Arial" pitchFamily="34" charset="-120"/>
              </a:rPr>
              <a:t>3×</a:t>
            </a:r>
            <a:endParaRPr lang="en-US" sz="4000" dirty="0"/>
          </a:p>
        </p:txBody>
      </p:sp>
      <p:sp>
        <p:nvSpPr>
          <p:cNvPr id="7" name="Text 5"/>
          <p:cNvSpPr/>
          <p:nvPr/>
        </p:nvSpPr>
        <p:spPr>
          <a:xfrm>
            <a:off x="914400" y="4480560"/>
            <a:ext cx="3017520" cy="640080"/>
          </a:xfrm>
          <a:prstGeom prst="rect">
            <a:avLst/>
          </a:prstGeom>
          <a:noFill/>
          <a:ln/>
        </p:spPr>
        <p:txBody>
          <a:bodyPr wrap="square" rtlCol="0" anchor="ctr"/>
          <a:lstStyle/>
          <a:p>
            <a:pPr algn="ctr" indent="0" marL="0">
              <a:lnSpc>
                <a:spcPct val="120000"/>
              </a:lnSpc>
              <a:buNone/>
            </a:pPr>
            <a:r>
              <a:rPr lang="en-US" sz="1400" b="1" dirty="0">
                <a:solidFill>
                  <a:srgbClr val="FFFFFF"/>
                </a:solidFill>
                <a:latin typeface="Arial" pitchFamily="34" charset="0"/>
                <a:ea typeface="Arial" pitchFamily="34" charset="-122"/>
                <a:cs typeface="Arial" pitchFamily="34" charset="-120"/>
              </a:rPr>
              <a:t>Black maternal</a:t>
            </a:r>
            <a:endParaRPr lang="en-US" sz="1400" dirty="0"/>
          </a:p>
          <a:p>
            <a:pPr algn="ctr" indent="0" marL="0">
              <a:lnSpc>
                <a:spcPct val="120000"/>
              </a:lnSpc>
              <a:buNone/>
            </a:pPr>
            <a:r>
              <a:rPr lang="en-US" sz="1400" b="1" dirty="0">
                <a:solidFill>
                  <a:srgbClr val="FFFFFF"/>
                </a:solidFill>
                <a:latin typeface="Arial" pitchFamily="34" charset="0"/>
                <a:ea typeface="Arial" pitchFamily="34" charset="-122"/>
                <a:cs typeface="Arial" pitchFamily="34" charset="-120"/>
              </a:rPr>
              <a:t>mortality rate</a:t>
            </a:r>
            <a:endParaRPr lang="en-US" sz="1400" dirty="0"/>
          </a:p>
        </p:txBody>
      </p:sp>
      <p:sp>
        <p:nvSpPr>
          <p:cNvPr id="8" name="Text 6"/>
          <p:cNvSpPr/>
          <p:nvPr/>
        </p:nvSpPr>
        <p:spPr>
          <a:xfrm>
            <a:off x="914400" y="5212080"/>
            <a:ext cx="3017520" cy="822960"/>
          </a:xfrm>
          <a:prstGeom prst="rect">
            <a:avLst/>
          </a:prstGeom>
          <a:noFill/>
          <a:ln/>
        </p:spPr>
        <p:txBody>
          <a:bodyPr wrap="square" rtlCol="0" anchor="ctr"/>
          <a:lstStyle/>
          <a:p>
            <a:pPr algn="ctr" indent="0" marL="0">
              <a:lnSpc>
                <a:spcPct val="125000"/>
              </a:lnSpc>
              <a:buNone/>
            </a:pPr>
            <a:r>
              <a:rPr lang="en-US" sz="1100" dirty="0">
                <a:solidFill>
                  <a:srgbClr val="8B949E"/>
                </a:solidFill>
                <a:latin typeface="Arial" pitchFamily="34" charset="0"/>
                <a:ea typeface="Arial" pitchFamily="34" charset="-122"/>
                <a:cs typeface="Arial" pitchFamily="34" charset="-120"/>
              </a:rPr>
              <a:t>vs. white women — partly because</a:t>
            </a:r>
            <a:endParaRPr lang="en-US" sz="1100" dirty="0"/>
          </a:p>
          <a:p>
            <a:pPr algn="ctr" indent="0" marL="0">
              <a:lnSpc>
                <a:spcPct val="125000"/>
              </a:lnSpc>
              <a:buNone/>
            </a:pPr>
            <a:r>
              <a:rPr lang="en-US" sz="1100" dirty="0">
                <a:solidFill>
                  <a:srgbClr val="8B949E"/>
                </a:solidFill>
                <a:latin typeface="Arial" pitchFamily="34" charset="0"/>
                <a:ea typeface="Arial" pitchFamily="34" charset="-122"/>
                <a:cs typeface="Arial" pitchFamily="34" charset="-120"/>
              </a:rPr>
              <a:t>referral systems are fragmented</a:t>
            </a:r>
            <a:endParaRPr lang="en-US" sz="1100" dirty="0"/>
          </a:p>
        </p:txBody>
      </p:sp>
      <p:sp>
        <p:nvSpPr>
          <p:cNvPr id="9" name="Shape 7"/>
          <p:cNvSpPr/>
          <p:nvPr/>
        </p:nvSpPr>
        <p:spPr>
          <a:xfrm>
            <a:off x="4389120" y="3657600"/>
            <a:ext cx="3383280" cy="2743200"/>
          </a:xfrm>
          <a:prstGeom prst="roundRect">
            <a:avLst>
              <a:gd name="adj" fmla="val 4000"/>
            </a:avLst>
          </a:prstGeom>
          <a:solidFill>
            <a:srgbClr val="161B22"/>
          </a:solidFill>
          <a:ln w="25400">
            <a:solidFill>
              <a:srgbClr val="EF4444"/>
            </a:solidFill>
            <a:prstDash val="solid"/>
          </a:ln>
        </p:spPr>
      </p:sp>
      <p:sp>
        <p:nvSpPr>
          <p:cNvPr id="10" name="Text 8"/>
          <p:cNvSpPr/>
          <p:nvPr/>
        </p:nvSpPr>
        <p:spPr>
          <a:xfrm>
            <a:off x="4389120" y="3749040"/>
            <a:ext cx="3383280" cy="822960"/>
          </a:xfrm>
          <a:prstGeom prst="rect">
            <a:avLst/>
          </a:prstGeom>
          <a:noFill/>
          <a:ln/>
        </p:spPr>
        <p:txBody>
          <a:bodyPr wrap="square" rtlCol="0" anchor="ctr"/>
          <a:lstStyle/>
          <a:p>
            <a:pPr algn="ctr" indent="0" marL="0">
              <a:buNone/>
            </a:pPr>
            <a:r>
              <a:rPr lang="en-US" sz="4000" b="1" dirty="0">
                <a:solidFill>
                  <a:srgbClr val="EF4444"/>
                </a:solidFill>
                <a:latin typeface="Arial" pitchFamily="34" charset="0"/>
                <a:ea typeface="Arial" pitchFamily="34" charset="-122"/>
                <a:cs typeface="Arial" pitchFamily="34" charset="-120"/>
              </a:rPr>
              <a:t>67%</a:t>
            </a:r>
            <a:endParaRPr lang="en-US" sz="4000" dirty="0"/>
          </a:p>
        </p:txBody>
      </p:sp>
      <p:sp>
        <p:nvSpPr>
          <p:cNvPr id="11" name="Text 9"/>
          <p:cNvSpPr/>
          <p:nvPr/>
        </p:nvSpPr>
        <p:spPr>
          <a:xfrm>
            <a:off x="4572000" y="4480560"/>
            <a:ext cx="3017520" cy="640080"/>
          </a:xfrm>
          <a:prstGeom prst="rect">
            <a:avLst/>
          </a:prstGeom>
          <a:noFill/>
          <a:ln/>
        </p:spPr>
        <p:txBody>
          <a:bodyPr wrap="square" rtlCol="0" anchor="ctr"/>
          <a:lstStyle/>
          <a:p>
            <a:pPr algn="ctr" indent="0" marL="0">
              <a:lnSpc>
                <a:spcPct val="120000"/>
              </a:lnSpc>
              <a:buNone/>
            </a:pPr>
            <a:r>
              <a:rPr lang="en-US" sz="1400" b="1" dirty="0">
                <a:solidFill>
                  <a:srgbClr val="FFFFFF"/>
                </a:solidFill>
                <a:latin typeface="Arial" pitchFamily="34" charset="0"/>
                <a:ea typeface="Arial" pitchFamily="34" charset="-122"/>
                <a:cs typeface="Arial" pitchFamily="34" charset="-120"/>
              </a:rPr>
              <a:t>Recidivism</a:t>
            </a:r>
            <a:endParaRPr lang="en-US" sz="1400" dirty="0"/>
          </a:p>
          <a:p>
            <a:pPr algn="ctr" indent="0" marL="0">
              <a:lnSpc>
                <a:spcPct val="120000"/>
              </a:lnSpc>
              <a:buNone/>
            </a:pPr>
            <a:r>
              <a:rPr lang="en-US" sz="1400" b="1" dirty="0">
                <a:solidFill>
                  <a:srgbClr val="FFFFFF"/>
                </a:solidFill>
                <a:latin typeface="Arial" pitchFamily="34" charset="0"/>
                <a:ea typeface="Arial" pitchFamily="34" charset="-122"/>
                <a:cs typeface="Arial" pitchFamily="34" charset="-120"/>
              </a:rPr>
              <a:t>rate</a:t>
            </a:r>
            <a:endParaRPr lang="en-US" sz="1400" dirty="0"/>
          </a:p>
        </p:txBody>
      </p:sp>
      <p:sp>
        <p:nvSpPr>
          <p:cNvPr id="12" name="Text 10"/>
          <p:cNvSpPr/>
          <p:nvPr/>
        </p:nvSpPr>
        <p:spPr>
          <a:xfrm>
            <a:off x="4572000" y="5212080"/>
            <a:ext cx="3017520" cy="822960"/>
          </a:xfrm>
          <a:prstGeom prst="rect">
            <a:avLst/>
          </a:prstGeom>
          <a:noFill/>
          <a:ln/>
        </p:spPr>
        <p:txBody>
          <a:bodyPr wrap="square" rtlCol="0" anchor="ctr"/>
          <a:lstStyle/>
          <a:p>
            <a:pPr algn="ctr" indent="0" marL="0">
              <a:lnSpc>
                <a:spcPct val="125000"/>
              </a:lnSpc>
              <a:buNone/>
            </a:pPr>
            <a:r>
              <a:rPr lang="en-US" sz="1100" dirty="0">
                <a:solidFill>
                  <a:srgbClr val="8B949E"/>
                </a:solidFill>
                <a:latin typeface="Arial" pitchFamily="34" charset="0"/>
                <a:ea typeface="Arial" pitchFamily="34" charset="-122"/>
                <a:cs typeface="Arial" pitchFamily="34" charset="-120"/>
              </a:rPr>
              <a:t>Returning citizens re-arrested within</a:t>
            </a:r>
            <a:endParaRPr lang="en-US" sz="1100" dirty="0"/>
          </a:p>
          <a:p>
            <a:pPr algn="ctr" indent="0" marL="0">
              <a:lnSpc>
                <a:spcPct val="125000"/>
              </a:lnSpc>
              <a:buNone/>
            </a:pPr>
            <a:r>
              <a:rPr lang="en-US" sz="1100" dirty="0">
                <a:solidFill>
                  <a:srgbClr val="8B949E"/>
                </a:solidFill>
                <a:latin typeface="Arial" pitchFamily="34" charset="0"/>
                <a:ea typeface="Arial" pitchFamily="34" charset="-122"/>
                <a:cs typeface="Arial" pitchFamily="34" charset="-120"/>
              </a:rPr>
              <a:t>3 years — services never connected</a:t>
            </a:r>
            <a:endParaRPr lang="en-US" sz="1100" dirty="0"/>
          </a:p>
        </p:txBody>
      </p:sp>
      <p:sp>
        <p:nvSpPr>
          <p:cNvPr id="13" name="Shape 11"/>
          <p:cNvSpPr/>
          <p:nvPr/>
        </p:nvSpPr>
        <p:spPr>
          <a:xfrm>
            <a:off x="8046720" y="3657600"/>
            <a:ext cx="3383280" cy="2743200"/>
          </a:xfrm>
          <a:prstGeom prst="roundRect">
            <a:avLst>
              <a:gd name="adj" fmla="val 4000"/>
            </a:avLst>
          </a:prstGeom>
          <a:solidFill>
            <a:srgbClr val="161B22"/>
          </a:solidFill>
          <a:ln w="25400">
            <a:solidFill>
              <a:srgbClr val="2EA043"/>
            </a:solidFill>
            <a:prstDash val="solid"/>
          </a:ln>
        </p:spPr>
      </p:sp>
      <p:sp>
        <p:nvSpPr>
          <p:cNvPr id="14" name="Text 12"/>
          <p:cNvSpPr/>
          <p:nvPr/>
        </p:nvSpPr>
        <p:spPr>
          <a:xfrm>
            <a:off x="8046720" y="3749040"/>
            <a:ext cx="3383280" cy="822960"/>
          </a:xfrm>
          <a:prstGeom prst="rect">
            <a:avLst/>
          </a:prstGeom>
          <a:noFill/>
          <a:ln/>
        </p:spPr>
        <p:txBody>
          <a:bodyPr wrap="square" rtlCol="0" anchor="ctr"/>
          <a:lstStyle/>
          <a:p>
            <a:pPr algn="ctr" indent="0" marL="0">
              <a:buNone/>
            </a:pPr>
            <a:r>
              <a:rPr lang="en-US" sz="4000" b="1" dirty="0">
                <a:solidFill>
                  <a:srgbClr val="2EA043"/>
                </a:solidFill>
                <a:latin typeface="Arial" pitchFamily="34" charset="0"/>
                <a:ea typeface="Arial" pitchFamily="34" charset="-122"/>
                <a:cs typeface="Arial" pitchFamily="34" charset="-120"/>
              </a:rPr>
              <a:t>44%</a:t>
            </a:r>
            <a:endParaRPr lang="en-US" sz="4000" dirty="0"/>
          </a:p>
        </p:txBody>
      </p:sp>
      <p:sp>
        <p:nvSpPr>
          <p:cNvPr id="15" name="Text 13"/>
          <p:cNvSpPr/>
          <p:nvPr/>
        </p:nvSpPr>
        <p:spPr>
          <a:xfrm>
            <a:off x="8229600" y="4480560"/>
            <a:ext cx="3017520" cy="640080"/>
          </a:xfrm>
          <a:prstGeom prst="rect">
            <a:avLst/>
          </a:prstGeom>
          <a:noFill/>
          <a:ln/>
        </p:spPr>
        <p:txBody>
          <a:bodyPr wrap="square" rtlCol="0" anchor="ctr"/>
          <a:lstStyle/>
          <a:p>
            <a:pPr algn="ctr" indent="0" marL="0">
              <a:lnSpc>
                <a:spcPct val="120000"/>
              </a:lnSpc>
              <a:buNone/>
            </a:pPr>
            <a:r>
              <a:rPr lang="en-US" sz="1400" b="1" dirty="0">
                <a:solidFill>
                  <a:srgbClr val="FFFFFF"/>
                </a:solidFill>
                <a:latin typeface="Arial" pitchFamily="34" charset="0"/>
                <a:ea typeface="Arial" pitchFamily="34" charset="-122"/>
                <a:cs typeface="Arial" pitchFamily="34" charset="-120"/>
              </a:rPr>
              <a:t>Veterans underemployed</a:t>
            </a:r>
            <a:endParaRPr lang="en-US" sz="1400" dirty="0"/>
          </a:p>
          <a:p>
            <a:pPr algn="ctr" indent="0" marL="0">
              <a:lnSpc>
                <a:spcPct val="120000"/>
              </a:lnSpc>
              <a:buNone/>
            </a:pPr>
            <a:r>
              <a:rPr lang="en-US" sz="1400" b="1" dirty="0">
                <a:solidFill>
                  <a:srgbClr val="FFFFFF"/>
                </a:solidFill>
                <a:latin typeface="Arial" pitchFamily="34" charset="0"/>
                <a:ea typeface="Arial" pitchFamily="34" charset="-122"/>
                <a:cs typeface="Arial" pitchFamily="34" charset="-120"/>
              </a:rPr>
              <a:t>after transition</a:t>
            </a:r>
            <a:endParaRPr lang="en-US" sz="1400" dirty="0"/>
          </a:p>
        </p:txBody>
      </p:sp>
      <p:sp>
        <p:nvSpPr>
          <p:cNvPr id="16" name="Text 14"/>
          <p:cNvSpPr/>
          <p:nvPr/>
        </p:nvSpPr>
        <p:spPr>
          <a:xfrm>
            <a:off x="8229600" y="5212080"/>
            <a:ext cx="3017520" cy="822960"/>
          </a:xfrm>
          <a:prstGeom prst="rect">
            <a:avLst/>
          </a:prstGeom>
          <a:noFill/>
          <a:ln/>
        </p:spPr>
        <p:txBody>
          <a:bodyPr wrap="square" rtlCol="0" anchor="ctr"/>
          <a:lstStyle/>
          <a:p>
            <a:pPr algn="ctr" indent="0" marL="0">
              <a:lnSpc>
                <a:spcPct val="125000"/>
              </a:lnSpc>
              <a:buNone/>
            </a:pPr>
            <a:r>
              <a:rPr lang="en-US" sz="1100" dirty="0">
                <a:solidFill>
                  <a:srgbClr val="8B949E"/>
                </a:solidFill>
                <a:latin typeface="Arial" pitchFamily="34" charset="0"/>
                <a:ea typeface="Arial" pitchFamily="34" charset="-122"/>
                <a:cs typeface="Arial" pitchFamily="34" charset="-120"/>
              </a:rPr>
              <a:t>Skills don't translate because</a:t>
            </a:r>
            <a:endParaRPr lang="en-US" sz="1100" dirty="0"/>
          </a:p>
          <a:p>
            <a:pPr algn="ctr" indent="0" marL="0">
              <a:lnSpc>
                <a:spcPct val="125000"/>
              </a:lnSpc>
              <a:buNone/>
            </a:pPr>
            <a:r>
              <a:rPr lang="en-US" sz="1100" dirty="0">
                <a:solidFill>
                  <a:srgbClr val="8B949E"/>
                </a:solidFill>
                <a:latin typeface="Arial" pitchFamily="34" charset="0"/>
                <a:ea typeface="Arial" pitchFamily="34" charset="-122"/>
                <a:cs typeface="Arial" pitchFamily="34" charset="-120"/>
              </a:rPr>
              <a:t>systems don't communicate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0079F2"/>
                </a:solidFill>
                <a:latin typeface="Arial" pitchFamily="34" charset="0"/>
                <a:ea typeface="Arial" pitchFamily="34" charset="-122"/>
                <a:cs typeface="Arial" pitchFamily="34" charset="-120"/>
              </a:rPr>
              <a:t>Why This Is Different</a:t>
            </a:r>
            <a:endParaRPr lang="en-US" sz="1300" dirty="0"/>
          </a:p>
        </p:txBody>
      </p:sp>
      <p:sp>
        <p:nvSpPr>
          <p:cNvPr id="3" name="Text 1"/>
          <p:cNvSpPr/>
          <p:nvPr/>
        </p:nvSpPr>
        <p:spPr>
          <a:xfrm>
            <a:off x="731520" y="822960"/>
            <a:ext cx="10698480" cy="1188720"/>
          </a:xfrm>
          <a:prstGeom prst="rect">
            <a:avLst/>
          </a:prstGeom>
          <a:noFill/>
          <a:ln/>
        </p:spPr>
        <p:txBody>
          <a:bodyPr wrap="square" rtlCol="0" anchor="ctr"/>
          <a:lstStyle/>
          <a:p>
            <a:pPr indent="0" marL="0">
              <a:lnSpc>
                <a:spcPct val="110000"/>
              </a:lnSpc>
              <a:buNone/>
            </a:pPr>
            <a:r>
              <a:rPr lang="en-US" sz="3600" b="1" dirty="0">
                <a:solidFill>
                  <a:srgbClr val="FFFFFF"/>
                </a:solidFill>
                <a:latin typeface="Arial" pitchFamily="34" charset="0"/>
                <a:ea typeface="Arial" pitchFamily="34" charset="-122"/>
                <a:cs typeface="Arial" pitchFamily="34" charset="-120"/>
              </a:rPr>
              <a:t>Apps Don't Save People.</a:t>
            </a:r>
            <a:endParaRPr lang="en-US" sz="3600" dirty="0"/>
          </a:p>
          <a:p>
            <a:pPr indent="0" marL="0">
              <a:lnSpc>
                <a:spcPct val="110000"/>
              </a:lnSpc>
              <a:buNone/>
            </a:pPr>
            <a:r>
              <a:rPr lang="en-US" sz="3600" b="1" dirty="0">
                <a:solidFill>
                  <a:srgbClr val="FFFFFF"/>
                </a:solidFill>
                <a:latin typeface="Arial" pitchFamily="34" charset="0"/>
                <a:ea typeface="Arial" pitchFamily="34" charset="-122"/>
                <a:cs typeface="Arial" pitchFamily="34" charset="-120"/>
              </a:rPr>
              <a:t>Connected Systems Do.</a:t>
            </a:r>
            <a:endParaRPr lang="en-US" sz="3600" dirty="0"/>
          </a:p>
        </p:txBody>
      </p:sp>
      <p:sp>
        <p:nvSpPr>
          <p:cNvPr id="4" name="Shape 2"/>
          <p:cNvSpPr/>
          <p:nvPr/>
        </p:nvSpPr>
        <p:spPr>
          <a:xfrm>
            <a:off x="548640" y="2286000"/>
            <a:ext cx="5303520" cy="4114800"/>
          </a:xfrm>
          <a:prstGeom prst="roundRect">
            <a:avLst>
              <a:gd name="adj" fmla="val 3333"/>
            </a:avLst>
          </a:prstGeom>
          <a:solidFill>
            <a:srgbClr val="161B22"/>
          </a:solidFill>
          <a:ln w="25400">
            <a:solidFill>
              <a:srgbClr val="EF4444"/>
            </a:solidFill>
            <a:prstDash val="solid"/>
          </a:ln>
        </p:spPr>
      </p:sp>
      <p:sp>
        <p:nvSpPr>
          <p:cNvPr id="5" name="Text 3"/>
          <p:cNvSpPr/>
          <p:nvPr/>
        </p:nvSpPr>
        <p:spPr>
          <a:xfrm>
            <a:off x="548640" y="2377440"/>
            <a:ext cx="5303520" cy="548640"/>
          </a:xfrm>
          <a:prstGeom prst="rect">
            <a:avLst/>
          </a:prstGeom>
          <a:noFill/>
          <a:ln/>
        </p:spPr>
        <p:txBody>
          <a:bodyPr wrap="square" rtlCol="0" anchor="ctr"/>
          <a:lstStyle/>
          <a:p>
            <a:pPr algn="ctr" indent="0" marL="0">
              <a:buNone/>
            </a:pPr>
            <a:r>
              <a:rPr lang="en-US" sz="2000" b="1" dirty="0">
                <a:solidFill>
                  <a:srgbClr val="EF4444"/>
                </a:solidFill>
                <a:latin typeface="Arial" pitchFamily="34" charset="0"/>
                <a:ea typeface="Arial" pitchFamily="34" charset="-122"/>
                <a:cs typeface="Arial" pitchFamily="34" charset="-120"/>
              </a:rPr>
              <a:t>❌  24 Separate Apps</a:t>
            </a:r>
            <a:endParaRPr lang="en-US" sz="2000" dirty="0"/>
          </a:p>
        </p:txBody>
      </p:sp>
      <p:sp>
        <p:nvSpPr>
          <p:cNvPr id="6" name="Text 4"/>
          <p:cNvSpPr/>
          <p:nvPr/>
        </p:nvSpPr>
        <p:spPr>
          <a:xfrm>
            <a:off x="822960" y="3017520"/>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Each app has its own login, database, records</a:t>
            </a:r>
            <a:endParaRPr lang="en-US" sz="1200" dirty="0"/>
          </a:p>
        </p:txBody>
      </p:sp>
      <p:sp>
        <p:nvSpPr>
          <p:cNvPr id="7" name="Text 5"/>
          <p:cNvSpPr/>
          <p:nvPr/>
        </p:nvSpPr>
        <p:spPr>
          <a:xfrm>
            <a:off x="822960" y="3456432"/>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Veteran gets a job → mental health app doesn't know</a:t>
            </a:r>
            <a:endParaRPr lang="en-US" sz="1200" dirty="0"/>
          </a:p>
        </p:txBody>
      </p:sp>
      <p:sp>
        <p:nvSpPr>
          <p:cNvPr id="8" name="Text 6"/>
          <p:cNvSpPr/>
          <p:nvPr/>
        </p:nvSpPr>
        <p:spPr>
          <a:xfrm>
            <a:off x="822960" y="3895344"/>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Mother flagged high-risk → no one tells her employer</a:t>
            </a:r>
            <a:endParaRPr lang="en-US" sz="1200" dirty="0"/>
          </a:p>
        </p:txBody>
      </p:sp>
      <p:sp>
        <p:nvSpPr>
          <p:cNvPr id="9" name="Text 7"/>
          <p:cNvSpPr/>
          <p:nvPr/>
        </p:nvSpPr>
        <p:spPr>
          <a:xfrm>
            <a:off x="822960" y="4334256"/>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Student drops out → workforce system never finds out</a:t>
            </a:r>
            <a:endParaRPr lang="en-US" sz="1200" dirty="0"/>
          </a:p>
        </p:txBody>
      </p:sp>
      <p:sp>
        <p:nvSpPr>
          <p:cNvPr id="10" name="Text 8"/>
          <p:cNvSpPr/>
          <p:nvPr/>
        </p:nvSpPr>
        <p:spPr>
          <a:xfrm>
            <a:off x="822960" y="4773168"/>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Case manager manually re-enters data 8 times</a:t>
            </a:r>
            <a:endParaRPr lang="en-US" sz="1200" dirty="0"/>
          </a:p>
        </p:txBody>
      </p:sp>
      <p:sp>
        <p:nvSpPr>
          <p:cNvPr id="11" name="Text 9"/>
          <p:cNvSpPr/>
          <p:nvPr/>
        </p:nvSpPr>
        <p:spPr>
          <a:xfrm>
            <a:off x="822960" y="5212080"/>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Person falls through the crack BETWEEN systems</a:t>
            </a:r>
            <a:endParaRPr lang="en-US" sz="1200" dirty="0"/>
          </a:p>
        </p:txBody>
      </p:sp>
      <p:sp>
        <p:nvSpPr>
          <p:cNvPr id="12" name="Text 10"/>
          <p:cNvSpPr/>
          <p:nvPr/>
        </p:nvSpPr>
        <p:spPr>
          <a:xfrm>
            <a:off x="822960" y="5650992"/>
            <a:ext cx="4754880" cy="411480"/>
          </a:xfrm>
          <a:prstGeom prst="rect">
            <a:avLst/>
          </a:prstGeom>
          <a:noFill/>
          <a:ln/>
        </p:spPr>
        <p:txBody>
          <a:bodyPr wrap="square" rtlCol="0" anchor="ctr"/>
          <a:lstStyle/>
          <a:p>
            <a:pPr indent="0" marL="0">
              <a:buNone/>
            </a:pPr>
            <a:r>
              <a:rPr lang="en-US" sz="1200" b="1" dirty="0">
                <a:solidFill>
                  <a:srgbClr val="EF4444"/>
                </a:solidFill>
                <a:latin typeface="Arial" pitchFamily="34" charset="0"/>
                <a:ea typeface="Arial" pitchFamily="34" charset="-122"/>
                <a:cs typeface="Arial" pitchFamily="34" charset="-120"/>
              </a:rPr>
              <a:t>•  This is what exists today. It's why people die.</a:t>
            </a:r>
            <a:endParaRPr lang="en-US" sz="1200" dirty="0"/>
          </a:p>
        </p:txBody>
      </p:sp>
      <p:sp>
        <p:nvSpPr>
          <p:cNvPr id="13" name="Shape 11"/>
          <p:cNvSpPr/>
          <p:nvPr/>
        </p:nvSpPr>
        <p:spPr>
          <a:xfrm>
            <a:off x="6309360" y="2286000"/>
            <a:ext cx="5303520" cy="4114800"/>
          </a:xfrm>
          <a:prstGeom prst="roundRect">
            <a:avLst>
              <a:gd name="adj" fmla="val 3333"/>
            </a:avLst>
          </a:prstGeom>
          <a:solidFill>
            <a:srgbClr val="161B22"/>
          </a:solidFill>
          <a:ln w="25400">
            <a:solidFill>
              <a:srgbClr val="00C9A7"/>
            </a:solidFill>
            <a:prstDash val="solid"/>
          </a:ln>
        </p:spPr>
      </p:sp>
      <p:sp>
        <p:nvSpPr>
          <p:cNvPr id="14" name="Text 12"/>
          <p:cNvSpPr/>
          <p:nvPr/>
        </p:nvSpPr>
        <p:spPr>
          <a:xfrm>
            <a:off x="6309360" y="2377440"/>
            <a:ext cx="5303520" cy="548640"/>
          </a:xfrm>
          <a:prstGeom prst="rect">
            <a:avLst/>
          </a:prstGeom>
          <a:noFill/>
          <a:ln/>
        </p:spPr>
        <p:txBody>
          <a:bodyPr wrap="square" rtlCol="0" anchor="ctr"/>
          <a:lstStyle/>
          <a:p>
            <a:pPr algn="ctr" indent="0" marL="0">
              <a:buNone/>
            </a:pPr>
            <a:r>
              <a:rPr lang="en-US" sz="2000" b="1" dirty="0">
                <a:solidFill>
                  <a:srgbClr val="00C9A7"/>
                </a:solidFill>
                <a:latin typeface="Arial" pitchFamily="34" charset="0"/>
                <a:ea typeface="Arial" pitchFamily="34" charset="-122"/>
                <a:cs typeface="Arial" pitchFamily="34" charset="-120"/>
              </a:rPr>
              <a:t>✓  One Connected Ecosystem</a:t>
            </a:r>
            <a:endParaRPr lang="en-US" sz="2000" dirty="0"/>
          </a:p>
        </p:txBody>
      </p:sp>
      <p:sp>
        <p:nvSpPr>
          <p:cNvPr id="15" name="Text 13"/>
          <p:cNvSpPr/>
          <p:nvPr/>
        </p:nvSpPr>
        <p:spPr>
          <a:xfrm>
            <a:off x="6583680" y="3017520"/>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One identity, one record, across all 24 platforms</a:t>
            </a:r>
            <a:endParaRPr lang="en-US" sz="1200" dirty="0"/>
          </a:p>
        </p:txBody>
      </p:sp>
      <p:sp>
        <p:nvSpPr>
          <p:cNvPr id="16" name="Text 14"/>
          <p:cNvSpPr/>
          <p:nvPr/>
        </p:nvSpPr>
        <p:spPr>
          <a:xfrm>
            <a:off x="6583680" y="3456432"/>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Veteran gets a job → behavioral health adjusts care plan</a:t>
            </a:r>
            <a:endParaRPr lang="en-US" sz="1200" dirty="0"/>
          </a:p>
        </p:txBody>
      </p:sp>
      <p:sp>
        <p:nvSpPr>
          <p:cNvPr id="17" name="Text 15"/>
          <p:cNvSpPr/>
          <p:nvPr/>
        </p:nvSpPr>
        <p:spPr>
          <a:xfrm>
            <a:off x="6583680" y="3895344"/>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Mother flagged high-risk → doula AND employer notified</a:t>
            </a:r>
            <a:endParaRPr lang="en-US" sz="1200" dirty="0"/>
          </a:p>
        </p:txBody>
      </p:sp>
      <p:sp>
        <p:nvSpPr>
          <p:cNvPr id="18" name="Text 16"/>
          <p:cNvSpPr/>
          <p:nvPr/>
        </p:nvSpPr>
        <p:spPr>
          <a:xfrm>
            <a:off x="6583680" y="4334256"/>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Student struggles → workforce pipeline activates early</a:t>
            </a:r>
            <a:endParaRPr lang="en-US" sz="1200" dirty="0"/>
          </a:p>
        </p:txBody>
      </p:sp>
      <p:sp>
        <p:nvSpPr>
          <p:cNvPr id="19" name="Text 17"/>
          <p:cNvSpPr/>
          <p:nvPr/>
        </p:nvSpPr>
        <p:spPr>
          <a:xfrm>
            <a:off x="6583680" y="4773168"/>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Data flows automatically — zero duplicate entry</a:t>
            </a:r>
            <a:endParaRPr lang="en-US" sz="1200" dirty="0"/>
          </a:p>
        </p:txBody>
      </p:sp>
      <p:sp>
        <p:nvSpPr>
          <p:cNvPr id="20" name="Text 18"/>
          <p:cNvSpPr/>
          <p:nvPr/>
        </p:nvSpPr>
        <p:spPr>
          <a:xfrm>
            <a:off x="6583680" y="5212080"/>
            <a:ext cx="4754880" cy="411480"/>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  AI sees the WHOLE person, not one slice</a:t>
            </a:r>
            <a:endParaRPr lang="en-US" sz="1200" dirty="0"/>
          </a:p>
        </p:txBody>
      </p:sp>
      <p:sp>
        <p:nvSpPr>
          <p:cNvPr id="21" name="Text 19"/>
          <p:cNvSpPr/>
          <p:nvPr/>
        </p:nvSpPr>
        <p:spPr>
          <a:xfrm>
            <a:off x="6583680" y="5650992"/>
            <a:ext cx="4754880" cy="411480"/>
          </a:xfrm>
          <a:prstGeom prst="rect">
            <a:avLst/>
          </a:prstGeom>
          <a:noFill/>
          <a:ln/>
        </p:spPr>
        <p:txBody>
          <a:bodyPr wrap="square" rtlCol="0" anchor="ctr"/>
          <a:lstStyle/>
          <a:p>
            <a:pPr indent="0" marL="0">
              <a:buNone/>
            </a:pPr>
            <a:r>
              <a:rPr lang="en-US" sz="1200" b="1" dirty="0">
                <a:solidFill>
                  <a:srgbClr val="00C9A7"/>
                </a:solidFill>
                <a:latin typeface="Arial" pitchFamily="34" charset="0"/>
                <a:ea typeface="Arial" pitchFamily="34" charset="-122"/>
                <a:cs typeface="Arial" pitchFamily="34" charset="-120"/>
              </a:rPr>
              <a:t>•  This is what ThriveUp built. No one else has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F0B429"/>
                </a:solidFill>
                <a:latin typeface="Arial" pitchFamily="34" charset="0"/>
                <a:ea typeface="Arial" pitchFamily="34" charset="-122"/>
                <a:cs typeface="Arial" pitchFamily="34" charset="-120"/>
              </a:rPr>
              <a:t>How AI Powers This</a:t>
            </a:r>
            <a:endParaRPr lang="en-US" sz="1300" dirty="0"/>
          </a:p>
        </p:txBody>
      </p:sp>
      <p:sp>
        <p:nvSpPr>
          <p:cNvPr id="3" name="Text 1"/>
          <p:cNvSpPr/>
          <p:nvPr/>
        </p:nvSpPr>
        <p:spPr>
          <a:xfrm>
            <a:off x="731520" y="822960"/>
            <a:ext cx="10698480" cy="1188720"/>
          </a:xfrm>
          <a:prstGeom prst="rect">
            <a:avLst/>
          </a:prstGeom>
          <a:noFill/>
          <a:ln/>
        </p:spPr>
        <p:txBody>
          <a:bodyPr wrap="square" rtlCol="0" anchor="ctr"/>
          <a:lstStyle/>
          <a:p>
            <a:pPr indent="0" marL="0">
              <a:lnSpc>
                <a:spcPct val="110000"/>
              </a:lnSpc>
              <a:buNone/>
            </a:pPr>
            <a:r>
              <a:rPr lang="en-US" sz="3400" b="1" dirty="0">
                <a:solidFill>
                  <a:srgbClr val="FFFFFF"/>
                </a:solidFill>
                <a:latin typeface="Arial" pitchFamily="34" charset="0"/>
                <a:ea typeface="Arial" pitchFamily="34" charset="-122"/>
                <a:cs typeface="Arial" pitchFamily="34" charset="-120"/>
              </a:rPr>
              <a:t>AI That Sees the Whole Person —</a:t>
            </a:r>
            <a:endParaRPr lang="en-US" sz="3400" dirty="0"/>
          </a:p>
          <a:p>
            <a:pPr indent="0" marL="0">
              <a:lnSpc>
                <a:spcPct val="110000"/>
              </a:lnSpc>
              <a:buNone/>
            </a:pPr>
            <a:r>
              <a:rPr lang="en-US" sz="3400" b="1" dirty="0">
                <a:solidFill>
                  <a:srgbClr val="FFFFFF"/>
                </a:solidFill>
                <a:latin typeface="Arial" pitchFamily="34" charset="0"/>
                <a:ea typeface="Arial" pitchFamily="34" charset="-122"/>
                <a:cs typeface="Arial" pitchFamily="34" charset="-120"/>
              </a:rPr>
              <a:t>Not Just One Appointment</a:t>
            </a:r>
            <a:endParaRPr lang="en-US" sz="3400" dirty="0"/>
          </a:p>
        </p:txBody>
      </p:sp>
      <p:sp>
        <p:nvSpPr>
          <p:cNvPr id="4" name="Text 2"/>
          <p:cNvSpPr/>
          <p:nvPr/>
        </p:nvSpPr>
        <p:spPr>
          <a:xfrm>
            <a:off x="731520" y="2011680"/>
            <a:ext cx="10515600" cy="457200"/>
          </a:xfrm>
          <a:prstGeom prst="rect">
            <a:avLst/>
          </a:prstGeom>
          <a:noFill/>
          <a:ln/>
        </p:spPr>
        <p:txBody>
          <a:bodyPr wrap="square" rtlCol="0" anchor="ctr"/>
          <a:lstStyle/>
          <a:p>
            <a:pPr indent="0" marL="0">
              <a:buNone/>
            </a:pPr>
            <a:r>
              <a:rPr lang="en-US" sz="1500" dirty="0">
                <a:solidFill>
                  <a:srgbClr val="8B949E"/>
                </a:solidFill>
                <a:latin typeface="Arial" pitchFamily="34" charset="0"/>
                <a:ea typeface="Arial" pitchFamily="34" charset="-122"/>
                <a:cs typeface="Arial" pitchFamily="34" charset="-120"/>
              </a:rPr>
              <a:t>This isn't a chatbot. It's an intelligence layer across 24 connected platforms that does what no single app can do alone:</a:t>
            </a:r>
            <a:endParaRPr lang="en-US" sz="1500" dirty="0"/>
          </a:p>
        </p:txBody>
      </p:sp>
      <p:sp>
        <p:nvSpPr>
          <p:cNvPr id="5" name="Shape 3"/>
          <p:cNvSpPr/>
          <p:nvPr/>
        </p:nvSpPr>
        <p:spPr>
          <a:xfrm>
            <a:off x="548640" y="2651760"/>
            <a:ext cx="5394960" cy="1828800"/>
          </a:xfrm>
          <a:prstGeom prst="roundRect">
            <a:avLst>
              <a:gd name="adj" fmla="val 5000"/>
            </a:avLst>
          </a:prstGeom>
          <a:solidFill>
            <a:srgbClr val="161B22"/>
          </a:solidFill>
          <a:ln w="19050">
            <a:solidFill>
              <a:srgbClr val="E8459E"/>
            </a:solidFill>
            <a:prstDash val="solid"/>
          </a:ln>
        </p:spPr>
      </p:sp>
      <p:sp>
        <p:nvSpPr>
          <p:cNvPr id="6" name="Text 4"/>
          <p:cNvSpPr/>
          <p:nvPr/>
        </p:nvSpPr>
        <p:spPr>
          <a:xfrm>
            <a:off x="685800" y="2697480"/>
            <a:ext cx="1828800" cy="731520"/>
          </a:xfrm>
          <a:prstGeom prst="rect">
            <a:avLst/>
          </a:prstGeom>
          <a:noFill/>
          <a:ln/>
        </p:spPr>
        <p:txBody>
          <a:bodyPr wrap="square" rtlCol="0" anchor="ctr"/>
          <a:lstStyle/>
          <a:p>
            <a:pPr indent="0" marL="0">
              <a:buNone/>
            </a:pPr>
            <a:r>
              <a:rPr lang="en-US" sz="1400" b="1" dirty="0">
                <a:solidFill>
                  <a:srgbClr val="E8459E"/>
                </a:solidFill>
                <a:latin typeface="Arial" pitchFamily="34" charset="0"/>
                <a:ea typeface="Arial" pitchFamily="34" charset="-122"/>
                <a:cs typeface="Arial" pitchFamily="34" charset="-120"/>
              </a:rPr>
              <a:t>Predictive</a:t>
            </a:r>
            <a:endParaRPr lang="en-US" sz="1400" dirty="0"/>
          </a:p>
          <a:p>
            <a:pPr indent="0" marL="0">
              <a:buNone/>
            </a:pPr>
            <a:r>
              <a:rPr lang="en-US" sz="1400" b="1" dirty="0">
                <a:solidFill>
                  <a:srgbClr val="E8459E"/>
                </a:solidFill>
                <a:latin typeface="Arial" pitchFamily="34" charset="0"/>
                <a:ea typeface="Arial" pitchFamily="34" charset="-122"/>
                <a:cs typeface="Arial" pitchFamily="34" charset="-120"/>
              </a:rPr>
              <a:t>Risk Screening</a:t>
            </a:r>
            <a:endParaRPr lang="en-US" sz="1400" dirty="0"/>
          </a:p>
        </p:txBody>
      </p:sp>
      <p:sp>
        <p:nvSpPr>
          <p:cNvPr id="7" name="Text 5"/>
          <p:cNvSpPr/>
          <p:nvPr/>
        </p:nvSpPr>
        <p:spPr>
          <a:xfrm>
            <a:off x="2468880" y="2697480"/>
            <a:ext cx="3291840" cy="777240"/>
          </a:xfrm>
          <a:prstGeom prst="rect">
            <a:avLst/>
          </a:prstGeom>
          <a:noFill/>
          <a:ln/>
        </p:spPr>
        <p:txBody>
          <a:bodyPr wrap="square" rtlCol="0" anchor="t"/>
          <a:lstStyle/>
          <a:p>
            <a:pPr indent="0" marL="0">
              <a:lnSpc>
                <a:spcPct val="125000"/>
              </a:lnSpc>
              <a:buNone/>
            </a:pPr>
            <a:r>
              <a:rPr lang="en-US" sz="1000" dirty="0">
                <a:solidFill>
                  <a:srgbClr val="8B949E"/>
                </a:solidFill>
                <a:latin typeface="Arial" pitchFamily="34" charset="0"/>
                <a:ea typeface="Arial" pitchFamily="34" charset="-122"/>
                <a:cs typeface="Arial" pitchFamily="34" charset="-120"/>
              </a:rPr>
              <a:t>AI cross-references health data, employment status, housing stability, and family dynamics to flag crises BEFORE they happen — not after.</a:t>
            </a:r>
            <a:endParaRPr lang="en-US" sz="1000" dirty="0"/>
          </a:p>
        </p:txBody>
      </p:sp>
      <p:sp>
        <p:nvSpPr>
          <p:cNvPr id="8" name="Text 6"/>
          <p:cNvSpPr/>
          <p:nvPr/>
        </p:nvSpPr>
        <p:spPr>
          <a:xfrm>
            <a:off x="685800" y="3657600"/>
            <a:ext cx="5120640" cy="640080"/>
          </a:xfrm>
          <a:prstGeom prst="rect">
            <a:avLst/>
          </a:prstGeom>
          <a:noFill/>
          <a:ln/>
        </p:spPr>
        <p:txBody>
          <a:bodyPr wrap="square" rtlCol="0" anchor="ctr"/>
          <a:lstStyle/>
          <a:p>
            <a:pPr indent="0" marL="0">
              <a:lnSpc>
                <a:spcPct val="120000"/>
              </a:lnSpc>
              <a:buNone/>
            </a:pPr>
            <a:r>
              <a:rPr lang="en-US" sz="1000" i="1" dirty="0">
                <a:solidFill>
                  <a:srgbClr val="E8459E"/>
                </a:solidFill>
                <a:latin typeface="Arial" pitchFamily="34" charset="0"/>
                <a:ea typeface="Arial" pitchFamily="34" charset="-122"/>
                <a:cs typeface="Arial" pitchFamily="34" charset="-120"/>
              </a:rPr>
              <a:t>Example: A mother's job loss + missed prenatal visit + housing instability = automatic high-risk alert to her care team.</a:t>
            </a:r>
            <a:endParaRPr lang="en-US" sz="1000" dirty="0"/>
          </a:p>
        </p:txBody>
      </p:sp>
      <p:sp>
        <p:nvSpPr>
          <p:cNvPr id="9" name="Shape 7"/>
          <p:cNvSpPr/>
          <p:nvPr/>
        </p:nvSpPr>
        <p:spPr>
          <a:xfrm>
            <a:off x="6217920" y="2651760"/>
            <a:ext cx="5394960" cy="1828800"/>
          </a:xfrm>
          <a:prstGeom prst="roundRect">
            <a:avLst>
              <a:gd name="adj" fmla="val 5000"/>
            </a:avLst>
          </a:prstGeom>
          <a:solidFill>
            <a:srgbClr val="161B22"/>
          </a:solidFill>
          <a:ln w="19050">
            <a:solidFill>
              <a:srgbClr val="F0B429"/>
            </a:solidFill>
            <a:prstDash val="solid"/>
          </a:ln>
        </p:spPr>
      </p:sp>
      <p:sp>
        <p:nvSpPr>
          <p:cNvPr id="10" name="Text 8"/>
          <p:cNvSpPr/>
          <p:nvPr/>
        </p:nvSpPr>
        <p:spPr>
          <a:xfrm>
            <a:off x="6355080" y="2697480"/>
            <a:ext cx="1828800" cy="731520"/>
          </a:xfrm>
          <a:prstGeom prst="rect">
            <a:avLst/>
          </a:prstGeom>
          <a:noFill/>
          <a:ln/>
        </p:spPr>
        <p:txBody>
          <a:bodyPr wrap="square" rtlCol="0" anchor="ctr"/>
          <a:lstStyle/>
          <a:p>
            <a:pPr indent="0" marL="0">
              <a:buNone/>
            </a:pPr>
            <a:r>
              <a:rPr lang="en-US" sz="1400" b="1" dirty="0">
                <a:solidFill>
                  <a:srgbClr val="F0B429"/>
                </a:solidFill>
                <a:latin typeface="Arial" pitchFamily="34" charset="0"/>
                <a:ea typeface="Arial" pitchFamily="34" charset="-122"/>
                <a:cs typeface="Arial" pitchFamily="34" charset="-120"/>
              </a:rPr>
              <a:t>Cross-Platform</a:t>
            </a:r>
            <a:endParaRPr lang="en-US" sz="1400" dirty="0"/>
          </a:p>
          <a:p>
            <a:pPr indent="0" marL="0">
              <a:buNone/>
            </a:pPr>
            <a:r>
              <a:rPr lang="en-US" sz="1400" b="1" dirty="0">
                <a:solidFill>
                  <a:srgbClr val="F0B429"/>
                </a:solidFill>
                <a:latin typeface="Arial" pitchFamily="34" charset="0"/>
                <a:ea typeface="Arial" pitchFamily="34" charset="-122"/>
                <a:cs typeface="Arial" pitchFamily="34" charset="-120"/>
              </a:rPr>
              <a:t>Early Warning</a:t>
            </a:r>
            <a:endParaRPr lang="en-US" sz="1400" dirty="0"/>
          </a:p>
        </p:txBody>
      </p:sp>
      <p:sp>
        <p:nvSpPr>
          <p:cNvPr id="11" name="Text 9"/>
          <p:cNvSpPr/>
          <p:nvPr/>
        </p:nvSpPr>
        <p:spPr>
          <a:xfrm>
            <a:off x="8138160" y="2697480"/>
            <a:ext cx="3291840" cy="777240"/>
          </a:xfrm>
          <a:prstGeom prst="rect">
            <a:avLst/>
          </a:prstGeom>
          <a:noFill/>
          <a:ln/>
        </p:spPr>
        <p:txBody>
          <a:bodyPr wrap="square" rtlCol="0" anchor="t"/>
          <a:lstStyle/>
          <a:p>
            <a:pPr indent="0" marL="0">
              <a:lnSpc>
                <a:spcPct val="125000"/>
              </a:lnSpc>
              <a:buNone/>
            </a:pPr>
            <a:r>
              <a:rPr lang="en-US" sz="1000" dirty="0">
                <a:solidFill>
                  <a:srgbClr val="8B949E"/>
                </a:solidFill>
                <a:latin typeface="Arial" pitchFamily="34" charset="0"/>
                <a:ea typeface="Arial" pitchFamily="34" charset="-122"/>
                <a:cs typeface="Arial" pitchFamily="34" charset="-120"/>
              </a:rPr>
              <a:t>When a student's grades drop, the AI checks: did their parent just lose a job? Is there a housing crisis? Is there a behavioral health flag? It connects the dots no human case manager has time to connect.</a:t>
            </a:r>
            <a:endParaRPr lang="en-US" sz="1000" dirty="0"/>
          </a:p>
        </p:txBody>
      </p:sp>
      <p:sp>
        <p:nvSpPr>
          <p:cNvPr id="12" name="Text 10"/>
          <p:cNvSpPr/>
          <p:nvPr/>
        </p:nvSpPr>
        <p:spPr>
          <a:xfrm>
            <a:off x="6355080" y="3657600"/>
            <a:ext cx="5120640" cy="640080"/>
          </a:xfrm>
          <a:prstGeom prst="rect">
            <a:avLst/>
          </a:prstGeom>
          <a:noFill/>
          <a:ln/>
        </p:spPr>
        <p:txBody>
          <a:bodyPr wrap="square" rtlCol="0" anchor="ctr"/>
          <a:lstStyle/>
          <a:p>
            <a:pPr indent="0" marL="0">
              <a:lnSpc>
                <a:spcPct val="120000"/>
              </a:lnSpc>
              <a:buNone/>
            </a:pPr>
            <a:r>
              <a:rPr lang="en-US" sz="1000" i="1" dirty="0">
                <a:solidFill>
                  <a:srgbClr val="F0B429"/>
                </a:solidFill>
                <a:latin typeface="Arial" pitchFamily="34" charset="0"/>
                <a:ea typeface="Arial" pitchFamily="34" charset="-122"/>
                <a:cs typeface="Arial" pitchFamily="34" charset="-120"/>
              </a:rPr>
              <a:t>Example: Student absences spike → parent's workforce file shows job loss → family services activates.</a:t>
            </a:r>
            <a:endParaRPr lang="en-US" sz="1000" dirty="0"/>
          </a:p>
        </p:txBody>
      </p:sp>
      <p:sp>
        <p:nvSpPr>
          <p:cNvPr id="13" name="Shape 11"/>
          <p:cNvSpPr/>
          <p:nvPr/>
        </p:nvSpPr>
        <p:spPr>
          <a:xfrm>
            <a:off x="548640" y="4663440"/>
            <a:ext cx="5394960" cy="1828800"/>
          </a:xfrm>
          <a:prstGeom prst="roundRect">
            <a:avLst>
              <a:gd name="adj" fmla="val 5000"/>
            </a:avLst>
          </a:prstGeom>
          <a:solidFill>
            <a:srgbClr val="161B22"/>
          </a:solidFill>
          <a:ln w="19050">
            <a:solidFill>
              <a:srgbClr val="2EA043"/>
            </a:solidFill>
            <a:prstDash val="solid"/>
          </a:ln>
        </p:spPr>
      </p:sp>
      <p:sp>
        <p:nvSpPr>
          <p:cNvPr id="14" name="Text 12"/>
          <p:cNvSpPr/>
          <p:nvPr/>
        </p:nvSpPr>
        <p:spPr>
          <a:xfrm>
            <a:off x="685800" y="4709160"/>
            <a:ext cx="1828800" cy="731520"/>
          </a:xfrm>
          <a:prstGeom prst="rect">
            <a:avLst/>
          </a:prstGeom>
          <a:noFill/>
          <a:ln/>
        </p:spPr>
        <p:txBody>
          <a:bodyPr wrap="square" rtlCol="0" anchor="ctr"/>
          <a:lstStyle/>
          <a:p>
            <a:pPr indent="0" marL="0">
              <a:buNone/>
            </a:pPr>
            <a:r>
              <a:rPr lang="en-US" sz="1400" b="1" dirty="0">
                <a:solidFill>
                  <a:srgbClr val="2EA043"/>
                </a:solidFill>
                <a:latin typeface="Arial" pitchFamily="34" charset="0"/>
                <a:ea typeface="Arial" pitchFamily="34" charset="-122"/>
                <a:cs typeface="Arial" pitchFamily="34" charset="-120"/>
              </a:rPr>
              <a:t>Intelligent</a:t>
            </a:r>
            <a:endParaRPr lang="en-US" sz="1400" dirty="0"/>
          </a:p>
          <a:p>
            <a:pPr indent="0" marL="0">
              <a:buNone/>
            </a:pPr>
            <a:r>
              <a:rPr lang="en-US" sz="1400" b="1" dirty="0">
                <a:solidFill>
                  <a:srgbClr val="2EA043"/>
                </a:solidFill>
                <a:latin typeface="Arial" pitchFamily="34" charset="0"/>
                <a:ea typeface="Arial" pitchFamily="34" charset="-122"/>
                <a:cs typeface="Arial" pitchFamily="34" charset="-120"/>
              </a:rPr>
              <a:t>Skills Translation</a:t>
            </a:r>
            <a:endParaRPr lang="en-US" sz="1400" dirty="0"/>
          </a:p>
        </p:txBody>
      </p:sp>
      <p:sp>
        <p:nvSpPr>
          <p:cNvPr id="15" name="Text 13"/>
          <p:cNvSpPr/>
          <p:nvPr/>
        </p:nvSpPr>
        <p:spPr>
          <a:xfrm>
            <a:off x="2468880" y="4709160"/>
            <a:ext cx="3291840" cy="777240"/>
          </a:xfrm>
          <a:prstGeom prst="rect">
            <a:avLst/>
          </a:prstGeom>
          <a:noFill/>
          <a:ln/>
        </p:spPr>
        <p:txBody>
          <a:bodyPr wrap="square" rtlCol="0" anchor="t"/>
          <a:lstStyle/>
          <a:p>
            <a:pPr indent="0" marL="0">
              <a:lnSpc>
                <a:spcPct val="125000"/>
              </a:lnSpc>
              <a:buNone/>
            </a:pPr>
            <a:r>
              <a:rPr lang="en-US" sz="1000" dirty="0">
                <a:solidFill>
                  <a:srgbClr val="8B949E"/>
                </a:solidFill>
                <a:latin typeface="Arial" pitchFamily="34" charset="0"/>
                <a:ea typeface="Arial" pitchFamily="34" charset="-122"/>
                <a:cs typeface="Arial" pitchFamily="34" charset="-120"/>
              </a:rPr>
              <a:t>For veterans: AI maps military occupational specialties to civilian credentials, identifies certification gaps, and matches to employers who specifically hire veterans.</a:t>
            </a:r>
            <a:endParaRPr lang="en-US" sz="1000" dirty="0"/>
          </a:p>
        </p:txBody>
      </p:sp>
      <p:sp>
        <p:nvSpPr>
          <p:cNvPr id="16" name="Text 14"/>
          <p:cNvSpPr/>
          <p:nvPr/>
        </p:nvSpPr>
        <p:spPr>
          <a:xfrm>
            <a:off x="685800" y="5669280"/>
            <a:ext cx="5120640" cy="640080"/>
          </a:xfrm>
          <a:prstGeom prst="rect">
            <a:avLst/>
          </a:prstGeom>
          <a:noFill/>
          <a:ln/>
        </p:spPr>
        <p:txBody>
          <a:bodyPr wrap="square" rtlCol="0" anchor="ctr"/>
          <a:lstStyle/>
          <a:p>
            <a:pPr indent="0" marL="0">
              <a:lnSpc>
                <a:spcPct val="120000"/>
              </a:lnSpc>
              <a:buNone/>
            </a:pPr>
            <a:r>
              <a:rPr lang="en-US" sz="1000" i="1" dirty="0">
                <a:solidFill>
                  <a:srgbClr val="2EA043"/>
                </a:solidFill>
                <a:latin typeface="Arial" pitchFamily="34" charset="0"/>
                <a:ea typeface="Arial" pitchFamily="34" charset="-122"/>
                <a:cs typeface="Arial" pitchFamily="34" charset="-120"/>
              </a:rPr>
              <a:t>Example: Army 68W Combat Medic → EMT-B certification → 3 local EMS employers hiring now.</a:t>
            </a:r>
            <a:endParaRPr lang="en-US" sz="1000" dirty="0"/>
          </a:p>
        </p:txBody>
      </p:sp>
      <p:sp>
        <p:nvSpPr>
          <p:cNvPr id="17" name="Shape 15"/>
          <p:cNvSpPr/>
          <p:nvPr/>
        </p:nvSpPr>
        <p:spPr>
          <a:xfrm>
            <a:off x="6217920" y="4663440"/>
            <a:ext cx="5394960" cy="1828800"/>
          </a:xfrm>
          <a:prstGeom prst="roundRect">
            <a:avLst>
              <a:gd name="adj" fmla="val 5000"/>
            </a:avLst>
          </a:prstGeom>
          <a:solidFill>
            <a:srgbClr val="161B22"/>
          </a:solidFill>
          <a:ln w="19050">
            <a:solidFill>
              <a:srgbClr val="0079F2"/>
            </a:solidFill>
            <a:prstDash val="solid"/>
          </a:ln>
        </p:spPr>
      </p:sp>
      <p:sp>
        <p:nvSpPr>
          <p:cNvPr id="18" name="Text 16"/>
          <p:cNvSpPr/>
          <p:nvPr/>
        </p:nvSpPr>
        <p:spPr>
          <a:xfrm>
            <a:off x="6355080" y="4709160"/>
            <a:ext cx="1828800" cy="731520"/>
          </a:xfrm>
          <a:prstGeom prst="rect">
            <a:avLst/>
          </a:prstGeom>
          <a:noFill/>
          <a:ln/>
        </p:spPr>
        <p:txBody>
          <a:bodyPr wrap="square" rtlCol="0" anchor="ctr"/>
          <a:lstStyle/>
          <a:p>
            <a:pPr indent="0" marL="0">
              <a:buNone/>
            </a:pPr>
            <a:r>
              <a:rPr lang="en-US" sz="1400" b="1" dirty="0">
                <a:solidFill>
                  <a:srgbClr val="0079F2"/>
                </a:solidFill>
                <a:latin typeface="Arial" pitchFamily="34" charset="0"/>
                <a:ea typeface="Arial" pitchFamily="34" charset="-122"/>
                <a:cs typeface="Arial" pitchFamily="34" charset="-120"/>
              </a:rPr>
              <a:t>Collaborative</a:t>
            </a:r>
            <a:endParaRPr lang="en-US" sz="1400" dirty="0"/>
          </a:p>
          <a:p>
            <a:pPr indent="0" marL="0">
              <a:buNone/>
            </a:pPr>
            <a:r>
              <a:rPr lang="en-US" sz="1400" b="1" dirty="0">
                <a:solidFill>
                  <a:srgbClr val="0079F2"/>
                </a:solidFill>
                <a:latin typeface="Arial" pitchFamily="34" charset="0"/>
                <a:ea typeface="Arial" pitchFamily="34" charset="-122"/>
                <a:cs typeface="Arial" pitchFamily="34" charset="-120"/>
              </a:rPr>
              <a:t>Multi-Engine AI</a:t>
            </a:r>
            <a:endParaRPr lang="en-US" sz="1400" dirty="0"/>
          </a:p>
        </p:txBody>
      </p:sp>
      <p:sp>
        <p:nvSpPr>
          <p:cNvPr id="19" name="Text 17"/>
          <p:cNvSpPr/>
          <p:nvPr/>
        </p:nvSpPr>
        <p:spPr>
          <a:xfrm>
            <a:off x="8138160" y="4709160"/>
            <a:ext cx="3291840" cy="777240"/>
          </a:xfrm>
          <a:prstGeom prst="rect">
            <a:avLst/>
          </a:prstGeom>
          <a:noFill/>
          <a:ln/>
        </p:spPr>
        <p:txBody>
          <a:bodyPr wrap="square" rtlCol="0" anchor="t"/>
          <a:lstStyle/>
          <a:p>
            <a:pPr indent="0" marL="0">
              <a:lnSpc>
                <a:spcPct val="125000"/>
              </a:lnSpc>
              <a:buNone/>
            </a:pPr>
            <a:r>
              <a:rPr lang="en-US" sz="1000" dirty="0">
                <a:solidFill>
                  <a:srgbClr val="8B949E"/>
                </a:solidFill>
                <a:latin typeface="Arial" pitchFamily="34" charset="0"/>
                <a:ea typeface="Arial" pitchFamily="34" charset="-122"/>
                <a:cs typeface="Arial" pitchFamily="34" charset="-120"/>
              </a:rPr>
              <a:t>Not one AI model — four (GPT-4o, Claude, Gemini, DeepSeek). They cross-check each other. If one engine hallucinates, the others catch it. Consensus-driven accuracy.</a:t>
            </a:r>
            <a:endParaRPr lang="en-US" sz="1000" dirty="0"/>
          </a:p>
        </p:txBody>
      </p:sp>
      <p:sp>
        <p:nvSpPr>
          <p:cNvPr id="20" name="Text 18"/>
          <p:cNvSpPr/>
          <p:nvPr/>
        </p:nvSpPr>
        <p:spPr>
          <a:xfrm>
            <a:off x="6355080" y="5669280"/>
            <a:ext cx="5120640" cy="640080"/>
          </a:xfrm>
          <a:prstGeom prst="rect">
            <a:avLst/>
          </a:prstGeom>
          <a:noFill/>
          <a:ln/>
        </p:spPr>
        <p:txBody>
          <a:bodyPr wrap="square" rtlCol="0" anchor="ctr"/>
          <a:lstStyle/>
          <a:p>
            <a:pPr indent="0" marL="0">
              <a:lnSpc>
                <a:spcPct val="120000"/>
              </a:lnSpc>
              <a:buNone/>
            </a:pPr>
            <a:r>
              <a:rPr lang="en-US" sz="1000" i="1" dirty="0">
                <a:solidFill>
                  <a:srgbClr val="0079F2"/>
                </a:solidFill>
                <a:latin typeface="Arial" pitchFamily="34" charset="0"/>
                <a:ea typeface="Arial" pitchFamily="34" charset="-122"/>
                <a:cs typeface="Arial" pitchFamily="34" charset="-120"/>
              </a:rPr>
              <a:t>Example: Grant proposals reviewed by all 4 engines simultaneously — errors caught by the ensemble, not trusted to one model.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EA043"/>
          </a:solidFill>
          <a:ln/>
        </p:spPr>
      </p:sp>
      <p:sp>
        <p:nvSpPr>
          <p:cNvPr id="3" name="Text 1"/>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2EA043"/>
                </a:solidFill>
                <a:latin typeface="Arial" pitchFamily="34" charset="0"/>
                <a:ea typeface="Arial" pitchFamily="34" charset="-122"/>
                <a:cs typeface="Arial" pitchFamily="34" charset="-120"/>
              </a:rPr>
              <a:t>Platform Spotlight</a:t>
            </a:r>
            <a:endParaRPr lang="en-US" sz="1300" dirty="0"/>
          </a:p>
        </p:txBody>
      </p:sp>
      <p:sp>
        <p:nvSpPr>
          <p:cNvPr id="4" name="Text 2"/>
          <p:cNvSpPr/>
          <p:nvPr/>
        </p:nvSpPr>
        <p:spPr>
          <a:xfrm>
            <a:off x="731520" y="822960"/>
            <a:ext cx="1069848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Mission Transition (M2C)</a:t>
            </a:r>
            <a:endParaRPr lang="en-US" sz="3600" dirty="0"/>
          </a:p>
        </p:txBody>
      </p:sp>
      <p:sp>
        <p:nvSpPr>
          <p:cNvPr id="5" name="Text 3"/>
          <p:cNvSpPr/>
          <p:nvPr/>
        </p:nvSpPr>
        <p:spPr>
          <a:xfrm>
            <a:off x="731520" y="1463040"/>
            <a:ext cx="10698480" cy="457200"/>
          </a:xfrm>
          <a:prstGeom prst="rect">
            <a:avLst/>
          </a:prstGeom>
          <a:noFill/>
          <a:ln/>
        </p:spPr>
        <p:txBody>
          <a:bodyPr wrap="square" rtlCol="0" anchor="ctr"/>
          <a:lstStyle/>
          <a:p>
            <a:pPr indent="0" marL="0">
              <a:buNone/>
            </a:pPr>
            <a:r>
              <a:rPr lang="en-US" sz="1700" dirty="0">
                <a:solidFill>
                  <a:srgbClr val="2EA043"/>
                </a:solidFill>
                <a:latin typeface="Arial" pitchFamily="34" charset="0"/>
                <a:ea typeface="Arial" pitchFamily="34" charset="-122"/>
                <a:cs typeface="Arial" pitchFamily="34" charset="-120"/>
              </a:rPr>
              <a:t>End-to-End Veteran Career Pipeline — Not a Job Board</a:t>
            </a:r>
            <a:endParaRPr lang="en-US" sz="1700" dirty="0"/>
          </a:p>
        </p:txBody>
      </p:sp>
      <p:sp>
        <p:nvSpPr>
          <p:cNvPr id="6" name="Shape 4"/>
          <p:cNvSpPr/>
          <p:nvPr/>
        </p:nvSpPr>
        <p:spPr>
          <a:xfrm>
            <a:off x="365760" y="2286000"/>
            <a:ext cx="2103120" cy="2743200"/>
          </a:xfrm>
          <a:prstGeom prst="roundRect">
            <a:avLst>
              <a:gd name="adj" fmla="val 4348"/>
            </a:avLst>
          </a:prstGeom>
          <a:solidFill>
            <a:srgbClr val="161B22"/>
          </a:solidFill>
          <a:ln w="12700">
            <a:solidFill>
              <a:srgbClr val="2EA043"/>
            </a:solidFill>
            <a:prstDash val="solid"/>
          </a:ln>
        </p:spPr>
      </p:sp>
      <p:sp>
        <p:nvSpPr>
          <p:cNvPr id="7" name="Text 5"/>
          <p:cNvSpPr/>
          <p:nvPr/>
        </p:nvSpPr>
        <p:spPr>
          <a:xfrm>
            <a:off x="365760" y="2377440"/>
            <a:ext cx="2103120" cy="548640"/>
          </a:xfrm>
          <a:prstGeom prst="rect">
            <a:avLst/>
          </a:prstGeom>
          <a:noFill/>
          <a:ln/>
        </p:spPr>
        <p:txBody>
          <a:bodyPr wrap="square" rtlCol="0" anchor="ctr"/>
          <a:lstStyle/>
          <a:p>
            <a:pPr algn="ctr" indent="0" marL="0">
              <a:buNone/>
            </a:pPr>
            <a:r>
              <a:rPr lang="en-US" sz="2200" b="1" dirty="0">
                <a:solidFill>
                  <a:srgbClr val="2EA043"/>
                </a:solidFill>
                <a:latin typeface="Arial" pitchFamily="34" charset="0"/>
                <a:ea typeface="Arial" pitchFamily="34" charset="-122"/>
                <a:cs typeface="Arial" pitchFamily="34" charset="-120"/>
              </a:rPr>
              <a:t>01</a:t>
            </a:r>
            <a:endParaRPr lang="en-US" sz="2200" dirty="0"/>
          </a:p>
        </p:txBody>
      </p:sp>
      <p:sp>
        <p:nvSpPr>
          <p:cNvPr id="8" name="Text 6"/>
          <p:cNvSpPr/>
          <p:nvPr/>
        </p:nvSpPr>
        <p:spPr>
          <a:xfrm>
            <a:off x="457200" y="2926080"/>
            <a:ext cx="1920240" cy="6400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Service</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History</a:t>
            </a:r>
            <a:endParaRPr lang="en-US" sz="1400" dirty="0"/>
          </a:p>
        </p:txBody>
      </p:sp>
      <p:sp>
        <p:nvSpPr>
          <p:cNvPr id="9" name="Text 7"/>
          <p:cNvSpPr/>
          <p:nvPr/>
        </p:nvSpPr>
        <p:spPr>
          <a:xfrm>
            <a:off x="457200" y="3657600"/>
            <a:ext cx="1920240" cy="1097280"/>
          </a:xfrm>
          <a:prstGeom prst="rect">
            <a:avLst/>
          </a:prstGeom>
          <a:noFill/>
          <a:ln/>
        </p:spPr>
        <p:txBody>
          <a:bodyPr wrap="square" rtlCol="0" anchor="ctr"/>
          <a:lstStyle/>
          <a:p>
            <a:pPr algn="ctr" indent="0" marL="0">
              <a:lnSpc>
                <a:spcPct val="125000"/>
              </a:lnSpc>
              <a:buNone/>
            </a:pPr>
            <a:r>
              <a:rPr lang="en-US" sz="1000" dirty="0">
                <a:solidFill>
                  <a:srgbClr val="8B949E"/>
                </a:solidFill>
                <a:latin typeface="Arial" pitchFamily="34" charset="0"/>
                <a:ea typeface="Arial" pitchFamily="34" charset="-122"/>
                <a:cs typeface="Arial" pitchFamily="34" charset="-120"/>
              </a:rPr>
              <a:t>Ingests full military record, MOS codes, deployments, security clearances</a:t>
            </a:r>
            <a:endParaRPr lang="en-US" sz="1000" dirty="0"/>
          </a:p>
        </p:txBody>
      </p:sp>
      <p:sp>
        <p:nvSpPr>
          <p:cNvPr id="10" name="Text 8"/>
          <p:cNvSpPr/>
          <p:nvPr/>
        </p:nvSpPr>
        <p:spPr>
          <a:xfrm>
            <a:off x="2468880" y="3108960"/>
            <a:ext cx="182880" cy="457200"/>
          </a:xfrm>
          <a:prstGeom prst="rect">
            <a:avLst/>
          </a:prstGeom>
          <a:noFill/>
          <a:ln/>
        </p:spPr>
        <p:txBody>
          <a:bodyPr wrap="square" rtlCol="0" anchor="ctr"/>
          <a:lstStyle/>
          <a:p>
            <a:pPr algn="ctr" indent="0" marL="0">
              <a:buNone/>
            </a:pPr>
            <a:r>
              <a:rPr lang="en-US" sz="1800" dirty="0">
                <a:solidFill>
                  <a:srgbClr val="2EA043"/>
                </a:solidFill>
              </a:rPr>
              <a:t>→</a:t>
            </a:r>
            <a:endParaRPr lang="en-US" sz="1800" dirty="0"/>
          </a:p>
        </p:txBody>
      </p:sp>
      <p:sp>
        <p:nvSpPr>
          <p:cNvPr id="11" name="Shape 9"/>
          <p:cNvSpPr/>
          <p:nvPr/>
        </p:nvSpPr>
        <p:spPr>
          <a:xfrm>
            <a:off x="2651760" y="2286000"/>
            <a:ext cx="2103120" cy="2743200"/>
          </a:xfrm>
          <a:prstGeom prst="roundRect">
            <a:avLst>
              <a:gd name="adj" fmla="val 4348"/>
            </a:avLst>
          </a:prstGeom>
          <a:solidFill>
            <a:srgbClr val="161B22"/>
          </a:solidFill>
          <a:ln w="12700">
            <a:solidFill>
              <a:srgbClr val="2EA043"/>
            </a:solidFill>
            <a:prstDash val="solid"/>
          </a:ln>
        </p:spPr>
      </p:sp>
      <p:sp>
        <p:nvSpPr>
          <p:cNvPr id="12" name="Text 10"/>
          <p:cNvSpPr/>
          <p:nvPr/>
        </p:nvSpPr>
        <p:spPr>
          <a:xfrm>
            <a:off x="2651760" y="2377440"/>
            <a:ext cx="2103120" cy="548640"/>
          </a:xfrm>
          <a:prstGeom prst="rect">
            <a:avLst/>
          </a:prstGeom>
          <a:noFill/>
          <a:ln/>
        </p:spPr>
        <p:txBody>
          <a:bodyPr wrap="square" rtlCol="0" anchor="ctr"/>
          <a:lstStyle/>
          <a:p>
            <a:pPr algn="ctr" indent="0" marL="0">
              <a:buNone/>
            </a:pPr>
            <a:r>
              <a:rPr lang="en-US" sz="2200" b="1" dirty="0">
                <a:solidFill>
                  <a:srgbClr val="2EA043"/>
                </a:solidFill>
                <a:latin typeface="Arial" pitchFamily="34" charset="0"/>
                <a:ea typeface="Arial" pitchFamily="34" charset="-122"/>
                <a:cs typeface="Arial" pitchFamily="34" charset="-120"/>
              </a:rPr>
              <a:t>02</a:t>
            </a:r>
            <a:endParaRPr lang="en-US" sz="2200" dirty="0"/>
          </a:p>
        </p:txBody>
      </p:sp>
      <p:sp>
        <p:nvSpPr>
          <p:cNvPr id="13" name="Text 11"/>
          <p:cNvSpPr/>
          <p:nvPr/>
        </p:nvSpPr>
        <p:spPr>
          <a:xfrm>
            <a:off x="2743200" y="2926080"/>
            <a:ext cx="1920240" cy="6400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Skills</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Translation</a:t>
            </a:r>
            <a:endParaRPr lang="en-US" sz="1400" dirty="0"/>
          </a:p>
        </p:txBody>
      </p:sp>
      <p:sp>
        <p:nvSpPr>
          <p:cNvPr id="14" name="Text 12"/>
          <p:cNvSpPr/>
          <p:nvPr/>
        </p:nvSpPr>
        <p:spPr>
          <a:xfrm>
            <a:off x="2743200" y="3657600"/>
            <a:ext cx="1920240" cy="1097280"/>
          </a:xfrm>
          <a:prstGeom prst="rect">
            <a:avLst/>
          </a:prstGeom>
          <a:noFill/>
          <a:ln/>
        </p:spPr>
        <p:txBody>
          <a:bodyPr wrap="square" rtlCol="0" anchor="ctr"/>
          <a:lstStyle/>
          <a:p>
            <a:pPr algn="ctr" indent="0" marL="0">
              <a:lnSpc>
                <a:spcPct val="125000"/>
              </a:lnSpc>
              <a:buNone/>
            </a:pPr>
            <a:r>
              <a:rPr lang="en-US" sz="1000" dirty="0">
                <a:solidFill>
                  <a:srgbClr val="8B949E"/>
                </a:solidFill>
                <a:latin typeface="Arial" pitchFamily="34" charset="0"/>
                <a:ea typeface="Arial" pitchFamily="34" charset="-122"/>
                <a:cs typeface="Arial" pitchFamily="34" charset="-120"/>
              </a:rPr>
              <a:t>AI maps military specialties to civilian job families + certifications</a:t>
            </a:r>
            <a:endParaRPr lang="en-US" sz="1000" dirty="0"/>
          </a:p>
        </p:txBody>
      </p:sp>
      <p:sp>
        <p:nvSpPr>
          <p:cNvPr id="15" name="Text 13"/>
          <p:cNvSpPr/>
          <p:nvPr/>
        </p:nvSpPr>
        <p:spPr>
          <a:xfrm>
            <a:off x="4754880" y="3108960"/>
            <a:ext cx="182880" cy="457200"/>
          </a:xfrm>
          <a:prstGeom prst="rect">
            <a:avLst/>
          </a:prstGeom>
          <a:noFill/>
          <a:ln/>
        </p:spPr>
        <p:txBody>
          <a:bodyPr wrap="square" rtlCol="0" anchor="ctr"/>
          <a:lstStyle/>
          <a:p>
            <a:pPr algn="ctr" indent="0" marL="0">
              <a:buNone/>
            </a:pPr>
            <a:r>
              <a:rPr lang="en-US" sz="1800" dirty="0">
                <a:solidFill>
                  <a:srgbClr val="2EA043"/>
                </a:solidFill>
              </a:rPr>
              <a:t>→</a:t>
            </a:r>
            <a:endParaRPr lang="en-US" sz="1800" dirty="0"/>
          </a:p>
        </p:txBody>
      </p:sp>
      <p:sp>
        <p:nvSpPr>
          <p:cNvPr id="16" name="Shape 14"/>
          <p:cNvSpPr/>
          <p:nvPr/>
        </p:nvSpPr>
        <p:spPr>
          <a:xfrm>
            <a:off x="4937760" y="2286000"/>
            <a:ext cx="2103120" cy="2743200"/>
          </a:xfrm>
          <a:prstGeom prst="roundRect">
            <a:avLst>
              <a:gd name="adj" fmla="val 4348"/>
            </a:avLst>
          </a:prstGeom>
          <a:solidFill>
            <a:srgbClr val="161B22"/>
          </a:solidFill>
          <a:ln w="12700">
            <a:solidFill>
              <a:srgbClr val="2EA043"/>
            </a:solidFill>
            <a:prstDash val="solid"/>
          </a:ln>
        </p:spPr>
      </p:sp>
      <p:sp>
        <p:nvSpPr>
          <p:cNvPr id="17" name="Text 15"/>
          <p:cNvSpPr/>
          <p:nvPr/>
        </p:nvSpPr>
        <p:spPr>
          <a:xfrm>
            <a:off x="4937760" y="2377440"/>
            <a:ext cx="2103120" cy="548640"/>
          </a:xfrm>
          <a:prstGeom prst="rect">
            <a:avLst/>
          </a:prstGeom>
          <a:noFill/>
          <a:ln/>
        </p:spPr>
        <p:txBody>
          <a:bodyPr wrap="square" rtlCol="0" anchor="ctr"/>
          <a:lstStyle/>
          <a:p>
            <a:pPr algn="ctr" indent="0" marL="0">
              <a:buNone/>
            </a:pPr>
            <a:r>
              <a:rPr lang="en-US" sz="2200" b="1" dirty="0">
                <a:solidFill>
                  <a:srgbClr val="2EA043"/>
                </a:solidFill>
                <a:latin typeface="Arial" pitchFamily="34" charset="0"/>
                <a:ea typeface="Arial" pitchFamily="34" charset="-122"/>
                <a:cs typeface="Arial" pitchFamily="34" charset="-120"/>
              </a:rPr>
              <a:t>03</a:t>
            </a:r>
            <a:endParaRPr lang="en-US" sz="2200" dirty="0"/>
          </a:p>
        </p:txBody>
      </p:sp>
      <p:sp>
        <p:nvSpPr>
          <p:cNvPr id="18" name="Text 16"/>
          <p:cNvSpPr/>
          <p:nvPr/>
        </p:nvSpPr>
        <p:spPr>
          <a:xfrm>
            <a:off x="5029200" y="2926080"/>
            <a:ext cx="1920240" cy="6400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Gap</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Analysis</a:t>
            </a:r>
            <a:endParaRPr lang="en-US" sz="1400" dirty="0"/>
          </a:p>
        </p:txBody>
      </p:sp>
      <p:sp>
        <p:nvSpPr>
          <p:cNvPr id="19" name="Text 17"/>
          <p:cNvSpPr/>
          <p:nvPr/>
        </p:nvSpPr>
        <p:spPr>
          <a:xfrm>
            <a:off x="5029200" y="3657600"/>
            <a:ext cx="1920240" cy="1097280"/>
          </a:xfrm>
          <a:prstGeom prst="rect">
            <a:avLst/>
          </a:prstGeom>
          <a:noFill/>
          <a:ln/>
        </p:spPr>
        <p:txBody>
          <a:bodyPr wrap="square" rtlCol="0" anchor="ctr"/>
          <a:lstStyle/>
          <a:p>
            <a:pPr algn="ctr" indent="0" marL="0">
              <a:lnSpc>
                <a:spcPct val="125000"/>
              </a:lnSpc>
              <a:buNone/>
            </a:pPr>
            <a:r>
              <a:rPr lang="en-US" sz="1000" dirty="0">
                <a:solidFill>
                  <a:srgbClr val="8B949E"/>
                </a:solidFill>
                <a:latin typeface="Arial" pitchFamily="34" charset="0"/>
                <a:ea typeface="Arial" pitchFamily="34" charset="-122"/>
                <a:cs typeface="Arial" pitchFamily="34" charset="-120"/>
              </a:rPr>
              <a:t>Identifies missing credentials, licenses, training — builds a plan</a:t>
            </a:r>
            <a:endParaRPr lang="en-US" sz="1000" dirty="0"/>
          </a:p>
        </p:txBody>
      </p:sp>
      <p:sp>
        <p:nvSpPr>
          <p:cNvPr id="20" name="Text 18"/>
          <p:cNvSpPr/>
          <p:nvPr/>
        </p:nvSpPr>
        <p:spPr>
          <a:xfrm>
            <a:off x="7040880" y="3108960"/>
            <a:ext cx="182880" cy="457200"/>
          </a:xfrm>
          <a:prstGeom prst="rect">
            <a:avLst/>
          </a:prstGeom>
          <a:noFill/>
          <a:ln/>
        </p:spPr>
        <p:txBody>
          <a:bodyPr wrap="square" rtlCol="0" anchor="ctr"/>
          <a:lstStyle/>
          <a:p>
            <a:pPr algn="ctr" indent="0" marL="0">
              <a:buNone/>
            </a:pPr>
            <a:r>
              <a:rPr lang="en-US" sz="1800" dirty="0">
                <a:solidFill>
                  <a:srgbClr val="2EA043"/>
                </a:solidFill>
              </a:rPr>
              <a:t>→</a:t>
            </a:r>
            <a:endParaRPr lang="en-US" sz="1800" dirty="0"/>
          </a:p>
        </p:txBody>
      </p:sp>
      <p:sp>
        <p:nvSpPr>
          <p:cNvPr id="21" name="Shape 19"/>
          <p:cNvSpPr/>
          <p:nvPr/>
        </p:nvSpPr>
        <p:spPr>
          <a:xfrm>
            <a:off x="7223760" y="2286000"/>
            <a:ext cx="2103120" cy="2743200"/>
          </a:xfrm>
          <a:prstGeom prst="roundRect">
            <a:avLst>
              <a:gd name="adj" fmla="val 4348"/>
            </a:avLst>
          </a:prstGeom>
          <a:solidFill>
            <a:srgbClr val="161B22"/>
          </a:solidFill>
          <a:ln w="12700">
            <a:solidFill>
              <a:srgbClr val="2EA043"/>
            </a:solidFill>
            <a:prstDash val="solid"/>
          </a:ln>
        </p:spPr>
      </p:sp>
      <p:sp>
        <p:nvSpPr>
          <p:cNvPr id="22" name="Text 20"/>
          <p:cNvSpPr/>
          <p:nvPr/>
        </p:nvSpPr>
        <p:spPr>
          <a:xfrm>
            <a:off x="7223760" y="2377440"/>
            <a:ext cx="2103120" cy="548640"/>
          </a:xfrm>
          <a:prstGeom prst="rect">
            <a:avLst/>
          </a:prstGeom>
          <a:noFill/>
          <a:ln/>
        </p:spPr>
        <p:txBody>
          <a:bodyPr wrap="square" rtlCol="0" anchor="ctr"/>
          <a:lstStyle/>
          <a:p>
            <a:pPr algn="ctr" indent="0" marL="0">
              <a:buNone/>
            </a:pPr>
            <a:r>
              <a:rPr lang="en-US" sz="2200" b="1" dirty="0">
                <a:solidFill>
                  <a:srgbClr val="2EA043"/>
                </a:solidFill>
                <a:latin typeface="Arial" pitchFamily="34" charset="0"/>
                <a:ea typeface="Arial" pitchFamily="34" charset="-122"/>
                <a:cs typeface="Arial" pitchFamily="34" charset="-120"/>
              </a:rPr>
              <a:t>04</a:t>
            </a:r>
            <a:endParaRPr lang="en-US" sz="2200" dirty="0"/>
          </a:p>
        </p:txBody>
      </p:sp>
      <p:sp>
        <p:nvSpPr>
          <p:cNvPr id="23" name="Text 21"/>
          <p:cNvSpPr/>
          <p:nvPr/>
        </p:nvSpPr>
        <p:spPr>
          <a:xfrm>
            <a:off x="7315200" y="2926080"/>
            <a:ext cx="1920240" cy="6400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Employer</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Matching</a:t>
            </a:r>
            <a:endParaRPr lang="en-US" sz="1400" dirty="0"/>
          </a:p>
        </p:txBody>
      </p:sp>
      <p:sp>
        <p:nvSpPr>
          <p:cNvPr id="24" name="Text 22"/>
          <p:cNvSpPr/>
          <p:nvPr/>
        </p:nvSpPr>
        <p:spPr>
          <a:xfrm>
            <a:off x="7315200" y="3657600"/>
            <a:ext cx="1920240" cy="1097280"/>
          </a:xfrm>
          <a:prstGeom prst="rect">
            <a:avLst/>
          </a:prstGeom>
          <a:noFill/>
          <a:ln/>
        </p:spPr>
        <p:txBody>
          <a:bodyPr wrap="square" rtlCol="0" anchor="ctr"/>
          <a:lstStyle/>
          <a:p>
            <a:pPr algn="ctr" indent="0" marL="0">
              <a:lnSpc>
                <a:spcPct val="125000"/>
              </a:lnSpc>
              <a:buNone/>
            </a:pPr>
            <a:r>
              <a:rPr lang="en-US" sz="1000" dirty="0">
                <a:solidFill>
                  <a:srgbClr val="8B949E"/>
                </a:solidFill>
                <a:latin typeface="Arial" pitchFamily="34" charset="0"/>
                <a:ea typeface="Arial" pitchFamily="34" charset="-122"/>
                <a:cs typeface="Arial" pitchFamily="34" charset="-120"/>
              </a:rPr>
              <a:t>AI matches to veteran-friendly employers by skill, location, culture fit</a:t>
            </a:r>
            <a:endParaRPr lang="en-US" sz="1000" dirty="0"/>
          </a:p>
        </p:txBody>
      </p:sp>
      <p:sp>
        <p:nvSpPr>
          <p:cNvPr id="25" name="Text 23"/>
          <p:cNvSpPr/>
          <p:nvPr/>
        </p:nvSpPr>
        <p:spPr>
          <a:xfrm>
            <a:off x="9326880" y="3108960"/>
            <a:ext cx="182880" cy="457200"/>
          </a:xfrm>
          <a:prstGeom prst="rect">
            <a:avLst/>
          </a:prstGeom>
          <a:noFill/>
          <a:ln/>
        </p:spPr>
        <p:txBody>
          <a:bodyPr wrap="square" rtlCol="0" anchor="ctr"/>
          <a:lstStyle/>
          <a:p>
            <a:pPr algn="ctr" indent="0" marL="0">
              <a:buNone/>
            </a:pPr>
            <a:r>
              <a:rPr lang="en-US" sz="1800" dirty="0">
                <a:solidFill>
                  <a:srgbClr val="2EA043"/>
                </a:solidFill>
              </a:rPr>
              <a:t>→</a:t>
            </a:r>
            <a:endParaRPr lang="en-US" sz="1800" dirty="0"/>
          </a:p>
        </p:txBody>
      </p:sp>
      <p:sp>
        <p:nvSpPr>
          <p:cNvPr id="26" name="Shape 24"/>
          <p:cNvSpPr/>
          <p:nvPr/>
        </p:nvSpPr>
        <p:spPr>
          <a:xfrm>
            <a:off x="9509760" y="2286000"/>
            <a:ext cx="2103120" cy="2743200"/>
          </a:xfrm>
          <a:prstGeom prst="roundRect">
            <a:avLst>
              <a:gd name="adj" fmla="val 4348"/>
            </a:avLst>
          </a:prstGeom>
          <a:solidFill>
            <a:srgbClr val="161B22"/>
          </a:solidFill>
          <a:ln w="12700">
            <a:solidFill>
              <a:srgbClr val="2EA043"/>
            </a:solidFill>
            <a:prstDash val="solid"/>
          </a:ln>
        </p:spPr>
      </p:sp>
      <p:sp>
        <p:nvSpPr>
          <p:cNvPr id="27" name="Text 25"/>
          <p:cNvSpPr/>
          <p:nvPr/>
        </p:nvSpPr>
        <p:spPr>
          <a:xfrm>
            <a:off x="9509760" y="2377440"/>
            <a:ext cx="2103120" cy="548640"/>
          </a:xfrm>
          <a:prstGeom prst="rect">
            <a:avLst/>
          </a:prstGeom>
          <a:noFill/>
          <a:ln/>
        </p:spPr>
        <p:txBody>
          <a:bodyPr wrap="square" rtlCol="0" anchor="ctr"/>
          <a:lstStyle/>
          <a:p>
            <a:pPr algn="ctr" indent="0" marL="0">
              <a:buNone/>
            </a:pPr>
            <a:r>
              <a:rPr lang="en-US" sz="2200" b="1" dirty="0">
                <a:solidFill>
                  <a:srgbClr val="2EA043"/>
                </a:solidFill>
                <a:latin typeface="Arial" pitchFamily="34" charset="0"/>
                <a:ea typeface="Arial" pitchFamily="34" charset="-122"/>
                <a:cs typeface="Arial" pitchFamily="34" charset="-120"/>
              </a:rPr>
              <a:t>05</a:t>
            </a:r>
            <a:endParaRPr lang="en-US" sz="2200" dirty="0"/>
          </a:p>
        </p:txBody>
      </p:sp>
      <p:sp>
        <p:nvSpPr>
          <p:cNvPr id="28" name="Text 26"/>
          <p:cNvSpPr/>
          <p:nvPr/>
        </p:nvSpPr>
        <p:spPr>
          <a:xfrm>
            <a:off x="9601200" y="2926080"/>
            <a:ext cx="1920240" cy="6400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Career</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Tracking</a:t>
            </a:r>
            <a:endParaRPr lang="en-US" sz="1400" dirty="0"/>
          </a:p>
        </p:txBody>
      </p:sp>
      <p:sp>
        <p:nvSpPr>
          <p:cNvPr id="29" name="Text 27"/>
          <p:cNvSpPr/>
          <p:nvPr/>
        </p:nvSpPr>
        <p:spPr>
          <a:xfrm>
            <a:off x="9601200" y="3657600"/>
            <a:ext cx="1920240" cy="1097280"/>
          </a:xfrm>
          <a:prstGeom prst="rect">
            <a:avLst/>
          </a:prstGeom>
          <a:noFill/>
          <a:ln/>
        </p:spPr>
        <p:txBody>
          <a:bodyPr wrap="square" rtlCol="0" anchor="ctr"/>
          <a:lstStyle/>
          <a:p>
            <a:pPr algn="ctr" indent="0" marL="0">
              <a:lnSpc>
                <a:spcPct val="125000"/>
              </a:lnSpc>
              <a:buNone/>
            </a:pPr>
            <a:r>
              <a:rPr lang="en-US" sz="1000" dirty="0">
                <a:solidFill>
                  <a:srgbClr val="8B949E"/>
                </a:solidFill>
                <a:latin typeface="Arial" pitchFamily="34" charset="0"/>
                <a:ea typeface="Arial" pitchFamily="34" charset="-122"/>
                <a:cs typeface="Arial" pitchFamily="34" charset="-120"/>
              </a:rPr>
              <a:t>12-month post-placement monitoring — retention, advancement, well-being</a:t>
            </a:r>
            <a:endParaRPr lang="en-US" sz="1000" dirty="0"/>
          </a:p>
        </p:txBody>
      </p:sp>
      <p:sp>
        <p:nvSpPr>
          <p:cNvPr id="30" name="Shape 28"/>
          <p:cNvSpPr/>
          <p:nvPr/>
        </p:nvSpPr>
        <p:spPr>
          <a:xfrm>
            <a:off x="731520" y="5394960"/>
            <a:ext cx="10698480" cy="1005840"/>
          </a:xfrm>
          <a:prstGeom prst="roundRect">
            <a:avLst>
              <a:gd name="adj" fmla="val 9091"/>
            </a:avLst>
          </a:prstGeom>
          <a:solidFill>
            <a:srgbClr val="161B22"/>
          </a:solidFill>
          <a:ln w="12700">
            <a:solidFill>
              <a:srgbClr val="2EA043"/>
            </a:solidFill>
            <a:prstDash val="solid"/>
          </a:ln>
        </p:spPr>
      </p:sp>
      <p:sp>
        <p:nvSpPr>
          <p:cNvPr id="31" name="Text 29"/>
          <p:cNvSpPr/>
          <p:nvPr/>
        </p:nvSpPr>
        <p:spPr>
          <a:xfrm>
            <a:off x="914400" y="5440680"/>
            <a:ext cx="2743200" cy="365760"/>
          </a:xfrm>
          <a:prstGeom prst="rect">
            <a:avLst/>
          </a:prstGeom>
          <a:noFill/>
          <a:ln/>
        </p:spPr>
        <p:txBody>
          <a:bodyPr wrap="square" rtlCol="0" anchor="ctr"/>
          <a:lstStyle/>
          <a:p>
            <a:pPr indent="0" marL="0">
              <a:buNone/>
            </a:pPr>
            <a:r>
              <a:rPr lang="en-US" sz="1300" b="1" dirty="0">
                <a:solidFill>
                  <a:srgbClr val="2EA043"/>
                </a:solidFill>
                <a:latin typeface="Arial" pitchFamily="34" charset="0"/>
                <a:ea typeface="Arial" pitchFamily="34" charset="-122"/>
                <a:cs typeface="Arial" pitchFamily="34" charset="-120"/>
              </a:rPr>
              <a:t>Why this matters:</a:t>
            </a:r>
            <a:endParaRPr lang="en-US" sz="1300" dirty="0"/>
          </a:p>
        </p:txBody>
      </p:sp>
      <p:sp>
        <p:nvSpPr>
          <p:cNvPr id="32" name="Text 30"/>
          <p:cNvSpPr/>
          <p:nvPr/>
        </p:nvSpPr>
        <p:spPr>
          <a:xfrm>
            <a:off x="914400" y="5760720"/>
            <a:ext cx="10332720" cy="548640"/>
          </a:xfrm>
          <a:prstGeom prst="rect">
            <a:avLst/>
          </a:prstGeom>
          <a:noFill/>
          <a:ln/>
        </p:spPr>
        <p:txBody>
          <a:bodyPr wrap="square" rtlCol="0" anchor="ctr"/>
          <a:lstStyle/>
          <a:p>
            <a:pPr indent="0" marL="0">
              <a:lnSpc>
                <a:spcPct val="130000"/>
              </a:lnSpc>
              <a:buNone/>
            </a:pPr>
            <a:r>
              <a:rPr lang="en-US" sz="1100" dirty="0">
                <a:solidFill>
                  <a:srgbClr val="8B949E"/>
                </a:solidFill>
                <a:latin typeface="Arial" pitchFamily="34" charset="0"/>
                <a:ea typeface="Arial" pitchFamily="34" charset="-122"/>
                <a:cs typeface="Arial" pitchFamily="34" charset="-120"/>
              </a:rPr>
              <a:t>200,000+ service members transition every year. The current system gives them a 3-day class and a handshake. Mission Transition gives them a pipeline — and because it's connected to ThriveUp's ecosystem, their behavioral health, family services, and education platforms all move with them. The whole person transitions, not just their resume.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E8459E"/>
          </a:solidFill>
          <a:ln/>
        </p:spPr>
      </p:sp>
      <p:sp>
        <p:nvSpPr>
          <p:cNvPr id="3" name="Text 1"/>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E8459E"/>
                </a:solidFill>
                <a:latin typeface="Arial" pitchFamily="34" charset="0"/>
                <a:ea typeface="Arial" pitchFamily="34" charset="-122"/>
                <a:cs typeface="Arial" pitchFamily="34" charset="-120"/>
              </a:rPr>
              <a:t>Platform Spotlight</a:t>
            </a:r>
            <a:endParaRPr lang="en-US" sz="1300" dirty="0"/>
          </a:p>
        </p:txBody>
      </p:sp>
      <p:sp>
        <p:nvSpPr>
          <p:cNvPr id="4" name="Text 2"/>
          <p:cNvSpPr/>
          <p:nvPr/>
        </p:nvSpPr>
        <p:spPr>
          <a:xfrm>
            <a:off x="731520" y="822960"/>
            <a:ext cx="1069848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Black Maternal Health Network</a:t>
            </a:r>
            <a:endParaRPr lang="en-US" sz="3600" dirty="0"/>
          </a:p>
        </p:txBody>
      </p:sp>
      <p:sp>
        <p:nvSpPr>
          <p:cNvPr id="5" name="Text 3"/>
          <p:cNvSpPr/>
          <p:nvPr/>
        </p:nvSpPr>
        <p:spPr>
          <a:xfrm>
            <a:off x="731520" y="1463040"/>
            <a:ext cx="10698480" cy="457200"/>
          </a:xfrm>
          <a:prstGeom prst="rect">
            <a:avLst/>
          </a:prstGeom>
          <a:noFill/>
          <a:ln/>
        </p:spPr>
        <p:txBody>
          <a:bodyPr wrap="square" rtlCol="0" anchor="ctr"/>
          <a:lstStyle/>
          <a:p>
            <a:pPr indent="0" marL="0">
              <a:buNone/>
            </a:pPr>
            <a:r>
              <a:rPr lang="en-US" sz="1700" dirty="0">
                <a:solidFill>
                  <a:srgbClr val="E8459E"/>
                </a:solidFill>
                <a:latin typeface="Arial" pitchFamily="34" charset="0"/>
                <a:ea typeface="Arial" pitchFamily="34" charset="-122"/>
                <a:cs typeface="Arial" pitchFamily="34" charset="-120"/>
              </a:rPr>
              <a:t>Connected Care — Not Another Referral Loop</a:t>
            </a:r>
            <a:endParaRPr lang="en-US" sz="1700" dirty="0"/>
          </a:p>
        </p:txBody>
      </p:sp>
      <p:sp>
        <p:nvSpPr>
          <p:cNvPr id="6" name="Shape 4"/>
          <p:cNvSpPr/>
          <p:nvPr/>
        </p:nvSpPr>
        <p:spPr>
          <a:xfrm>
            <a:off x="365760" y="2194560"/>
            <a:ext cx="2697480" cy="2926080"/>
          </a:xfrm>
          <a:prstGeom prst="roundRect">
            <a:avLst>
              <a:gd name="adj" fmla="val 3390"/>
            </a:avLst>
          </a:prstGeom>
          <a:solidFill>
            <a:srgbClr val="161B22"/>
          </a:solidFill>
          <a:ln w="19050">
            <a:solidFill>
              <a:srgbClr val="E8459E"/>
            </a:solidFill>
            <a:prstDash val="solid"/>
          </a:ln>
        </p:spPr>
      </p:sp>
      <p:sp>
        <p:nvSpPr>
          <p:cNvPr id="7" name="Text 5"/>
          <p:cNvSpPr/>
          <p:nvPr/>
        </p:nvSpPr>
        <p:spPr>
          <a:xfrm>
            <a:off x="457200" y="2286000"/>
            <a:ext cx="2514600" cy="731520"/>
          </a:xfrm>
          <a:prstGeom prst="rect">
            <a:avLst/>
          </a:prstGeom>
          <a:noFill/>
          <a:ln/>
        </p:spPr>
        <p:txBody>
          <a:bodyPr wrap="square" rtlCol="0" anchor="ctr"/>
          <a:lstStyle/>
          <a:p>
            <a:pPr algn="ctr" indent="0" marL="0">
              <a:buNone/>
            </a:pPr>
            <a:r>
              <a:rPr lang="en-US" sz="1500" b="1" dirty="0">
                <a:solidFill>
                  <a:srgbClr val="E8459E"/>
                </a:solidFill>
                <a:latin typeface="Arial" pitchFamily="34" charset="0"/>
                <a:ea typeface="Arial" pitchFamily="34" charset="-122"/>
                <a:cs typeface="Arial" pitchFamily="34" charset="-120"/>
              </a:rPr>
              <a:t>AI Risk</a:t>
            </a:r>
            <a:endParaRPr lang="en-US" sz="1500" dirty="0"/>
          </a:p>
          <a:p>
            <a:pPr algn="ctr" indent="0" marL="0">
              <a:buNone/>
            </a:pPr>
            <a:r>
              <a:rPr lang="en-US" sz="1500" b="1" dirty="0">
                <a:solidFill>
                  <a:srgbClr val="E8459E"/>
                </a:solidFill>
                <a:latin typeface="Arial" pitchFamily="34" charset="0"/>
                <a:ea typeface="Arial" pitchFamily="34" charset="-122"/>
                <a:cs typeface="Arial" pitchFamily="34" charset="-120"/>
              </a:rPr>
              <a:t>Screening</a:t>
            </a:r>
            <a:endParaRPr lang="en-US" sz="1500" dirty="0"/>
          </a:p>
        </p:txBody>
      </p:sp>
      <p:sp>
        <p:nvSpPr>
          <p:cNvPr id="8" name="Shape 6"/>
          <p:cNvSpPr/>
          <p:nvPr/>
        </p:nvSpPr>
        <p:spPr>
          <a:xfrm>
            <a:off x="822960" y="3063240"/>
            <a:ext cx="1783080" cy="27432"/>
          </a:xfrm>
          <a:prstGeom prst="rect">
            <a:avLst/>
          </a:prstGeom>
          <a:solidFill>
            <a:srgbClr val="E8459E"/>
          </a:solidFill>
          <a:ln/>
        </p:spPr>
      </p:sp>
      <p:sp>
        <p:nvSpPr>
          <p:cNvPr id="9" name="Text 7"/>
          <p:cNvSpPr/>
          <p:nvPr/>
        </p:nvSpPr>
        <p:spPr>
          <a:xfrm>
            <a:off x="502920" y="3200400"/>
            <a:ext cx="2423160" cy="1737360"/>
          </a:xfrm>
          <a:prstGeom prst="rect">
            <a:avLst/>
          </a:prstGeom>
          <a:noFill/>
          <a:ln/>
        </p:spPr>
        <p:txBody>
          <a:bodyPr wrap="square" rtlCol="0" anchor="ctr"/>
          <a:lstStyle/>
          <a:p>
            <a:pPr algn="ctr" indent="0" marL="0">
              <a:lnSpc>
                <a:spcPct val="130000"/>
              </a:lnSpc>
              <a:buNone/>
            </a:pPr>
            <a:r>
              <a:rPr lang="en-US" sz="1100" dirty="0">
                <a:solidFill>
                  <a:srgbClr val="8B949E"/>
                </a:solidFill>
                <a:latin typeface="Arial" pitchFamily="34" charset="0"/>
                <a:ea typeface="Arial" pitchFamily="34" charset="-122"/>
                <a:cs typeface="Arial" pitchFamily="34" charset="-120"/>
              </a:rPr>
              <a:t>Predictive model cross-references social determinants — housing, employment, prior complications, family support — to identify high-risk pregnancies before crisis</a:t>
            </a:r>
            <a:endParaRPr lang="en-US" sz="1100" dirty="0"/>
          </a:p>
        </p:txBody>
      </p:sp>
      <p:sp>
        <p:nvSpPr>
          <p:cNvPr id="10" name="Shape 8"/>
          <p:cNvSpPr/>
          <p:nvPr/>
        </p:nvSpPr>
        <p:spPr>
          <a:xfrm>
            <a:off x="3246120" y="2194560"/>
            <a:ext cx="2697480" cy="2926080"/>
          </a:xfrm>
          <a:prstGeom prst="roundRect">
            <a:avLst>
              <a:gd name="adj" fmla="val 3390"/>
            </a:avLst>
          </a:prstGeom>
          <a:solidFill>
            <a:srgbClr val="161B22"/>
          </a:solidFill>
          <a:ln w="19050">
            <a:solidFill>
              <a:srgbClr val="8B5CF6"/>
            </a:solidFill>
            <a:prstDash val="solid"/>
          </a:ln>
        </p:spPr>
      </p:sp>
      <p:sp>
        <p:nvSpPr>
          <p:cNvPr id="11" name="Text 9"/>
          <p:cNvSpPr/>
          <p:nvPr/>
        </p:nvSpPr>
        <p:spPr>
          <a:xfrm>
            <a:off x="3337560" y="2286000"/>
            <a:ext cx="2514600" cy="731520"/>
          </a:xfrm>
          <a:prstGeom prst="rect">
            <a:avLst/>
          </a:prstGeom>
          <a:noFill/>
          <a:ln/>
        </p:spPr>
        <p:txBody>
          <a:bodyPr wrap="square" rtlCol="0" anchor="ctr"/>
          <a:lstStyle/>
          <a:p>
            <a:pPr algn="ctr" indent="0" marL="0">
              <a:buNone/>
            </a:pPr>
            <a:r>
              <a:rPr lang="en-US" sz="1500" b="1" dirty="0">
                <a:solidFill>
                  <a:srgbClr val="8B5CF6"/>
                </a:solidFill>
                <a:latin typeface="Arial" pitchFamily="34" charset="0"/>
                <a:ea typeface="Arial" pitchFamily="34" charset="-122"/>
                <a:cs typeface="Arial" pitchFamily="34" charset="-120"/>
              </a:rPr>
              <a:t>Culturally</a:t>
            </a:r>
            <a:endParaRPr lang="en-US" sz="1500" dirty="0"/>
          </a:p>
          <a:p>
            <a:pPr algn="ctr" indent="0" marL="0">
              <a:buNone/>
            </a:pPr>
            <a:r>
              <a:rPr lang="en-US" sz="1500" b="1" dirty="0">
                <a:solidFill>
                  <a:srgbClr val="8B5CF6"/>
                </a:solidFill>
                <a:latin typeface="Arial" pitchFamily="34" charset="0"/>
                <a:ea typeface="Arial" pitchFamily="34" charset="-122"/>
                <a:cs typeface="Arial" pitchFamily="34" charset="-120"/>
              </a:rPr>
              <a:t>Responsive Care</a:t>
            </a:r>
            <a:endParaRPr lang="en-US" sz="1500" dirty="0"/>
          </a:p>
        </p:txBody>
      </p:sp>
      <p:sp>
        <p:nvSpPr>
          <p:cNvPr id="12" name="Shape 10"/>
          <p:cNvSpPr/>
          <p:nvPr/>
        </p:nvSpPr>
        <p:spPr>
          <a:xfrm>
            <a:off x="3703320" y="3063240"/>
            <a:ext cx="1783080" cy="27432"/>
          </a:xfrm>
          <a:prstGeom prst="rect">
            <a:avLst/>
          </a:prstGeom>
          <a:solidFill>
            <a:srgbClr val="8B5CF6"/>
          </a:solidFill>
          <a:ln/>
        </p:spPr>
      </p:sp>
      <p:sp>
        <p:nvSpPr>
          <p:cNvPr id="13" name="Text 11"/>
          <p:cNvSpPr/>
          <p:nvPr/>
        </p:nvSpPr>
        <p:spPr>
          <a:xfrm>
            <a:off x="3383280" y="3200400"/>
            <a:ext cx="2423160" cy="1737360"/>
          </a:xfrm>
          <a:prstGeom prst="rect">
            <a:avLst/>
          </a:prstGeom>
          <a:noFill/>
          <a:ln/>
        </p:spPr>
        <p:txBody>
          <a:bodyPr wrap="square" rtlCol="0" anchor="ctr"/>
          <a:lstStyle/>
          <a:p>
            <a:pPr algn="ctr" indent="0" marL="0">
              <a:lnSpc>
                <a:spcPct val="130000"/>
              </a:lnSpc>
              <a:buNone/>
            </a:pPr>
            <a:r>
              <a:rPr lang="en-US" sz="1100" dirty="0">
                <a:solidFill>
                  <a:srgbClr val="8B949E"/>
                </a:solidFill>
                <a:latin typeface="Arial" pitchFamily="34" charset="0"/>
                <a:ea typeface="Arial" pitchFamily="34" charset="-122"/>
                <a:cs typeface="Arial" pitchFamily="34" charset="-120"/>
              </a:rPr>
              <a:t>Matched to providers and doulas who share lived experience. Not just clinical competence — cultural trust.</a:t>
            </a:r>
            <a:endParaRPr lang="en-US" sz="1100" dirty="0"/>
          </a:p>
        </p:txBody>
      </p:sp>
      <p:sp>
        <p:nvSpPr>
          <p:cNvPr id="14" name="Shape 12"/>
          <p:cNvSpPr/>
          <p:nvPr/>
        </p:nvSpPr>
        <p:spPr>
          <a:xfrm>
            <a:off x="6126480" y="2194560"/>
            <a:ext cx="2697480" cy="2926080"/>
          </a:xfrm>
          <a:prstGeom prst="roundRect">
            <a:avLst>
              <a:gd name="adj" fmla="val 3390"/>
            </a:avLst>
          </a:prstGeom>
          <a:solidFill>
            <a:srgbClr val="161B22"/>
          </a:solidFill>
          <a:ln w="19050">
            <a:solidFill>
              <a:srgbClr val="00C9A7"/>
            </a:solidFill>
            <a:prstDash val="solid"/>
          </a:ln>
        </p:spPr>
      </p:sp>
      <p:sp>
        <p:nvSpPr>
          <p:cNvPr id="15" name="Text 13"/>
          <p:cNvSpPr/>
          <p:nvPr/>
        </p:nvSpPr>
        <p:spPr>
          <a:xfrm>
            <a:off x="6217920" y="2286000"/>
            <a:ext cx="2514600" cy="731520"/>
          </a:xfrm>
          <a:prstGeom prst="rect">
            <a:avLst/>
          </a:prstGeom>
          <a:noFill/>
          <a:ln/>
        </p:spPr>
        <p:txBody>
          <a:bodyPr wrap="square" rtlCol="0" anchor="ctr"/>
          <a:lstStyle/>
          <a:p>
            <a:pPr algn="ctr" indent="0" marL="0">
              <a:buNone/>
            </a:pPr>
            <a:r>
              <a:rPr lang="en-US" sz="1500" b="1" dirty="0">
                <a:solidFill>
                  <a:srgbClr val="00C9A7"/>
                </a:solidFill>
                <a:latin typeface="Arial" pitchFamily="34" charset="0"/>
                <a:ea typeface="Arial" pitchFamily="34" charset="-122"/>
                <a:cs typeface="Arial" pitchFamily="34" charset="-120"/>
              </a:rPr>
              <a:t>Connected</a:t>
            </a:r>
            <a:endParaRPr lang="en-US" sz="1500" dirty="0"/>
          </a:p>
          <a:p>
            <a:pPr algn="ctr" indent="0" marL="0">
              <a:buNone/>
            </a:pPr>
            <a:r>
              <a:rPr lang="en-US" sz="1500" b="1" dirty="0">
                <a:solidFill>
                  <a:srgbClr val="00C9A7"/>
                </a:solidFill>
                <a:latin typeface="Arial" pitchFamily="34" charset="0"/>
                <a:ea typeface="Arial" pitchFamily="34" charset="-122"/>
                <a:cs typeface="Arial" pitchFamily="34" charset="-120"/>
              </a:rPr>
              <a:t>Ecosystem</a:t>
            </a:r>
            <a:endParaRPr lang="en-US" sz="1500" dirty="0"/>
          </a:p>
        </p:txBody>
      </p:sp>
      <p:sp>
        <p:nvSpPr>
          <p:cNvPr id="16" name="Shape 14"/>
          <p:cNvSpPr/>
          <p:nvPr/>
        </p:nvSpPr>
        <p:spPr>
          <a:xfrm>
            <a:off x="6583680" y="3063240"/>
            <a:ext cx="1783080" cy="27432"/>
          </a:xfrm>
          <a:prstGeom prst="rect">
            <a:avLst/>
          </a:prstGeom>
          <a:solidFill>
            <a:srgbClr val="00C9A7"/>
          </a:solidFill>
          <a:ln/>
        </p:spPr>
      </p:sp>
      <p:sp>
        <p:nvSpPr>
          <p:cNvPr id="17" name="Text 15"/>
          <p:cNvSpPr/>
          <p:nvPr/>
        </p:nvSpPr>
        <p:spPr>
          <a:xfrm>
            <a:off x="6263640" y="3200400"/>
            <a:ext cx="2423160" cy="1737360"/>
          </a:xfrm>
          <a:prstGeom prst="rect">
            <a:avLst/>
          </a:prstGeom>
          <a:noFill/>
          <a:ln/>
        </p:spPr>
        <p:txBody>
          <a:bodyPr wrap="square" rtlCol="0" anchor="ctr"/>
          <a:lstStyle/>
          <a:p>
            <a:pPr algn="ctr" indent="0" marL="0">
              <a:lnSpc>
                <a:spcPct val="130000"/>
              </a:lnSpc>
              <a:buNone/>
            </a:pPr>
            <a:r>
              <a:rPr lang="en-US" sz="1100" dirty="0">
                <a:solidFill>
                  <a:srgbClr val="8B949E"/>
                </a:solidFill>
                <a:latin typeface="Arial" pitchFamily="34" charset="0"/>
                <a:ea typeface="Arial" pitchFamily="34" charset="-122"/>
                <a:cs typeface="Arial" pitchFamily="34" charset="-120"/>
              </a:rPr>
              <a:t>If she loses her job, workforce platform flags it. If housing is unstable, community navigation activates. Her whole care team sees the whole picture.</a:t>
            </a:r>
            <a:endParaRPr lang="en-US" sz="1100" dirty="0"/>
          </a:p>
        </p:txBody>
      </p:sp>
      <p:sp>
        <p:nvSpPr>
          <p:cNvPr id="18" name="Shape 16"/>
          <p:cNvSpPr/>
          <p:nvPr/>
        </p:nvSpPr>
        <p:spPr>
          <a:xfrm>
            <a:off x="9006840" y="2194560"/>
            <a:ext cx="2697480" cy="2926080"/>
          </a:xfrm>
          <a:prstGeom prst="roundRect">
            <a:avLst>
              <a:gd name="adj" fmla="val 3390"/>
            </a:avLst>
          </a:prstGeom>
          <a:solidFill>
            <a:srgbClr val="161B22"/>
          </a:solidFill>
          <a:ln w="19050">
            <a:solidFill>
              <a:srgbClr val="F0B429"/>
            </a:solidFill>
            <a:prstDash val="solid"/>
          </a:ln>
        </p:spPr>
      </p:sp>
      <p:sp>
        <p:nvSpPr>
          <p:cNvPr id="19" name="Text 17"/>
          <p:cNvSpPr/>
          <p:nvPr/>
        </p:nvSpPr>
        <p:spPr>
          <a:xfrm>
            <a:off x="9098280" y="2286000"/>
            <a:ext cx="2514600" cy="731520"/>
          </a:xfrm>
          <a:prstGeom prst="rect">
            <a:avLst/>
          </a:prstGeom>
          <a:noFill/>
          <a:ln/>
        </p:spPr>
        <p:txBody>
          <a:bodyPr wrap="square" rtlCol="0" anchor="ctr"/>
          <a:lstStyle/>
          <a:p>
            <a:pPr algn="ctr" indent="0" marL="0">
              <a:buNone/>
            </a:pPr>
            <a:r>
              <a:rPr lang="en-US" sz="1500" b="1" dirty="0">
                <a:solidFill>
                  <a:srgbClr val="F0B429"/>
                </a:solidFill>
                <a:latin typeface="Arial" pitchFamily="34" charset="0"/>
                <a:ea typeface="Arial" pitchFamily="34" charset="-122"/>
                <a:cs typeface="Arial" pitchFamily="34" charset="-120"/>
              </a:rPr>
              <a:t>Postpartum</a:t>
            </a:r>
            <a:endParaRPr lang="en-US" sz="1500" dirty="0"/>
          </a:p>
          <a:p>
            <a:pPr algn="ctr" indent="0" marL="0">
              <a:buNone/>
            </a:pPr>
            <a:r>
              <a:rPr lang="en-US" sz="1500" b="1" dirty="0">
                <a:solidFill>
                  <a:srgbClr val="F0B429"/>
                </a:solidFill>
                <a:latin typeface="Arial" pitchFamily="34" charset="0"/>
                <a:ea typeface="Arial" pitchFamily="34" charset="-122"/>
                <a:cs typeface="Arial" pitchFamily="34" charset="-120"/>
              </a:rPr>
              <a:t>Continuity</a:t>
            </a:r>
            <a:endParaRPr lang="en-US" sz="1500" dirty="0"/>
          </a:p>
        </p:txBody>
      </p:sp>
      <p:sp>
        <p:nvSpPr>
          <p:cNvPr id="20" name="Shape 18"/>
          <p:cNvSpPr/>
          <p:nvPr/>
        </p:nvSpPr>
        <p:spPr>
          <a:xfrm>
            <a:off x="9464040" y="3063240"/>
            <a:ext cx="1783080" cy="27432"/>
          </a:xfrm>
          <a:prstGeom prst="rect">
            <a:avLst/>
          </a:prstGeom>
          <a:solidFill>
            <a:srgbClr val="F0B429"/>
          </a:solidFill>
          <a:ln/>
        </p:spPr>
      </p:sp>
      <p:sp>
        <p:nvSpPr>
          <p:cNvPr id="21" name="Text 19"/>
          <p:cNvSpPr/>
          <p:nvPr/>
        </p:nvSpPr>
        <p:spPr>
          <a:xfrm>
            <a:off x="9144000" y="3200400"/>
            <a:ext cx="2423160" cy="1737360"/>
          </a:xfrm>
          <a:prstGeom prst="rect">
            <a:avLst/>
          </a:prstGeom>
          <a:noFill/>
          <a:ln/>
        </p:spPr>
        <p:txBody>
          <a:bodyPr wrap="square" rtlCol="0" anchor="ctr"/>
          <a:lstStyle/>
          <a:p>
            <a:pPr algn="ctr" indent="0" marL="0">
              <a:lnSpc>
                <a:spcPct val="130000"/>
              </a:lnSpc>
              <a:buNone/>
            </a:pPr>
            <a:r>
              <a:rPr lang="en-US" sz="1100" dirty="0">
                <a:solidFill>
                  <a:srgbClr val="8B949E"/>
                </a:solidFill>
                <a:latin typeface="Arial" pitchFamily="34" charset="0"/>
                <a:ea typeface="Arial" pitchFamily="34" charset="-122"/>
                <a:cs typeface="Arial" pitchFamily="34" charset="-120"/>
              </a:rPr>
              <a:t>12 months of monitoring — not just 6 weeks. Mental health, nutrition, infant development, and career reentry all connected through one system.</a:t>
            </a:r>
            <a:endParaRPr lang="en-US" sz="1100" dirty="0"/>
          </a:p>
        </p:txBody>
      </p:sp>
      <p:sp>
        <p:nvSpPr>
          <p:cNvPr id="22" name="Shape 20"/>
          <p:cNvSpPr/>
          <p:nvPr/>
        </p:nvSpPr>
        <p:spPr>
          <a:xfrm>
            <a:off x="1828800" y="5486400"/>
            <a:ext cx="8503920" cy="1005840"/>
          </a:xfrm>
          <a:prstGeom prst="roundRect">
            <a:avLst>
              <a:gd name="adj" fmla="val 10909"/>
            </a:avLst>
          </a:prstGeom>
          <a:solidFill>
            <a:srgbClr val="2D0A1E"/>
          </a:solidFill>
          <a:ln w="25400">
            <a:solidFill>
              <a:srgbClr val="E8459E"/>
            </a:solidFill>
            <a:prstDash val="solid"/>
          </a:ln>
        </p:spPr>
      </p:sp>
      <p:sp>
        <p:nvSpPr>
          <p:cNvPr id="23" name="Text 21"/>
          <p:cNvSpPr/>
          <p:nvPr/>
        </p:nvSpPr>
        <p:spPr>
          <a:xfrm>
            <a:off x="1828800" y="5486400"/>
            <a:ext cx="8503920" cy="1005840"/>
          </a:xfrm>
          <a:prstGeom prst="rect">
            <a:avLst/>
          </a:prstGeom>
          <a:noFill/>
          <a:ln/>
        </p:spPr>
        <p:txBody>
          <a:bodyPr wrap="square" rtlCol="0" anchor="ctr"/>
          <a:lstStyle/>
          <a:p>
            <a:pPr algn="ctr" indent="0" marL="0">
              <a:lnSpc>
                <a:spcPct val="130000"/>
              </a:lnSpc>
              <a:buNone/>
            </a:pPr>
            <a:r>
              <a:rPr lang="en-US" sz="1600" b="1" dirty="0">
                <a:solidFill>
                  <a:srgbClr val="E8459E"/>
                </a:solidFill>
                <a:latin typeface="Arial" pitchFamily="34" charset="0"/>
                <a:ea typeface="Arial" pitchFamily="34" charset="-122"/>
                <a:cs typeface="Arial" pitchFamily="34" charset="-120"/>
              </a:rPr>
              <a:t>Black women are 3× more likely to die from pregnancy complications.</a:t>
            </a:r>
            <a:endParaRPr lang="en-US" sz="1600" dirty="0"/>
          </a:p>
          <a:p>
            <a:pPr algn="ctr" indent="0" marL="0">
              <a:lnSpc>
                <a:spcPct val="130000"/>
              </a:lnSpc>
              <a:buNone/>
            </a:pPr>
            <a:r>
              <a:rPr lang="en-US" sz="1600" b="1" dirty="0">
                <a:solidFill>
                  <a:srgbClr val="E8459E"/>
                </a:solidFill>
                <a:latin typeface="Arial" pitchFamily="34" charset="0"/>
                <a:ea typeface="Arial" pitchFamily="34" charset="-122"/>
                <a:cs typeface="Arial" pitchFamily="34" charset="-120"/>
              </a:rPr>
              <a:t>Not because medicine can't help — because systems aren't connected.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CF6"/>
          </a:solidFill>
          <a:ln/>
        </p:spPr>
      </p:sp>
      <p:sp>
        <p:nvSpPr>
          <p:cNvPr id="3" name="Text 1"/>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8B5CF6"/>
                </a:solidFill>
                <a:latin typeface="Arial" pitchFamily="34" charset="0"/>
                <a:ea typeface="Arial" pitchFamily="34" charset="-122"/>
                <a:cs typeface="Arial" pitchFamily="34" charset="-120"/>
              </a:rPr>
              <a:t>Platform Spotlight</a:t>
            </a:r>
            <a:endParaRPr lang="en-US" sz="1300" dirty="0"/>
          </a:p>
        </p:txBody>
      </p:sp>
      <p:sp>
        <p:nvSpPr>
          <p:cNvPr id="4" name="Text 2"/>
          <p:cNvSpPr/>
          <p:nvPr/>
        </p:nvSpPr>
        <p:spPr>
          <a:xfrm>
            <a:off x="731520" y="822960"/>
            <a:ext cx="1069848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Sankofa Health Network</a:t>
            </a:r>
            <a:endParaRPr lang="en-US" sz="3600" dirty="0"/>
          </a:p>
        </p:txBody>
      </p:sp>
      <p:sp>
        <p:nvSpPr>
          <p:cNvPr id="5" name="Text 3"/>
          <p:cNvSpPr/>
          <p:nvPr/>
        </p:nvSpPr>
        <p:spPr>
          <a:xfrm>
            <a:off x="731520" y="1463040"/>
            <a:ext cx="10698480" cy="457200"/>
          </a:xfrm>
          <a:prstGeom prst="rect">
            <a:avLst/>
          </a:prstGeom>
          <a:noFill/>
          <a:ln/>
        </p:spPr>
        <p:txBody>
          <a:bodyPr wrap="square" rtlCol="0" anchor="ctr"/>
          <a:lstStyle/>
          <a:p>
            <a:pPr indent="0" marL="0">
              <a:buNone/>
            </a:pPr>
            <a:r>
              <a:rPr lang="en-US" sz="1600" dirty="0">
                <a:solidFill>
                  <a:srgbClr val="8B5CF6"/>
                </a:solidFill>
                <a:latin typeface="Arial" pitchFamily="34" charset="0"/>
                <a:ea typeface="Arial" pitchFamily="34" charset="-122"/>
                <a:cs typeface="Arial" pitchFamily="34" charset="-120"/>
              </a:rPr>
              <a:t>Health Equity — Because Early Detection Shouldn't Depend on Your Zip Code</a:t>
            </a:r>
            <a:endParaRPr lang="en-US" sz="1600" dirty="0"/>
          </a:p>
        </p:txBody>
      </p:sp>
      <p:sp>
        <p:nvSpPr>
          <p:cNvPr id="6" name="Shape 4"/>
          <p:cNvSpPr/>
          <p:nvPr/>
        </p:nvSpPr>
        <p:spPr>
          <a:xfrm>
            <a:off x="365760" y="2194560"/>
            <a:ext cx="2697480" cy="2651760"/>
          </a:xfrm>
          <a:prstGeom prst="roundRect">
            <a:avLst>
              <a:gd name="adj" fmla="val 3448"/>
            </a:avLst>
          </a:prstGeom>
          <a:solidFill>
            <a:srgbClr val="161B22"/>
          </a:solidFill>
          <a:ln w="19050">
            <a:solidFill>
              <a:srgbClr val="E8459E"/>
            </a:solidFill>
            <a:prstDash val="solid"/>
          </a:ln>
        </p:spPr>
      </p:sp>
      <p:sp>
        <p:nvSpPr>
          <p:cNvPr id="7" name="Text 5"/>
          <p:cNvSpPr/>
          <p:nvPr/>
        </p:nvSpPr>
        <p:spPr>
          <a:xfrm>
            <a:off x="457200" y="2286000"/>
            <a:ext cx="2514600" cy="731520"/>
          </a:xfrm>
          <a:prstGeom prst="rect">
            <a:avLst/>
          </a:prstGeom>
          <a:noFill/>
          <a:ln/>
        </p:spPr>
        <p:txBody>
          <a:bodyPr wrap="square" rtlCol="0" anchor="ctr"/>
          <a:lstStyle/>
          <a:p>
            <a:pPr algn="ctr" indent="0" marL="0">
              <a:buNone/>
            </a:pPr>
            <a:r>
              <a:rPr lang="en-US" sz="1500" b="1" dirty="0">
                <a:solidFill>
                  <a:srgbClr val="E8459E"/>
                </a:solidFill>
                <a:latin typeface="Arial" pitchFamily="34" charset="0"/>
                <a:ea typeface="Arial" pitchFamily="34" charset="-122"/>
                <a:cs typeface="Arial" pitchFamily="34" charset="-120"/>
              </a:rPr>
              <a:t>Screening</a:t>
            </a:r>
            <a:endParaRPr lang="en-US" sz="1500" dirty="0"/>
          </a:p>
          <a:p>
            <a:pPr algn="ctr" indent="0" marL="0">
              <a:buNone/>
            </a:pPr>
            <a:r>
              <a:rPr lang="en-US" sz="1500" b="1" dirty="0">
                <a:solidFill>
                  <a:srgbClr val="E8459E"/>
                </a:solidFill>
                <a:latin typeface="Arial" pitchFamily="34" charset="0"/>
                <a:ea typeface="Arial" pitchFamily="34" charset="-122"/>
                <a:cs typeface="Arial" pitchFamily="34" charset="-120"/>
              </a:rPr>
              <a:t>Navigation</a:t>
            </a:r>
            <a:endParaRPr lang="en-US" sz="1500" dirty="0"/>
          </a:p>
        </p:txBody>
      </p:sp>
      <p:sp>
        <p:nvSpPr>
          <p:cNvPr id="8" name="Shape 6"/>
          <p:cNvSpPr/>
          <p:nvPr/>
        </p:nvSpPr>
        <p:spPr>
          <a:xfrm>
            <a:off x="822960" y="3063240"/>
            <a:ext cx="1783080" cy="27432"/>
          </a:xfrm>
          <a:prstGeom prst="rect">
            <a:avLst/>
          </a:prstGeom>
          <a:solidFill>
            <a:srgbClr val="E8459E"/>
          </a:solidFill>
          <a:ln/>
        </p:spPr>
      </p:sp>
      <p:sp>
        <p:nvSpPr>
          <p:cNvPr id="9" name="Text 7"/>
          <p:cNvSpPr/>
          <p:nvPr/>
        </p:nvSpPr>
        <p:spPr>
          <a:xfrm>
            <a:off x="502920" y="3200400"/>
            <a:ext cx="2423160" cy="1463040"/>
          </a:xfrm>
          <a:prstGeom prst="rect">
            <a:avLst/>
          </a:prstGeom>
          <a:noFill/>
          <a:ln/>
        </p:spPr>
        <p:txBody>
          <a:bodyPr wrap="square" rtlCol="0" anchor="ctr"/>
          <a:lstStyle/>
          <a:p>
            <a:pPr algn="ctr" indent="0" marL="0">
              <a:lnSpc>
                <a:spcPct val="130000"/>
              </a:lnSpc>
              <a:buNone/>
            </a:pPr>
            <a:r>
              <a:rPr lang="en-US" sz="1100" dirty="0">
                <a:solidFill>
                  <a:srgbClr val="8B949E"/>
                </a:solidFill>
                <a:latin typeface="Arial" pitchFamily="34" charset="0"/>
                <a:ea typeface="Arial" pitchFamily="34" charset="-122"/>
                <a:cs typeface="Arial" pitchFamily="34" charset="-120"/>
              </a:rPr>
              <a:t>Connects underserved women to mammography. Removes transportation, insurance, and awareness barriers to early detection.</a:t>
            </a:r>
            <a:endParaRPr lang="en-US" sz="1100" dirty="0"/>
          </a:p>
        </p:txBody>
      </p:sp>
      <p:sp>
        <p:nvSpPr>
          <p:cNvPr id="10" name="Shape 8"/>
          <p:cNvSpPr/>
          <p:nvPr/>
        </p:nvSpPr>
        <p:spPr>
          <a:xfrm>
            <a:off x="3246120" y="2194560"/>
            <a:ext cx="2697480" cy="2651760"/>
          </a:xfrm>
          <a:prstGeom prst="roundRect">
            <a:avLst>
              <a:gd name="adj" fmla="val 3448"/>
            </a:avLst>
          </a:prstGeom>
          <a:solidFill>
            <a:srgbClr val="161B22"/>
          </a:solidFill>
          <a:ln w="19050">
            <a:solidFill>
              <a:srgbClr val="8B5CF6"/>
            </a:solidFill>
            <a:prstDash val="solid"/>
          </a:ln>
        </p:spPr>
      </p:sp>
      <p:sp>
        <p:nvSpPr>
          <p:cNvPr id="11" name="Text 9"/>
          <p:cNvSpPr/>
          <p:nvPr/>
        </p:nvSpPr>
        <p:spPr>
          <a:xfrm>
            <a:off x="3337560" y="2286000"/>
            <a:ext cx="2514600" cy="731520"/>
          </a:xfrm>
          <a:prstGeom prst="rect">
            <a:avLst/>
          </a:prstGeom>
          <a:noFill/>
          <a:ln/>
        </p:spPr>
        <p:txBody>
          <a:bodyPr wrap="square" rtlCol="0" anchor="ctr"/>
          <a:lstStyle/>
          <a:p>
            <a:pPr algn="ctr" indent="0" marL="0">
              <a:buNone/>
            </a:pPr>
            <a:r>
              <a:rPr lang="en-US" sz="1500" b="1" dirty="0">
                <a:solidFill>
                  <a:srgbClr val="8B5CF6"/>
                </a:solidFill>
                <a:latin typeface="Arial" pitchFamily="34" charset="0"/>
                <a:ea typeface="Arial" pitchFamily="34" charset="-122"/>
                <a:cs typeface="Arial" pitchFamily="34" charset="-120"/>
              </a:rPr>
              <a:t>Genetic</a:t>
            </a:r>
            <a:endParaRPr lang="en-US" sz="1500" dirty="0"/>
          </a:p>
          <a:p>
            <a:pPr algn="ctr" indent="0" marL="0">
              <a:buNone/>
            </a:pPr>
            <a:r>
              <a:rPr lang="en-US" sz="1500" b="1" dirty="0">
                <a:solidFill>
                  <a:srgbClr val="8B5CF6"/>
                </a:solidFill>
                <a:latin typeface="Arial" pitchFamily="34" charset="0"/>
                <a:ea typeface="Arial" pitchFamily="34" charset="-122"/>
                <a:cs typeface="Arial" pitchFamily="34" charset="-120"/>
              </a:rPr>
              <a:t>Counseling</a:t>
            </a:r>
            <a:endParaRPr lang="en-US" sz="1500" dirty="0"/>
          </a:p>
        </p:txBody>
      </p:sp>
      <p:sp>
        <p:nvSpPr>
          <p:cNvPr id="12" name="Shape 10"/>
          <p:cNvSpPr/>
          <p:nvPr/>
        </p:nvSpPr>
        <p:spPr>
          <a:xfrm>
            <a:off x="3703320" y="3063240"/>
            <a:ext cx="1783080" cy="27432"/>
          </a:xfrm>
          <a:prstGeom prst="rect">
            <a:avLst/>
          </a:prstGeom>
          <a:solidFill>
            <a:srgbClr val="8B5CF6"/>
          </a:solidFill>
          <a:ln/>
        </p:spPr>
      </p:sp>
      <p:sp>
        <p:nvSpPr>
          <p:cNvPr id="13" name="Text 11"/>
          <p:cNvSpPr/>
          <p:nvPr/>
        </p:nvSpPr>
        <p:spPr>
          <a:xfrm>
            <a:off x="3383280" y="3200400"/>
            <a:ext cx="2423160" cy="1463040"/>
          </a:xfrm>
          <a:prstGeom prst="rect">
            <a:avLst/>
          </a:prstGeom>
          <a:noFill/>
          <a:ln/>
        </p:spPr>
        <p:txBody>
          <a:bodyPr wrap="square" rtlCol="0" anchor="ctr"/>
          <a:lstStyle/>
          <a:p>
            <a:pPr algn="ctr" indent="0" marL="0">
              <a:lnSpc>
                <a:spcPct val="130000"/>
              </a:lnSpc>
              <a:buNone/>
            </a:pPr>
            <a:r>
              <a:rPr lang="en-US" sz="1100" dirty="0">
                <a:solidFill>
                  <a:srgbClr val="8B949E"/>
                </a:solidFill>
                <a:latin typeface="Arial" pitchFamily="34" charset="0"/>
                <a:ea typeface="Arial" pitchFamily="34" charset="-122"/>
                <a:cs typeface="Arial" pitchFamily="34" charset="-120"/>
              </a:rPr>
              <a:t>BRCA testing access and risk assessment. Many women in underserved communities don't know genetic testing exists — Sankofa changes that.</a:t>
            </a:r>
            <a:endParaRPr lang="en-US" sz="1100" dirty="0"/>
          </a:p>
        </p:txBody>
      </p:sp>
      <p:sp>
        <p:nvSpPr>
          <p:cNvPr id="14" name="Shape 12"/>
          <p:cNvSpPr/>
          <p:nvPr/>
        </p:nvSpPr>
        <p:spPr>
          <a:xfrm>
            <a:off x="6126480" y="2194560"/>
            <a:ext cx="2697480" cy="2651760"/>
          </a:xfrm>
          <a:prstGeom prst="roundRect">
            <a:avLst>
              <a:gd name="adj" fmla="val 3448"/>
            </a:avLst>
          </a:prstGeom>
          <a:solidFill>
            <a:srgbClr val="161B22"/>
          </a:solidFill>
          <a:ln w="19050">
            <a:solidFill>
              <a:srgbClr val="00C9A7"/>
            </a:solidFill>
            <a:prstDash val="solid"/>
          </a:ln>
        </p:spPr>
      </p:sp>
      <p:sp>
        <p:nvSpPr>
          <p:cNvPr id="15" name="Text 13"/>
          <p:cNvSpPr/>
          <p:nvPr/>
        </p:nvSpPr>
        <p:spPr>
          <a:xfrm>
            <a:off x="6217920" y="2286000"/>
            <a:ext cx="2514600" cy="731520"/>
          </a:xfrm>
          <a:prstGeom prst="rect">
            <a:avLst/>
          </a:prstGeom>
          <a:noFill/>
          <a:ln/>
        </p:spPr>
        <p:txBody>
          <a:bodyPr wrap="square" rtlCol="0" anchor="ctr"/>
          <a:lstStyle/>
          <a:p>
            <a:pPr algn="ctr" indent="0" marL="0">
              <a:buNone/>
            </a:pPr>
            <a:r>
              <a:rPr lang="en-US" sz="1500" b="1" dirty="0">
                <a:solidFill>
                  <a:srgbClr val="00C9A7"/>
                </a:solidFill>
                <a:latin typeface="Arial" pitchFamily="34" charset="0"/>
                <a:ea typeface="Arial" pitchFamily="34" charset="-122"/>
                <a:cs typeface="Arial" pitchFamily="34" charset="-120"/>
              </a:rPr>
              <a:t>Survivor</a:t>
            </a:r>
            <a:endParaRPr lang="en-US" sz="1500" dirty="0"/>
          </a:p>
          <a:p>
            <a:pPr algn="ctr" indent="0" marL="0">
              <a:buNone/>
            </a:pPr>
            <a:r>
              <a:rPr lang="en-US" sz="1500" b="1" dirty="0">
                <a:solidFill>
                  <a:srgbClr val="00C9A7"/>
                </a:solidFill>
                <a:latin typeface="Arial" pitchFamily="34" charset="0"/>
                <a:ea typeface="Arial" pitchFamily="34" charset="-122"/>
                <a:cs typeface="Arial" pitchFamily="34" charset="-120"/>
              </a:rPr>
              <a:t>Networks</a:t>
            </a:r>
            <a:endParaRPr lang="en-US" sz="1500" dirty="0"/>
          </a:p>
        </p:txBody>
      </p:sp>
      <p:sp>
        <p:nvSpPr>
          <p:cNvPr id="16" name="Shape 14"/>
          <p:cNvSpPr/>
          <p:nvPr/>
        </p:nvSpPr>
        <p:spPr>
          <a:xfrm>
            <a:off x="6583680" y="3063240"/>
            <a:ext cx="1783080" cy="27432"/>
          </a:xfrm>
          <a:prstGeom prst="rect">
            <a:avLst/>
          </a:prstGeom>
          <a:solidFill>
            <a:srgbClr val="00C9A7"/>
          </a:solidFill>
          <a:ln/>
        </p:spPr>
      </p:sp>
      <p:sp>
        <p:nvSpPr>
          <p:cNvPr id="17" name="Text 15"/>
          <p:cNvSpPr/>
          <p:nvPr/>
        </p:nvSpPr>
        <p:spPr>
          <a:xfrm>
            <a:off x="6263640" y="3200400"/>
            <a:ext cx="2423160" cy="1463040"/>
          </a:xfrm>
          <a:prstGeom prst="rect">
            <a:avLst/>
          </a:prstGeom>
          <a:noFill/>
          <a:ln/>
        </p:spPr>
        <p:txBody>
          <a:bodyPr wrap="square" rtlCol="0" anchor="ctr"/>
          <a:lstStyle/>
          <a:p>
            <a:pPr algn="ctr" indent="0" marL="0">
              <a:lnSpc>
                <a:spcPct val="130000"/>
              </a:lnSpc>
              <a:buNone/>
            </a:pPr>
            <a:r>
              <a:rPr lang="en-US" sz="1100" dirty="0">
                <a:solidFill>
                  <a:srgbClr val="8B949E"/>
                </a:solidFill>
                <a:latin typeface="Arial" pitchFamily="34" charset="0"/>
                <a:ea typeface="Arial" pitchFamily="34" charset="-122"/>
                <a:cs typeface="Arial" pitchFamily="34" charset="-120"/>
              </a:rPr>
              <a:t>Peer mentorship, treatment navigation, survivor support groups. Connected to behavioral health and workforce platforms for holistic recovery.</a:t>
            </a:r>
            <a:endParaRPr lang="en-US" sz="1100" dirty="0"/>
          </a:p>
        </p:txBody>
      </p:sp>
      <p:sp>
        <p:nvSpPr>
          <p:cNvPr id="18" name="Shape 16"/>
          <p:cNvSpPr/>
          <p:nvPr/>
        </p:nvSpPr>
        <p:spPr>
          <a:xfrm>
            <a:off x="9006840" y="2194560"/>
            <a:ext cx="2697480" cy="2651760"/>
          </a:xfrm>
          <a:prstGeom prst="roundRect">
            <a:avLst>
              <a:gd name="adj" fmla="val 3448"/>
            </a:avLst>
          </a:prstGeom>
          <a:solidFill>
            <a:srgbClr val="161B22"/>
          </a:solidFill>
          <a:ln w="19050">
            <a:solidFill>
              <a:srgbClr val="F0B429"/>
            </a:solidFill>
            <a:prstDash val="solid"/>
          </a:ln>
        </p:spPr>
      </p:sp>
      <p:sp>
        <p:nvSpPr>
          <p:cNvPr id="19" name="Text 17"/>
          <p:cNvSpPr/>
          <p:nvPr/>
        </p:nvSpPr>
        <p:spPr>
          <a:xfrm>
            <a:off x="9098280" y="2286000"/>
            <a:ext cx="2514600" cy="731520"/>
          </a:xfrm>
          <a:prstGeom prst="rect">
            <a:avLst/>
          </a:prstGeom>
          <a:noFill/>
          <a:ln/>
        </p:spPr>
        <p:txBody>
          <a:bodyPr wrap="square" rtlCol="0" anchor="ctr"/>
          <a:lstStyle/>
          <a:p>
            <a:pPr algn="ctr" indent="0" marL="0">
              <a:buNone/>
            </a:pPr>
            <a:r>
              <a:rPr lang="en-US" sz="1500" b="1" dirty="0">
                <a:solidFill>
                  <a:srgbClr val="F0B429"/>
                </a:solidFill>
                <a:latin typeface="Arial" pitchFamily="34" charset="0"/>
                <a:ea typeface="Arial" pitchFamily="34" charset="-122"/>
                <a:cs typeface="Arial" pitchFamily="34" charset="-120"/>
              </a:rPr>
              <a:t>Chronic Disease</a:t>
            </a:r>
            <a:endParaRPr lang="en-US" sz="1500" dirty="0"/>
          </a:p>
          <a:p>
            <a:pPr algn="ctr" indent="0" marL="0">
              <a:buNone/>
            </a:pPr>
            <a:r>
              <a:rPr lang="en-US" sz="1500" b="1" dirty="0">
                <a:solidFill>
                  <a:srgbClr val="F0B429"/>
                </a:solidFill>
                <a:latin typeface="Arial" pitchFamily="34" charset="0"/>
                <a:ea typeface="Arial" pitchFamily="34" charset="-122"/>
                <a:cs typeface="Arial" pitchFamily="34" charset="-120"/>
              </a:rPr>
              <a:t>Equity</a:t>
            </a:r>
            <a:endParaRPr lang="en-US" sz="1500" dirty="0"/>
          </a:p>
        </p:txBody>
      </p:sp>
      <p:sp>
        <p:nvSpPr>
          <p:cNvPr id="20" name="Shape 18"/>
          <p:cNvSpPr/>
          <p:nvPr/>
        </p:nvSpPr>
        <p:spPr>
          <a:xfrm>
            <a:off x="9464040" y="3063240"/>
            <a:ext cx="1783080" cy="27432"/>
          </a:xfrm>
          <a:prstGeom prst="rect">
            <a:avLst/>
          </a:prstGeom>
          <a:solidFill>
            <a:srgbClr val="F0B429"/>
          </a:solidFill>
          <a:ln/>
        </p:spPr>
      </p:sp>
      <p:sp>
        <p:nvSpPr>
          <p:cNvPr id="21" name="Text 19"/>
          <p:cNvSpPr/>
          <p:nvPr/>
        </p:nvSpPr>
        <p:spPr>
          <a:xfrm>
            <a:off x="9144000" y="3200400"/>
            <a:ext cx="2423160" cy="1463040"/>
          </a:xfrm>
          <a:prstGeom prst="rect">
            <a:avLst/>
          </a:prstGeom>
          <a:noFill/>
          <a:ln/>
        </p:spPr>
        <p:txBody>
          <a:bodyPr wrap="square" rtlCol="0" anchor="ctr"/>
          <a:lstStyle/>
          <a:p>
            <a:pPr algn="ctr" indent="0" marL="0">
              <a:lnSpc>
                <a:spcPct val="130000"/>
              </a:lnSpc>
              <a:buNone/>
            </a:pPr>
            <a:r>
              <a:rPr lang="en-US" sz="1100" dirty="0">
                <a:solidFill>
                  <a:srgbClr val="8B949E"/>
                </a:solidFill>
                <a:latin typeface="Arial" pitchFamily="34" charset="0"/>
                <a:ea typeface="Arial" pitchFamily="34" charset="-122"/>
                <a:cs typeface="Arial" pitchFamily="34" charset="-120"/>
              </a:rPr>
              <a:t>Autoimmune, cardiovascular, diabetes. Same connected architecture — social determinants feed into clinical decision support.</a:t>
            </a:r>
            <a:endParaRPr lang="en-US" sz="1100" dirty="0"/>
          </a:p>
        </p:txBody>
      </p:sp>
      <p:sp>
        <p:nvSpPr>
          <p:cNvPr id="22" name="Shape 20"/>
          <p:cNvSpPr/>
          <p:nvPr/>
        </p:nvSpPr>
        <p:spPr>
          <a:xfrm>
            <a:off x="731520" y="5120640"/>
            <a:ext cx="10698480" cy="1371600"/>
          </a:xfrm>
          <a:prstGeom prst="roundRect">
            <a:avLst>
              <a:gd name="adj" fmla="val 6667"/>
            </a:avLst>
          </a:prstGeom>
          <a:solidFill>
            <a:srgbClr val="161B22"/>
          </a:solidFill>
          <a:ln w="19050">
            <a:solidFill>
              <a:srgbClr val="8B5CF6"/>
            </a:solidFill>
            <a:prstDash val="solid"/>
          </a:ln>
        </p:spPr>
      </p:sp>
      <p:sp>
        <p:nvSpPr>
          <p:cNvPr id="23" name="Text 21"/>
          <p:cNvSpPr/>
          <p:nvPr/>
        </p:nvSpPr>
        <p:spPr>
          <a:xfrm>
            <a:off x="914400" y="5166360"/>
            <a:ext cx="3657600" cy="365760"/>
          </a:xfrm>
          <a:prstGeom prst="rect">
            <a:avLst/>
          </a:prstGeom>
          <a:noFill/>
          <a:ln/>
        </p:spPr>
        <p:txBody>
          <a:bodyPr wrap="square" rtlCol="0" anchor="ctr"/>
          <a:lstStyle/>
          <a:p>
            <a:pPr indent="0" marL="0">
              <a:buNone/>
            </a:pPr>
            <a:r>
              <a:rPr lang="en-US" sz="1400" b="1" dirty="0">
                <a:solidFill>
                  <a:srgbClr val="8B5CF6"/>
                </a:solidFill>
                <a:latin typeface="Arial" pitchFamily="34" charset="0"/>
                <a:ea typeface="Arial" pitchFamily="34" charset="-122"/>
                <a:cs typeface="Arial" pitchFamily="34" charset="-120"/>
              </a:rPr>
              <a:t>The Ecosystem Difference:</a:t>
            </a:r>
            <a:endParaRPr lang="en-US" sz="1400" dirty="0"/>
          </a:p>
        </p:txBody>
      </p:sp>
      <p:sp>
        <p:nvSpPr>
          <p:cNvPr id="24" name="Text 22"/>
          <p:cNvSpPr/>
          <p:nvPr/>
        </p:nvSpPr>
        <p:spPr>
          <a:xfrm>
            <a:off x="914400" y="5486400"/>
            <a:ext cx="10332720" cy="822960"/>
          </a:xfrm>
          <a:prstGeom prst="rect">
            <a:avLst/>
          </a:prstGeom>
          <a:noFill/>
          <a:ln/>
        </p:spPr>
        <p:txBody>
          <a:bodyPr wrap="square" rtlCol="0" anchor="ctr"/>
          <a:lstStyle/>
          <a:p>
            <a:pPr indent="0" marL="0">
              <a:lnSpc>
                <a:spcPct val="135000"/>
              </a:lnSpc>
              <a:buNone/>
            </a:pPr>
            <a:r>
              <a:rPr lang="en-US" sz="1200" dirty="0">
                <a:solidFill>
                  <a:srgbClr val="8B949E"/>
                </a:solidFill>
                <a:latin typeface="Arial" pitchFamily="34" charset="0"/>
                <a:ea typeface="Arial" pitchFamily="34" charset="-122"/>
                <a:cs typeface="Arial" pitchFamily="34" charset="-120"/>
              </a:rPr>
              <a:t>A standalone breast cancer app tells a woman to get a mammogram. Sankofa inside ThriveUp does that AND checks: Does she have transportation? Is she employed? Does she have childcare? Is her mental health stable? If not — those platforms activate automatically. That's what "ecosystem" means. The system treats the whole person, not just the diagnosis.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0079F2"/>
                </a:solidFill>
                <a:latin typeface="Arial" pitchFamily="34" charset="0"/>
                <a:ea typeface="Arial" pitchFamily="34" charset="-122"/>
                <a:cs typeface="Arial" pitchFamily="34" charset="-120"/>
              </a:rPr>
              <a:t>Business Model</a:t>
            </a:r>
            <a:endParaRPr lang="en-US" sz="1300" dirty="0"/>
          </a:p>
        </p:txBody>
      </p:sp>
      <p:sp>
        <p:nvSpPr>
          <p:cNvPr id="3" name="Text 1"/>
          <p:cNvSpPr/>
          <p:nvPr/>
        </p:nvSpPr>
        <p:spPr>
          <a:xfrm>
            <a:off x="731520" y="822960"/>
            <a:ext cx="10698480" cy="1097280"/>
          </a:xfrm>
          <a:prstGeom prst="rect">
            <a:avLst/>
          </a:prstGeom>
          <a:noFill/>
          <a:ln/>
        </p:spPr>
        <p:txBody>
          <a:bodyPr wrap="square" rtlCol="0" anchor="ctr"/>
          <a:lstStyle/>
          <a:p>
            <a:pPr indent="0" marL="0">
              <a:lnSpc>
                <a:spcPct val="115000"/>
              </a:lnSpc>
              <a:buNone/>
            </a:pPr>
            <a:r>
              <a:rPr lang="en-US" sz="3000" b="1" dirty="0">
                <a:solidFill>
                  <a:srgbClr val="FFFFFF"/>
                </a:solidFill>
                <a:latin typeface="Arial" pitchFamily="34" charset="0"/>
                <a:ea typeface="Arial" pitchFamily="34" charset="-122"/>
                <a:cs typeface="Arial" pitchFamily="34" charset="-120"/>
              </a:rPr>
              <a:t>SaaS Licensing — Recurring Revenue</a:t>
            </a:r>
            <a:endParaRPr lang="en-US" sz="3000" dirty="0"/>
          </a:p>
          <a:p>
            <a:pPr indent="0" marL="0">
              <a:lnSpc>
                <a:spcPct val="115000"/>
              </a:lnSpc>
              <a:buNone/>
            </a:pPr>
            <a:r>
              <a:rPr lang="en-US" sz="3000" b="1" dirty="0">
                <a:solidFill>
                  <a:srgbClr val="FFFFFF"/>
                </a:solidFill>
                <a:latin typeface="Arial" pitchFamily="34" charset="0"/>
                <a:ea typeface="Arial" pitchFamily="34" charset="-122"/>
                <a:cs typeface="Arial" pitchFamily="34" charset="-120"/>
              </a:rPr>
              <a:t>Aligned to How These Buyers Already Spend</a:t>
            </a:r>
            <a:endParaRPr lang="en-US" sz="3000" dirty="0"/>
          </a:p>
        </p:txBody>
      </p:sp>
      <p:sp>
        <p:nvSpPr>
          <p:cNvPr id="4" name="Shape 2"/>
          <p:cNvSpPr/>
          <p:nvPr/>
        </p:nvSpPr>
        <p:spPr>
          <a:xfrm>
            <a:off x="731520" y="2286000"/>
            <a:ext cx="3383280" cy="2743200"/>
          </a:xfrm>
          <a:prstGeom prst="roundRect">
            <a:avLst>
              <a:gd name="adj" fmla="val 4000"/>
            </a:avLst>
          </a:prstGeom>
          <a:solidFill>
            <a:srgbClr val="161B22"/>
          </a:solidFill>
          <a:ln w="25400">
            <a:solidFill>
              <a:srgbClr val="0079F2"/>
            </a:solidFill>
            <a:prstDash val="solid"/>
          </a:ln>
        </p:spPr>
      </p:sp>
      <p:sp>
        <p:nvSpPr>
          <p:cNvPr id="5" name="Text 3"/>
          <p:cNvSpPr/>
          <p:nvPr/>
        </p:nvSpPr>
        <p:spPr>
          <a:xfrm>
            <a:off x="731520" y="2377440"/>
            <a:ext cx="3383280" cy="548640"/>
          </a:xfrm>
          <a:prstGeom prst="rect">
            <a:avLst/>
          </a:prstGeom>
          <a:noFill/>
          <a:ln/>
        </p:spPr>
        <p:txBody>
          <a:bodyPr wrap="square" rtlCol="0" anchor="ctr"/>
          <a:lstStyle/>
          <a:p>
            <a:pPr algn="ctr" indent="0" marL="0">
              <a:buNone/>
            </a:pPr>
            <a:r>
              <a:rPr lang="en-US" sz="1800" b="1" dirty="0">
                <a:solidFill>
                  <a:srgbClr val="0079F2"/>
                </a:solidFill>
                <a:latin typeface="Arial" pitchFamily="34" charset="0"/>
                <a:ea typeface="Arial" pitchFamily="34" charset="-122"/>
                <a:cs typeface="Arial" pitchFamily="34" charset="-120"/>
              </a:rPr>
              <a:t>Single Platform</a:t>
            </a:r>
            <a:endParaRPr lang="en-US" sz="1800" dirty="0"/>
          </a:p>
        </p:txBody>
      </p:sp>
      <p:sp>
        <p:nvSpPr>
          <p:cNvPr id="6" name="Shape 4"/>
          <p:cNvSpPr/>
          <p:nvPr/>
        </p:nvSpPr>
        <p:spPr>
          <a:xfrm>
            <a:off x="1188720" y="2926080"/>
            <a:ext cx="2468880" cy="27432"/>
          </a:xfrm>
          <a:prstGeom prst="rect">
            <a:avLst/>
          </a:prstGeom>
          <a:solidFill>
            <a:srgbClr val="0079F2"/>
          </a:solidFill>
          <a:ln/>
        </p:spPr>
      </p:sp>
      <p:sp>
        <p:nvSpPr>
          <p:cNvPr id="7" name="Text 5"/>
          <p:cNvSpPr/>
          <p:nvPr/>
        </p:nvSpPr>
        <p:spPr>
          <a:xfrm>
            <a:off x="1005840" y="3108960"/>
            <a:ext cx="2834640" cy="822960"/>
          </a:xfrm>
          <a:prstGeom prst="rect">
            <a:avLst/>
          </a:prstGeom>
          <a:noFill/>
          <a:ln/>
        </p:spPr>
        <p:txBody>
          <a:bodyPr wrap="square" rtlCol="0" anchor="ctr"/>
          <a:lstStyle/>
          <a:p>
            <a:pPr algn="ctr" indent="0" marL="0">
              <a:lnSpc>
                <a:spcPct val="125000"/>
              </a:lnSpc>
              <a:buNone/>
            </a:pPr>
            <a:r>
              <a:rPr lang="en-US" sz="1300" dirty="0">
                <a:solidFill>
                  <a:srgbClr val="FFFFFF"/>
                </a:solidFill>
                <a:latin typeface="Arial" pitchFamily="34" charset="0"/>
                <a:ea typeface="Arial" pitchFamily="34" charset="-122"/>
                <a:cs typeface="Arial" pitchFamily="34" charset="-120"/>
              </a:rPr>
              <a:t>One solution: Workforce, Health,</a:t>
            </a:r>
            <a:endParaRPr lang="en-US" sz="1300" dirty="0"/>
          </a:p>
          <a:p>
            <a:pPr algn="ctr" indent="0" marL="0">
              <a:lnSpc>
                <a:spcPct val="125000"/>
              </a:lnSpc>
              <a:buNone/>
            </a:pPr>
            <a:r>
              <a:rPr lang="en-US" sz="1300" dirty="0">
                <a:solidFill>
                  <a:srgbClr val="FFFFFF"/>
                </a:solidFill>
                <a:latin typeface="Arial" pitchFamily="34" charset="0"/>
                <a:ea typeface="Arial" pitchFamily="34" charset="-122"/>
                <a:cs typeface="Arial" pitchFamily="34" charset="-120"/>
              </a:rPr>
              <a:t>Education, Crisis — any one</a:t>
            </a:r>
            <a:endParaRPr lang="en-US" sz="1300" dirty="0"/>
          </a:p>
        </p:txBody>
      </p:sp>
      <p:sp>
        <p:nvSpPr>
          <p:cNvPr id="8" name="Text 6"/>
          <p:cNvSpPr/>
          <p:nvPr/>
        </p:nvSpPr>
        <p:spPr>
          <a:xfrm>
            <a:off x="1005840" y="3931920"/>
            <a:ext cx="2834640" cy="731520"/>
          </a:xfrm>
          <a:prstGeom prst="rect">
            <a:avLst/>
          </a:prstGeom>
          <a:noFill/>
          <a:ln/>
        </p:spPr>
        <p:txBody>
          <a:bodyPr wrap="square" rtlCol="0" anchor="ctr"/>
          <a:lstStyle/>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Entry point. Proves value.</a:t>
            </a:r>
            <a:endParaRPr lang="en-US" sz="1100" dirty="0"/>
          </a:p>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Expands to multi-platform.</a:t>
            </a:r>
            <a:endParaRPr lang="en-US" sz="1100" dirty="0"/>
          </a:p>
        </p:txBody>
      </p:sp>
      <p:sp>
        <p:nvSpPr>
          <p:cNvPr id="9" name="Shape 7"/>
          <p:cNvSpPr/>
          <p:nvPr/>
        </p:nvSpPr>
        <p:spPr>
          <a:xfrm>
            <a:off x="4389120" y="2286000"/>
            <a:ext cx="3383280" cy="2743200"/>
          </a:xfrm>
          <a:prstGeom prst="roundRect">
            <a:avLst>
              <a:gd name="adj" fmla="val 4000"/>
            </a:avLst>
          </a:prstGeom>
          <a:solidFill>
            <a:srgbClr val="161B22"/>
          </a:solidFill>
          <a:ln w="25400">
            <a:solidFill>
              <a:srgbClr val="00C9A7"/>
            </a:solidFill>
            <a:prstDash val="solid"/>
          </a:ln>
        </p:spPr>
      </p:sp>
      <p:sp>
        <p:nvSpPr>
          <p:cNvPr id="10" name="Text 8"/>
          <p:cNvSpPr/>
          <p:nvPr/>
        </p:nvSpPr>
        <p:spPr>
          <a:xfrm>
            <a:off x="4389120" y="2377440"/>
            <a:ext cx="3383280" cy="548640"/>
          </a:xfrm>
          <a:prstGeom prst="rect">
            <a:avLst/>
          </a:prstGeom>
          <a:noFill/>
          <a:ln/>
        </p:spPr>
        <p:txBody>
          <a:bodyPr wrap="square" rtlCol="0" anchor="ctr"/>
          <a:lstStyle/>
          <a:p>
            <a:pPr algn="ctr" indent="0" marL="0">
              <a:buNone/>
            </a:pPr>
            <a:r>
              <a:rPr lang="en-US" sz="1800" b="1" dirty="0">
                <a:solidFill>
                  <a:srgbClr val="00C9A7"/>
                </a:solidFill>
                <a:latin typeface="Arial" pitchFamily="34" charset="0"/>
                <a:ea typeface="Arial" pitchFamily="34" charset="-122"/>
                <a:cs typeface="Arial" pitchFamily="34" charset="-120"/>
              </a:rPr>
              <a:t>Multi-Platform Bundle</a:t>
            </a:r>
            <a:endParaRPr lang="en-US" sz="1800" dirty="0"/>
          </a:p>
        </p:txBody>
      </p:sp>
      <p:sp>
        <p:nvSpPr>
          <p:cNvPr id="11" name="Shape 9"/>
          <p:cNvSpPr/>
          <p:nvPr/>
        </p:nvSpPr>
        <p:spPr>
          <a:xfrm>
            <a:off x="4846320" y="2926080"/>
            <a:ext cx="2468880" cy="27432"/>
          </a:xfrm>
          <a:prstGeom prst="rect">
            <a:avLst/>
          </a:prstGeom>
          <a:solidFill>
            <a:srgbClr val="00C9A7"/>
          </a:solidFill>
          <a:ln/>
        </p:spPr>
      </p:sp>
      <p:sp>
        <p:nvSpPr>
          <p:cNvPr id="12" name="Text 10"/>
          <p:cNvSpPr/>
          <p:nvPr/>
        </p:nvSpPr>
        <p:spPr>
          <a:xfrm>
            <a:off x="4663440" y="3108960"/>
            <a:ext cx="2834640" cy="822960"/>
          </a:xfrm>
          <a:prstGeom prst="rect">
            <a:avLst/>
          </a:prstGeom>
          <a:noFill/>
          <a:ln/>
        </p:spPr>
        <p:txBody>
          <a:bodyPr wrap="square" rtlCol="0" anchor="ctr"/>
          <a:lstStyle/>
          <a:p>
            <a:pPr algn="ctr" indent="0" marL="0">
              <a:lnSpc>
                <a:spcPct val="125000"/>
              </a:lnSpc>
              <a:buNone/>
            </a:pPr>
            <a:r>
              <a:rPr lang="en-US" sz="1300" dirty="0">
                <a:solidFill>
                  <a:srgbClr val="FFFFFF"/>
                </a:solidFill>
                <a:latin typeface="Arial" pitchFamily="34" charset="0"/>
                <a:ea typeface="Arial" pitchFamily="34" charset="-122"/>
                <a:cs typeface="Arial" pitchFamily="34" charset="-120"/>
              </a:rPr>
              <a:t>5-10 connected platforms</a:t>
            </a:r>
            <a:endParaRPr lang="en-US" sz="1300" dirty="0"/>
          </a:p>
          <a:p>
            <a:pPr algn="ctr" indent="0" marL="0">
              <a:lnSpc>
                <a:spcPct val="125000"/>
              </a:lnSpc>
              <a:buNone/>
            </a:pPr>
            <a:r>
              <a:rPr lang="en-US" sz="1300" dirty="0">
                <a:solidFill>
                  <a:srgbClr val="FFFFFF"/>
                </a:solidFill>
                <a:latin typeface="Arial" pitchFamily="34" charset="0"/>
                <a:ea typeface="Arial" pitchFamily="34" charset="-122"/>
                <a:cs typeface="Arial" pitchFamily="34" charset="-120"/>
              </a:rPr>
              <a:t>with shared data layer</a:t>
            </a:r>
            <a:endParaRPr lang="en-US" sz="1300" dirty="0"/>
          </a:p>
        </p:txBody>
      </p:sp>
      <p:sp>
        <p:nvSpPr>
          <p:cNvPr id="13" name="Text 11"/>
          <p:cNvSpPr/>
          <p:nvPr/>
        </p:nvSpPr>
        <p:spPr>
          <a:xfrm>
            <a:off x="4663440" y="3931920"/>
            <a:ext cx="2834640" cy="731520"/>
          </a:xfrm>
          <a:prstGeom prst="rect">
            <a:avLst/>
          </a:prstGeom>
          <a:noFill/>
          <a:ln/>
        </p:spPr>
        <p:txBody>
          <a:bodyPr wrap="square" rtlCol="0" anchor="ctr"/>
          <a:lstStyle/>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Most common for school</a:t>
            </a:r>
            <a:endParaRPr lang="en-US" sz="1100" dirty="0"/>
          </a:p>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districts &amp; workforce boards.</a:t>
            </a:r>
            <a:endParaRPr lang="en-US" sz="1100" dirty="0"/>
          </a:p>
        </p:txBody>
      </p:sp>
      <p:sp>
        <p:nvSpPr>
          <p:cNvPr id="14" name="Shape 12"/>
          <p:cNvSpPr/>
          <p:nvPr/>
        </p:nvSpPr>
        <p:spPr>
          <a:xfrm>
            <a:off x="8046720" y="2286000"/>
            <a:ext cx="3383280" cy="2743200"/>
          </a:xfrm>
          <a:prstGeom prst="roundRect">
            <a:avLst>
              <a:gd name="adj" fmla="val 4000"/>
            </a:avLst>
          </a:prstGeom>
          <a:solidFill>
            <a:srgbClr val="161B22"/>
          </a:solidFill>
          <a:ln w="25400">
            <a:solidFill>
              <a:srgbClr val="F0B429"/>
            </a:solidFill>
            <a:prstDash val="solid"/>
          </a:ln>
        </p:spPr>
      </p:sp>
      <p:sp>
        <p:nvSpPr>
          <p:cNvPr id="15" name="Text 13"/>
          <p:cNvSpPr/>
          <p:nvPr/>
        </p:nvSpPr>
        <p:spPr>
          <a:xfrm>
            <a:off x="8046720" y="2377440"/>
            <a:ext cx="3383280" cy="548640"/>
          </a:xfrm>
          <a:prstGeom prst="rect">
            <a:avLst/>
          </a:prstGeom>
          <a:noFill/>
          <a:ln/>
        </p:spPr>
        <p:txBody>
          <a:bodyPr wrap="square" rtlCol="0" anchor="ctr"/>
          <a:lstStyle/>
          <a:p>
            <a:pPr algn="ctr" indent="0" marL="0">
              <a:buNone/>
            </a:pPr>
            <a:r>
              <a:rPr lang="en-US" sz="1800" b="1" dirty="0">
                <a:solidFill>
                  <a:srgbClr val="F0B429"/>
                </a:solidFill>
                <a:latin typeface="Arial" pitchFamily="34" charset="0"/>
                <a:ea typeface="Arial" pitchFamily="34" charset="-122"/>
                <a:cs typeface="Arial" pitchFamily="34" charset="-120"/>
              </a:rPr>
              <a:t>Full Ecosystem</a:t>
            </a:r>
            <a:endParaRPr lang="en-US" sz="1800" dirty="0"/>
          </a:p>
        </p:txBody>
      </p:sp>
      <p:sp>
        <p:nvSpPr>
          <p:cNvPr id="16" name="Shape 14"/>
          <p:cNvSpPr/>
          <p:nvPr/>
        </p:nvSpPr>
        <p:spPr>
          <a:xfrm>
            <a:off x="8503920" y="2926080"/>
            <a:ext cx="2468880" cy="27432"/>
          </a:xfrm>
          <a:prstGeom prst="rect">
            <a:avLst/>
          </a:prstGeom>
          <a:solidFill>
            <a:srgbClr val="F0B429"/>
          </a:solidFill>
          <a:ln/>
        </p:spPr>
      </p:sp>
      <p:sp>
        <p:nvSpPr>
          <p:cNvPr id="17" name="Text 15"/>
          <p:cNvSpPr/>
          <p:nvPr/>
        </p:nvSpPr>
        <p:spPr>
          <a:xfrm>
            <a:off x="8321040" y="3108960"/>
            <a:ext cx="2834640" cy="822960"/>
          </a:xfrm>
          <a:prstGeom prst="rect">
            <a:avLst/>
          </a:prstGeom>
          <a:noFill/>
          <a:ln/>
        </p:spPr>
        <p:txBody>
          <a:bodyPr wrap="square" rtlCol="0" anchor="ctr"/>
          <a:lstStyle/>
          <a:p>
            <a:pPr algn="ctr" indent="0" marL="0">
              <a:lnSpc>
                <a:spcPct val="125000"/>
              </a:lnSpc>
              <a:buNone/>
            </a:pPr>
            <a:r>
              <a:rPr lang="en-US" sz="1300" dirty="0">
                <a:solidFill>
                  <a:srgbClr val="FFFFFF"/>
                </a:solidFill>
                <a:latin typeface="Arial" pitchFamily="34" charset="0"/>
                <a:ea typeface="Arial" pitchFamily="34" charset="-122"/>
                <a:cs typeface="Arial" pitchFamily="34" charset="-120"/>
              </a:rPr>
              <a:t>All 24 platforms — complete</a:t>
            </a:r>
            <a:endParaRPr lang="en-US" sz="1300" dirty="0"/>
          </a:p>
          <a:p>
            <a:pPr algn="ctr" indent="0" marL="0">
              <a:lnSpc>
                <a:spcPct val="125000"/>
              </a:lnSpc>
              <a:buNone/>
            </a:pPr>
            <a:r>
              <a:rPr lang="en-US" sz="1300" dirty="0">
                <a:solidFill>
                  <a:srgbClr val="FFFFFF"/>
                </a:solidFill>
                <a:latin typeface="Arial" pitchFamily="34" charset="0"/>
                <a:ea typeface="Arial" pitchFamily="34" charset="-122"/>
                <a:cs typeface="Arial" pitchFamily="34" charset="-120"/>
              </a:rPr>
              <a:t>community operating system</a:t>
            </a:r>
            <a:endParaRPr lang="en-US" sz="1300" dirty="0"/>
          </a:p>
        </p:txBody>
      </p:sp>
      <p:sp>
        <p:nvSpPr>
          <p:cNvPr id="18" name="Text 16"/>
          <p:cNvSpPr/>
          <p:nvPr/>
        </p:nvSpPr>
        <p:spPr>
          <a:xfrm>
            <a:off x="8321040" y="3931920"/>
            <a:ext cx="2834640" cy="731520"/>
          </a:xfrm>
          <a:prstGeom prst="rect">
            <a:avLst/>
          </a:prstGeom>
          <a:noFill/>
          <a:ln/>
        </p:spPr>
        <p:txBody>
          <a:bodyPr wrap="square" rtlCol="0" anchor="ctr"/>
          <a:lstStyle/>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For community action agencies</a:t>
            </a:r>
            <a:endParaRPr lang="en-US" sz="1100" dirty="0"/>
          </a:p>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&amp; government deployments.</a:t>
            </a:r>
            <a:endParaRPr lang="en-US" sz="1100" dirty="0"/>
          </a:p>
        </p:txBody>
      </p:sp>
      <p:sp>
        <p:nvSpPr>
          <p:cNvPr id="19" name="Text 17"/>
          <p:cNvSpPr/>
          <p:nvPr/>
        </p:nvSpPr>
        <p:spPr>
          <a:xfrm>
            <a:off x="731520" y="5303520"/>
            <a:ext cx="10698480" cy="548640"/>
          </a:xfrm>
          <a:prstGeom prst="rect">
            <a:avLst/>
          </a:prstGeom>
          <a:noFill/>
          <a:ln/>
        </p:spPr>
        <p:txBody>
          <a:bodyPr wrap="square" rtlCol="0" anchor="ctr"/>
          <a:lstStyle/>
          <a:p>
            <a:pPr indent="0" marL="0">
              <a:lnSpc>
                <a:spcPct val="130000"/>
              </a:lnSpc>
              <a:buNone/>
            </a:pPr>
            <a:r>
              <a:rPr lang="en-US" sz="1300" i="1" dirty="0">
                <a:solidFill>
                  <a:srgbClr val="8B949E"/>
                </a:solidFill>
                <a:latin typeface="Arial" pitchFamily="34" charset="0"/>
                <a:ea typeface="Arial" pitchFamily="34" charset="-122"/>
                <a:cs typeface="Arial" pitchFamily="34" charset="-120"/>
              </a:rPr>
              <a:t>Why this works: These buyers already spend federal and state dollars on technology — WIOA, ESSA, SAMHSA, HRSA all fund platform purchases. We align to how the money already flows.</a:t>
            </a:r>
            <a:endParaRPr lang="en-US" sz="1300" dirty="0"/>
          </a:p>
        </p:txBody>
      </p:sp>
      <p:sp>
        <p:nvSpPr>
          <p:cNvPr id="20" name="Text 18"/>
          <p:cNvSpPr/>
          <p:nvPr/>
        </p:nvSpPr>
        <p:spPr>
          <a:xfrm>
            <a:off x="731520" y="5943600"/>
            <a:ext cx="10698480" cy="365760"/>
          </a:xfrm>
          <a:prstGeom prst="rect">
            <a:avLst/>
          </a:prstGeom>
          <a:noFill/>
          <a:ln/>
        </p:spPr>
        <p:txBody>
          <a:bodyPr wrap="square" rtlCol="0" anchor="ctr"/>
          <a:lstStyle/>
          <a:p>
            <a:pPr algn="ctr" indent="0" marL="0">
              <a:buNone/>
            </a:pPr>
            <a:r>
              <a:rPr lang="en-US" sz="1300" dirty="0">
                <a:solidFill>
                  <a:srgbClr val="0079F2"/>
                </a:solidFill>
                <a:latin typeface="Arial" pitchFamily="34" charset="0"/>
                <a:ea typeface="Arial" pitchFamily="34" charset="-122"/>
                <a:cs typeface="Arial" pitchFamily="34" charset="-120"/>
              </a:rPr>
              <a:t>Customers:  Community Orgs  •  School Districts  •  Workforce Boards  •  Government Agencies  •  Health Centers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00C9A7"/>
                </a:solidFill>
                <a:latin typeface="Arial" pitchFamily="34" charset="0"/>
                <a:ea typeface="Arial" pitchFamily="34" charset="-122"/>
                <a:cs typeface="Arial" pitchFamily="34" charset="-120"/>
              </a:rPr>
              <a:t>Market &amp; Traction</a:t>
            </a:r>
            <a:endParaRPr lang="en-US" sz="1300" dirty="0"/>
          </a:p>
        </p:txBody>
      </p:sp>
      <p:sp>
        <p:nvSpPr>
          <p:cNvPr id="3" name="Text 1"/>
          <p:cNvSpPr/>
          <p:nvPr/>
        </p:nvSpPr>
        <p:spPr>
          <a:xfrm>
            <a:off x="731520" y="822960"/>
            <a:ext cx="10698480" cy="7315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Massive Market. Real Traction.</a:t>
            </a:r>
            <a:endParaRPr lang="en-US" sz="3600" dirty="0"/>
          </a:p>
        </p:txBody>
      </p:sp>
      <p:sp>
        <p:nvSpPr>
          <p:cNvPr id="4" name="Text 2"/>
          <p:cNvSpPr/>
          <p:nvPr/>
        </p:nvSpPr>
        <p:spPr>
          <a:xfrm>
            <a:off x="731520" y="1737360"/>
            <a:ext cx="5486400" cy="365760"/>
          </a:xfrm>
          <a:prstGeom prst="rect">
            <a:avLst/>
          </a:prstGeom>
          <a:noFill/>
          <a:ln/>
        </p:spPr>
        <p:txBody>
          <a:bodyPr wrap="square" rtlCol="0" anchor="ctr"/>
          <a:lstStyle/>
          <a:p>
            <a:pPr indent="0" marL="0">
              <a:buNone/>
            </a:pPr>
            <a:r>
              <a:rPr lang="en-US" sz="1400" b="1" dirty="0">
                <a:solidFill>
                  <a:srgbClr val="00C9A7"/>
                </a:solidFill>
                <a:latin typeface="Arial" pitchFamily="34" charset="0"/>
                <a:ea typeface="Arial" pitchFamily="34" charset="-122"/>
                <a:cs typeface="Arial" pitchFamily="34" charset="-120"/>
              </a:rPr>
              <a:t>Total Addressable Market (US Only)</a:t>
            </a:r>
            <a:endParaRPr lang="en-US" sz="1400" dirty="0"/>
          </a:p>
        </p:txBody>
      </p:sp>
      <p:sp>
        <p:nvSpPr>
          <p:cNvPr id="5" name="Text 3"/>
          <p:cNvSpPr/>
          <p:nvPr/>
        </p:nvSpPr>
        <p:spPr>
          <a:xfrm>
            <a:off x="731520" y="2194560"/>
            <a:ext cx="1645920" cy="548640"/>
          </a:xfrm>
          <a:prstGeom prst="rect">
            <a:avLst/>
          </a:prstGeom>
          <a:noFill/>
          <a:ln/>
        </p:spPr>
        <p:txBody>
          <a:bodyPr wrap="square" rtlCol="0" anchor="ctr"/>
          <a:lstStyle/>
          <a:p>
            <a:pPr algn="r" indent="0" marL="0">
              <a:buNone/>
            </a:pPr>
            <a:r>
              <a:rPr lang="en-US" sz="2400" b="1" dirty="0">
                <a:solidFill>
                  <a:srgbClr val="0079F2"/>
                </a:solidFill>
                <a:latin typeface="Arial" pitchFamily="34" charset="0"/>
                <a:ea typeface="Arial" pitchFamily="34" charset="-122"/>
                <a:cs typeface="Arial" pitchFamily="34" charset="-120"/>
              </a:rPr>
              <a:t>40,000+</a:t>
            </a:r>
            <a:endParaRPr lang="en-US" sz="2400" dirty="0"/>
          </a:p>
        </p:txBody>
      </p:sp>
      <p:sp>
        <p:nvSpPr>
          <p:cNvPr id="6" name="Text 4"/>
          <p:cNvSpPr/>
          <p:nvPr/>
        </p:nvSpPr>
        <p:spPr>
          <a:xfrm>
            <a:off x="2560320" y="2194560"/>
            <a:ext cx="3657600" cy="54864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Community Action Agencies</a:t>
            </a:r>
            <a:endParaRPr lang="en-US" sz="1500" dirty="0"/>
          </a:p>
        </p:txBody>
      </p:sp>
      <p:sp>
        <p:nvSpPr>
          <p:cNvPr id="7" name="Text 5"/>
          <p:cNvSpPr/>
          <p:nvPr/>
        </p:nvSpPr>
        <p:spPr>
          <a:xfrm>
            <a:off x="731520" y="2880360"/>
            <a:ext cx="1645920" cy="548640"/>
          </a:xfrm>
          <a:prstGeom prst="rect">
            <a:avLst/>
          </a:prstGeom>
          <a:noFill/>
          <a:ln/>
        </p:spPr>
        <p:txBody>
          <a:bodyPr wrap="square" rtlCol="0" anchor="ctr"/>
          <a:lstStyle/>
          <a:p>
            <a:pPr algn="r" indent="0" marL="0">
              <a:buNone/>
            </a:pPr>
            <a:r>
              <a:rPr lang="en-US" sz="2400" b="1" dirty="0">
                <a:solidFill>
                  <a:srgbClr val="F0B429"/>
                </a:solidFill>
                <a:latin typeface="Arial" pitchFamily="34" charset="0"/>
                <a:ea typeface="Arial" pitchFamily="34" charset="-122"/>
                <a:cs typeface="Arial" pitchFamily="34" charset="-120"/>
              </a:rPr>
              <a:t>13,000+</a:t>
            </a:r>
            <a:endParaRPr lang="en-US" sz="2400" dirty="0"/>
          </a:p>
        </p:txBody>
      </p:sp>
      <p:sp>
        <p:nvSpPr>
          <p:cNvPr id="8" name="Text 6"/>
          <p:cNvSpPr/>
          <p:nvPr/>
        </p:nvSpPr>
        <p:spPr>
          <a:xfrm>
            <a:off x="2560320" y="2880360"/>
            <a:ext cx="3657600" cy="54864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School Districts</a:t>
            </a:r>
            <a:endParaRPr lang="en-US" sz="1500" dirty="0"/>
          </a:p>
        </p:txBody>
      </p:sp>
      <p:sp>
        <p:nvSpPr>
          <p:cNvPr id="9" name="Text 7"/>
          <p:cNvSpPr/>
          <p:nvPr/>
        </p:nvSpPr>
        <p:spPr>
          <a:xfrm>
            <a:off x="731520" y="3566160"/>
            <a:ext cx="1645920" cy="548640"/>
          </a:xfrm>
          <a:prstGeom prst="rect">
            <a:avLst/>
          </a:prstGeom>
          <a:noFill/>
          <a:ln/>
        </p:spPr>
        <p:txBody>
          <a:bodyPr wrap="square" rtlCol="0" anchor="ctr"/>
          <a:lstStyle/>
          <a:p>
            <a:pPr algn="r" indent="0" marL="0">
              <a:buNone/>
            </a:pPr>
            <a:r>
              <a:rPr lang="en-US" sz="2400" b="1" dirty="0">
                <a:solidFill>
                  <a:srgbClr val="2EA043"/>
                </a:solidFill>
                <a:latin typeface="Arial" pitchFamily="34" charset="0"/>
                <a:ea typeface="Arial" pitchFamily="34" charset="-122"/>
                <a:cs typeface="Arial" pitchFamily="34" charset="-120"/>
              </a:rPr>
              <a:t>550+</a:t>
            </a:r>
            <a:endParaRPr lang="en-US" sz="2400" dirty="0"/>
          </a:p>
        </p:txBody>
      </p:sp>
      <p:sp>
        <p:nvSpPr>
          <p:cNvPr id="10" name="Text 8"/>
          <p:cNvSpPr/>
          <p:nvPr/>
        </p:nvSpPr>
        <p:spPr>
          <a:xfrm>
            <a:off x="2560320" y="3566160"/>
            <a:ext cx="3657600" cy="54864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Workforce Development Boards</a:t>
            </a:r>
            <a:endParaRPr lang="en-US" sz="1500" dirty="0"/>
          </a:p>
        </p:txBody>
      </p:sp>
      <p:sp>
        <p:nvSpPr>
          <p:cNvPr id="11" name="Text 9"/>
          <p:cNvSpPr/>
          <p:nvPr/>
        </p:nvSpPr>
        <p:spPr>
          <a:xfrm>
            <a:off x="731520" y="4251960"/>
            <a:ext cx="1645920" cy="548640"/>
          </a:xfrm>
          <a:prstGeom prst="rect">
            <a:avLst/>
          </a:prstGeom>
          <a:noFill/>
          <a:ln/>
        </p:spPr>
        <p:txBody>
          <a:bodyPr wrap="square" rtlCol="0" anchor="ctr"/>
          <a:lstStyle/>
          <a:p>
            <a:pPr algn="r" indent="0" marL="0">
              <a:buNone/>
            </a:pPr>
            <a:r>
              <a:rPr lang="en-US" sz="2400" b="1" dirty="0">
                <a:solidFill>
                  <a:srgbClr val="E8459E"/>
                </a:solidFill>
                <a:latin typeface="Arial" pitchFamily="34" charset="0"/>
                <a:ea typeface="Arial" pitchFamily="34" charset="-122"/>
                <a:cs typeface="Arial" pitchFamily="34" charset="-120"/>
              </a:rPr>
              <a:t>3,000+</a:t>
            </a:r>
            <a:endParaRPr lang="en-US" sz="2400" dirty="0"/>
          </a:p>
        </p:txBody>
      </p:sp>
      <p:sp>
        <p:nvSpPr>
          <p:cNvPr id="12" name="Text 10"/>
          <p:cNvSpPr/>
          <p:nvPr/>
        </p:nvSpPr>
        <p:spPr>
          <a:xfrm>
            <a:off x="2560320" y="4251960"/>
            <a:ext cx="3657600" cy="54864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Community Health Centers</a:t>
            </a:r>
            <a:endParaRPr lang="en-US" sz="1500" dirty="0"/>
          </a:p>
        </p:txBody>
      </p:sp>
      <p:sp>
        <p:nvSpPr>
          <p:cNvPr id="13" name="Text 11"/>
          <p:cNvSpPr/>
          <p:nvPr/>
        </p:nvSpPr>
        <p:spPr>
          <a:xfrm>
            <a:off x="731520" y="5029200"/>
            <a:ext cx="5029200" cy="640080"/>
          </a:xfrm>
          <a:prstGeom prst="rect">
            <a:avLst/>
          </a:prstGeom>
          <a:noFill/>
          <a:ln/>
        </p:spPr>
        <p:txBody>
          <a:bodyPr wrap="square" rtlCol="0" anchor="ctr"/>
          <a:lstStyle/>
          <a:p>
            <a:pPr indent="0" marL="0">
              <a:lnSpc>
                <a:spcPct val="130000"/>
              </a:lnSpc>
              <a:buNone/>
            </a:pPr>
            <a:r>
              <a:rPr lang="en-US" sz="1200" i="1" dirty="0">
                <a:solidFill>
                  <a:srgbClr val="8B949E"/>
                </a:solidFill>
                <a:latin typeface="Arial" pitchFamily="34" charset="0"/>
                <a:ea typeface="Arial" pitchFamily="34" charset="-122"/>
                <a:cs typeface="Arial" pitchFamily="34" charset="-120"/>
              </a:rPr>
              <a:t>$180B+ US social services market</a:t>
            </a:r>
            <a:endParaRPr lang="en-US" sz="1200" dirty="0"/>
          </a:p>
          <a:p>
            <a:pPr indent="0" marL="0">
              <a:lnSpc>
                <a:spcPct val="130000"/>
              </a:lnSpc>
              <a:buNone/>
            </a:pPr>
            <a:r>
              <a:rPr lang="en-US" sz="1200" i="1" dirty="0">
                <a:solidFill>
                  <a:srgbClr val="8B949E"/>
                </a:solidFill>
                <a:latin typeface="Arial" pitchFamily="34" charset="0"/>
                <a:ea typeface="Arial" pitchFamily="34" charset="-122"/>
                <a:cs typeface="Arial" pitchFamily="34" charset="-120"/>
              </a:rPr>
              <a:t>International: Same architecture, any geography</a:t>
            </a:r>
            <a:endParaRPr lang="en-US" sz="1200" dirty="0"/>
          </a:p>
        </p:txBody>
      </p:sp>
      <p:sp>
        <p:nvSpPr>
          <p:cNvPr id="14" name="Shape 12"/>
          <p:cNvSpPr/>
          <p:nvPr/>
        </p:nvSpPr>
        <p:spPr>
          <a:xfrm>
            <a:off x="6400800" y="1737360"/>
            <a:ext cx="5303520" cy="4389120"/>
          </a:xfrm>
          <a:prstGeom prst="roundRect">
            <a:avLst>
              <a:gd name="adj" fmla="val 2500"/>
            </a:avLst>
          </a:prstGeom>
          <a:solidFill>
            <a:srgbClr val="161B22"/>
          </a:solidFill>
          <a:ln w="25400">
            <a:solidFill>
              <a:srgbClr val="00C9A7"/>
            </a:solidFill>
            <a:prstDash val="solid"/>
          </a:ln>
        </p:spPr>
      </p:sp>
      <p:sp>
        <p:nvSpPr>
          <p:cNvPr id="15" name="Text 13"/>
          <p:cNvSpPr/>
          <p:nvPr/>
        </p:nvSpPr>
        <p:spPr>
          <a:xfrm>
            <a:off x="6400800" y="1828800"/>
            <a:ext cx="5303520" cy="457200"/>
          </a:xfrm>
          <a:prstGeom prst="rect">
            <a:avLst/>
          </a:prstGeom>
          <a:noFill/>
          <a:ln/>
        </p:spPr>
        <p:txBody>
          <a:bodyPr wrap="square" rtlCol="0" anchor="ctr"/>
          <a:lstStyle/>
          <a:p>
            <a:pPr algn="ctr" indent="0" marL="0">
              <a:buNone/>
            </a:pPr>
            <a:r>
              <a:rPr lang="en-US" sz="1800" b="1" dirty="0">
                <a:solidFill>
                  <a:srgbClr val="00C9A7"/>
                </a:solidFill>
                <a:latin typeface="Arial" pitchFamily="34" charset="0"/>
                <a:ea typeface="Arial" pitchFamily="34" charset="-122"/>
                <a:cs typeface="Arial" pitchFamily="34" charset="-120"/>
              </a:rPr>
              <a:t>Traction — Today</a:t>
            </a:r>
            <a:endParaRPr lang="en-US" sz="1800" dirty="0"/>
          </a:p>
        </p:txBody>
      </p:sp>
      <p:sp>
        <p:nvSpPr>
          <p:cNvPr id="16" name="Text 14"/>
          <p:cNvSpPr/>
          <p:nvPr/>
        </p:nvSpPr>
        <p:spPr>
          <a:xfrm>
            <a:off x="6675120" y="2377440"/>
            <a:ext cx="3200400" cy="384048"/>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Platforms Live &amp; Deployed</a:t>
            </a:r>
            <a:endParaRPr lang="en-US" sz="1200" dirty="0"/>
          </a:p>
        </p:txBody>
      </p:sp>
      <p:sp>
        <p:nvSpPr>
          <p:cNvPr id="17" name="Text 15"/>
          <p:cNvSpPr/>
          <p:nvPr/>
        </p:nvSpPr>
        <p:spPr>
          <a:xfrm>
            <a:off x="9875520" y="2377440"/>
            <a:ext cx="1645920" cy="384048"/>
          </a:xfrm>
          <a:prstGeom prst="rect">
            <a:avLst/>
          </a:prstGeom>
          <a:noFill/>
          <a:ln/>
        </p:spPr>
        <p:txBody>
          <a:bodyPr wrap="square" rtlCol="0" anchor="ctr"/>
          <a:lstStyle/>
          <a:p>
            <a:pPr algn="r" indent="0" marL="0">
              <a:buNone/>
            </a:pPr>
            <a:r>
              <a:rPr lang="en-US" sz="1200" b="1" dirty="0">
                <a:solidFill>
                  <a:srgbClr val="00C9A7"/>
                </a:solidFill>
                <a:latin typeface="Arial" pitchFamily="34" charset="0"/>
                <a:ea typeface="Arial" pitchFamily="34" charset="-122"/>
                <a:cs typeface="Arial" pitchFamily="34" charset="-120"/>
              </a:rPr>
              <a:t>24 / 24</a:t>
            </a:r>
            <a:endParaRPr lang="en-US" sz="1200" dirty="0"/>
          </a:p>
        </p:txBody>
      </p:sp>
      <p:sp>
        <p:nvSpPr>
          <p:cNvPr id="18" name="Text 16"/>
          <p:cNvSpPr/>
          <p:nvPr/>
        </p:nvSpPr>
        <p:spPr>
          <a:xfrm>
            <a:off x="6675120" y="2807208"/>
            <a:ext cx="3200400" cy="384048"/>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First Customer Active</a:t>
            </a:r>
            <a:endParaRPr lang="en-US" sz="1200" dirty="0"/>
          </a:p>
        </p:txBody>
      </p:sp>
      <p:sp>
        <p:nvSpPr>
          <p:cNvPr id="19" name="Text 17"/>
          <p:cNvSpPr/>
          <p:nvPr/>
        </p:nvSpPr>
        <p:spPr>
          <a:xfrm>
            <a:off x="9875520" y="2807208"/>
            <a:ext cx="1645920" cy="384048"/>
          </a:xfrm>
          <a:prstGeom prst="rect">
            <a:avLst/>
          </a:prstGeom>
          <a:noFill/>
          <a:ln/>
        </p:spPr>
        <p:txBody>
          <a:bodyPr wrap="square" rtlCol="0" anchor="ctr"/>
          <a:lstStyle/>
          <a:p>
            <a:pPr algn="r" indent="0" marL="0">
              <a:buNone/>
            </a:pPr>
            <a:r>
              <a:rPr lang="en-US" sz="1200" b="1" dirty="0">
                <a:solidFill>
                  <a:srgbClr val="2EA043"/>
                </a:solidFill>
                <a:latin typeface="Arial" pitchFamily="34" charset="0"/>
                <a:ea typeface="Arial" pitchFamily="34" charset="-122"/>
                <a:cs typeface="Arial" pitchFamily="34" charset="-120"/>
              </a:rPr>
              <a:t>TCAF (501c3)</a:t>
            </a:r>
            <a:endParaRPr lang="en-US" sz="1200" dirty="0"/>
          </a:p>
        </p:txBody>
      </p:sp>
      <p:sp>
        <p:nvSpPr>
          <p:cNvPr id="20" name="Text 18"/>
          <p:cNvSpPr/>
          <p:nvPr/>
        </p:nvSpPr>
        <p:spPr>
          <a:xfrm>
            <a:off x="6675120" y="3236976"/>
            <a:ext cx="3200400" cy="384048"/>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TWC Pipeline</a:t>
            </a:r>
            <a:endParaRPr lang="en-US" sz="1200" dirty="0"/>
          </a:p>
        </p:txBody>
      </p:sp>
      <p:sp>
        <p:nvSpPr>
          <p:cNvPr id="21" name="Text 19"/>
          <p:cNvSpPr/>
          <p:nvPr/>
        </p:nvSpPr>
        <p:spPr>
          <a:xfrm>
            <a:off x="9875520" y="3236976"/>
            <a:ext cx="1645920" cy="384048"/>
          </a:xfrm>
          <a:prstGeom prst="rect">
            <a:avLst/>
          </a:prstGeom>
          <a:noFill/>
          <a:ln/>
        </p:spPr>
        <p:txBody>
          <a:bodyPr wrap="square" rtlCol="0" anchor="ctr"/>
          <a:lstStyle/>
          <a:p>
            <a:pPr algn="r" indent="0" marL="0">
              <a:buNone/>
            </a:pPr>
            <a:r>
              <a:rPr lang="en-US" sz="1200" b="1" dirty="0">
                <a:solidFill>
                  <a:srgbClr val="F0B429"/>
                </a:solidFill>
                <a:latin typeface="Arial" pitchFamily="34" charset="0"/>
                <a:ea typeface="Arial" pitchFamily="34" charset="-122"/>
                <a:cs typeface="Arial" pitchFamily="34" charset="-120"/>
              </a:rPr>
              <a:t>$1.6M</a:t>
            </a:r>
            <a:endParaRPr lang="en-US" sz="1200" dirty="0"/>
          </a:p>
        </p:txBody>
      </p:sp>
      <p:sp>
        <p:nvSpPr>
          <p:cNvPr id="22" name="Text 20"/>
          <p:cNvSpPr/>
          <p:nvPr/>
        </p:nvSpPr>
        <p:spPr>
          <a:xfrm>
            <a:off x="6675120" y="3666744"/>
            <a:ext cx="3200400" cy="384048"/>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TEKS Curriculum Coverage</a:t>
            </a:r>
            <a:endParaRPr lang="en-US" sz="1200" dirty="0"/>
          </a:p>
        </p:txBody>
      </p:sp>
      <p:sp>
        <p:nvSpPr>
          <p:cNvPr id="23" name="Text 21"/>
          <p:cNvSpPr/>
          <p:nvPr/>
        </p:nvSpPr>
        <p:spPr>
          <a:xfrm>
            <a:off x="9875520" y="3666744"/>
            <a:ext cx="1645920" cy="384048"/>
          </a:xfrm>
          <a:prstGeom prst="rect">
            <a:avLst/>
          </a:prstGeom>
          <a:noFill/>
          <a:ln/>
        </p:spPr>
        <p:txBody>
          <a:bodyPr wrap="square" rtlCol="0" anchor="ctr"/>
          <a:lstStyle/>
          <a:p>
            <a:pPr algn="r" indent="0" marL="0">
              <a:buNone/>
            </a:pPr>
            <a:r>
              <a:rPr lang="en-US" sz="1200" b="1" dirty="0">
                <a:solidFill>
                  <a:srgbClr val="0079F2"/>
                </a:solidFill>
                <a:latin typeface="Arial" pitchFamily="34" charset="0"/>
                <a:ea typeface="Arial" pitchFamily="34" charset="-122"/>
                <a:cs typeface="Arial" pitchFamily="34" charset="-120"/>
              </a:rPr>
              <a:t>100%</a:t>
            </a:r>
            <a:endParaRPr lang="en-US" sz="1200" dirty="0"/>
          </a:p>
        </p:txBody>
      </p:sp>
      <p:sp>
        <p:nvSpPr>
          <p:cNvPr id="24" name="Text 22"/>
          <p:cNvSpPr/>
          <p:nvPr/>
        </p:nvSpPr>
        <p:spPr>
          <a:xfrm>
            <a:off x="6675120" y="4096512"/>
            <a:ext cx="3200400" cy="384048"/>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Google.org</a:t>
            </a:r>
            <a:endParaRPr lang="en-US" sz="1200" dirty="0"/>
          </a:p>
        </p:txBody>
      </p:sp>
      <p:sp>
        <p:nvSpPr>
          <p:cNvPr id="25" name="Text 23"/>
          <p:cNvSpPr/>
          <p:nvPr/>
        </p:nvSpPr>
        <p:spPr>
          <a:xfrm>
            <a:off x="9875520" y="4096512"/>
            <a:ext cx="1645920" cy="384048"/>
          </a:xfrm>
          <a:prstGeom prst="rect">
            <a:avLst/>
          </a:prstGeom>
          <a:noFill/>
          <a:ln/>
        </p:spPr>
        <p:txBody>
          <a:bodyPr wrap="square" rtlCol="0" anchor="ctr"/>
          <a:lstStyle/>
          <a:p>
            <a:pPr algn="r" indent="0" marL="0">
              <a:buNone/>
            </a:pPr>
            <a:r>
              <a:rPr lang="en-US" sz="1200" b="1" dirty="0">
                <a:solidFill>
                  <a:srgbClr val="8B949E"/>
                </a:solidFill>
                <a:latin typeface="Arial" pitchFamily="34" charset="0"/>
                <a:ea typeface="Arial" pitchFamily="34" charset="-122"/>
                <a:cs typeface="Arial" pitchFamily="34" charset="-120"/>
              </a:rPr>
              <a:t>Applied</a:t>
            </a:r>
            <a:endParaRPr lang="en-US" sz="1200" dirty="0"/>
          </a:p>
        </p:txBody>
      </p:sp>
      <p:sp>
        <p:nvSpPr>
          <p:cNvPr id="26" name="Text 24"/>
          <p:cNvSpPr/>
          <p:nvPr/>
        </p:nvSpPr>
        <p:spPr>
          <a:xfrm>
            <a:off x="6675120" y="4526280"/>
            <a:ext cx="3200400" cy="384048"/>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Gates Foundation</a:t>
            </a:r>
            <a:endParaRPr lang="en-US" sz="1200" dirty="0"/>
          </a:p>
        </p:txBody>
      </p:sp>
      <p:sp>
        <p:nvSpPr>
          <p:cNvPr id="27" name="Text 25"/>
          <p:cNvSpPr/>
          <p:nvPr/>
        </p:nvSpPr>
        <p:spPr>
          <a:xfrm>
            <a:off x="9875520" y="4526280"/>
            <a:ext cx="1645920" cy="384048"/>
          </a:xfrm>
          <a:prstGeom prst="rect">
            <a:avLst/>
          </a:prstGeom>
          <a:noFill/>
          <a:ln/>
        </p:spPr>
        <p:txBody>
          <a:bodyPr wrap="square" rtlCol="0" anchor="ctr"/>
          <a:lstStyle/>
          <a:p>
            <a:pPr algn="r" indent="0" marL="0">
              <a:buNone/>
            </a:pPr>
            <a:r>
              <a:rPr lang="en-US" sz="1200" b="1" dirty="0">
                <a:solidFill>
                  <a:srgbClr val="8B949E"/>
                </a:solidFill>
                <a:latin typeface="Arial" pitchFamily="34" charset="0"/>
                <a:ea typeface="Arial" pitchFamily="34" charset="-122"/>
                <a:cs typeface="Arial" pitchFamily="34" charset="-120"/>
              </a:rPr>
              <a:t>Applied</a:t>
            </a:r>
            <a:endParaRPr lang="en-US" sz="1200" dirty="0"/>
          </a:p>
        </p:txBody>
      </p:sp>
      <p:sp>
        <p:nvSpPr>
          <p:cNvPr id="28" name="Text 26"/>
          <p:cNvSpPr/>
          <p:nvPr/>
        </p:nvSpPr>
        <p:spPr>
          <a:xfrm>
            <a:off x="6675120" y="4956048"/>
            <a:ext cx="3200400" cy="384048"/>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NSF</a:t>
            </a:r>
            <a:endParaRPr lang="en-US" sz="1200" dirty="0"/>
          </a:p>
        </p:txBody>
      </p:sp>
      <p:sp>
        <p:nvSpPr>
          <p:cNvPr id="29" name="Text 27"/>
          <p:cNvSpPr/>
          <p:nvPr/>
        </p:nvSpPr>
        <p:spPr>
          <a:xfrm>
            <a:off x="9875520" y="4956048"/>
            <a:ext cx="1645920" cy="384048"/>
          </a:xfrm>
          <a:prstGeom prst="rect">
            <a:avLst/>
          </a:prstGeom>
          <a:noFill/>
          <a:ln/>
        </p:spPr>
        <p:txBody>
          <a:bodyPr wrap="square" rtlCol="0" anchor="ctr"/>
          <a:lstStyle/>
          <a:p>
            <a:pPr algn="r" indent="0" marL="0">
              <a:buNone/>
            </a:pPr>
            <a:r>
              <a:rPr lang="en-US" sz="1200" b="1" dirty="0">
                <a:solidFill>
                  <a:srgbClr val="8B949E"/>
                </a:solidFill>
                <a:latin typeface="Arial" pitchFamily="34" charset="0"/>
                <a:ea typeface="Arial" pitchFamily="34" charset="-122"/>
                <a:cs typeface="Arial" pitchFamily="34" charset="-120"/>
              </a:rPr>
              <a:t>Applied</a:t>
            </a:r>
            <a:endParaRPr lang="en-US" sz="1200" dirty="0"/>
          </a:p>
        </p:txBody>
      </p:sp>
      <p:sp>
        <p:nvSpPr>
          <p:cNvPr id="30" name="Text 28"/>
          <p:cNvSpPr/>
          <p:nvPr/>
        </p:nvSpPr>
        <p:spPr>
          <a:xfrm>
            <a:off x="6675120" y="5385816"/>
            <a:ext cx="3200400" cy="384048"/>
          </a:xfrm>
          <a:prstGeom prst="rect">
            <a:avLst/>
          </a:prstGeom>
          <a:noFill/>
          <a:ln/>
        </p:spPr>
        <p:txBody>
          <a:bodyPr wrap="square" rtlCol="0" anchor="ctr"/>
          <a:lstStyle/>
          <a:p>
            <a:pPr indent="0" marL="0">
              <a:buNone/>
            </a:pPr>
            <a:r>
              <a:rPr lang="en-US" sz="1200" dirty="0">
                <a:solidFill>
                  <a:srgbClr val="8B949E"/>
                </a:solidFill>
                <a:latin typeface="Arial" pitchFamily="34" charset="0"/>
                <a:ea typeface="Arial" pitchFamily="34" charset="-122"/>
                <a:cs typeface="Arial" pitchFamily="34" charset="-120"/>
              </a:rPr>
              <a:t>DOL RESTART</a:t>
            </a:r>
            <a:endParaRPr lang="en-US" sz="1200" dirty="0"/>
          </a:p>
        </p:txBody>
      </p:sp>
      <p:sp>
        <p:nvSpPr>
          <p:cNvPr id="31" name="Text 29"/>
          <p:cNvSpPr/>
          <p:nvPr/>
        </p:nvSpPr>
        <p:spPr>
          <a:xfrm>
            <a:off x="9875520" y="5385816"/>
            <a:ext cx="1645920" cy="384048"/>
          </a:xfrm>
          <a:prstGeom prst="rect">
            <a:avLst/>
          </a:prstGeom>
          <a:noFill/>
          <a:ln/>
        </p:spPr>
        <p:txBody>
          <a:bodyPr wrap="square" rtlCol="0" anchor="ctr"/>
          <a:lstStyle/>
          <a:p>
            <a:pPr algn="r" indent="0" marL="0">
              <a:buNone/>
            </a:pPr>
            <a:r>
              <a:rPr lang="en-US" sz="1200" b="1" dirty="0">
                <a:solidFill>
                  <a:srgbClr val="F0B429"/>
                </a:solidFill>
                <a:latin typeface="Arial" pitchFamily="34" charset="0"/>
                <a:ea typeface="Arial" pitchFamily="34" charset="-122"/>
                <a:cs typeface="Arial" pitchFamily="34" charset="-120"/>
              </a:rPr>
              <a:t>$5.1M (In Progress)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365760"/>
            <a:ext cx="4572000" cy="457200"/>
          </a:xfrm>
          <a:prstGeom prst="rect">
            <a:avLst/>
          </a:prstGeom>
          <a:noFill/>
          <a:ln/>
        </p:spPr>
        <p:txBody>
          <a:bodyPr wrap="square" rtlCol="0" anchor="ctr"/>
          <a:lstStyle/>
          <a:p>
            <a:pPr indent="0" marL="0">
              <a:buNone/>
            </a:pPr>
            <a:r>
              <a:rPr lang="en-US" sz="1300" b="1" dirty="0">
                <a:solidFill>
                  <a:srgbClr val="F0B429"/>
                </a:solidFill>
                <a:latin typeface="Arial" pitchFamily="34" charset="0"/>
                <a:ea typeface="Arial" pitchFamily="34" charset="-122"/>
                <a:cs typeface="Arial" pitchFamily="34" charset="-120"/>
              </a:rPr>
              <a:t>The Ask</a:t>
            </a:r>
            <a:endParaRPr lang="en-US" sz="1300" dirty="0"/>
          </a:p>
        </p:txBody>
      </p:sp>
      <p:sp>
        <p:nvSpPr>
          <p:cNvPr id="3" name="Text 1"/>
          <p:cNvSpPr/>
          <p:nvPr/>
        </p:nvSpPr>
        <p:spPr>
          <a:xfrm>
            <a:off x="731520" y="640080"/>
            <a:ext cx="10698480" cy="1005840"/>
          </a:xfrm>
          <a:prstGeom prst="rect">
            <a:avLst/>
          </a:prstGeom>
          <a:noFill/>
          <a:ln/>
        </p:spPr>
        <p:txBody>
          <a:bodyPr wrap="square" rtlCol="0" anchor="ctr"/>
          <a:lstStyle/>
          <a:p>
            <a:pPr algn="ctr" indent="0" marL="0">
              <a:buNone/>
            </a:pPr>
            <a:r>
              <a:rPr lang="en-US" sz="6400" b="1" dirty="0">
                <a:solidFill>
                  <a:srgbClr val="F0B429"/>
                </a:solidFill>
                <a:latin typeface="Arial" pitchFamily="34" charset="0"/>
                <a:ea typeface="Arial" pitchFamily="34" charset="-122"/>
                <a:cs typeface="Arial" pitchFamily="34" charset="-120"/>
              </a:rPr>
              <a:t>$1,000,000</a:t>
            </a:r>
            <a:endParaRPr lang="en-US" sz="6400" dirty="0"/>
          </a:p>
        </p:txBody>
      </p:sp>
      <p:sp>
        <p:nvSpPr>
          <p:cNvPr id="4" name="Text 2"/>
          <p:cNvSpPr/>
          <p:nvPr/>
        </p:nvSpPr>
        <p:spPr>
          <a:xfrm>
            <a:off x="731520" y="1554480"/>
            <a:ext cx="10698480" cy="365760"/>
          </a:xfrm>
          <a:prstGeom prst="rect">
            <a:avLst/>
          </a:prstGeom>
          <a:noFill/>
          <a:ln/>
        </p:spPr>
        <p:txBody>
          <a:bodyPr wrap="square" rtlCol="0" anchor="ctr"/>
          <a:lstStyle/>
          <a:p>
            <a:pPr algn="ctr" indent="0" marL="0">
              <a:buNone/>
            </a:pPr>
            <a:r>
              <a:rPr lang="en-US" sz="1600" dirty="0">
                <a:solidFill>
                  <a:srgbClr val="8B949E"/>
                </a:solidFill>
                <a:latin typeface="Arial" pitchFamily="34" charset="0"/>
                <a:ea typeface="Arial" pitchFamily="34" charset="-122"/>
                <a:cs typeface="Arial" pitchFamily="34" charset="-120"/>
              </a:rPr>
              <a:t>SAFE Investment  •  Integrated Services and Solutions LLC</a:t>
            </a:r>
            <a:endParaRPr lang="en-US" sz="1600" dirty="0"/>
          </a:p>
        </p:txBody>
      </p:sp>
      <p:sp>
        <p:nvSpPr>
          <p:cNvPr id="5" name="Shape 3"/>
          <p:cNvSpPr/>
          <p:nvPr/>
        </p:nvSpPr>
        <p:spPr>
          <a:xfrm>
            <a:off x="731520" y="2194560"/>
            <a:ext cx="3383280" cy="1828800"/>
          </a:xfrm>
          <a:prstGeom prst="roundRect">
            <a:avLst>
              <a:gd name="adj" fmla="val 5000"/>
            </a:avLst>
          </a:prstGeom>
          <a:solidFill>
            <a:srgbClr val="161B22"/>
          </a:solidFill>
          <a:ln w="25400">
            <a:solidFill>
              <a:srgbClr val="0079F2"/>
            </a:solidFill>
            <a:prstDash val="solid"/>
          </a:ln>
        </p:spPr>
      </p:sp>
      <p:sp>
        <p:nvSpPr>
          <p:cNvPr id="6" name="Text 4"/>
          <p:cNvSpPr/>
          <p:nvPr/>
        </p:nvSpPr>
        <p:spPr>
          <a:xfrm>
            <a:off x="731520" y="2286000"/>
            <a:ext cx="3383280" cy="548640"/>
          </a:xfrm>
          <a:prstGeom prst="rect">
            <a:avLst/>
          </a:prstGeom>
          <a:noFill/>
          <a:ln/>
        </p:spPr>
        <p:txBody>
          <a:bodyPr wrap="square" rtlCol="0" anchor="ctr"/>
          <a:lstStyle/>
          <a:p>
            <a:pPr algn="ctr" indent="0" marL="0">
              <a:buNone/>
            </a:pPr>
            <a:r>
              <a:rPr lang="en-US" sz="2600" b="1" dirty="0">
                <a:solidFill>
                  <a:srgbClr val="0079F2"/>
                </a:solidFill>
                <a:latin typeface="Arial" pitchFamily="34" charset="0"/>
                <a:ea typeface="Arial" pitchFamily="34" charset="-122"/>
                <a:cs typeface="Arial" pitchFamily="34" charset="-120"/>
              </a:rPr>
              <a:t>40%</a:t>
            </a:r>
            <a:endParaRPr lang="en-US" sz="2600" dirty="0"/>
          </a:p>
        </p:txBody>
      </p:sp>
      <p:sp>
        <p:nvSpPr>
          <p:cNvPr id="7" name="Text 5"/>
          <p:cNvSpPr/>
          <p:nvPr/>
        </p:nvSpPr>
        <p:spPr>
          <a:xfrm>
            <a:off x="731520" y="2743200"/>
            <a:ext cx="3383280" cy="3657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 New Markets</a:t>
            </a:r>
            <a:endParaRPr lang="en-US" sz="1500" dirty="0"/>
          </a:p>
        </p:txBody>
      </p:sp>
      <p:sp>
        <p:nvSpPr>
          <p:cNvPr id="8" name="Text 6"/>
          <p:cNvSpPr/>
          <p:nvPr/>
        </p:nvSpPr>
        <p:spPr>
          <a:xfrm>
            <a:off x="1005840" y="3108960"/>
            <a:ext cx="2834640" cy="640080"/>
          </a:xfrm>
          <a:prstGeom prst="rect">
            <a:avLst/>
          </a:prstGeom>
          <a:noFill/>
          <a:ln/>
        </p:spPr>
        <p:txBody>
          <a:bodyPr wrap="square" rtlCol="0" anchor="ctr"/>
          <a:lstStyle/>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Scale from Central TX to</a:t>
            </a:r>
            <a:endParaRPr lang="en-US" sz="1100" dirty="0"/>
          </a:p>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5 additional regions in 12 months</a:t>
            </a:r>
            <a:endParaRPr lang="en-US" sz="1100" dirty="0"/>
          </a:p>
        </p:txBody>
      </p:sp>
      <p:sp>
        <p:nvSpPr>
          <p:cNvPr id="9" name="Shape 7"/>
          <p:cNvSpPr/>
          <p:nvPr/>
        </p:nvSpPr>
        <p:spPr>
          <a:xfrm>
            <a:off x="4389120" y="2194560"/>
            <a:ext cx="3383280" cy="1828800"/>
          </a:xfrm>
          <a:prstGeom prst="roundRect">
            <a:avLst>
              <a:gd name="adj" fmla="val 5000"/>
            </a:avLst>
          </a:prstGeom>
          <a:solidFill>
            <a:srgbClr val="161B22"/>
          </a:solidFill>
          <a:ln w="25400">
            <a:solidFill>
              <a:srgbClr val="00C9A7"/>
            </a:solidFill>
            <a:prstDash val="solid"/>
          </a:ln>
        </p:spPr>
      </p:sp>
      <p:sp>
        <p:nvSpPr>
          <p:cNvPr id="10" name="Text 8"/>
          <p:cNvSpPr/>
          <p:nvPr/>
        </p:nvSpPr>
        <p:spPr>
          <a:xfrm>
            <a:off x="4389120" y="2286000"/>
            <a:ext cx="3383280" cy="548640"/>
          </a:xfrm>
          <a:prstGeom prst="rect">
            <a:avLst/>
          </a:prstGeom>
          <a:noFill/>
          <a:ln/>
        </p:spPr>
        <p:txBody>
          <a:bodyPr wrap="square" rtlCol="0" anchor="ctr"/>
          <a:lstStyle/>
          <a:p>
            <a:pPr algn="ctr" indent="0" marL="0">
              <a:buNone/>
            </a:pPr>
            <a:r>
              <a:rPr lang="en-US" sz="2600" b="1" dirty="0">
                <a:solidFill>
                  <a:srgbClr val="00C9A7"/>
                </a:solidFill>
                <a:latin typeface="Arial" pitchFamily="34" charset="0"/>
                <a:ea typeface="Arial" pitchFamily="34" charset="-122"/>
                <a:cs typeface="Arial" pitchFamily="34" charset="-120"/>
              </a:rPr>
              <a:t>35%</a:t>
            </a:r>
            <a:endParaRPr lang="en-US" sz="2600" dirty="0"/>
          </a:p>
        </p:txBody>
      </p:sp>
      <p:sp>
        <p:nvSpPr>
          <p:cNvPr id="11" name="Text 9"/>
          <p:cNvSpPr/>
          <p:nvPr/>
        </p:nvSpPr>
        <p:spPr>
          <a:xfrm>
            <a:off x="4389120" y="2743200"/>
            <a:ext cx="3383280" cy="3657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Sales &amp; Success Team</a:t>
            </a:r>
            <a:endParaRPr lang="en-US" sz="1500" dirty="0"/>
          </a:p>
        </p:txBody>
      </p:sp>
      <p:sp>
        <p:nvSpPr>
          <p:cNvPr id="12" name="Text 10"/>
          <p:cNvSpPr/>
          <p:nvPr/>
        </p:nvSpPr>
        <p:spPr>
          <a:xfrm>
            <a:off x="4663440" y="3108960"/>
            <a:ext cx="2834640" cy="640080"/>
          </a:xfrm>
          <a:prstGeom prst="rect">
            <a:avLst/>
          </a:prstGeom>
          <a:noFill/>
          <a:ln/>
        </p:spPr>
        <p:txBody>
          <a:bodyPr wrap="square" rtlCol="0" anchor="ctr"/>
          <a:lstStyle/>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Hire sales reps, customer success,</a:t>
            </a:r>
            <a:endParaRPr lang="en-US" sz="1100" dirty="0"/>
          </a:p>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and implementation support</a:t>
            </a:r>
            <a:endParaRPr lang="en-US" sz="1100" dirty="0"/>
          </a:p>
        </p:txBody>
      </p:sp>
      <p:sp>
        <p:nvSpPr>
          <p:cNvPr id="13" name="Shape 11"/>
          <p:cNvSpPr/>
          <p:nvPr/>
        </p:nvSpPr>
        <p:spPr>
          <a:xfrm>
            <a:off x="8046720" y="2194560"/>
            <a:ext cx="3383280" cy="1828800"/>
          </a:xfrm>
          <a:prstGeom prst="roundRect">
            <a:avLst>
              <a:gd name="adj" fmla="val 5000"/>
            </a:avLst>
          </a:prstGeom>
          <a:solidFill>
            <a:srgbClr val="161B22"/>
          </a:solidFill>
          <a:ln w="25400">
            <a:solidFill>
              <a:srgbClr val="F0B429"/>
            </a:solidFill>
            <a:prstDash val="solid"/>
          </a:ln>
        </p:spPr>
      </p:sp>
      <p:sp>
        <p:nvSpPr>
          <p:cNvPr id="14" name="Text 12"/>
          <p:cNvSpPr/>
          <p:nvPr/>
        </p:nvSpPr>
        <p:spPr>
          <a:xfrm>
            <a:off x="8046720" y="2286000"/>
            <a:ext cx="3383280" cy="548640"/>
          </a:xfrm>
          <a:prstGeom prst="rect">
            <a:avLst/>
          </a:prstGeom>
          <a:noFill/>
          <a:ln/>
        </p:spPr>
        <p:txBody>
          <a:bodyPr wrap="square" rtlCol="0" anchor="ctr"/>
          <a:lstStyle/>
          <a:p>
            <a:pPr algn="ctr" indent="0" marL="0">
              <a:buNone/>
            </a:pPr>
            <a:r>
              <a:rPr lang="en-US" sz="2600" b="1" dirty="0">
                <a:solidFill>
                  <a:srgbClr val="F0B429"/>
                </a:solidFill>
                <a:latin typeface="Arial" pitchFamily="34" charset="0"/>
                <a:ea typeface="Arial" pitchFamily="34" charset="-122"/>
                <a:cs typeface="Arial" pitchFamily="34" charset="-120"/>
              </a:rPr>
              <a:t>25%</a:t>
            </a:r>
            <a:endParaRPr lang="en-US" sz="2600" dirty="0"/>
          </a:p>
        </p:txBody>
      </p:sp>
      <p:sp>
        <p:nvSpPr>
          <p:cNvPr id="15" name="Text 13"/>
          <p:cNvSpPr/>
          <p:nvPr/>
        </p:nvSpPr>
        <p:spPr>
          <a:xfrm>
            <a:off x="8046720" y="2743200"/>
            <a:ext cx="3383280" cy="36576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Product &amp; Infrastructure</a:t>
            </a:r>
            <a:endParaRPr lang="en-US" sz="1500" dirty="0"/>
          </a:p>
        </p:txBody>
      </p:sp>
      <p:sp>
        <p:nvSpPr>
          <p:cNvPr id="16" name="Text 14"/>
          <p:cNvSpPr/>
          <p:nvPr/>
        </p:nvSpPr>
        <p:spPr>
          <a:xfrm>
            <a:off x="8321040" y="3108960"/>
            <a:ext cx="2834640" cy="640080"/>
          </a:xfrm>
          <a:prstGeom prst="rect">
            <a:avLst/>
          </a:prstGeom>
          <a:noFill/>
          <a:ln/>
        </p:spPr>
        <p:txBody>
          <a:bodyPr wrap="square" rtlCol="0" anchor="ctr"/>
          <a:lstStyle/>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Platform hardening, compliance</a:t>
            </a:r>
            <a:endParaRPr lang="en-US" sz="1100" dirty="0"/>
          </a:p>
          <a:p>
            <a:pPr algn="ctr" indent="0" marL="0">
              <a:lnSpc>
                <a:spcPct val="120000"/>
              </a:lnSpc>
              <a:buNone/>
            </a:pPr>
            <a:r>
              <a:rPr lang="en-US" sz="1100" dirty="0">
                <a:solidFill>
                  <a:srgbClr val="8B949E"/>
                </a:solidFill>
                <a:latin typeface="Arial" pitchFamily="34" charset="0"/>
                <a:ea typeface="Arial" pitchFamily="34" charset="-122"/>
                <a:cs typeface="Arial" pitchFamily="34" charset="-120"/>
              </a:rPr>
              <a:t>certifications, hosting scale-up</a:t>
            </a:r>
            <a:endParaRPr lang="en-US" sz="1100" dirty="0"/>
          </a:p>
        </p:txBody>
      </p:sp>
      <p:sp>
        <p:nvSpPr>
          <p:cNvPr id="17" name="Shape 15"/>
          <p:cNvSpPr/>
          <p:nvPr/>
        </p:nvSpPr>
        <p:spPr>
          <a:xfrm>
            <a:off x="2286000" y="4297680"/>
            <a:ext cx="7589520" cy="548640"/>
          </a:xfrm>
          <a:prstGeom prst="roundRect">
            <a:avLst>
              <a:gd name="adj" fmla="val 16667"/>
            </a:avLst>
          </a:prstGeom>
          <a:solidFill>
            <a:srgbClr val="161B22"/>
          </a:solidFill>
          <a:ln w="12700">
            <a:solidFill>
              <a:srgbClr val="F0B429"/>
            </a:solidFill>
            <a:prstDash val="solid"/>
          </a:ln>
        </p:spPr>
      </p:sp>
      <p:sp>
        <p:nvSpPr>
          <p:cNvPr id="18" name="Text 16"/>
          <p:cNvSpPr/>
          <p:nvPr/>
        </p:nvSpPr>
        <p:spPr>
          <a:xfrm>
            <a:off x="2286000" y="4297680"/>
            <a:ext cx="7589520" cy="548640"/>
          </a:xfrm>
          <a:prstGeom prst="rect">
            <a:avLst/>
          </a:prstGeom>
          <a:noFill/>
          <a:ln/>
        </p:spPr>
        <p:txBody>
          <a:bodyPr wrap="square" rtlCol="0" anchor="ctr"/>
          <a:lstStyle/>
          <a:p>
            <a:pPr algn="ctr" indent="0" marL="0">
              <a:buNone/>
            </a:pPr>
            <a:r>
              <a:rPr lang="en-US" sz="1400" b="1" dirty="0">
                <a:solidFill>
                  <a:srgbClr val="F0B429"/>
                </a:solidFill>
                <a:latin typeface="Arial" pitchFamily="34" charset="0"/>
                <a:ea typeface="Arial" pitchFamily="34" charset="-122"/>
                <a:cs typeface="Arial" pitchFamily="34" charset="-120"/>
              </a:rPr>
              <a:t>12-Month Target:   $2M ARR   •   5 Markets   •   50+ Licensed Organizations</a:t>
            </a:r>
            <a:endParaRPr lang="en-US" sz="1400" dirty="0"/>
          </a:p>
        </p:txBody>
      </p:sp>
      <p:sp>
        <p:nvSpPr>
          <p:cNvPr id="19" name="Shape 17"/>
          <p:cNvSpPr/>
          <p:nvPr/>
        </p:nvSpPr>
        <p:spPr>
          <a:xfrm>
            <a:off x="731520" y="5120640"/>
            <a:ext cx="10698480" cy="27432"/>
          </a:xfrm>
          <a:prstGeom prst="rect">
            <a:avLst/>
          </a:prstGeom>
          <a:solidFill>
            <a:srgbClr val="0079F2"/>
          </a:solidFill>
          <a:ln/>
        </p:spPr>
      </p:sp>
      <p:sp>
        <p:nvSpPr>
          <p:cNvPr id="20" name="Text 18"/>
          <p:cNvSpPr/>
          <p:nvPr/>
        </p:nvSpPr>
        <p:spPr>
          <a:xfrm>
            <a:off x="731520" y="5303520"/>
            <a:ext cx="5486400" cy="36576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Dr. Terry Flood, DHA, DBA</a:t>
            </a:r>
            <a:endParaRPr lang="en-US" sz="1800" dirty="0"/>
          </a:p>
        </p:txBody>
      </p:sp>
      <p:sp>
        <p:nvSpPr>
          <p:cNvPr id="21" name="Text 19"/>
          <p:cNvSpPr/>
          <p:nvPr/>
        </p:nvSpPr>
        <p:spPr>
          <a:xfrm>
            <a:off x="731520" y="5623560"/>
            <a:ext cx="8229600" cy="548640"/>
          </a:xfrm>
          <a:prstGeom prst="rect">
            <a:avLst/>
          </a:prstGeom>
          <a:noFill/>
          <a:ln/>
        </p:spPr>
        <p:txBody>
          <a:bodyPr wrap="square" rtlCol="0" anchor="ctr"/>
          <a:lstStyle/>
          <a:p>
            <a:pPr indent="0" marL="0">
              <a:lnSpc>
                <a:spcPct val="130000"/>
              </a:lnSpc>
              <a:buNone/>
            </a:pPr>
            <a:r>
              <a:rPr lang="en-US" sz="1100" dirty="0">
                <a:solidFill>
                  <a:srgbClr val="8B949E"/>
                </a:solidFill>
                <a:latin typeface="Arial" pitchFamily="34" charset="0"/>
                <a:ea typeface="Arial" pitchFamily="34" charset="-122"/>
                <a:cs typeface="Arial" pitchFamily="34" charset="-120"/>
              </a:rPr>
              <a:t>U.S. Army Veteran  •  DHA  •  DBA  •  MS Criminal Justice  •  MS I/O Psychology  •  MS HRM</a:t>
            </a:r>
            <a:endParaRPr lang="en-US" sz="1100" dirty="0"/>
          </a:p>
          <a:p>
            <a:pPr indent="0" marL="0">
              <a:lnSpc>
                <a:spcPct val="130000"/>
              </a:lnSpc>
              <a:buNone/>
            </a:pPr>
            <a:r>
              <a:rPr lang="en-US" sz="1100" dirty="0">
                <a:solidFill>
                  <a:srgbClr val="8B949E"/>
                </a:solidFill>
                <a:latin typeface="Arial" pitchFamily="34" charset="0"/>
                <a:ea typeface="Arial" pitchFamily="34" charset="-122"/>
                <a:cs typeface="Arial" pitchFamily="34" charset="-120"/>
              </a:rPr>
              <a:t>Implementation Science (Dartmouth)  •  25 Years Direct Service in the Communities ThriveUp Serves</a:t>
            </a:r>
            <a:endParaRPr lang="en-US" sz="1100" dirty="0"/>
          </a:p>
        </p:txBody>
      </p:sp>
      <p:sp>
        <p:nvSpPr>
          <p:cNvPr id="22" name="Text 20"/>
          <p:cNvSpPr/>
          <p:nvPr/>
        </p:nvSpPr>
        <p:spPr>
          <a:xfrm>
            <a:off x="1371600" y="6126480"/>
            <a:ext cx="9418320" cy="548640"/>
          </a:xfrm>
          <a:prstGeom prst="rect">
            <a:avLst/>
          </a:prstGeom>
          <a:noFill/>
          <a:ln/>
        </p:spPr>
        <p:txBody>
          <a:bodyPr wrap="square" rtlCol="0" anchor="ctr"/>
          <a:lstStyle/>
          <a:p>
            <a:pPr algn="ctr" indent="0" marL="0">
              <a:lnSpc>
                <a:spcPct val="125000"/>
              </a:lnSpc>
              <a:buNone/>
            </a:pPr>
            <a:r>
              <a:rPr lang="en-US" sz="1600" b="1" i="1" dirty="0">
                <a:solidFill>
                  <a:srgbClr val="00C9A7"/>
                </a:solidFill>
                <a:latin typeface="Arial" pitchFamily="34" charset="0"/>
                <a:ea typeface="Arial" pitchFamily="34" charset="-122"/>
                <a:cs typeface="Arial" pitchFamily="34" charset="-120"/>
              </a:rPr>
              <a:t>"I didn't build ThriveUp because it would be a good business.</a:t>
            </a:r>
            <a:endParaRPr lang="en-US" sz="1600" dirty="0"/>
          </a:p>
          <a:p>
            <a:pPr algn="ctr" indent="0" marL="0">
              <a:lnSpc>
                <a:spcPct val="125000"/>
              </a:lnSpc>
              <a:buNone/>
            </a:pPr>
            <a:r>
              <a:rPr lang="en-US" sz="1600" b="1" i="1" dirty="0">
                <a:solidFill>
                  <a:srgbClr val="00C9A7"/>
                </a:solidFill>
                <a:latin typeface="Arial" pitchFamily="34" charset="0"/>
                <a:ea typeface="Arial" pitchFamily="34" charset="-122"/>
                <a:cs typeface="Arial" pitchFamily="34" charset="-120"/>
              </a:rPr>
              <a:t>I built it because the communities I serve were dying without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Integrated Services and Solutions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ThriveUp — The Pitch by Deel 2026</dc:title>
  <dc:subject>PptxGenJS Presentation</dc:subject>
  <dc:creator>ThriveUp</dc:creator>
  <cp:lastModifiedBy>ThriveUp</cp:lastModifiedBy>
  <cp:revision>1</cp:revision>
  <dcterms:created xsi:type="dcterms:W3CDTF">2026-04-04T17:30:12Z</dcterms:created>
  <dcterms:modified xsi:type="dcterms:W3CDTF">2026-04-04T17:30:12Z</dcterms:modified>
</cp:coreProperties>
</file>