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ThriveUp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731520" y="21031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Living Ecosystem of Interconnected Platforms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Sees the Whole Person — From Any Entry Point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3200400"/>
            <a:ext cx="3657600" cy="36576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Terry Flood, DHA, DBA  |  Founder &amp; CEO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Services and Solutions LLC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42976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Army Veteran  •  5× Master's  •  Implementation Science (Dartmouth)  •  25 Years Direct Service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5303520"/>
            <a:ext cx="1783080" cy="365760"/>
          </a:xfrm>
          <a:prstGeom prst="roundRect">
            <a:avLst>
              <a:gd name="adj" fmla="val 37500"/>
            </a:avLst>
          </a:prstGeom>
          <a:solidFill>
            <a:srgbClr val="161B22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530352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Criminal Justice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77440" y="5303520"/>
            <a:ext cx="1783080" cy="365760"/>
          </a:xfrm>
          <a:prstGeom prst="roundRect">
            <a:avLst>
              <a:gd name="adj" fmla="val 37500"/>
            </a:avLst>
          </a:prstGeom>
          <a:solidFill>
            <a:srgbClr val="161B22"/>
          </a:solidFill>
          <a:ln w="19050">
            <a:solidFill>
              <a:srgbClr val="E845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530352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Equity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97680" y="5303520"/>
            <a:ext cx="1783080" cy="365760"/>
          </a:xfrm>
          <a:prstGeom prst="roundRect">
            <a:avLst>
              <a:gd name="adj" fmla="val 37500"/>
            </a:avLst>
          </a:prstGeom>
          <a:solidFill>
            <a:srgbClr val="161B22"/>
          </a:solidFill>
          <a:ln w="19050">
            <a:solidFill>
              <a:srgbClr val="0079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30352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5303520"/>
            <a:ext cx="1783080" cy="365760"/>
          </a:xfrm>
          <a:prstGeom prst="roundRect">
            <a:avLst>
              <a:gd name="adj" fmla="val 37500"/>
            </a:avLst>
          </a:prstGeom>
          <a:solidFill>
            <a:srgbClr val="161B22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0" y="530352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5303520"/>
            <a:ext cx="1783080" cy="365760"/>
          </a:xfrm>
          <a:prstGeom prst="roundRect">
            <a:avLst>
              <a:gd name="adj" fmla="val 37500"/>
            </a:avLst>
          </a:prstGeom>
          <a:solidFill>
            <a:srgbClr val="161B22"/>
          </a:solidFill>
          <a:ln w="19050">
            <a:solidFill>
              <a:srgbClr val="2EA0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530352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Veterans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058400" y="5303520"/>
            <a:ext cx="1783080" cy="365760"/>
          </a:xfrm>
          <a:prstGeom prst="roundRect">
            <a:avLst>
              <a:gd name="adj" fmla="val 37500"/>
            </a:avLst>
          </a:prstGeom>
          <a:solidFill>
            <a:srgbClr val="161B22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0" y="530352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6126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Pitch by Deel  |  New York  | 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 Billion Spent. Systems That</a:t>
            </a:r>
            <a:endParaRPr lang="en-US" sz="3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Talk. People Who Die in the Gaps.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agency, school, clinic, and workforce board runs its own silo. A person with co-occurring needs — and they ALWAYS have co-occurring needs — gets sent to disconnected agencies that will never speak to each other. The cracks between systems are where people fall.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9260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971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returning citizens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re-arrested within 3 years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29260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9050">
            <a:solidFill>
              <a:srgbClr val="E8459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2971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434840" y="370332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maternal mortality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Black women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29260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9050">
            <a:solidFill>
              <a:srgbClr val="2EA0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0" y="297180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229600" y="370332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veterans underemployed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separation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4632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9204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1.2M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drop out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high school yearly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51960" y="484632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9050">
            <a:solidFill>
              <a:srgbClr val="007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51960" y="489204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434840" y="56235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systems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person in need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46720" y="484632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161B22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4892040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229600" y="5623560"/>
            <a:ext cx="3246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spent on connecting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those systems together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Ecosystem. Six Domains.</a:t>
            </a:r>
            <a:endParaRPr lang="en-US" sz="3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Platforms That Hold Each Other Accountable.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platform sees the others. Each platform can flag gaps, escalate needs, and trigger services across domains. Communities enter where their need is greatest — and discover every resource connected to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754880" y="4160520"/>
            <a:ext cx="2651760" cy="1097280"/>
          </a:xfrm>
          <a:prstGeom prst="ellipse">
            <a:avLst/>
          </a:prstGeom>
          <a:solidFill>
            <a:srgbClr val="161B22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0" y="416052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Intelligence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</a:t>
            </a:r>
            <a:endParaRPr lang="en-US" sz="11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Engines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8600" y="2560320"/>
            <a:ext cx="3749040" cy="2514600"/>
          </a:xfrm>
          <a:prstGeom prst="roundRect">
            <a:avLst>
              <a:gd name="adj" fmla="val 2909"/>
            </a:avLst>
          </a:prstGeom>
          <a:solidFill>
            <a:srgbClr val="161B22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257860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CRIMINAL JUSTICE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SAFETY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136392"/>
            <a:ext cx="3108960" cy="1828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LifeBridge (Reentry)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" y="358444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SafeReport (Mandated Reporting)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" y="3968496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Shield Atlas (Emergency Mgmt)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8328" y="4352544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ISSS (Youth Supports)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60520" y="2560320"/>
            <a:ext cx="3749040" cy="2514600"/>
          </a:xfrm>
          <a:prstGeom prst="roundRect">
            <a:avLst>
              <a:gd name="adj" fmla="val 2909"/>
            </a:avLst>
          </a:prstGeom>
          <a:solidFill>
            <a:srgbClr val="161B22"/>
          </a:solidFill>
          <a:ln w="19050">
            <a:solidFill>
              <a:srgbClr val="E845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257860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80560" y="3136392"/>
            <a:ext cx="3108960" cy="18288"/>
          </a:xfrm>
          <a:prstGeom prst="rect">
            <a:avLst/>
          </a:prstGeom>
          <a:solidFill>
            <a:srgbClr val="E8459E"/>
          </a:solidFill>
          <a:ln/>
        </p:spPr>
      </p:sp>
      <p:sp>
        <p:nvSpPr>
          <p:cNvPr id="17" name="Text 15"/>
          <p:cNvSpPr/>
          <p:nvPr/>
        </p:nvSpPr>
        <p:spPr>
          <a:xfrm>
            <a:off x="4270248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Black Maternal Health Network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70248" y="358444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Sankofa Health (Breast Cancer)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70248" y="3968496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Autoimmune CoE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70248" y="4352544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Black Men's Health Hub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092440" y="2560320"/>
            <a:ext cx="3749040" cy="2514600"/>
          </a:xfrm>
          <a:prstGeom prst="roundRect">
            <a:avLst>
              <a:gd name="adj" fmla="val 2909"/>
            </a:avLst>
          </a:prstGeom>
          <a:solidFill>
            <a:srgbClr val="161B22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92440" y="257860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412480" y="3136392"/>
            <a:ext cx="310896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8202168" y="320040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Whole-Person Health Ecosystem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02168" y="358444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SafeCogniCare (Cognitive)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02168" y="3968496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PillScheduler (Medication)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02168" y="4352544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WholeMind Learning (Literacy)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8600" y="5349240"/>
            <a:ext cx="3749040" cy="2514600"/>
          </a:xfrm>
          <a:prstGeom prst="roundRect">
            <a:avLst>
              <a:gd name="adj" fmla="val 2909"/>
            </a:avLst>
          </a:prstGeom>
          <a:solidFill>
            <a:srgbClr val="161B22"/>
          </a:solidFill>
          <a:ln w="19050">
            <a:solidFill>
              <a:srgbClr val="0079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536752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925312"/>
            <a:ext cx="3108960" cy="18288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31" name="Text 29"/>
          <p:cNvSpPr/>
          <p:nvPr/>
        </p:nvSpPr>
        <p:spPr>
          <a:xfrm>
            <a:off x="338328" y="598932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Mission Transition (Veterans)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38328" y="637336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Pinnacle Business Conglomerate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38328" y="6757416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Ecosystem Nexus (Careers)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38328" y="7141464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Minority Center of Excellence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160520" y="5349240"/>
            <a:ext cx="3749040" cy="2514600"/>
          </a:xfrm>
          <a:prstGeom prst="roundRect">
            <a:avLst>
              <a:gd name="adj" fmla="val 2909"/>
            </a:avLst>
          </a:prstGeom>
          <a:solidFill>
            <a:srgbClr val="161B22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60520" y="536752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80560" y="5925312"/>
            <a:ext cx="3108960" cy="18288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38" name="Text 36"/>
          <p:cNvSpPr/>
          <p:nvPr/>
        </p:nvSpPr>
        <p:spPr>
          <a:xfrm>
            <a:off x="4270248" y="598932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ThriveUp Academy (K-12+Adult)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270248" y="637336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Better Science Lab / RPLICE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270248" y="6757416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Perfectly Different (SpEd)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270248" y="7141464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LexiBridge (Multilingual)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092440" y="5349240"/>
            <a:ext cx="3749040" cy="2514600"/>
          </a:xfrm>
          <a:prstGeom prst="roundRect">
            <a:avLst>
              <a:gd name="adj" fmla="val 2909"/>
            </a:avLst>
          </a:prstGeom>
          <a:solidFill>
            <a:srgbClr val="161B22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092440" y="5367528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ADVOCACY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412480" y="5925312"/>
            <a:ext cx="3108960" cy="18288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45" name="Text 43"/>
          <p:cNvSpPr/>
          <p:nvPr/>
        </p:nvSpPr>
        <p:spPr>
          <a:xfrm>
            <a:off x="8202168" y="598932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The Collaborative Advocate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8202168" y="637336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Holistic Black Feminine Health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202168" y="6757416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Advertising / Outreach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202168" y="7141464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Video Creator AI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Person. The Whole Ecosystem.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Keisha.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She's a veteran. A mother. A breast cancer survivor. She has depression.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runs a small nonprofit. She needs community resources. She is every woman.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21488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current system, Keisha would need to navigate 8 disconnected agencies, tell her story 8 times, and hope that someone, somewhere, connects the dots. Nobody does. She falls through the cracks.</a:t>
            </a: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endParaRPr lang="en-US" sz="12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ThriveUp ecosystem, Keisha enters through ANY door — and every platform that can help her already knows she's there: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4320" y="310896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9050">
            <a:solidFill>
              <a:srgbClr val="2EA0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313639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She's a veteran.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03120" y="31363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Transition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3337560" cy="18288"/>
          </a:xfrm>
          <a:prstGeom prst="rect">
            <a:avLst/>
          </a:prstGeom>
          <a:solidFill>
            <a:srgbClr val="2EA043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35661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translation, credentialing, employer matching, career tracking — her military service becomes civilian opportunity.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310896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9050">
            <a:solidFill>
              <a:srgbClr val="E845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51960" y="313639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She's a mother.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89320" y="31363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 Maternal Health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43400" y="3474720"/>
            <a:ext cx="3337560" cy="18288"/>
          </a:xfrm>
          <a:prstGeom prst="rect">
            <a:avLst/>
          </a:prstGeom>
          <a:solidFill>
            <a:srgbClr val="E8459E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35661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Prenatal/postnatal care, doula coordination, AI risk screening. If her job is threatened, workforce platform flags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310896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313639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has breast cancer.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875520" y="313639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Sankofa Health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0" y="3474720"/>
            <a:ext cx="333756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35661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navigation, genetic counseling, survivor support. Connected to her behavioral health and medication management.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498348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9050">
            <a:solidFill>
              <a:srgbClr val="007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501091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has depression.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03120" y="50109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Whole-Person Health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349240"/>
            <a:ext cx="3337560" cy="18288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54406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Culturally matched counselor, medication tracking via PillScheduler, cognitive screening via SafeCogniCare.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498348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51960" y="501091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runs a nonprofit.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89320" y="50109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Minority Center of Excellence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343400" y="5349240"/>
            <a:ext cx="3337560" cy="18288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30" name="Text 28"/>
          <p:cNvSpPr/>
          <p:nvPr/>
        </p:nvSpPr>
        <p:spPr>
          <a:xfrm>
            <a:off x="4251960" y="54406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SAM.gov registration, capability statements, government contracting. Pinnacle helps with business growth.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46720" y="4983480"/>
            <a:ext cx="3703320" cy="169164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38160" y="5010912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needs resources.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875520" y="5010912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Advocate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0" y="5349240"/>
            <a:ext cx="3337560" cy="18288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5" name="Text 33"/>
          <p:cNvSpPr/>
          <p:nvPr/>
        </p:nvSpPr>
        <p:spPr>
          <a:xfrm>
            <a:off x="8138160" y="544068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aid, benefits enrollment, housing navigation, childcare. LexiBridge if she needs it in another language.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Ecosystem in Motion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When Life Hits —</a:t>
            </a:r>
            <a:endParaRPr lang="en-US" sz="3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Every Platform Responds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Keisha is 6 months into her cancer treatment. Her depression worsens. She can't work full-time. Her nonprofit is struggling. Her daughter's grades are dropping. In a disconnected system, each of these is a separate crisis handled by a separate agency. In ThriveUp: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2697480"/>
            <a:ext cx="3703320" cy="1874520"/>
          </a:xfrm>
          <a:prstGeom prst="roundRect">
            <a:avLst>
              <a:gd name="adj" fmla="val 3902"/>
            </a:avLst>
          </a:prstGeom>
          <a:solidFill>
            <a:srgbClr val="161B22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7249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Cancer treatment intensifies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→ Behavioral Health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3246120"/>
            <a:ext cx="333756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3375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Sankofa Health alerts her behavioral health provider. PillScheduler adjusts medication tracking. SafeCogniCare monitors cognitive impact of chemo.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60520" y="2697480"/>
            <a:ext cx="3703320" cy="1874520"/>
          </a:xfrm>
          <a:prstGeom prst="roundRect">
            <a:avLst>
              <a:gd name="adj" fmla="val 3902"/>
            </a:avLst>
          </a:prstGeom>
          <a:solidFill>
            <a:srgbClr val="161B22"/>
          </a:solidFill>
          <a:ln w="19050">
            <a:solidFill>
              <a:srgbClr val="E845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27249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Depression worsens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51960" y="301752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Health → Crisis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43400" y="3246120"/>
            <a:ext cx="3337560" cy="18288"/>
          </a:xfrm>
          <a:prstGeom prst="rect">
            <a:avLst/>
          </a:prstGeom>
          <a:solidFill>
            <a:srgbClr val="E8459E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33375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Whole-Person Health flags it. Her counselor is notified. WholeMind Learning provides coping resources. If she's in crisis — the ecosystem knows before she calls a hotline.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2697480"/>
            <a:ext cx="3703320" cy="1874520"/>
          </a:xfrm>
          <a:prstGeom prst="roundRect">
            <a:avLst>
              <a:gd name="adj" fmla="val 3902"/>
            </a:avLst>
          </a:prstGeom>
          <a:solidFill>
            <a:srgbClr val="161B22"/>
          </a:solidFill>
          <a:ln w="19050">
            <a:solidFill>
              <a:srgbClr val="0079F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0" y="27249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Can't work full-time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38160" y="301752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→ Workforce → Community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229600" y="3246120"/>
            <a:ext cx="3337560" cy="18288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19" name="Text 17"/>
          <p:cNvSpPr/>
          <p:nvPr/>
        </p:nvSpPr>
        <p:spPr>
          <a:xfrm>
            <a:off x="8138160" y="33375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platform adjusts her job search to part-time/remote. Benefits enrollment through Collaborative Advocate activates disability and FMLA support.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4754880"/>
            <a:ext cx="3703320" cy="1874520"/>
          </a:xfrm>
          <a:prstGeom prst="roundRect">
            <a:avLst>
              <a:gd name="adj" fmla="val 3902"/>
            </a:avLst>
          </a:prstGeom>
          <a:solidFill>
            <a:srgbClr val="161B22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7823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Nonprofit struggling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507492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→ Community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5303520"/>
            <a:ext cx="3337560" cy="18288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53949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Minority Center of Excellence connects her to emergency small business resources. Pinnacle flags mentorship opportunities. Her grants pipeline stays warm.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60520" y="4754880"/>
            <a:ext cx="3703320" cy="1874520"/>
          </a:xfrm>
          <a:prstGeom prst="roundRect">
            <a:avLst>
              <a:gd name="adj" fmla="val 3902"/>
            </a:avLst>
          </a:prstGeom>
          <a:solidFill>
            <a:srgbClr val="161B22"/>
          </a:solidFill>
          <a:ln w="1905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51960" y="47823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Daughter's grades drop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251960" y="507492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 → Family → Health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343400" y="5303520"/>
            <a:ext cx="3337560" cy="1828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9" name="Text 27"/>
          <p:cNvSpPr/>
          <p:nvPr/>
        </p:nvSpPr>
        <p:spPr>
          <a:xfrm>
            <a:off x="4251960" y="53949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ThriveUp Academy alerts school liaison. The system checks: is this connected to mom's health crisis? Yes — family services activates. Perfectly Different checks if she needs additional support.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4754880"/>
            <a:ext cx="3703320" cy="1874520"/>
          </a:xfrm>
          <a:prstGeom prst="roundRect">
            <a:avLst>
              <a:gd name="adj" fmla="val 3902"/>
            </a:avLst>
          </a:prstGeom>
          <a:solidFill>
            <a:srgbClr val="161B22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8160" y="4782312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sees the whole picture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138160" y="5074920"/>
            <a:ext cx="3520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→ Everything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229600" y="5303520"/>
            <a:ext cx="3337560" cy="18288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4" name="Text 32"/>
          <p:cNvSpPr/>
          <p:nvPr/>
        </p:nvSpPr>
        <p:spPr>
          <a:xfrm>
            <a:off x="8138160" y="5394960"/>
            <a:ext cx="3520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human case manager could connect all these dots across 6 domains. The AI intelligence layer sees: cancer + depression + job loss + business struggle + child's grades. One person. One record. Every platform responding.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Ecosystem in Action: Criminal Justice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Keisha's Brother Marcus</a:t>
            </a:r>
            <a:endParaRPr lang="en-US" sz="3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Comes Home From Prison.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family. Same ecosystem. Marcus is released after 4 years. Today, he'd get a bus ticket. In ThriveUp, every platform his sister already uses knows he's coming — and they're ready: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2606040"/>
            <a:ext cx="37033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6334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6334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LifeBridge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2935224"/>
            <a:ext cx="3429000" cy="1828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301752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Reentry profile. One record connected to every platform. Keisha's family file already exists — Marcus joins it. Housing, health, employment assessed.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2606040"/>
            <a:ext cx="37033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0079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51960" y="26334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57800" y="26334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+ Veteran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2935224"/>
            <a:ext cx="3429000" cy="18288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301752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Marcus served too. Mission Transition maps his military + prison work experience to civilian jobs. AI matches him to 3 employers.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606040"/>
            <a:ext cx="37033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263347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0" y="263347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Whole-Person Health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83880" y="2935224"/>
            <a:ext cx="342900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301752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health screen. Substance abuse flagged. Matched to a provider who understands reentry AND veteran experience.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4617720"/>
            <a:ext cx="37033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6451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71600" y="46451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SafeReport + ISSS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11480" y="4946904"/>
            <a:ext cx="3429000" cy="18288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502920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Family reunification. His kids get youth support through ISSS. Mandated reporting compliance built in. The ecosystem protects everyone.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4617720"/>
            <a:ext cx="37033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51960" y="46451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257800" y="46451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Collaborative Advocate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97680" y="4946904"/>
            <a:ext cx="3429000" cy="18288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0" name="Text 28"/>
          <p:cNvSpPr/>
          <p:nvPr/>
        </p:nvSpPr>
        <p:spPr>
          <a:xfrm>
            <a:off x="4251960" y="502920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aid. Record expungement. Benefits. All in the same system Keisha uses — the family is connected, not siloed.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46720" y="4617720"/>
            <a:ext cx="37033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38160" y="4645152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6+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144000" y="46451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Early Warning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183880" y="4946904"/>
            <a:ext cx="3429000" cy="18288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35" name="Text 33"/>
          <p:cNvSpPr/>
          <p:nvPr/>
        </p:nvSpPr>
        <p:spPr>
          <a:xfrm>
            <a:off x="8138160" y="5029200"/>
            <a:ext cx="3520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anything destabilizes — job, health, housing — the whole team is alerted before crisis. The ecosystem doesn't wait for failure.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Sees Across All 24 Platforms —</a:t>
            </a:r>
            <a:endParaRPr lang="en-US" sz="3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No Human Can Connect All These Dots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Keisha has needs across 6 domains. Marcus has needs across 5. Their children across 3. No case manager can track all of that. The AI can — because it sees every platform, every record, every signal, in real time.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56032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E845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6517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Risk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331720" y="2651760"/>
            <a:ext cx="34290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Keisha's treatment intensifies + depression worsens + work hours drop = high-risk alert to her entire care team, employer, and family services — BEFORE crisis.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26480" y="256032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F0B4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63640" y="26517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Cross-Domain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92440" y="2651760"/>
            <a:ext cx="34290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Marcus's daughter's grades drop → system checks parent file → sees his recent job change + housing move → flags school counselor AND family services. One signal, four platforms respond.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461772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47091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4709160"/>
            <a:ext cx="34290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referral sits unacknowledged, a screening is overdue, or a service gap is growing — the AI flags it. Platforms hold each other accountable because AI monitors every handoff.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461772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9050">
            <a:solidFill>
              <a:srgbClr val="0079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470916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Multi-Engine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Consensus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92440" y="4709160"/>
            <a:ext cx="34290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models (GPT-4o, Claude, Gemini, DeepSeek) process every critical decision. Risk assessments, care plans, proposals — all consensus-verified. No single point of failure.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Communities Enter Where Their Gap Is.</a:t>
            </a:r>
            <a:endParaRPr lang="en-US" sz="3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Ecosystem Grows With Them.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1874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school district starts with Education + Behavioral Health. A reentry program starts with LifeBridge + Workforce. A health center starts with Maternal Health + Community Navigation. Then they see what's connected — and they expand. Every expansion is recurring revenue.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25400">
            <a:solidFill>
              <a:srgbClr val="007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8892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Point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1-3 Platforms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60120" y="3474720"/>
            <a:ext cx="2880360" cy="18288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56616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where the gap is greatest.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value. Build trust.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429768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district: Education + Behavioral Health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Reentry org: LifeBridge + Workforce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center: Maternal + Community Nav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89120" y="27432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78892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89120" y="31546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5-10 Platforms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3474720"/>
            <a:ext cx="2880360" cy="18288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56616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sees connections.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domains organically.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6280" y="429768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adds SafeReport + Family Services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Reentry adds Health + Education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center adds Workforce + Mental Health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138160" y="2743200"/>
            <a:ext cx="3520440" cy="3291840"/>
          </a:xfrm>
          <a:prstGeom prst="roundRect">
            <a:avLst>
              <a:gd name="adj" fmla="val 3333"/>
            </a:avLst>
          </a:prstGeom>
          <a:solidFill>
            <a:srgbClr val="161B22"/>
          </a:solidFill>
          <a:ln w="254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78892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Ecosystem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138160" y="31546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24 Platforms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458200" y="3474720"/>
            <a:ext cx="2880360" cy="18288"/>
          </a:xfrm>
          <a:prstGeom prst="rect">
            <a:avLst/>
          </a:prstGeom>
          <a:solidFill>
            <a:srgbClr val="F0B429"/>
          </a:solidFill>
          <a:ln/>
        </p:spPr>
      </p:sp>
      <p:sp>
        <p:nvSpPr>
          <p:cNvPr id="21" name="Text 19"/>
          <p:cNvSpPr/>
          <p:nvPr/>
        </p:nvSpPr>
        <p:spPr>
          <a:xfrm>
            <a:off x="8321040" y="356616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community OS.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person, every need.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75320" y="429768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action agency deploys everything.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architecture. One record. Whole person.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impact. Maximum recurring revenue.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SaaS licensing (monthly/annual recurring)  •  Aligned to federal funding: WIOA • ESSA • SAMHSA • HRSA • DOL • DOJ • HHS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Traction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Underserved Community</a:t>
            </a:r>
            <a:endParaRPr lang="en-US" sz="3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Customer. We're Already Live.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ADDRESSABLE 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40,000+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2011680" y="2331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Action Agencies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8803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13,000+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011680" y="2880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 Districts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4,700+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011680" y="34290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Correctional Facilities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E845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3,000+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011680" y="39776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Health Centers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5262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550+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11680" y="4526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Development Boards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50749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32,000+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011680" y="50749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Health Providers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760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$180B+ US social services market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0" y="1920240"/>
            <a:ext cx="5760720" cy="4572000"/>
          </a:xfrm>
          <a:prstGeom prst="roundRect">
            <a:avLst>
              <a:gd name="adj" fmla="val 2400"/>
            </a:avLst>
          </a:prstGeom>
          <a:solidFill>
            <a:srgbClr val="161B22"/>
          </a:solidFill>
          <a:ln w="19050">
            <a:solidFill>
              <a:srgbClr val="00C9A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96596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— TODAY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17920" y="246888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Interconnected Platforms Live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418320" y="246888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17920" y="282549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Domains Covered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418320" y="282549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17920" y="3182112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Customer Active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9418320" y="318211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A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TCAF (501c3)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17920" y="3538728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Engines Running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9418320" y="353872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(cross-checking)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217920" y="3895344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TEKS Curriculum Coverage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418320" y="389534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217920" y="4251960"/>
            <a:ext cx="5212080" cy="18288"/>
          </a:xfrm>
          <a:prstGeom prst="rect">
            <a:avLst/>
          </a:prstGeom>
          <a:solidFill>
            <a:srgbClr val="8B949E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0" y="4608576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TWC Pipeline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418320" y="4608576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$1.6M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217920" y="4965192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DOL RESTART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418320" y="4965192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$5.1M (In Progress)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217920" y="5321808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Google.org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418320" y="5321808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217920" y="5678424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Gates Foundation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418320" y="5678424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17920" y="6035040"/>
            <a:ext cx="3200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NSF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418320" y="6035040"/>
            <a:ext cx="2103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4572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$1,000,000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Investment  •  Integrated Services and Solutions LLC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82880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25400">
            <a:solidFill>
              <a:srgbClr val="0079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745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New Communities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from Central Texas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5 communities in 12 months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82880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8745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389120" y="2240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&amp; Success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2606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 communities.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platform adoption.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25400">
            <a:solidFill>
              <a:srgbClr val="F0B42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0" y="18745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046720" y="2240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Infra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21040" y="26060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hardening.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Compliance. Scale.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0" y="3429000"/>
            <a:ext cx="7589520" cy="457200"/>
          </a:xfrm>
          <a:prstGeom prst="roundRect">
            <a:avLst>
              <a:gd name="adj" fmla="val 20000"/>
            </a:avLst>
          </a:prstGeom>
          <a:solidFill>
            <a:srgbClr val="161B22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86000" y="342900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12-Month Target:   $2M ARR   •   5 Communities   •   50+ Organizations Licensed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114800"/>
            <a:ext cx="10698480" cy="27432"/>
          </a:xfrm>
          <a:prstGeom prst="rect">
            <a:avLst/>
          </a:prstGeom>
          <a:solidFill>
            <a:srgbClr val="0079F2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Terry Flood, DHA, DBA  —  Founder &amp; CEO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Army Veteran  •  DHA  •  DBA  •  MS Criminal Justice  •  MS I/O Psychology  •  MS HRM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Science (Dartmouth)  •  VA Crisis Line  •  25 Years Direct Service  •  Black-led, Veteran-founded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5212080"/>
            <a:ext cx="10698480" cy="164592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25400">
            <a:solidFill>
              <a:srgbClr val="00C9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257800"/>
            <a:ext cx="10149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Keisha is not hypothetical. She is every woman in every underserved community in America.</a:t>
            </a:r>
            <a:endParaRPr lang="en-US" sz="12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 is a veteran and a mother and a cancer patient and a business owner and a person with depression — all at the same time. The current system treats each of those as a separate problem handled by a separate agency.</a:t>
            </a:r>
            <a:endParaRPr lang="en-US" sz="1200" dirty="0"/>
          </a:p>
          <a:p>
            <a:pPr algn="ctr" indent="0" marL="0">
              <a:lnSpc>
                <a:spcPct val="135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ThriveUp treats her as one person. Because she is.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05840" y="626364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C9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through any door. Get help in every room.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Integrated Services and Solutions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ThriveUp Ecosystem — The Pitch by Deel 2026</dc:title>
  <dc:subject>PptxGenJS Presentation</dc:subject>
  <dc:creator>Dr. Terry Flood</dc:creator>
  <cp:lastModifiedBy>Dr. Terry Flood</cp:lastModifiedBy>
  <cp:revision>1</cp:revision>
  <dcterms:created xsi:type="dcterms:W3CDTF">2026-04-04T18:08:45Z</dcterms:created>
  <dcterms:modified xsi:type="dcterms:W3CDTF">2026-04-04T18:08:45Z</dcterms:modified>
</cp:coreProperties>
</file>