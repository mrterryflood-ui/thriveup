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914400"/>
            <a:ext cx="10698480" cy="1188720"/>
          </a:xfrm>
          <a:prstGeom prst="rect">
            <a:avLst/>
          </a:prstGeom>
          <a:noFill/>
          <a:ln/>
        </p:spPr>
        <p:txBody>
          <a:bodyPr wrap="square" rtlCol="0" anchor="ctr"/>
          <a:lstStyle/>
          <a:p>
            <a:pPr indent="0" marL="0">
              <a:buNone/>
            </a:pPr>
            <a:r>
              <a:rPr lang="en-US" sz="6600" b="1" dirty="0">
                <a:solidFill>
                  <a:srgbClr val="FFFFFF"/>
                </a:solidFill>
                <a:latin typeface="Arial" pitchFamily="34" charset="0"/>
                <a:ea typeface="Arial" pitchFamily="34" charset="-122"/>
                <a:cs typeface="Arial" pitchFamily="34" charset="-120"/>
              </a:rPr>
              <a:t>ThriveUp</a:t>
            </a:r>
            <a:endParaRPr lang="en-US" sz="6600" dirty="0"/>
          </a:p>
        </p:txBody>
      </p:sp>
      <p:sp>
        <p:nvSpPr>
          <p:cNvPr id="3" name="Text 1"/>
          <p:cNvSpPr/>
          <p:nvPr/>
        </p:nvSpPr>
        <p:spPr>
          <a:xfrm>
            <a:off x="731520" y="2103120"/>
            <a:ext cx="10698480" cy="822960"/>
          </a:xfrm>
          <a:prstGeom prst="rect">
            <a:avLst/>
          </a:prstGeom>
          <a:noFill/>
          <a:ln/>
        </p:spPr>
        <p:txBody>
          <a:bodyPr wrap="square" rtlCol="0" anchor="ctr"/>
          <a:lstStyle/>
          <a:p>
            <a:pPr indent="0" marL="0">
              <a:lnSpc>
                <a:spcPct val="125000"/>
              </a:lnSpc>
              <a:buNone/>
            </a:pPr>
            <a:r>
              <a:rPr lang="en-US" sz="2000" dirty="0">
                <a:solidFill>
                  <a:srgbClr val="00C9A7"/>
                </a:solidFill>
                <a:latin typeface="Arial" pitchFamily="34" charset="0"/>
                <a:ea typeface="Arial" pitchFamily="34" charset="-122"/>
                <a:cs typeface="Arial" pitchFamily="34" charset="-120"/>
              </a:rPr>
              <a:t>A Living Ecosystem of Interconnected Platforms</a:t>
            </a:r>
            <a:endParaRPr lang="en-US" sz="2000" dirty="0"/>
          </a:p>
          <a:p>
            <a:pPr indent="0" marL="0">
              <a:lnSpc>
                <a:spcPct val="125000"/>
              </a:lnSpc>
              <a:buNone/>
            </a:pPr>
            <a:r>
              <a:rPr lang="en-US" sz="2000" dirty="0">
                <a:solidFill>
                  <a:srgbClr val="00C9A7"/>
                </a:solidFill>
                <a:latin typeface="Arial" pitchFamily="34" charset="0"/>
                <a:ea typeface="Arial" pitchFamily="34" charset="-122"/>
                <a:cs typeface="Arial" pitchFamily="34" charset="-120"/>
              </a:rPr>
              <a:t>That Sees the Whole Person — From Any Entry Point</a:t>
            </a:r>
            <a:endParaRPr lang="en-US" sz="2000" dirty="0"/>
          </a:p>
        </p:txBody>
      </p:sp>
      <p:sp>
        <p:nvSpPr>
          <p:cNvPr id="4" name="Shape 2"/>
          <p:cNvSpPr/>
          <p:nvPr/>
        </p:nvSpPr>
        <p:spPr>
          <a:xfrm>
            <a:off x="731520" y="3200400"/>
            <a:ext cx="3657600" cy="36576"/>
          </a:xfrm>
          <a:prstGeom prst="rect">
            <a:avLst/>
          </a:prstGeom>
          <a:solidFill>
            <a:srgbClr val="0079F2"/>
          </a:solidFill>
          <a:ln/>
        </p:spPr>
      </p:sp>
      <p:sp>
        <p:nvSpPr>
          <p:cNvPr id="5" name="Text 3"/>
          <p:cNvSpPr/>
          <p:nvPr/>
        </p:nvSpPr>
        <p:spPr>
          <a:xfrm>
            <a:off x="731520" y="3474720"/>
            <a:ext cx="7315200" cy="365760"/>
          </a:xfrm>
          <a:prstGeom prst="rect">
            <a:avLst/>
          </a:prstGeom>
          <a:noFill/>
          <a:ln/>
        </p:spPr>
        <p:txBody>
          <a:bodyPr wrap="square" rtlCol="0" anchor="ctr"/>
          <a:lstStyle/>
          <a:p>
            <a:pPr indent="0" marL="0">
              <a:buNone/>
            </a:pPr>
            <a:r>
              <a:rPr lang="en-US" sz="1900" b="1" dirty="0">
                <a:solidFill>
                  <a:srgbClr val="FFFFFF"/>
                </a:solidFill>
                <a:latin typeface="Arial" pitchFamily="34" charset="0"/>
                <a:ea typeface="Arial" pitchFamily="34" charset="-122"/>
                <a:cs typeface="Arial" pitchFamily="34" charset="-120"/>
              </a:rPr>
              <a:t>Dr. Terry Flood, DHA, DBA  |  Founder &amp; CEO</a:t>
            </a:r>
            <a:endParaRPr lang="en-US" sz="1900" dirty="0"/>
          </a:p>
        </p:txBody>
      </p:sp>
      <p:sp>
        <p:nvSpPr>
          <p:cNvPr id="6" name="Text 4"/>
          <p:cNvSpPr/>
          <p:nvPr/>
        </p:nvSpPr>
        <p:spPr>
          <a:xfrm>
            <a:off x="731520" y="3840480"/>
            <a:ext cx="7315200" cy="320040"/>
          </a:xfrm>
          <a:prstGeom prst="rect">
            <a:avLst/>
          </a:prstGeom>
          <a:noFill/>
          <a:ln/>
        </p:spPr>
        <p:txBody>
          <a:bodyPr wrap="square" rtlCol="0" anchor="ctr"/>
          <a:lstStyle/>
          <a:p>
            <a:pPr indent="0" marL="0">
              <a:buNone/>
            </a:pPr>
            <a:r>
              <a:rPr lang="en-US" sz="1500" dirty="0">
                <a:solidFill>
                  <a:srgbClr val="8B949E"/>
                </a:solidFill>
                <a:latin typeface="Arial" pitchFamily="34" charset="0"/>
                <a:ea typeface="Arial" pitchFamily="34" charset="-122"/>
                <a:cs typeface="Arial" pitchFamily="34" charset="-120"/>
              </a:rPr>
              <a:t>Integrated Services and Solutions LLC</a:t>
            </a:r>
            <a:endParaRPr lang="en-US" sz="1500" dirty="0"/>
          </a:p>
        </p:txBody>
      </p:sp>
      <p:sp>
        <p:nvSpPr>
          <p:cNvPr id="7" name="Text 5"/>
          <p:cNvSpPr/>
          <p:nvPr/>
        </p:nvSpPr>
        <p:spPr>
          <a:xfrm>
            <a:off x="731520" y="4297680"/>
            <a:ext cx="9144000" cy="320040"/>
          </a:xfrm>
          <a:prstGeom prst="rect">
            <a:avLst/>
          </a:prstGeom>
          <a:noFill/>
          <a:ln/>
        </p:spPr>
        <p:txBody>
          <a:bodyPr wrap="square" rtlCol="0" anchor="ctr"/>
          <a:lstStyle/>
          <a:p>
            <a:pPr indent="0" marL="0">
              <a:buNone/>
            </a:pPr>
            <a:r>
              <a:rPr lang="en-US" sz="1200" dirty="0">
                <a:solidFill>
                  <a:srgbClr val="8B949E"/>
                </a:solidFill>
                <a:latin typeface="Arial" pitchFamily="34" charset="0"/>
                <a:ea typeface="Arial" pitchFamily="34" charset="-122"/>
                <a:cs typeface="Arial" pitchFamily="34" charset="-120"/>
              </a:rPr>
              <a:t>U.S. Army Veteran  •  5× Master's  •  Implementation Science (Dartmouth)  •  25 Years Direct Service</a:t>
            </a:r>
            <a:endParaRPr lang="en-US" sz="1200" dirty="0"/>
          </a:p>
        </p:txBody>
      </p:sp>
      <p:sp>
        <p:nvSpPr>
          <p:cNvPr id="8" name="Shape 6"/>
          <p:cNvSpPr/>
          <p:nvPr/>
        </p:nvSpPr>
        <p:spPr>
          <a:xfrm>
            <a:off x="457200" y="5303520"/>
            <a:ext cx="1783080" cy="365760"/>
          </a:xfrm>
          <a:prstGeom prst="roundRect">
            <a:avLst>
              <a:gd name="adj" fmla="val 37500"/>
            </a:avLst>
          </a:prstGeom>
          <a:solidFill>
            <a:srgbClr val="161B22"/>
          </a:solidFill>
          <a:ln w="19050">
            <a:solidFill>
              <a:srgbClr val="EF4444"/>
            </a:solidFill>
            <a:prstDash val="solid"/>
          </a:ln>
        </p:spPr>
      </p:sp>
      <p:sp>
        <p:nvSpPr>
          <p:cNvPr id="9" name="Text 7"/>
          <p:cNvSpPr/>
          <p:nvPr/>
        </p:nvSpPr>
        <p:spPr>
          <a:xfrm>
            <a:off x="457200" y="5303520"/>
            <a:ext cx="1783080" cy="365760"/>
          </a:xfrm>
          <a:prstGeom prst="rect">
            <a:avLst/>
          </a:prstGeom>
          <a:noFill/>
          <a:ln/>
        </p:spPr>
        <p:txBody>
          <a:bodyPr wrap="square" rtlCol="0" anchor="ctr"/>
          <a:lstStyle/>
          <a:p>
            <a:pPr algn="ctr" indent="0" marL="0">
              <a:buNone/>
            </a:pPr>
            <a:r>
              <a:rPr lang="en-US" sz="1000" b="1" dirty="0">
                <a:solidFill>
                  <a:srgbClr val="EF4444"/>
                </a:solidFill>
                <a:latin typeface="Arial" pitchFamily="34" charset="0"/>
                <a:ea typeface="Arial" pitchFamily="34" charset="-122"/>
                <a:cs typeface="Arial" pitchFamily="34" charset="-120"/>
              </a:rPr>
              <a:t>Criminal Justice</a:t>
            </a:r>
            <a:endParaRPr lang="en-US" sz="1000" dirty="0"/>
          </a:p>
        </p:txBody>
      </p:sp>
      <p:sp>
        <p:nvSpPr>
          <p:cNvPr id="10" name="Shape 8"/>
          <p:cNvSpPr/>
          <p:nvPr/>
        </p:nvSpPr>
        <p:spPr>
          <a:xfrm>
            <a:off x="2377440" y="5303520"/>
            <a:ext cx="1783080" cy="365760"/>
          </a:xfrm>
          <a:prstGeom prst="roundRect">
            <a:avLst>
              <a:gd name="adj" fmla="val 37500"/>
            </a:avLst>
          </a:prstGeom>
          <a:solidFill>
            <a:srgbClr val="161B22"/>
          </a:solidFill>
          <a:ln w="19050">
            <a:solidFill>
              <a:srgbClr val="E8459E"/>
            </a:solidFill>
            <a:prstDash val="solid"/>
          </a:ln>
        </p:spPr>
      </p:sp>
      <p:sp>
        <p:nvSpPr>
          <p:cNvPr id="11" name="Text 9"/>
          <p:cNvSpPr/>
          <p:nvPr/>
        </p:nvSpPr>
        <p:spPr>
          <a:xfrm>
            <a:off x="2377440" y="5303520"/>
            <a:ext cx="1783080" cy="365760"/>
          </a:xfrm>
          <a:prstGeom prst="rect">
            <a:avLst/>
          </a:prstGeom>
          <a:noFill/>
          <a:ln/>
        </p:spPr>
        <p:txBody>
          <a:bodyPr wrap="square" rtlCol="0" anchor="ctr"/>
          <a:lstStyle/>
          <a:p>
            <a:pPr algn="ctr" indent="0" marL="0">
              <a:buNone/>
            </a:pPr>
            <a:r>
              <a:rPr lang="en-US" sz="1000" b="1" dirty="0">
                <a:solidFill>
                  <a:srgbClr val="E8459E"/>
                </a:solidFill>
                <a:latin typeface="Arial" pitchFamily="34" charset="0"/>
                <a:ea typeface="Arial" pitchFamily="34" charset="-122"/>
                <a:cs typeface="Arial" pitchFamily="34" charset="-120"/>
              </a:rPr>
              <a:t>Health Equity</a:t>
            </a:r>
            <a:endParaRPr lang="en-US" sz="1000" dirty="0"/>
          </a:p>
        </p:txBody>
      </p:sp>
      <p:sp>
        <p:nvSpPr>
          <p:cNvPr id="12" name="Shape 10"/>
          <p:cNvSpPr/>
          <p:nvPr/>
        </p:nvSpPr>
        <p:spPr>
          <a:xfrm>
            <a:off x="4297680" y="5303520"/>
            <a:ext cx="1783080" cy="365760"/>
          </a:xfrm>
          <a:prstGeom prst="roundRect">
            <a:avLst>
              <a:gd name="adj" fmla="val 37500"/>
            </a:avLst>
          </a:prstGeom>
          <a:solidFill>
            <a:srgbClr val="161B22"/>
          </a:solidFill>
          <a:ln w="19050">
            <a:solidFill>
              <a:srgbClr val="0079F2"/>
            </a:solidFill>
            <a:prstDash val="solid"/>
          </a:ln>
        </p:spPr>
      </p:sp>
      <p:sp>
        <p:nvSpPr>
          <p:cNvPr id="13" name="Text 11"/>
          <p:cNvSpPr/>
          <p:nvPr/>
        </p:nvSpPr>
        <p:spPr>
          <a:xfrm>
            <a:off x="4297680" y="5303520"/>
            <a:ext cx="1783080" cy="365760"/>
          </a:xfrm>
          <a:prstGeom prst="rect">
            <a:avLst/>
          </a:prstGeom>
          <a:noFill/>
          <a:ln/>
        </p:spPr>
        <p:txBody>
          <a:bodyPr wrap="square" rtlCol="0" anchor="ctr"/>
          <a:lstStyle/>
          <a:p>
            <a:pPr algn="ctr" indent="0" marL="0">
              <a:buNone/>
            </a:pPr>
            <a:r>
              <a:rPr lang="en-US" sz="1000" b="1" dirty="0">
                <a:solidFill>
                  <a:srgbClr val="0079F2"/>
                </a:solidFill>
                <a:latin typeface="Arial" pitchFamily="34" charset="0"/>
                <a:ea typeface="Arial" pitchFamily="34" charset="-122"/>
                <a:cs typeface="Arial" pitchFamily="34" charset="-120"/>
              </a:rPr>
              <a:t>Workforce</a:t>
            </a:r>
            <a:endParaRPr lang="en-US" sz="1000" dirty="0"/>
          </a:p>
        </p:txBody>
      </p:sp>
      <p:sp>
        <p:nvSpPr>
          <p:cNvPr id="14" name="Shape 12"/>
          <p:cNvSpPr/>
          <p:nvPr/>
        </p:nvSpPr>
        <p:spPr>
          <a:xfrm>
            <a:off x="6217920" y="5303520"/>
            <a:ext cx="1783080" cy="365760"/>
          </a:xfrm>
          <a:prstGeom prst="roundRect">
            <a:avLst>
              <a:gd name="adj" fmla="val 37500"/>
            </a:avLst>
          </a:prstGeom>
          <a:solidFill>
            <a:srgbClr val="161B22"/>
          </a:solidFill>
          <a:ln w="19050">
            <a:solidFill>
              <a:srgbClr val="F0B429"/>
            </a:solidFill>
            <a:prstDash val="solid"/>
          </a:ln>
        </p:spPr>
      </p:sp>
      <p:sp>
        <p:nvSpPr>
          <p:cNvPr id="15" name="Text 13"/>
          <p:cNvSpPr/>
          <p:nvPr/>
        </p:nvSpPr>
        <p:spPr>
          <a:xfrm>
            <a:off x="6217920" y="5303520"/>
            <a:ext cx="1783080" cy="365760"/>
          </a:xfrm>
          <a:prstGeom prst="rect">
            <a:avLst/>
          </a:prstGeom>
          <a:noFill/>
          <a:ln/>
        </p:spPr>
        <p:txBody>
          <a:bodyPr wrap="square" rtlCol="0" anchor="ctr"/>
          <a:lstStyle/>
          <a:p>
            <a:pPr algn="ctr" indent="0" marL="0">
              <a:buNone/>
            </a:pPr>
            <a:r>
              <a:rPr lang="en-US" sz="1000" b="1" dirty="0">
                <a:solidFill>
                  <a:srgbClr val="F0B429"/>
                </a:solidFill>
                <a:latin typeface="Arial" pitchFamily="34" charset="0"/>
                <a:ea typeface="Arial" pitchFamily="34" charset="-122"/>
                <a:cs typeface="Arial" pitchFamily="34" charset="-120"/>
              </a:rPr>
              <a:t>Education</a:t>
            </a:r>
            <a:endParaRPr lang="en-US" sz="1000" dirty="0"/>
          </a:p>
        </p:txBody>
      </p:sp>
      <p:sp>
        <p:nvSpPr>
          <p:cNvPr id="16" name="Shape 14"/>
          <p:cNvSpPr/>
          <p:nvPr/>
        </p:nvSpPr>
        <p:spPr>
          <a:xfrm>
            <a:off x="8138160" y="5303520"/>
            <a:ext cx="1783080" cy="365760"/>
          </a:xfrm>
          <a:prstGeom prst="roundRect">
            <a:avLst>
              <a:gd name="adj" fmla="val 37500"/>
            </a:avLst>
          </a:prstGeom>
          <a:solidFill>
            <a:srgbClr val="161B22"/>
          </a:solidFill>
          <a:ln w="19050">
            <a:solidFill>
              <a:srgbClr val="2EA043"/>
            </a:solidFill>
            <a:prstDash val="solid"/>
          </a:ln>
        </p:spPr>
      </p:sp>
      <p:sp>
        <p:nvSpPr>
          <p:cNvPr id="17" name="Text 15"/>
          <p:cNvSpPr/>
          <p:nvPr/>
        </p:nvSpPr>
        <p:spPr>
          <a:xfrm>
            <a:off x="8138160" y="5303520"/>
            <a:ext cx="1783080" cy="365760"/>
          </a:xfrm>
          <a:prstGeom prst="rect">
            <a:avLst/>
          </a:prstGeom>
          <a:noFill/>
          <a:ln/>
        </p:spPr>
        <p:txBody>
          <a:bodyPr wrap="square" rtlCol="0" anchor="ctr"/>
          <a:lstStyle/>
          <a:p>
            <a:pPr algn="ctr" indent="0" marL="0">
              <a:buNone/>
            </a:pPr>
            <a:r>
              <a:rPr lang="en-US" sz="1000" b="1" dirty="0">
                <a:solidFill>
                  <a:srgbClr val="2EA043"/>
                </a:solidFill>
                <a:latin typeface="Arial" pitchFamily="34" charset="0"/>
                <a:ea typeface="Arial" pitchFamily="34" charset="-122"/>
                <a:cs typeface="Arial" pitchFamily="34" charset="-120"/>
              </a:rPr>
              <a:t>Veterans</a:t>
            </a:r>
            <a:endParaRPr lang="en-US" sz="1000" dirty="0"/>
          </a:p>
        </p:txBody>
      </p:sp>
      <p:sp>
        <p:nvSpPr>
          <p:cNvPr id="18" name="Shape 16"/>
          <p:cNvSpPr/>
          <p:nvPr/>
        </p:nvSpPr>
        <p:spPr>
          <a:xfrm>
            <a:off x="10058400" y="5303520"/>
            <a:ext cx="1783080" cy="365760"/>
          </a:xfrm>
          <a:prstGeom prst="roundRect">
            <a:avLst>
              <a:gd name="adj" fmla="val 37500"/>
            </a:avLst>
          </a:prstGeom>
          <a:solidFill>
            <a:srgbClr val="161B22"/>
          </a:solidFill>
          <a:ln w="19050">
            <a:solidFill>
              <a:srgbClr val="00C9A7"/>
            </a:solidFill>
            <a:prstDash val="solid"/>
          </a:ln>
        </p:spPr>
      </p:sp>
      <p:sp>
        <p:nvSpPr>
          <p:cNvPr id="19" name="Text 17"/>
          <p:cNvSpPr/>
          <p:nvPr/>
        </p:nvSpPr>
        <p:spPr>
          <a:xfrm>
            <a:off x="10058400" y="5303520"/>
            <a:ext cx="1783080" cy="365760"/>
          </a:xfrm>
          <a:prstGeom prst="rect">
            <a:avLst/>
          </a:prstGeom>
          <a:noFill/>
          <a:ln/>
        </p:spPr>
        <p:txBody>
          <a:bodyPr wrap="square" rtlCol="0" anchor="ctr"/>
          <a:lstStyle/>
          <a:p>
            <a:pPr algn="ctr" indent="0" marL="0">
              <a:buNone/>
            </a:pPr>
            <a:r>
              <a:rPr lang="en-US" sz="1000" b="1" dirty="0">
                <a:solidFill>
                  <a:srgbClr val="00C9A7"/>
                </a:solidFill>
                <a:latin typeface="Arial" pitchFamily="34" charset="0"/>
                <a:ea typeface="Arial" pitchFamily="34" charset="-122"/>
                <a:cs typeface="Arial" pitchFamily="34" charset="-120"/>
              </a:rPr>
              <a:t>Community</a:t>
            </a:r>
            <a:endParaRPr lang="en-US" sz="1000" dirty="0"/>
          </a:p>
        </p:txBody>
      </p:sp>
      <p:sp>
        <p:nvSpPr>
          <p:cNvPr id="20" name="Text 18"/>
          <p:cNvSpPr/>
          <p:nvPr/>
        </p:nvSpPr>
        <p:spPr>
          <a:xfrm>
            <a:off x="731520" y="6126480"/>
            <a:ext cx="5486400" cy="274320"/>
          </a:xfrm>
          <a:prstGeom prst="rect">
            <a:avLst/>
          </a:prstGeom>
          <a:noFill/>
          <a:ln/>
        </p:spPr>
        <p:txBody>
          <a:bodyPr wrap="square" rtlCol="0" anchor="ctr"/>
          <a:lstStyle/>
          <a:p>
            <a:pPr indent="0" marL="0">
              <a:buNone/>
            </a:pPr>
            <a:r>
              <a:rPr lang="en-US" sz="1100" i="1" dirty="0">
                <a:solidFill>
                  <a:srgbClr val="8B949E"/>
                </a:solidFill>
                <a:latin typeface="Arial" pitchFamily="34" charset="0"/>
                <a:ea typeface="Arial" pitchFamily="34" charset="-122"/>
                <a:cs typeface="Arial" pitchFamily="34" charset="-120"/>
              </a:rPr>
              <a:t>The Pitch by Deel  |  New York  |  May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EF4444"/>
                </a:solidFill>
                <a:latin typeface="Arial" pitchFamily="34" charset="0"/>
                <a:ea typeface="Arial" pitchFamily="34" charset="-122"/>
                <a:cs typeface="Arial" pitchFamily="34" charset="-120"/>
              </a:rPr>
              <a:t>The Problem</a:t>
            </a:r>
            <a:endParaRPr lang="en-US" sz="1300" dirty="0"/>
          </a:p>
        </p:txBody>
      </p:sp>
      <p:sp>
        <p:nvSpPr>
          <p:cNvPr id="3" name="Text 1"/>
          <p:cNvSpPr/>
          <p:nvPr/>
        </p:nvSpPr>
        <p:spPr>
          <a:xfrm>
            <a:off x="731520" y="777240"/>
            <a:ext cx="10698480" cy="1051560"/>
          </a:xfrm>
          <a:prstGeom prst="rect">
            <a:avLst/>
          </a:prstGeom>
          <a:noFill/>
          <a:ln/>
        </p:spPr>
        <p:txBody>
          <a:bodyPr wrap="square" rtlCol="0" anchor="ctr"/>
          <a:lstStyle/>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$180 Billion Spent. Systems That</a:t>
            </a:r>
            <a:endParaRPr lang="en-US" sz="3300" dirty="0"/>
          </a:p>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Don't Talk. People Who Die in the Gaps.</a:t>
            </a:r>
            <a:endParaRPr lang="en-US" sz="3300" dirty="0"/>
          </a:p>
        </p:txBody>
      </p:sp>
      <p:sp>
        <p:nvSpPr>
          <p:cNvPr id="4" name="Text 2"/>
          <p:cNvSpPr/>
          <p:nvPr/>
        </p:nvSpPr>
        <p:spPr>
          <a:xfrm>
            <a:off x="731520" y="1920240"/>
            <a:ext cx="10515600" cy="685800"/>
          </a:xfrm>
          <a:prstGeom prst="rect">
            <a:avLst/>
          </a:prstGeom>
          <a:noFill/>
          <a:ln/>
        </p:spPr>
        <p:txBody>
          <a:bodyPr wrap="square" rtlCol="0" anchor="ctr"/>
          <a:lstStyle/>
          <a:p>
            <a:pPr indent="0" marL="0">
              <a:lnSpc>
                <a:spcPct val="135000"/>
              </a:lnSpc>
              <a:buNone/>
            </a:pPr>
            <a:r>
              <a:rPr lang="en-US" sz="1400" dirty="0">
                <a:solidFill>
                  <a:srgbClr val="8B949E"/>
                </a:solidFill>
                <a:latin typeface="Arial" pitchFamily="34" charset="0"/>
                <a:ea typeface="Arial" pitchFamily="34" charset="-122"/>
                <a:cs typeface="Arial" pitchFamily="34" charset="-120"/>
              </a:rPr>
              <a:t>Every agency, school, clinic, and workforce board runs its own silo. A person with co-occurring needs — and they ALWAYS have co-occurring needs — gets sent to disconnected agencies that will never speak to each other. The cracks between systems are where people fall.</a:t>
            </a:r>
            <a:endParaRPr lang="en-US" sz="1400" dirty="0"/>
          </a:p>
        </p:txBody>
      </p:sp>
      <p:sp>
        <p:nvSpPr>
          <p:cNvPr id="5" name="Shape 3"/>
          <p:cNvSpPr/>
          <p:nvPr/>
        </p:nvSpPr>
        <p:spPr>
          <a:xfrm>
            <a:off x="457200" y="2926080"/>
            <a:ext cx="3611880" cy="1691640"/>
          </a:xfrm>
          <a:prstGeom prst="roundRect">
            <a:avLst>
              <a:gd name="adj" fmla="val 5405"/>
            </a:avLst>
          </a:prstGeom>
          <a:solidFill>
            <a:srgbClr val="161B22"/>
          </a:solidFill>
          <a:ln w="19050">
            <a:solidFill>
              <a:srgbClr val="EF4444"/>
            </a:solidFill>
            <a:prstDash val="solid"/>
          </a:ln>
        </p:spPr>
      </p:sp>
      <p:sp>
        <p:nvSpPr>
          <p:cNvPr id="6" name="Text 4"/>
          <p:cNvSpPr/>
          <p:nvPr/>
        </p:nvSpPr>
        <p:spPr>
          <a:xfrm>
            <a:off x="457200" y="2971800"/>
            <a:ext cx="3611880" cy="685800"/>
          </a:xfrm>
          <a:prstGeom prst="rect">
            <a:avLst/>
          </a:prstGeom>
          <a:noFill/>
          <a:ln/>
        </p:spPr>
        <p:txBody>
          <a:bodyPr wrap="square" rtlCol="0" anchor="ctr"/>
          <a:lstStyle/>
          <a:p>
            <a:pPr algn="ctr" indent="0" marL="0">
              <a:buNone/>
            </a:pPr>
            <a:r>
              <a:rPr lang="en-US" sz="3600" b="1" dirty="0">
                <a:solidFill>
                  <a:srgbClr val="EF4444"/>
                </a:solidFill>
                <a:latin typeface="Arial" pitchFamily="34" charset="0"/>
                <a:ea typeface="Arial" pitchFamily="34" charset="-122"/>
                <a:cs typeface="Arial" pitchFamily="34" charset="-120"/>
              </a:rPr>
              <a:t>67%</a:t>
            </a:r>
            <a:endParaRPr lang="en-US" sz="3600" dirty="0"/>
          </a:p>
        </p:txBody>
      </p:sp>
      <p:sp>
        <p:nvSpPr>
          <p:cNvPr id="7" name="Text 5"/>
          <p:cNvSpPr/>
          <p:nvPr/>
        </p:nvSpPr>
        <p:spPr>
          <a:xfrm>
            <a:off x="640080" y="3703320"/>
            <a:ext cx="3246120" cy="640080"/>
          </a:xfrm>
          <a:prstGeom prst="rect">
            <a:avLst/>
          </a:prstGeom>
          <a:noFill/>
          <a:ln/>
        </p:spPr>
        <p:txBody>
          <a:bodyPr wrap="square" rtlCol="0" anchor="ctr"/>
          <a:lstStyle/>
          <a:p>
            <a:pPr algn="ctr" indent="0" marL="0">
              <a:lnSpc>
                <a:spcPct val="120000"/>
              </a:lnSpc>
              <a:buNone/>
            </a:pPr>
            <a:r>
              <a:rPr lang="en-US" sz="1200" dirty="0">
                <a:solidFill>
                  <a:srgbClr val="8B949E"/>
                </a:solidFill>
                <a:latin typeface="Arial" pitchFamily="34" charset="0"/>
                <a:ea typeface="Arial" pitchFamily="34" charset="-122"/>
                <a:cs typeface="Arial" pitchFamily="34" charset="-120"/>
              </a:rPr>
              <a:t>of returning citizens</a:t>
            </a:r>
            <a:endParaRPr lang="en-US" sz="1200" dirty="0"/>
          </a:p>
          <a:p>
            <a:pPr algn="ctr" indent="0" marL="0">
              <a:lnSpc>
                <a:spcPct val="120000"/>
              </a:lnSpc>
              <a:buNone/>
            </a:pPr>
            <a:r>
              <a:rPr lang="en-US" sz="1200" dirty="0">
                <a:solidFill>
                  <a:srgbClr val="8B949E"/>
                </a:solidFill>
                <a:latin typeface="Arial" pitchFamily="34" charset="0"/>
                <a:ea typeface="Arial" pitchFamily="34" charset="-122"/>
                <a:cs typeface="Arial" pitchFamily="34" charset="-120"/>
              </a:rPr>
              <a:t>re-arrested within 3 years</a:t>
            </a:r>
            <a:endParaRPr lang="en-US" sz="1200" dirty="0"/>
          </a:p>
        </p:txBody>
      </p:sp>
      <p:sp>
        <p:nvSpPr>
          <p:cNvPr id="8" name="Shape 6"/>
          <p:cNvSpPr/>
          <p:nvPr/>
        </p:nvSpPr>
        <p:spPr>
          <a:xfrm>
            <a:off x="4251960" y="2926080"/>
            <a:ext cx="3611880" cy="1691640"/>
          </a:xfrm>
          <a:prstGeom prst="roundRect">
            <a:avLst>
              <a:gd name="adj" fmla="val 5405"/>
            </a:avLst>
          </a:prstGeom>
          <a:solidFill>
            <a:srgbClr val="161B22"/>
          </a:solidFill>
          <a:ln w="19050">
            <a:solidFill>
              <a:srgbClr val="E8459E"/>
            </a:solidFill>
            <a:prstDash val="solid"/>
          </a:ln>
        </p:spPr>
      </p:sp>
      <p:sp>
        <p:nvSpPr>
          <p:cNvPr id="9" name="Text 7"/>
          <p:cNvSpPr/>
          <p:nvPr/>
        </p:nvSpPr>
        <p:spPr>
          <a:xfrm>
            <a:off x="4251960" y="2971800"/>
            <a:ext cx="3611880" cy="685800"/>
          </a:xfrm>
          <a:prstGeom prst="rect">
            <a:avLst/>
          </a:prstGeom>
          <a:noFill/>
          <a:ln/>
        </p:spPr>
        <p:txBody>
          <a:bodyPr wrap="square" rtlCol="0" anchor="ctr"/>
          <a:lstStyle/>
          <a:p>
            <a:pPr algn="ctr" indent="0" marL="0">
              <a:buNone/>
            </a:pPr>
            <a:r>
              <a:rPr lang="en-US" sz="3600" b="1" dirty="0">
                <a:solidFill>
                  <a:srgbClr val="E8459E"/>
                </a:solidFill>
                <a:latin typeface="Arial" pitchFamily="34" charset="0"/>
                <a:ea typeface="Arial" pitchFamily="34" charset="-122"/>
                <a:cs typeface="Arial" pitchFamily="34" charset="-120"/>
              </a:rPr>
              <a:t>3×</a:t>
            </a:r>
            <a:endParaRPr lang="en-US" sz="3600" dirty="0"/>
          </a:p>
        </p:txBody>
      </p:sp>
      <p:sp>
        <p:nvSpPr>
          <p:cNvPr id="10" name="Text 8"/>
          <p:cNvSpPr/>
          <p:nvPr/>
        </p:nvSpPr>
        <p:spPr>
          <a:xfrm>
            <a:off x="4434840" y="3703320"/>
            <a:ext cx="3246120" cy="640080"/>
          </a:xfrm>
          <a:prstGeom prst="rect">
            <a:avLst/>
          </a:prstGeom>
          <a:noFill/>
          <a:ln/>
        </p:spPr>
        <p:txBody>
          <a:bodyPr wrap="square" rtlCol="0" anchor="ctr"/>
          <a:lstStyle/>
          <a:p>
            <a:pPr algn="ctr" indent="0" marL="0">
              <a:lnSpc>
                <a:spcPct val="120000"/>
              </a:lnSpc>
              <a:buNone/>
            </a:pPr>
            <a:r>
              <a:rPr lang="en-US" sz="1200" dirty="0">
                <a:solidFill>
                  <a:srgbClr val="8B949E"/>
                </a:solidFill>
                <a:latin typeface="Arial" pitchFamily="34" charset="0"/>
                <a:ea typeface="Arial" pitchFamily="34" charset="-122"/>
                <a:cs typeface="Arial" pitchFamily="34" charset="-120"/>
              </a:rPr>
              <a:t>higher maternal mortality</a:t>
            </a:r>
            <a:endParaRPr lang="en-US" sz="1200" dirty="0"/>
          </a:p>
          <a:p>
            <a:pPr algn="ctr" indent="0" marL="0">
              <a:lnSpc>
                <a:spcPct val="120000"/>
              </a:lnSpc>
              <a:buNone/>
            </a:pPr>
            <a:r>
              <a:rPr lang="en-US" sz="1200" dirty="0">
                <a:solidFill>
                  <a:srgbClr val="8B949E"/>
                </a:solidFill>
                <a:latin typeface="Arial" pitchFamily="34" charset="0"/>
                <a:ea typeface="Arial" pitchFamily="34" charset="-122"/>
                <a:cs typeface="Arial" pitchFamily="34" charset="-120"/>
              </a:rPr>
              <a:t>for Black women</a:t>
            </a:r>
            <a:endParaRPr lang="en-US" sz="1200" dirty="0"/>
          </a:p>
        </p:txBody>
      </p:sp>
      <p:sp>
        <p:nvSpPr>
          <p:cNvPr id="11" name="Shape 9"/>
          <p:cNvSpPr/>
          <p:nvPr/>
        </p:nvSpPr>
        <p:spPr>
          <a:xfrm>
            <a:off x="8046720" y="2926080"/>
            <a:ext cx="3611880" cy="1691640"/>
          </a:xfrm>
          <a:prstGeom prst="roundRect">
            <a:avLst>
              <a:gd name="adj" fmla="val 5405"/>
            </a:avLst>
          </a:prstGeom>
          <a:solidFill>
            <a:srgbClr val="161B22"/>
          </a:solidFill>
          <a:ln w="19050">
            <a:solidFill>
              <a:srgbClr val="2EA043"/>
            </a:solidFill>
            <a:prstDash val="solid"/>
          </a:ln>
        </p:spPr>
      </p:sp>
      <p:sp>
        <p:nvSpPr>
          <p:cNvPr id="12" name="Text 10"/>
          <p:cNvSpPr/>
          <p:nvPr/>
        </p:nvSpPr>
        <p:spPr>
          <a:xfrm>
            <a:off x="8046720" y="2971800"/>
            <a:ext cx="3611880" cy="685800"/>
          </a:xfrm>
          <a:prstGeom prst="rect">
            <a:avLst/>
          </a:prstGeom>
          <a:noFill/>
          <a:ln/>
        </p:spPr>
        <p:txBody>
          <a:bodyPr wrap="square" rtlCol="0" anchor="ctr"/>
          <a:lstStyle/>
          <a:p>
            <a:pPr algn="ctr" indent="0" marL="0">
              <a:buNone/>
            </a:pPr>
            <a:r>
              <a:rPr lang="en-US" sz="3600" b="1" dirty="0">
                <a:solidFill>
                  <a:srgbClr val="2EA043"/>
                </a:solidFill>
                <a:latin typeface="Arial" pitchFamily="34" charset="0"/>
                <a:ea typeface="Arial" pitchFamily="34" charset="-122"/>
                <a:cs typeface="Arial" pitchFamily="34" charset="-120"/>
              </a:rPr>
              <a:t>44%</a:t>
            </a:r>
            <a:endParaRPr lang="en-US" sz="3600" dirty="0"/>
          </a:p>
        </p:txBody>
      </p:sp>
      <p:sp>
        <p:nvSpPr>
          <p:cNvPr id="13" name="Text 11"/>
          <p:cNvSpPr/>
          <p:nvPr/>
        </p:nvSpPr>
        <p:spPr>
          <a:xfrm>
            <a:off x="8229600" y="3703320"/>
            <a:ext cx="3246120" cy="640080"/>
          </a:xfrm>
          <a:prstGeom prst="rect">
            <a:avLst/>
          </a:prstGeom>
          <a:noFill/>
          <a:ln/>
        </p:spPr>
        <p:txBody>
          <a:bodyPr wrap="square" rtlCol="0" anchor="ctr"/>
          <a:lstStyle/>
          <a:p>
            <a:pPr algn="ctr" indent="0" marL="0">
              <a:lnSpc>
                <a:spcPct val="120000"/>
              </a:lnSpc>
              <a:buNone/>
            </a:pPr>
            <a:r>
              <a:rPr lang="en-US" sz="1200" dirty="0">
                <a:solidFill>
                  <a:srgbClr val="8B949E"/>
                </a:solidFill>
                <a:latin typeface="Arial" pitchFamily="34" charset="0"/>
                <a:ea typeface="Arial" pitchFamily="34" charset="-122"/>
                <a:cs typeface="Arial" pitchFamily="34" charset="-120"/>
              </a:rPr>
              <a:t>of veterans underemployed</a:t>
            </a:r>
            <a:endParaRPr lang="en-US" sz="1200" dirty="0"/>
          </a:p>
          <a:p>
            <a:pPr algn="ctr" indent="0" marL="0">
              <a:lnSpc>
                <a:spcPct val="120000"/>
              </a:lnSpc>
              <a:buNone/>
            </a:pPr>
            <a:r>
              <a:rPr lang="en-US" sz="1200" dirty="0">
                <a:solidFill>
                  <a:srgbClr val="8B949E"/>
                </a:solidFill>
                <a:latin typeface="Arial" pitchFamily="34" charset="0"/>
                <a:ea typeface="Arial" pitchFamily="34" charset="-122"/>
                <a:cs typeface="Arial" pitchFamily="34" charset="-120"/>
              </a:rPr>
              <a:t>after separation</a:t>
            </a:r>
            <a:endParaRPr lang="en-US" sz="1200" dirty="0"/>
          </a:p>
        </p:txBody>
      </p:sp>
      <p:sp>
        <p:nvSpPr>
          <p:cNvPr id="14" name="Shape 12"/>
          <p:cNvSpPr/>
          <p:nvPr/>
        </p:nvSpPr>
        <p:spPr>
          <a:xfrm>
            <a:off x="457200" y="4846320"/>
            <a:ext cx="3611880" cy="1691640"/>
          </a:xfrm>
          <a:prstGeom prst="roundRect">
            <a:avLst>
              <a:gd name="adj" fmla="val 5405"/>
            </a:avLst>
          </a:prstGeom>
          <a:solidFill>
            <a:srgbClr val="161B22"/>
          </a:solidFill>
          <a:ln w="19050">
            <a:solidFill>
              <a:srgbClr val="F0B429"/>
            </a:solidFill>
            <a:prstDash val="solid"/>
          </a:ln>
        </p:spPr>
      </p:sp>
      <p:sp>
        <p:nvSpPr>
          <p:cNvPr id="15" name="Text 13"/>
          <p:cNvSpPr/>
          <p:nvPr/>
        </p:nvSpPr>
        <p:spPr>
          <a:xfrm>
            <a:off x="457200" y="4892040"/>
            <a:ext cx="3611880" cy="685800"/>
          </a:xfrm>
          <a:prstGeom prst="rect">
            <a:avLst/>
          </a:prstGeom>
          <a:noFill/>
          <a:ln/>
        </p:spPr>
        <p:txBody>
          <a:bodyPr wrap="square" rtlCol="0" anchor="ctr"/>
          <a:lstStyle/>
          <a:p>
            <a:pPr algn="ctr" indent="0" marL="0">
              <a:buNone/>
            </a:pPr>
            <a:r>
              <a:rPr lang="en-US" sz="3600" b="1" dirty="0">
                <a:solidFill>
                  <a:srgbClr val="F0B429"/>
                </a:solidFill>
                <a:latin typeface="Arial" pitchFamily="34" charset="0"/>
                <a:ea typeface="Arial" pitchFamily="34" charset="-122"/>
                <a:cs typeface="Arial" pitchFamily="34" charset="-120"/>
              </a:rPr>
              <a:t>1.2M</a:t>
            </a:r>
            <a:endParaRPr lang="en-US" sz="3600" dirty="0"/>
          </a:p>
        </p:txBody>
      </p:sp>
      <p:sp>
        <p:nvSpPr>
          <p:cNvPr id="16" name="Text 14"/>
          <p:cNvSpPr/>
          <p:nvPr/>
        </p:nvSpPr>
        <p:spPr>
          <a:xfrm>
            <a:off x="640080" y="5623560"/>
            <a:ext cx="3246120" cy="640080"/>
          </a:xfrm>
          <a:prstGeom prst="rect">
            <a:avLst/>
          </a:prstGeom>
          <a:noFill/>
          <a:ln/>
        </p:spPr>
        <p:txBody>
          <a:bodyPr wrap="square" rtlCol="0" anchor="ctr"/>
          <a:lstStyle/>
          <a:p>
            <a:pPr algn="ctr" indent="0" marL="0">
              <a:lnSpc>
                <a:spcPct val="120000"/>
              </a:lnSpc>
              <a:buNone/>
            </a:pPr>
            <a:r>
              <a:rPr lang="en-US" sz="1200" dirty="0">
                <a:solidFill>
                  <a:srgbClr val="8B949E"/>
                </a:solidFill>
                <a:latin typeface="Arial" pitchFamily="34" charset="0"/>
                <a:ea typeface="Arial" pitchFamily="34" charset="-122"/>
                <a:cs typeface="Arial" pitchFamily="34" charset="-120"/>
              </a:rPr>
              <a:t>students drop out</a:t>
            </a:r>
            <a:endParaRPr lang="en-US" sz="1200" dirty="0"/>
          </a:p>
          <a:p>
            <a:pPr algn="ctr" indent="0" marL="0">
              <a:lnSpc>
                <a:spcPct val="120000"/>
              </a:lnSpc>
              <a:buNone/>
            </a:pPr>
            <a:r>
              <a:rPr lang="en-US" sz="1200" dirty="0">
                <a:solidFill>
                  <a:srgbClr val="8B949E"/>
                </a:solidFill>
                <a:latin typeface="Arial" pitchFamily="34" charset="0"/>
                <a:ea typeface="Arial" pitchFamily="34" charset="-122"/>
                <a:cs typeface="Arial" pitchFamily="34" charset="-120"/>
              </a:rPr>
              <a:t>of high school yearly</a:t>
            </a:r>
            <a:endParaRPr lang="en-US" sz="1200" dirty="0"/>
          </a:p>
        </p:txBody>
      </p:sp>
      <p:sp>
        <p:nvSpPr>
          <p:cNvPr id="17" name="Shape 15"/>
          <p:cNvSpPr/>
          <p:nvPr/>
        </p:nvSpPr>
        <p:spPr>
          <a:xfrm>
            <a:off x="4251960" y="4846320"/>
            <a:ext cx="3611880" cy="1691640"/>
          </a:xfrm>
          <a:prstGeom prst="roundRect">
            <a:avLst>
              <a:gd name="adj" fmla="val 5405"/>
            </a:avLst>
          </a:prstGeom>
          <a:solidFill>
            <a:srgbClr val="161B22"/>
          </a:solidFill>
          <a:ln w="19050">
            <a:solidFill>
              <a:srgbClr val="0079F2"/>
            </a:solidFill>
            <a:prstDash val="solid"/>
          </a:ln>
        </p:spPr>
      </p:sp>
      <p:sp>
        <p:nvSpPr>
          <p:cNvPr id="18" name="Text 16"/>
          <p:cNvSpPr/>
          <p:nvPr/>
        </p:nvSpPr>
        <p:spPr>
          <a:xfrm>
            <a:off x="4251960" y="4892040"/>
            <a:ext cx="3611880" cy="685800"/>
          </a:xfrm>
          <a:prstGeom prst="rect">
            <a:avLst/>
          </a:prstGeom>
          <a:noFill/>
          <a:ln/>
        </p:spPr>
        <p:txBody>
          <a:bodyPr wrap="square" rtlCol="0" anchor="ctr"/>
          <a:lstStyle/>
          <a:p>
            <a:pPr algn="ctr" indent="0" marL="0">
              <a:buNone/>
            </a:pPr>
            <a:r>
              <a:rPr lang="en-US" sz="3600" b="1" dirty="0">
                <a:solidFill>
                  <a:srgbClr val="0079F2"/>
                </a:solidFill>
                <a:latin typeface="Arial" pitchFamily="34" charset="0"/>
                <a:ea typeface="Arial" pitchFamily="34" charset="-122"/>
                <a:cs typeface="Arial" pitchFamily="34" charset="-120"/>
              </a:rPr>
              <a:t>8+</a:t>
            </a:r>
            <a:endParaRPr lang="en-US" sz="3600" dirty="0"/>
          </a:p>
        </p:txBody>
      </p:sp>
      <p:sp>
        <p:nvSpPr>
          <p:cNvPr id="19" name="Text 17"/>
          <p:cNvSpPr/>
          <p:nvPr/>
        </p:nvSpPr>
        <p:spPr>
          <a:xfrm>
            <a:off x="4434840" y="5623560"/>
            <a:ext cx="3246120" cy="640080"/>
          </a:xfrm>
          <a:prstGeom prst="rect">
            <a:avLst/>
          </a:prstGeom>
          <a:noFill/>
          <a:ln/>
        </p:spPr>
        <p:txBody>
          <a:bodyPr wrap="square" rtlCol="0" anchor="ctr"/>
          <a:lstStyle/>
          <a:p>
            <a:pPr algn="ctr" indent="0" marL="0">
              <a:lnSpc>
                <a:spcPct val="120000"/>
              </a:lnSpc>
              <a:buNone/>
            </a:pPr>
            <a:r>
              <a:rPr lang="en-US" sz="1200" dirty="0">
                <a:solidFill>
                  <a:srgbClr val="8B949E"/>
                </a:solidFill>
                <a:latin typeface="Arial" pitchFamily="34" charset="0"/>
                <a:ea typeface="Arial" pitchFamily="34" charset="-122"/>
                <a:cs typeface="Arial" pitchFamily="34" charset="-120"/>
              </a:rPr>
              <a:t>disconnected systems</a:t>
            </a:r>
            <a:endParaRPr lang="en-US" sz="1200" dirty="0"/>
          </a:p>
          <a:p>
            <a:pPr algn="ctr" indent="0" marL="0">
              <a:lnSpc>
                <a:spcPct val="120000"/>
              </a:lnSpc>
              <a:buNone/>
            </a:pPr>
            <a:r>
              <a:rPr lang="en-US" sz="1200" dirty="0">
                <a:solidFill>
                  <a:srgbClr val="8B949E"/>
                </a:solidFill>
                <a:latin typeface="Arial" pitchFamily="34" charset="0"/>
                <a:ea typeface="Arial" pitchFamily="34" charset="-122"/>
                <a:cs typeface="Arial" pitchFamily="34" charset="-120"/>
              </a:rPr>
              <a:t>per person in need</a:t>
            </a:r>
            <a:endParaRPr lang="en-US" sz="1200" dirty="0"/>
          </a:p>
        </p:txBody>
      </p:sp>
      <p:sp>
        <p:nvSpPr>
          <p:cNvPr id="20" name="Shape 18"/>
          <p:cNvSpPr/>
          <p:nvPr/>
        </p:nvSpPr>
        <p:spPr>
          <a:xfrm>
            <a:off x="8046720" y="4846320"/>
            <a:ext cx="3611880" cy="1691640"/>
          </a:xfrm>
          <a:prstGeom prst="roundRect">
            <a:avLst>
              <a:gd name="adj" fmla="val 5405"/>
            </a:avLst>
          </a:prstGeom>
          <a:solidFill>
            <a:srgbClr val="161B22"/>
          </a:solidFill>
          <a:ln w="19050">
            <a:solidFill>
              <a:srgbClr val="00C9A7"/>
            </a:solidFill>
            <a:prstDash val="solid"/>
          </a:ln>
        </p:spPr>
      </p:sp>
      <p:sp>
        <p:nvSpPr>
          <p:cNvPr id="21" name="Text 19"/>
          <p:cNvSpPr/>
          <p:nvPr/>
        </p:nvSpPr>
        <p:spPr>
          <a:xfrm>
            <a:off x="8046720" y="4892040"/>
            <a:ext cx="3611880" cy="685800"/>
          </a:xfrm>
          <a:prstGeom prst="rect">
            <a:avLst/>
          </a:prstGeom>
          <a:noFill/>
          <a:ln/>
        </p:spPr>
        <p:txBody>
          <a:bodyPr wrap="square" rtlCol="0" anchor="ctr"/>
          <a:lstStyle/>
          <a:p>
            <a:pPr algn="ctr" indent="0" marL="0">
              <a:buNone/>
            </a:pPr>
            <a:r>
              <a:rPr lang="en-US" sz="3600" b="1" dirty="0">
                <a:solidFill>
                  <a:srgbClr val="00C9A7"/>
                </a:solidFill>
                <a:latin typeface="Arial" pitchFamily="34" charset="0"/>
                <a:ea typeface="Arial" pitchFamily="34" charset="-122"/>
                <a:cs typeface="Arial" pitchFamily="34" charset="-120"/>
              </a:rPr>
              <a:t>$0</a:t>
            </a:r>
            <a:endParaRPr lang="en-US" sz="3600" dirty="0"/>
          </a:p>
        </p:txBody>
      </p:sp>
      <p:sp>
        <p:nvSpPr>
          <p:cNvPr id="22" name="Text 20"/>
          <p:cNvSpPr/>
          <p:nvPr/>
        </p:nvSpPr>
        <p:spPr>
          <a:xfrm>
            <a:off x="8229600" y="5623560"/>
            <a:ext cx="3246120" cy="640080"/>
          </a:xfrm>
          <a:prstGeom prst="rect">
            <a:avLst/>
          </a:prstGeom>
          <a:noFill/>
          <a:ln/>
        </p:spPr>
        <p:txBody>
          <a:bodyPr wrap="square" rtlCol="0" anchor="ctr"/>
          <a:lstStyle/>
          <a:p>
            <a:pPr algn="ctr" indent="0" marL="0">
              <a:lnSpc>
                <a:spcPct val="120000"/>
              </a:lnSpc>
              <a:buNone/>
            </a:pPr>
            <a:r>
              <a:rPr lang="en-US" sz="1200" dirty="0">
                <a:solidFill>
                  <a:srgbClr val="8B949E"/>
                </a:solidFill>
                <a:latin typeface="Arial" pitchFamily="34" charset="0"/>
                <a:ea typeface="Arial" pitchFamily="34" charset="-122"/>
                <a:cs typeface="Arial" pitchFamily="34" charset="-120"/>
              </a:rPr>
              <a:t>spent on connecting</a:t>
            </a:r>
            <a:endParaRPr lang="en-US" sz="1200" dirty="0"/>
          </a:p>
          <a:p>
            <a:pPr algn="ctr" indent="0" marL="0">
              <a:lnSpc>
                <a:spcPct val="120000"/>
              </a:lnSpc>
              <a:buNone/>
            </a:pPr>
            <a:r>
              <a:rPr lang="en-US" sz="1200" dirty="0">
                <a:solidFill>
                  <a:srgbClr val="8B949E"/>
                </a:solidFill>
                <a:latin typeface="Arial" pitchFamily="34" charset="0"/>
                <a:ea typeface="Arial" pitchFamily="34" charset="-122"/>
                <a:cs typeface="Arial" pitchFamily="34" charset="-120"/>
              </a:rPr>
              <a:t>those systems together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00C9A7"/>
                </a:solidFill>
                <a:latin typeface="Arial" pitchFamily="34" charset="0"/>
                <a:ea typeface="Arial" pitchFamily="34" charset="-122"/>
                <a:cs typeface="Arial" pitchFamily="34" charset="-120"/>
              </a:rPr>
              <a:t>The Solution</a:t>
            </a:r>
            <a:endParaRPr lang="en-US" sz="1300" dirty="0"/>
          </a:p>
        </p:txBody>
      </p:sp>
      <p:sp>
        <p:nvSpPr>
          <p:cNvPr id="3" name="Text 1"/>
          <p:cNvSpPr/>
          <p:nvPr/>
        </p:nvSpPr>
        <p:spPr>
          <a:xfrm>
            <a:off x="731520" y="777240"/>
            <a:ext cx="10698480" cy="1051560"/>
          </a:xfrm>
          <a:prstGeom prst="rect">
            <a:avLst/>
          </a:prstGeom>
          <a:noFill/>
          <a:ln/>
        </p:spPr>
        <p:txBody>
          <a:bodyPr wrap="square" rtlCol="0" anchor="ctr"/>
          <a:lstStyle/>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One Ecosystem. Six Domains.</a:t>
            </a:r>
            <a:endParaRPr lang="en-US" sz="3300" dirty="0"/>
          </a:p>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24 Platforms That Hold Each Other Accountable.</a:t>
            </a:r>
            <a:endParaRPr lang="en-US" sz="3300" dirty="0"/>
          </a:p>
        </p:txBody>
      </p:sp>
      <p:sp>
        <p:nvSpPr>
          <p:cNvPr id="4" name="Text 2"/>
          <p:cNvSpPr/>
          <p:nvPr/>
        </p:nvSpPr>
        <p:spPr>
          <a:xfrm>
            <a:off x="731520" y="1874520"/>
            <a:ext cx="10515600" cy="502920"/>
          </a:xfrm>
          <a:prstGeom prst="rect">
            <a:avLst/>
          </a:prstGeom>
          <a:noFill/>
          <a:ln/>
        </p:spPr>
        <p:txBody>
          <a:bodyPr wrap="square" rtlCol="0" anchor="ctr"/>
          <a:lstStyle/>
          <a:p>
            <a:pPr indent="0" marL="0">
              <a:lnSpc>
                <a:spcPct val="135000"/>
              </a:lnSpc>
              <a:buNone/>
            </a:pPr>
            <a:r>
              <a:rPr lang="en-US" sz="1300" dirty="0">
                <a:solidFill>
                  <a:srgbClr val="8B949E"/>
                </a:solidFill>
                <a:latin typeface="Arial" pitchFamily="34" charset="0"/>
                <a:ea typeface="Arial" pitchFamily="34" charset="-122"/>
                <a:cs typeface="Arial" pitchFamily="34" charset="-120"/>
              </a:rPr>
              <a:t>Each platform sees the others. Each platform can flag gaps, escalate needs, and trigger services across domains. Communities enter where their need is greatest — and discover every resource connected to it.</a:t>
            </a:r>
            <a:endParaRPr lang="en-US" sz="1300" dirty="0"/>
          </a:p>
        </p:txBody>
      </p:sp>
      <p:sp>
        <p:nvSpPr>
          <p:cNvPr id="5" name="Shape 3"/>
          <p:cNvSpPr/>
          <p:nvPr/>
        </p:nvSpPr>
        <p:spPr>
          <a:xfrm>
            <a:off x="4754880" y="4160520"/>
            <a:ext cx="2651760" cy="1097280"/>
          </a:xfrm>
          <a:prstGeom prst="ellipse">
            <a:avLst/>
          </a:prstGeom>
          <a:solidFill>
            <a:srgbClr val="161B22"/>
          </a:solidFill>
          <a:ln w="25400">
            <a:solidFill>
              <a:srgbClr val="00C9A7"/>
            </a:solidFill>
            <a:prstDash val="solid"/>
          </a:ln>
        </p:spPr>
      </p:sp>
      <p:sp>
        <p:nvSpPr>
          <p:cNvPr id="6" name="Text 4"/>
          <p:cNvSpPr/>
          <p:nvPr/>
        </p:nvSpPr>
        <p:spPr>
          <a:xfrm>
            <a:off x="4754880" y="4160520"/>
            <a:ext cx="2651760" cy="1097280"/>
          </a:xfrm>
          <a:prstGeom prst="rect">
            <a:avLst/>
          </a:prstGeom>
          <a:noFill/>
          <a:ln/>
        </p:spPr>
        <p:txBody>
          <a:bodyPr wrap="square" rtlCol="0" anchor="ctr"/>
          <a:lstStyle/>
          <a:p>
            <a:pPr algn="ctr" indent="0" marL="0">
              <a:lnSpc>
                <a:spcPct val="115000"/>
              </a:lnSpc>
              <a:buNone/>
            </a:pPr>
            <a:r>
              <a:rPr lang="en-US" sz="1100" b="1" dirty="0">
                <a:solidFill>
                  <a:srgbClr val="00C9A7"/>
                </a:solidFill>
                <a:latin typeface="Arial" pitchFamily="34" charset="0"/>
                <a:ea typeface="Arial" pitchFamily="34" charset="-122"/>
                <a:cs typeface="Arial" pitchFamily="34" charset="-120"/>
              </a:rPr>
              <a:t>AI Intelligence</a:t>
            </a:r>
            <a:endParaRPr lang="en-US" sz="1100" dirty="0"/>
          </a:p>
          <a:p>
            <a:pPr algn="ctr" indent="0" marL="0">
              <a:lnSpc>
                <a:spcPct val="115000"/>
              </a:lnSpc>
              <a:buNone/>
            </a:pPr>
            <a:r>
              <a:rPr lang="en-US" sz="1100" b="1" dirty="0">
                <a:solidFill>
                  <a:srgbClr val="00C9A7"/>
                </a:solidFill>
                <a:latin typeface="Arial" pitchFamily="34" charset="0"/>
                <a:ea typeface="Arial" pitchFamily="34" charset="-122"/>
                <a:cs typeface="Arial" pitchFamily="34" charset="-120"/>
              </a:rPr>
              <a:t>Layer</a:t>
            </a:r>
            <a:endParaRPr lang="en-US" sz="1100" dirty="0"/>
          </a:p>
          <a:p>
            <a:pPr algn="ctr" indent="0" marL="0">
              <a:lnSpc>
                <a:spcPct val="115000"/>
              </a:lnSpc>
              <a:buNone/>
            </a:pPr>
            <a:r>
              <a:rPr lang="en-US" sz="1100" b="1" dirty="0">
                <a:solidFill>
                  <a:srgbClr val="00C9A7"/>
                </a:solidFill>
                <a:latin typeface="Arial" pitchFamily="34" charset="0"/>
                <a:ea typeface="Arial" pitchFamily="34" charset="-122"/>
                <a:cs typeface="Arial" pitchFamily="34" charset="-120"/>
              </a:rPr>
              <a:t>4 Engines</a:t>
            </a:r>
            <a:endParaRPr lang="en-US" sz="1100" dirty="0"/>
          </a:p>
        </p:txBody>
      </p:sp>
      <p:sp>
        <p:nvSpPr>
          <p:cNvPr id="7" name="Shape 5"/>
          <p:cNvSpPr/>
          <p:nvPr/>
        </p:nvSpPr>
        <p:spPr>
          <a:xfrm>
            <a:off x="228600" y="2560320"/>
            <a:ext cx="3749040" cy="2514600"/>
          </a:xfrm>
          <a:prstGeom prst="roundRect">
            <a:avLst>
              <a:gd name="adj" fmla="val 2909"/>
            </a:avLst>
          </a:prstGeom>
          <a:solidFill>
            <a:srgbClr val="161B22"/>
          </a:solidFill>
          <a:ln w="19050">
            <a:solidFill>
              <a:srgbClr val="EF4444"/>
            </a:solidFill>
            <a:prstDash val="solid"/>
          </a:ln>
        </p:spPr>
      </p:sp>
      <p:sp>
        <p:nvSpPr>
          <p:cNvPr id="8" name="Text 6"/>
          <p:cNvSpPr/>
          <p:nvPr/>
        </p:nvSpPr>
        <p:spPr>
          <a:xfrm>
            <a:off x="228600" y="2578608"/>
            <a:ext cx="3749040" cy="548640"/>
          </a:xfrm>
          <a:prstGeom prst="rect">
            <a:avLst/>
          </a:prstGeom>
          <a:noFill/>
          <a:ln/>
        </p:spPr>
        <p:txBody>
          <a:bodyPr wrap="square" rtlCol="0" anchor="ctr"/>
          <a:lstStyle/>
          <a:p>
            <a:pPr algn="ctr" indent="0" marL="0">
              <a:buNone/>
            </a:pPr>
            <a:r>
              <a:rPr lang="en-US" sz="1100" b="1" dirty="0">
                <a:solidFill>
                  <a:srgbClr val="EF4444"/>
                </a:solidFill>
                <a:latin typeface="Arial" pitchFamily="34" charset="0"/>
                <a:ea typeface="Arial" pitchFamily="34" charset="-122"/>
                <a:cs typeface="Arial" pitchFamily="34" charset="-120"/>
              </a:rPr>
              <a:t>CRIMINAL JUSTICE</a:t>
            </a:r>
            <a:endParaRPr lang="en-US" sz="1100" dirty="0"/>
          </a:p>
          <a:p>
            <a:pPr algn="ctr" indent="0" marL="0">
              <a:buNone/>
            </a:pPr>
            <a:r>
              <a:rPr lang="en-US" sz="1100" b="1" dirty="0">
                <a:solidFill>
                  <a:srgbClr val="EF4444"/>
                </a:solidFill>
                <a:latin typeface="Arial" pitchFamily="34" charset="0"/>
                <a:ea typeface="Arial" pitchFamily="34" charset="-122"/>
                <a:cs typeface="Arial" pitchFamily="34" charset="-120"/>
              </a:rPr>
              <a:t>&amp; SAFETY</a:t>
            </a:r>
            <a:endParaRPr lang="en-US" sz="1100" dirty="0"/>
          </a:p>
        </p:txBody>
      </p:sp>
      <p:sp>
        <p:nvSpPr>
          <p:cNvPr id="9" name="Shape 7"/>
          <p:cNvSpPr/>
          <p:nvPr/>
        </p:nvSpPr>
        <p:spPr>
          <a:xfrm>
            <a:off x="548640" y="3136392"/>
            <a:ext cx="3108960" cy="18288"/>
          </a:xfrm>
          <a:prstGeom prst="rect">
            <a:avLst/>
          </a:prstGeom>
          <a:solidFill>
            <a:srgbClr val="EF4444"/>
          </a:solidFill>
          <a:ln/>
        </p:spPr>
      </p:sp>
      <p:sp>
        <p:nvSpPr>
          <p:cNvPr id="10" name="Text 8"/>
          <p:cNvSpPr/>
          <p:nvPr/>
        </p:nvSpPr>
        <p:spPr>
          <a:xfrm>
            <a:off x="338328" y="3200400"/>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LifeBridge (Reentry)</a:t>
            </a:r>
            <a:endParaRPr lang="en-US" sz="1050" dirty="0"/>
          </a:p>
        </p:txBody>
      </p:sp>
      <p:sp>
        <p:nvSpPr>
          <p:cNvPr id="11" name="Text 9"/>
          <p:cNvSpPr/>
          <p:nvPr/>
        </p:nvSpPr>
        <p:spPr>
          <a:xfrm>
            <a:off x="338328" y="3584448"/>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SafeReport (Mandated Reporting)</a:t>
            </a:r>
            <a:endParaRPr lang="en-US" sz="1050" dirty="0"/>
          </a:p>
        </p:txBody>
      </p:sp>
      <p:sp>
        <p:nvSpPr>
          <p:cNvPr id="12" name="Text 10"/>
          <p:cNvSpPr/>
          <p:nvPr/>
        </p:nvSpPr>
        <p:spPr>
          <a:xfrm>
            <a:off x="338328" y="3968496"/>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Shield Atlas (Emergency Mgmt)</a:t>
            </a:r>
            <a:endParaRPr lang="en-US" sz="1050" dirty="0"/>
          </a:p>
        </p:txBody>
      </p:sp>
      <p:sp>
        <p:nvSpPr>
          <p:cNvPr id="13" name="Text 11"/>
          <p:cNvSpPr/>
          <p:nvPr/>
        </p:nvSpPr>
        <p:spPr>
          <a:xfrm>
            <a:off x="338328" y="4352544"/>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ISSS (Youth Supports)</a:t>
            </a:r>
            <a:endParaRPr lang="en-US" sz="1050" dirty="0"/>
          </a:p>
        </p:txBody>
      </p:sp>
      <p:sp>
        <p:nvSpPr>
          <p:cNvPr id="14" name="Shape 12"/>
          <p:cNvSpPr/>
          <p:nvPr/>
        </p:nvSpPr>
        <p:spPr>
          <a:xfrm>
            <a:off x="4160520" y="2560320"/>
            <a:ext cx="3749040" cy="2514600"/>
          </a:xfrm>
          <a:prstGeom prst="roundRect">
            <a:avLst>
              <a:gd name="adj" fmla="val 2909"/>
            </a:avLst>
          </a:prstGeom>
          <a:solidFill>
            <a:srgbClr val="161B22"/>
          </a:solidFill>
          <a:ln w="19050">
            <a:solidFill>
              <a:srgbClr val="E8459E"/>
            </a:solidFill>
            <a:prstDash val="solid"/>
          </a:ln>
        </p:spPr>
      </p:sp>
      <p:sp>
        <p:nvSpPr>
          <p:cNvPr id="15" name="Text 13"/>
          <p:cNvSpPr/>
          <p:nvPr/>
        </p:nvSpPr>
        <p:spPr>
          <a:xfrm>
            <a:off x="4160520" y="2578608"/>
            <a:ext cx="3749040" cy="548640"/>
          </a:xfrm>
          <a:prstGeom prst="rect">
            <a:avLst/>
          </a:prstGeom>
          <a:noFill/>
          <a:ln/>
        </p:spPr>
        <p:txBody>
          <a:bodyPr wrap="square" rtlCol="0" anchor="ctr"/>
          <a:lstStyle/>
          <a:p>
            <a:pPr algn="ctr" indent="0" marL="0">
              <a:buNone/>
            </a:pPr>
            <a:r>
              <a:rPr lang="en-US" sz="1100" b="1" dirty="0">
                <a:solidFill>
                  <a:srgbClr val="E8459E"/>
                </a:solidFill>
                <a:latin typeface="Arial" pitchFamily="34" charset="0"/>
                <a:ea typeface="Arial" pitchFamily="34" charset="-122"/>
                <a:cs typeface="Arial" pitchFamily="34" charset="-120"/>
              </a:rPr>
              <a:t>HEALTH</a:t>
            </a:r>
            <a:endParaRPr lang="en-US" sz="1100" dirty="0"/>
          </a:p>
          <a:p>
            <a:pPr algn="ctr" indent="0" marL="0">
              <a:buNone/>
            </a:pPr>
            <a:r>
              <a:rPr lang="en-US" sz="1100" b="1" dirty="0">
                <a:solidFill>
                  <a:srgbClr val="E8459E"/>
                </a:solidFill>
                <a:latin typeface="Arial" pitchFamily="34" charset="0"/>
                <a:ea typeface="Arial" pitchFamily="34" charset="-122"/>
                <a:cs typeface="Arial" pitchFamily="34" charset="-120"/>
              </a:rPr>
              <a:t>EQUITY</a:t>
            </a:r>
            <a:endParaRPr lang="en-US" sz="1100" dirty="0"/>
          </a:p>
        </p:txBody>
      </p:sp>
      <p:sp>
        <p:nvSpPr>
          <p:cNvPr id="16" name="Shape 14"/>
          <p:cNvSpPr/>
          <p:nvPr/>
        </p:nvSpPr>
        <p:spPr>
          <a:xfrm>
            <a:off x="4480560" y="3136392"/>
            <a:ext cx="3108960" cy="18288"/>
          </a:xfrm>
          <a:prstGeom prst="rect">
            <a:avLst/>
          </a:prstGeom>
          <a:solidFill>
            <a:srgbClr val="E8459E"/>
          </a:solidFill>
          <a:ln/>
        </p:spPr>
      </p:sp>
      <p:sp>
        <p:nvSpPr>
          <p:cNvPr id="17" name="Text 15"/>
          <p:cNvSpPr/>
          <p:nvPr/>
        </p:nvSpPr>
        <p:spPr>
          <a:xfrm>
            <a:off x="4270248" y="3200400"/>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Black Maternal Health Network</a:t>
            </a:r>
            <a:endParaRPr lang="en-US" sz="1050" dirty="0"/>
          </a:p>
        </p:txBody>
      </p:sp>
      <p:sp>
        <p:nvSpPr>
          <p:cNvPr id="18" name="Text 16"/>
          <p:cNvSpPr/>
          <p:nvPr/>
        </p:nvSpPr>
        <p:spPr>
          <a:xfrm>
            <a:off x="4270248" y="3584448"/>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Sankofa Health (Breast Cancer)</a:t>
            </a:r>
            <a:endParaRPr lang="en-US" sz="1050" dirty="0"/>
          </a:p>
        </p:txBody>
      </p:sp>
      <p:sp>
        <p:nvSpPr>
          <p:cNvPr id="19" name="Text 17"/>
          <p:cNvSpPr/>
          <p:nvPr/>
        </p:nvSpPr>
        <p:spPr>
          <a:xfrm>
            <a:off x="4270248" y="3968496"/>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Autoimmune CoE</a:t>
            </a:r>
            <a:endParaRPr lang="en-US" sz="1050" dirty="0"/>
          </a:p>
        </p:txBody>
      </p:sp>
      <p:sp>
        <p:nvSpPr>
          <p:cNvPr id="20" name="Text 18"/>
          <p:cNvSpPr/>
          <p:nvPr/>
        </p:nvSpPr>
        <p:spPr>
          <a:xfrm>
            <a:off x="4270248" y="4352544"/>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Black Men's Health Hub</a:t>
            </a:r>
            <a:endParaRPr lang="en-US" sz="1050" dirty="0"/>
          </a:p>
        </p:txBody>
      </p:sp>
      <p:sp>
        <p:nvSpPr>
          <p:cNvPr id="21" name="Shape 19"/>
          <p:cNvSpPr/>
          <p:nvPr/>
        </p:nvSpPr>
        <p:spPr>
          <a:xfrm>
            <a:off x="8092440" y="2560320"/>
            <a:ext cx="3749040" cy="2514600"/>
          </a:xfrm>
          <a:prstGeom prst="roundRect">
            <a:avLst>
              <a:gd name="adj" fmla="val 2909"/>
            </a:avLst>
          </a:prstGeom>
          <a:solidFill>
            <a:srgbClr val="161B22"/>
          </a:solidFill>
          <a:ln w="19050">
            <a:solidFill>
              <a:srgbClr val="8B5CF6"/>
            </a:solidFill>
            <a:prstDash val="solid"/>
          </a:ln>
        </p:spPr>
      </p:sp>
      <p:sp>
        <p:nvSpPr>
          <p:cNvPr id="22" name="Text 20"/>
          <p:cNvSpPr/>
          <p:nvPr/>
        </p:nvSpPr>
        <p:spPr>
          <a:xfrm>
            <a:off x="8092440" y="2578608"/>
            <a:ext cx="3749040" cy="548640"/>
          </a:xfrm>
          <a:prstGeom prst="rect">
            <a:avLst/>
          </a:prstGeom>
          <a:noFill/>
          <a:ln/>
        </p:spPr>
        <p:txBody>
          <a:bodyPr wrap="square" rtlCol="0" anchor="ctr"/>
          <a:lstStyle/>
          <a:p>
            <a:pPr algn="ctr" indent="0" marL="0">
              <a:buNone/>
            </a:pPr>
            <a:r>
              <a:rPr lang="en-US" sz="1100" b="1" dirty="0">
                <a:solidFill>
                  <a:srgbClr val="8B5CF6"/>
                </a:solidFill>
                <a:latin typeface="Arial" pitchFamily="34" charset="0"/>
                <a:ea typeface="Arial" pitchFamily="34" charset="-122"/>
                <a:cs typeface="Arial" pitchFamily="34" charset="-120"/>
              </a:rPr>
              <a:t>BEHAVIORAL</a:t>
            </a:r>
            <a:endParaRPr lang="en-US" sz="1100" dirty="0"/>
          </a:p>
          <a:p>
            <a:pPr algn="ctr" indent="0" marL="0">
              <a:buNone/>
            </a:pPr>
            <a:r>
              <a:rPr lang="en-US" sz="1100" b="1" dirty="0">
                <a:solidFill>
                  <a:srgbClr val="8B5CF6"/>
                </a:solidFill>
                <a:latin typeface="Arial" pitchFamily="34" charset="0"/>
                <a:ea typeface="Arial" pitchFamily="34" charset="-122"/>
                <a:cs typeface="Arial" pitchFamily="34" charset="-120"/>
              </a:rPr>
              <a:t>HEALTH</a:t>
            </a:r>
            <a:endParaRPr lang="en-US" sz="1100" dirty="0"/>
          </a:p>
        </p:txBody>
      </p:sp>
      <p:sp>
        <p:nvSpPr>
          <p:cNvPr id="23" name="Shape 21"/>
          <p:cNvSpPr/>
          <p:nvPr/>
        </p:nvSpPr>
        <p:spPr>
          <a:xfrm>
            <a:off x="8412480" y="3136392"/>
            <a:ext cx="3108960" cy="18288"/>
          </a:xfrm>
          <a:prstGeom prst="rect">
            <a:avLst/>
          </a:prstGeom>
          <a:solidFill>
            <a:srgbClr val="8B5CF6"/>
          </a:solidFill>
          <a:ln/>
        </p:spPr>
      </p:sp>
      <p:sp>
        <p:nvSpPr>
          <p:cNvPr id="24" name="Text 22"/>
          <p:cNvSpPr/>
          <p:nvPr/>
        </p:nvSpPr>
        <p:spPr>
          <a:xfrm>
            <a:off x="8202168" y="3200400"/>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Whole-Person Health Ecosystem</a:t>
            </a:r>
            <a:endParaRPr lang="en-US" sz="1050" dirty="0"/>
          </a:p>
        </p:txBody>
      </p:sp>
      <p:sp>
        <p:nvSpPr>
          <p:cNvPr id="25" name="Text 23"/>
          <p:cNvSpPr/>
          <p:nvPr/>
        </p:nvSpPr>
        <p:spPr>
          <a:xfrm>
            <a:off x="8202168" y="3584448"/>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SafeCogniCare (Cognitive)</a:t>
            </a:r>
            <a:endParaRPr lang="en-US" sz="1050" dirty="0"/>
          </a:p>
        </p:txBody>
      </p:sp>
      <p:sp>
        <p:nvSpPr>
          <p:cNvPr id="26" name="Text 24"/>
          <p:cNvSpPr/>
          <p:nvPr/>
        </p:nvSpPr>
        <p:spPr>
          <a:xfrm>
            <a:off x="8202168" y="3968496"/>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PillScheduler (Medication)</a:t>
            </a:r>
            <a:endParaRPr lang="en-US" sz="1050" dirty="0"/>
          </a:p>
        </p:txBody>
      </p:sp>
      <p:sp>
        <p:nvSpPr>
          <p:cNvPr id="27" name="Text 25"/>
          <p:cNvSpPr/>
          <p:nvPr/>
        </p:nvSpPr>
        <p:spPr>
          <a:xfrm>
            <a:off x="8202168" y="4352544"/>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WholeMind Learning (Literacy)</a:t>
            </a:r>
            <a:endParaRPr lang="en-US" sz="1050" dirty="0"/>
          </a:p>
        </p:txBody>
      </p:sp>
      <p:sp>
        <p:nvSpPr>
          <p:cNvPr id="28" name="Shape 26"/>
          <p:cNvSpPr/>
          <p:nvPr/>
        </p:nvSpPr>
        <p:spPr>
          <a:xfrm>
            <a:off x="228600" y="5349240"/>
            <a:ext cx="3749040" cy="2514600"/>
          </a:xfrm>
          <a:prstGeom prst="roundRect">
            <a:avLst>
              <a:gd name="adj" fmla="val 2909"/>
            </a:avLst>
          </a:prstGeom>
          <a:solidFill>
            <a:srgbClr val="161B22"/>
          </a:solidFill>
          <a:ln w="19050">
            <a:solidFill>
              <a:srgbClr val="0079F2"/>
            </a:solidFill>
            <a:prstDash val="solid"/>
          </a:ln>
        </p:spPr>
      </p:sp>
      <p:sp>
        <p:nvSpPr>
          <p:cNvPr id="29" name="Text 27"/>
          <p:cNvSpPr/>
          <p:nvPr/>
        </p:nvSpPr>
        <p:spPr>
          <a:xfrm>
            <a:off x="228600" y="5367528"/>
            <a:ext cx="3749040" cy="548640"/>
          </a:xfrm>
          <a:prstGeom prst="rect">
            <a:avLst/>
          </a:prstGeom>
          <a:noFill/>
          <a:ln/>
        </p:spPr>
        <p:txBody>
          <a:bodyPr wrap="square" rtlCol="0" anchor="ctr"/>
          <a:lstStyle/>
          <a:p>
            <a:pPr algn="ctr" indent="0" marL="0">
              <a:buNone/>
            </a:pPr>
            <a:r>
              <a:rPr lang="en-US" sz="1100" b="1" dirty="0">
                <a:solidFill>
                  <a:srgbClr val="0079F2"/>
                </a:solidFill>
                <a:latin typeface="Arial" pitchFamily="34" charset="0"/>
                <a:ea typeface="Arial" pitchFamily="34" charset="-122"/>
                <a:cs typeface="Arial" pitchFamily="34" charset="-120"/>
              </a:rPr>
              <a:t>WORKFORCE &amp;</a:t>
            </a:r>
            <a:endParaRPr lang="en-US" sz="1100" dirty="0"/>
          </a:p>
          <a:p>
            <a:pPr algn="ctr" indent="0" marL="0">
              <a:buNone/>
            </a:pPr>
            <a:r>
              <a:rPr lang="en-US" sz="1100" b="1" dirty="0">
                <a:solidFill>
                  <a:srgbClr val="0079F2"/>
                </a:solidFill>
                <a:latin typeface="Arial" pitchFamily="34" charset="0"/>
                <a:ea typeface="Arial" pitchFamily="34" charset="-122"/>
                <a:cs typeface="Arial" pitchFamily="34" charset="-120"/>
              </a:rPr>
              <a:t>BUSINESS</a:t>
            </a:r>
            <a:endParaRPr lang="en-US" sz="1100" dirty="0"/>
          </a:p>
        </p:txBody>
      </p:sp>
      <p:sp>
        <p:nvSpPr>
          <p:cNvPr id="30" name="Shape 28"/>
          <p:cNvSpPr/>
          <p:nvPr/>
        </p:nvSpPr>
        <p:spPr>
          <a:xfrm>
            <a:off x="548640" y="5925312"/>
            <a:ext cx="3108960" cy="18288"/>
          </a:xfrm>
          <a:prstGeom prst="rect">
            <a:avLst/>
          </a:prstGeom>
          <a:solidFill>
            <a:srgbClr val="0079F2"/>
          </a:solidFill>
          <a:ln/>
        </p:spPr>
      </p:sp>
      <p:sp>
        <p:nvSpPr>
          <p:cNvPr id="31" name="Text 29"/>
          <p:cNvSpPr/>
          <p:nvPr/>
        </p:nvSpPr>
        <p:spPr>
          <a:xfrm>
            <a:off x="338328" y="5989320"/>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Mission Transition (Veterans)</a:t>
            </a:r>
            <a:endParaRPr lang="en-US" sz="1050" dirty="0"/>
          </a:p>
        </p:txBody>
      </p:sp>
      <p:sp>
        <p:nvSpPr>
          <p:cNvPr id="32" name="Text 30"/>
          <p:cNvSpPr/>
          <p:nvPr/>
        </p:nvSpPr>
        <p:spPr>
          <a:xfrm>
            <a:off x="338328" y="6373368"/>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Pinnacle Business Conglomerate</a:t>
            </a:r>
            <a:endParaRPr lang="en-US" sz="1050" dirty="0"/>
          </a:p>
        </p:txBody>
      </p:sp>
      <p:sp>
        <p:nvSpPr>
          <p:cNvPr id="33" name="Text 31"/>
          <p:cNvSpPr/>
          <p:nvPr/>
        </p:nvSpPr>
        <p:spPr>
          <a:xfrm>
            <a:off x="338328" y="6757416"/>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Ecosystem Nexus (Careers)</a:t>
            </a:r>
            <a:endParaRPr lang="en-US" sz="1050" dirty="0"/>
          </a:p>
        </p:txBody>
      </p:sp>
      <p:sp>
        <p:nvSpPr>
          <p:cNvPr id="34" name="Text 32"/>
          <p:cNvSpPr/>
          <p:nvPr/>
        </p:nvSpPr>
        <p:spPr>
          <a:xfrm>
            <a:off x="338328" y="7141464"/>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Minority Center of Excellence</a:t>
            </a:r>
            <a:endParaRPr lang="en-US" sz="1050" dirty="0"/>
          </a:p>
        </p:txBody>
      </p:sp>
      <p:sp>
        <p:nvSpPr>
          <p:cNvPr id="35" name="Shape 33"/>
          <p:cNvSpPr/>
          <p:nvPr/>
        </p:nvSpPr>
        <p:spPr>
          <a:xfrm>
            <a:off x="4160520" y="5349240"/>
            <a:ext cx="3749040" cy="2514600"/>
          </a:xfrm>
          <a:prstGeom prst="roundRect">
            <a:avLst>
              <a:gd name="adj" fmla="val 2909"/>
            </a:avLst>
          </a:prstGeom>
          <a:solidFill>
            <a:srgbClr val="161B22"/>
          </a:solidFill>
          <a:ln w="19050">
            <a:solidFill>
              <a:srgbClr val="F0B429"/>
            </a:solidFill>
            <a:prstDash val="solid"/>
          </a:ln>
        </p:spPr>
      </p:sp>
      <p:sp>
        <p:nvSpPr>
          <p:cNvPr id="36" name="Text 34"/>
          <p:cNvSpPr/>
          <p:nvPr/>
        </p:nvSpPr>
        <p:spPr>
          <a:xfrm>
            <a:off x="4160520" y="5367528"/>
            <a:ext cx="3749040" cy="548640"/>
          </a:xfrm>
          <a:prstGeom prst="rect">
            <a:avLst/>
          </a:prstGeom>
          <a:noFill/>
          <a:ln/>
        </p:spPr>
        <p:txBody>
          <a:bodyPr wrap="square" rtlCol="0" anchor="ctr"/>
          <a:lstStyle/>
          <a:p>
            <a:pPr algn="ctr" indent="0" marL="0">
              <a:buNone/>
            </a:pPr>
            <a:r>
              <a:rPr lang="en-US" sz="1100" b="1" dirty="0">
                <a:solidFill>
                  <a:srgbClr val="F0B429"/>
                </a:solidFill>
                <a:latin typeface="Arial" pitchFamily="34" charset="0"/>
                <a:ea typeface="Arial" pitchFamily="34" charset="-122"/>
                <a:cs typeface="Arial" pitchFamily="34" charset="-120"/>
              </a:rPr>
              <a:t>EDUCATION &amp;</a:t>
            </a:r>
            <a:endParaRPr lang="en-US" sz="1100" dirty="0"/>
          </a:p>
          <a:p>
            <a:pPr algn="ctr" indent="0" marL="0">
              <a:buNone/>
            </a:pPr>
            <a:r>
              <a:rPr lang="en-US" sz="1100" b="1" dirty="0">
                <a:solidFill>
                  <a:srgbClr val="F0B429"/>
                </a:solidFill>
                <a:latin typeface="Arial" pitchFamily="34" charset="0"/>
                <a:ea typeface="Arial" pitchFamily="34" charset="-122"/>
                <a:cs typeface="Arial" pitchFamily="34" charset="-120"/>
              </a:rPr>
              <a:t>LEARNING</a:t>
            </a:r>
            <a:endParaRPr lang="en-US" sz="1100" dirty="0"/>
          </a:p>
        </p:txBody>
      </p:sp>
      <p:sp>
        <p:nvSpPr>
          <p:cNvPr id="37" name="Shape 35"/>
          <p:cNvSpPr/>
          <p:nvPr/>
        </p:nvSpPr>
        <p:spPr>
          <a:xfrm>
            <a:off x="4480560" y="5925312"/>
            <a:ext cx="3108960" cy="18288"/>
          </a:xfrm>
          <a:prstGeom prst="rect">
            <a:avLst/>
          </a:prstGeom>
          <a:solidFill>
            <a:srgbClr val="F0B429"/>
          </a:solidFill>
          <a:ln/>
        </p:spPr>
      </p:sp>
      <p:sp>
        <p:nvSpPr>
          <p:cNvPr id="38" name="Text 36"/>
          <p:cNvSpPr/>
          <p:nvPr/>
        </p:nvSpPr>
        <p:spPr>
          <a:xfrm>
            <a:off x="4270248" y="5989320"/>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ThriveUp Academy (K-12+Adult)</a:t>
            </a:r>
            <a:endParaRPr lang="en-US" sz="1050" dirty="0"/>
          </a:p>
        </p:txBody>
      </p:sp>
      <p:sp>
        <p:nvSpPr>
          <p:cNvPr id="39" name="Text 37"/>
          <p:cNvSpPr/>
          <p:nvPr/>
        </p:nvSpPr>
        <p:spPr>
          <a:xfrm>
            <a:off x="4270248" y="6373368"/>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Better Science Lab / RPLICE</a:t>
            </a:r>
            <a:endParaRPr lang="en-US" sz="1050" dirty="0"/>
          </a:p>
        </p:txBody>
      </p:sp>
      <p:sp>
        <p:nvSpPr>
          <p:cNvPr id="40" name="Text 38"/>
          <p:cNvSpPr/>
          <p:nvPr/>
        </p:nvSpPr>
        <p:spPr>
          <a:xfrm>
            <a:off x="4270248" y="6757416"/>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Perfectly Different (SpEd)</a:t>
            </a:r>
            <a:endParaRPr lang="en-US" sz="1050" dirty="0"/>
          </a:p>
        </p:txBody>
      </p:sp>
      <p:sp>
        <p:nvSpPr>
          <p:cNvPr id="41" name="Text 39"/>
          <p:cNvSpPr/>
          <p:nvPr/>
        </p:nvSpPr>
        <p:spPr>
          <a:xfrm>
            <a:off x="4270248" y="7141464"/>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LexiBridge (Multilingual)</a:t>
            </a:r>
            <a:endParaRPr lang="en-US" sz="1050" dirty="0"/>
          </a:p>
        </p:txBody>
      </p:sp>
      <p:sp>
        <p:nvSpPr>
          <p:cNvPr id="42" name="Shape 40"/>
          <p:cNvSpPr/>
          <p:nvPr/>
        </p:nvSpPr>
        <p:spPr>
          <a:xfrm>
            <a:off x="8092440" y="5349240"/>
            <a:ext cx="3749040" cy="2514600"/>
          </a:xfrm>
          <a:prstGeom prst="roundRect">
            <a:avLst>
              <a:gd name="adj" fmla="val 2909"/>
            </a:avLst>
          </a:prstGeom>
          <a:solidFill>
            <a:srgbClr val="161B22"/>
          </a:solidFill>
          <a:ln w="19050">
            <a:solidFill>
              <a:srgbClr val="00C9A7"/>
            </a:solidFill>
            <a:prstDash val="solid"/>
          </a:ln>
        </p:spPr>
      </p:sp>
      <p:sp>
        <p:nvSpPr>
          <p:cNvPr id="43" name="Text 41"/>
          <p:cNvSpPr/>
          <p:nvPr/>
        </p:nvSpPr>
        <p:spPr>
          <a:xfrm>
            <a:off x="8092440" y="5367528"/>
            <a:ext cx="3749040" cy="548640"/>
          </a:xfrm>
          <a:prstGeom prst="rect">
            <a:avLst/>
          </a:prstGeom>
          <a:noFill/>
          <a:ln/>
        </p:spPr>
        <p:txBody>
          <a:bodyPr wrap="square" rtlCol="0" anchor="ctr"/>
          <a:lstStyle/>
          <a:p>
            <a:pPr algn="ctr" indent="0" marL="0">
              <a:buNone/>
            </a:pPr>
            <a:r>
              <a:rPr lang="en-US" sz="1100" b="1" dirty="0">
                <a:solidFill>
                  <a:srgbClr val="00C9A7"/>
                </a:solidFill>
                <a:latin typeface="Arial" pitchFamily="34" charset="0"/>
                <a:ea typeface="Arial" pitchFamily="34" charset="-122"/>
                <a:cs typeface="Arial" pitchFamily="34" charset="-120"/>
              </a:rPr>
              <a:t>COMMUNITY &amp;</a:t>
            </a:r>
            <a:endParaRPr lang="en-US" sz="1100" dirty="0"/>
          </a:p>
          <a:p>
            <a:pPr algn="ctr" indent="0" marL="0">
              <a:buNone/>
            </a:pPr>
            <a:r>
              <a:rPr lang="en-US" sz="1100" b="1" dirty="0">
                <a:solidFill>
                  <a:srgbClr val="00C9A7"/>
                </a:solidFill>
                <a:latin typeface="Arial" pitchFamily="34" charset="0"/>
                <a:ea typeface="Arial" pitchFamily="34" charset="-122"/>
                <a:cs typeface="Arial" pitchFamily="34" charset="-120"/>
              </a:rPr>
              <a:t>ADVOCACY</a:t>
            </a:r>
            <a:endParaRPr lang="en-US" sz="1100" dirty="0"/>
          </a:p>
        </p:txBody>
      </p:sp>
      <p:sp>
        <p:nvSpPr>
          <p:cNvPr id="44" name="Shape 42"/>
          <p:cNvSpPr/>
          <p:nvPr/>
        </p:nvSpPr>
        <p:spPr>
          <a:xfrm>
            <a:off x="8412480" y="5925312"/>
            <a:ext cx="3108960" cy="18288"/>
          </a:xfrm>
          <a:prstGeom prst="rect">
            <a:avLst/>
          </a:prstGeom>
          <a:solidFill>
            <a:srgbClr val="00C9A7"/>
          </a:solidFill>
          <a:ln/>
        </p:spPr>
      </p:sp>
      <p:sp>
        <p:nvSpPr>
          <p:cNvPr id="45" name="Text 43"/>
          <p:cNvSpPr/>
          <p:nvPr/>
        </p:nvSpPr>
        <p:spPr>
          <a:xfrm>
            <a:off x="8202168" y="5989320"/>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The Collaborative Advocate</a:t>
            </a:r>
            <a:endParaRPr lang="en-US" sz="1050" dirty="0"/>
          </a:p>
        </p:txBody>
      </p:sp>
      <p:sp>
        <p:nvSpPr>
          <p:cNvPr id="46" name="Text 44"/>
          <p:cNvSpPr/>
          <p:nvPr/>
        </p:nvSpPr>
        <p:spPr>
          <a:xfrm>
            <a:off x="8202168" y="6373368"/>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Holistic Black Feminine Health</a:t>
            </a:r>
            <a:endParaRPr lang="en-US" sz="1050" dirty="0"/>
          </a:p>
        </p:txBody>
      </p:sp>
      <p:sp>
        <p:nvSpPr>
          <p:cNvPr id="47" name="Text 45"/>
          <p:cNvSpPr/>
          <p:nvPr/>
        </p:nvSpPr>
        <p:spPr>
          <a:xfrm>
            <a:off x="8202168" y="6757416"/>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Advertising / Outreach</a:t>
            </a:r>
            <a:endParaRPr lang="en-US" sz="1050" dirty="0"/>
          </a:p>
        </p:txBody>
      </p:sp>
      <p:sp>
        <p:nvSpPr>
          <p:cNvPr id="48" name="Text 46"/>
          <p:cNvSpPr/>
          <p:nvPr/>
        </p:nvSpPr>
        <p:spPr>
          <a:xfrm>
            <a:off x="8202168" y="7141464"/>
            <a:ext cx="3520440" cy="36576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  Video Creator AI</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E8459E"/>
                </a:solidFill>
                <a:latin typeface="Arial" pitchFamily="34" charset="0"/>
                <a:ea typeface="Arial" pitchFamily="34" charset="-122"/>
                <a:cs typeface="Arial" pitchFamily="34" charset="-120"/>
              </a:rPr>
              <a:t>One Person. The Whole Ecosystem.</a:t>
            </a:r>
            <a:endParaRPr lang="en-US" sz="1300" dirty="0"/>
          </a:p>
        </p:txBody>
      </p:sp>
      <p:sp>
        <p:nvSpPr>
          <p:cNvPr id="3" name="Text 1"/>
          <p:cNvSpPr/>
          <p:nvPr/>
        </p:nvSpPr>
        <p:spPr>
          <a:xfrm>
            <a:off x="731520" y="777240"/>
            <a:ext cx="10698480" cy="640080"/>
          </a:xfrm>
          <a:prstGeom prst="rect">
            <a:avLst/>
          </a:prstGeom>
          <a:noFill/>
          <a:ln/>
        </p:spPr>
        <p:txBody>
          <a:bodyPr wrap="square" rtlCol="0" anchor="ctr"/>
          <a:lstStyle/>
          <a:p>
            <a:pPr indent="0" marL="0">
              <a:buNone/>
            </a:pPr>
            <a:r>
              <a:rPr lang="en-US" sz="4000" b="1" dirty="0">
                <a:solidFill>
                  <a:srgbClr val="FFFFFF"/>
                </a:solidFill>
                <a:latin typeface="Arial" pitchFamily="34" charset="0"/>
                <a:ea typeface="Arial" pitchFamily="34" charset="-122"/>
                <a:cs typeface="Arial" pitchFamily="34" charset="-120"/>
              </a:rPr>
              <a:t>Meet Keisha.</a:t>
            </a:r>
            <a:endParaRPr lang="en-US" sz="4000" dirty="0"/>
          </a:p>
        </p:txBody>
      </p:sp>
      <p:sp>
        <p:nvSpPr>
          <p:cNvPr id="4" name="Text 2"/>
          <p:cNvSpPr/>
          <p:nvPr/>
        </p:nvSpPr>
        <p:spPr>
          <a:xfrm>
            <a:off x="731520" y="1417320"/>
            <a:ext cx="10698480" cy="640080"/>
          </a:xfrm>
          <a:prstGeom prst="rect">
            <a:avLst/>
          </a:prstGeom>
          <a:noFill/>
          <a:ln/>
        </p:spPr>
        <p:txBody>
          <a:bodyPr wrap="square" rtlCol="0" anchor="ctr"/>
          <a:lstStyle/>
          <a:p>
            <a:pPr indent="0" marL="0">
              <a:lnSpc>
                <a:spcPct val="130000"/>
              </a:lnSpc>
              <a:buNone/>
            </a:pPr>
            <a:r>
              <a:rPr lang="en-US" sz="1500" i="1" dirty="0">
                <a:solidFill>
                  <a:srgbClr val="00C9A7"/>
                </a:solidFill>
                <a:latin typeface="Arial" pitchFamily="34" charset="0"/>
                <a:ea typeface="Arial" pitchFamily="34" charset="-122"/>
                <a:cs typeface="Arial" pitchFamily="34" charset="-120"/>
              </a:rPr>
              <a:t>She's a veteran. A mother. She's battling breast cancer — and just found out she's pregnant.</a:t>
            </a:r>
            <a:endParaRPr lang="en-US" sz="1500" dirty="0"/>
          </a:p>
          <a:p>
            <a:pPr indent="0" marL="0">
              <a:lnSpc>
                <a:spcPct val="130000"/>
              </a:lnSpc>
              <a:buNone/>
            </a:pPr>
            <a:r>
              <a:rPr lang="en-US" sz="1500" i="1" dirty="0">
                <a:solidFill>
                  <a:srgbClr val="00C9A7"/>
                </a:solidFill>
                <a:latin typeface="Arial" pitchFamily="34" charset="0"/>
                <a:ea typeface="Arial" pitchFamily="34" charset="-122"/>
                <a:cs typeface="Arial" pitchFamily="34" charset="-120"/>
              </a:rPr>
              <a:t>She has depression. She runs a small nonprofit. Her child is failing in school. She is every woman.</a:t>
            </a:r>
            <a:endParaRPr lang="en-US" sz="1500" dirty="0"/>
          </a:p>
        </p:txBody>
      </p:sp>
      <p:sp>
        <p:nvSpPr>
          <p:cNvPr id="5" name="Text 3"/>
          <p:cNvSpPr/>
          <p:nvPr/>
        </p:nvSpPr>
        <p:spPr>
          <a:xfrm>
            <a:off x="731520" y="2103120"/>
            <a:ext cx="10515600" cy="640080"/>
          </a:xfrm>
          <a:prstGeom prst="rect">
            <a:avLst/>
          </a:prstGeom>
          <a:noFill/>
          <a:ln/>
        </p:spPr>
        <p:txBody>
          <a:bodyPr wrap="square" rtlCol="0" anchor="ctr"/>
          <a:lstStyle/>
          <a:p>
            <a:pPr indent="0" marL="0">
              <a:lnSpc>
                <a:spcPct val="135000"/>
              </a:lnSpc>
              <a:buNone/>
            </a:pPr>
            <a:r>
              <a:rPr lang="en-US" sz="1200" dirty="0">
                <a:solidFill>
                  <a:srgbClr val="8B949E"/>
                </a:solidFill>
                <a:latin typeface="Arial" pitchFamily="34" charset="0"/>
                <a:ea typeface="Arial" pitchFamily="34" charset="-122"/>
                <a:cs typeface="Arial" pitchFamily="34" charset="-120"/>
              </a:rPr>
              <a:t>In the current system, Keisha navigates 8+ disconnected agencies and tells her story 8 times. Her oncologist doesn't know she's pregnant. Her OB doesn't know she has cancer. Her child's school doesn't know why grades are dropping. In ThriveUp — she walks through any door and every platform responds:</a:t>
            </a:r>
            <a:endParaRPr lang="en-US" sz="1200" dirty="0"/>
          </a:p>
        </p:txBody>
      </p:sp>
      <p:sp>
        <p:nvSpPr>
          <p:cNvPr id="6" name="Shape 4"/>
          <p:cNvSpPr/>
          <p:nvPr/>
        </p:nvSpPr>
        <p:spPr>
          <a:xfrm>
            <a:off x="274320" y="2926080"/>
            <a:ext cx="3703320" cy="1783080"/>
          </a:xfrm>
          <a:prstGeom prst="roundRect">
            <a:avLst>
              <a:gd name="adj" fmla="val 4103"/>
            </a:avLst>
          </a:prstGeom>
          <a:solidFill>
            <a:srgbClr val="161B22"/>
          </a:solidFill>
          <a:ln w="19050">
            <a:solidFill>
              <a:srgbClr val="2EA043"/>
            </a:solidFill>
            <a:prstDash val="solid"/>
          </a:ln>
        </p:spPr>
      </p:sp>
      <p:sp>
        <p:nvSpPr>
          <p:cNvPr id="7" name="Text 5"/>
          <p:cNvSpPr/>
          <p:nvPr/>
        </p:nvSpPr>
        <p:spPr>
          <a:xfrm>
            <a:off x="365760" y="2953512"/>
            <a:ext cx="2011680" cy="320040"/>
          </a:xfrm>
          <a:prstGeom prst="rect">
            <a:avLst/>
          </a:prstGeom>
          <a:noFill/>
          <a:ln/>
        </p:spPr>
        <p:txBody>
          <a:bodyPr wrap="square" rtlCol="0" anchor="ctr"/>
          <a:lstStyle/>
          <a:p>
            <a:pPr indent="0" marL="0">
              <a:buNone/>
            </a:pPr>
            <a:r>
              <a:rPr lang="en-US" sz="1200" b="1" dirty="0">
                <a:solidFill>
                  <a:srgbClr val="2EA043"/>
                </a:solidFill>
                <a:latin typeface="Arial" pitchFamily="34" charset="0"/>
                <a:ea typeface="Arial" pitchFamily="34" charset="-122"/>
                <a:cs typeface="Arial" pitchFamily="34" charset="-120"/>
              </a:rPr>
              <a:t>She's a veteran.</a:t>
            </a:r>
            <a:endParaRPr lang="en-US" sz="1200" dirty="0"/>
          </a:p>
        </p:txBody>
      </p:sp>
      <p:sp>
        <p:nvSpPr>
          <p:cNvPr id="8" name="Text 6"/>
          <p:cNvSpPr/>
          <p:nvPr/>
        </p:nvSpPr>
        <p:spPr>
          <a:xfrm>
            <a:off x="2286000" y="2953512"/>
            <a:ext cx="1600200" cy="320040"/>
          </a:xfrm>
          <a:prstGeom prst="rect">
            <a:avLst/>
          </a:prstGeom>
          <a:noFill/>
          <a:ln/>
        </p:spPr>
        <p:txBody>
          <a:bodyPr wrap="square" rtlCol="0" anchor="ctr"/>
          <a:lstStyle/>
          <a:p>
            <a:pPr algn="r" indent="0" marL="0">
              <a:buNone/>
            </a:pPr>
            <a:r>
              <a:rPr lang="en-US" sz="1050" b="1" dirty="0">
                <a:solidFill>
                  <a:srgbClr val="FFFFFF"/>
                </a:solidFill>
                <a:latin typeface="Arial" pitchFamily="34" charset="0"/>
                <a:ea typeface="Arial" pitchFamily="34" charset="-122"/>
                <a:cs typeface="Arial" pitchFamily="34" charset="-120"/>
              </a:rPr>
              <a:t>Mission Transition</a:t>
            </a:r>
            <a:endParaRPr lang="en-US" sz="1050" dirty="0"/>
          </a:p>
        </p:txBody>
      </p:sp>
      <p:sp>
        <p:nvSpPr>
          <p:cNvPr id="9" name="Shape 7"/>
          <p:cNvSpPr/>
          <p:nvPr/>
        </p:nvSpPr>
        <p:spPr>
          <a:xfrm>
            <a:off x="411480" y="3291840"/>
            <a:ext cx="3429000" cy="18288"/>
          </a:xfrm>
          <a:prstGeom prst="rect">
            <a:avLst/>
          </a:prstGeom>
          <a:solidFill>
            <a:srgbClr val="2EA043"/>
          </a:solidFill>
          <a:ln/>
        </p:spPr>
      </p:sp>
      <p:sp>
        <p:nvSpPr>
          <p:cNvPr id="10" name="Text 8"/>
          <p:cNvSpPr/>
          <p:nvPr/>
        </p:nvSpPr>
        <p:spPr>
          <a:xfrm>
            <a:off x="365760" y="3383280"/>
            <a:ext cx="3520440" cy="118872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Skills translation, credentialing, employer matching, career tracking — her military service becomes civilian opportunity.</a:t>
            </a:r>
            <a:endParaRPr lang="en-US" sz="1000" dirty="0"/>
          </a:p>
        </p:txBody>
      </p:sp>
      <p:sp>
        <p:nvSpPr>
          <p:cNvPr id="11" name="Shape 9"/>
          <p:cNvSpPr/>
          <p:nvPr/>
        </p:nvSpPr>
        <p:spPr>
          <a:xfrm>
            <a:off x="4160520" y="2926080"/>
            <a:ext cx="3703320" cy="1783080"/>
          </a:xfrm>
          <a:prstGeom prst="roundRect">
            <a:avLst>
              <a:gd name="adj" fmla="val 4103"/>
            </a:avLst>
          </a:prstGeom>
          <a:solidFill>
            <a:srgbClr val="161B22"/>
          </a:solidFill>
          <a:ln w="19050">
            <a:solidFill>
              <a:srgbClr val="8B5CF6"/>
            </a:solidFill>
            <a:prstDash val="solid"/>
          </a:ln>
        </p:spPr>
      </p:sp>
      <p:sp>
        <p:nvSpPr>
          <p:cNvPr id="12" name="Text 10"/>
          <p:cNvSpPr/>
          <p:nvPr/>
        </p:nvSpPr>
        <p:spPr>
          <a:xfrm>
            <a:off x="4251960" y="2953512"/>
            <a:ext cx="2011680" cy="320040"/>
          </a:xfrm>
          <a:prstGeom prst="rect">
            <a:avLst/>
          </a:prstGeom>
          <a:noFill/>
          <a:ln/>
        </p:spPr>
        <p:txBody>
          <a:bodyPr wrap="square" rtlCol="0" anchor="ctr"/>
          <a:lstStyle/>
          <a:p>
            <a:pPr indent="0" marL="0">
              <a:buNone/>
            </a:pPr>
            <a:r>
              <a:rPr lang="en-US" sz="1200" b="1" dirty="0">
                <a:solidFill>
                  <a:srgbClr val="8B5CF6"/>
                </a:solidFill>
                <a:latin typeface="Arial" pitchFamily="34" charset="0"/>
                <a:ea typeface="Arial" pitchFamily="34" charset="-122"/>
                <a:cs typeface="Arial" pitchFamily="34" charset="-120"/>
              </a:rPr>
              <a:t>She has breast cancer.</a:t>
            </a:r>
            <a:endParaRPr lang="en-US" sz="1200" dirty="0"/>
          </a:p>
        </p:txBody>
      </p:sp>
      <p:sp>
        <p:nvSpPr>
          <p:cNvPr id="13" name="Text 11"/>
          <p:cNvSpPr/>
          <p:nvPr/>
        </p:nvSpPr>
        <p:spPr>
          <a:xfrm>
            <a:off x="6172200" y="2953512"/>
            <a:ext cx="1600200" cy="320040"/>
          </a:xfrm>
          <a:prstGeom prst="rect">
            <a:avLst/>
          </a:prstGeom>
          <a:noFill/>
          <a:ln/>
        </p:spPr>
        <p:txBody>
          <a:bodyPr wrap="square" rtlCol="0" anchor="ctr"/>
          <a:lstStyle/>
          <a:p>
            <a:pPr algn="r" indent="0" marL="0">
              <a:buNone/>
            </a:pPr>
            <a:r>
              <a:rPr lang="en-US" sz="1050" b="1" dirty="0">
                <a:solidFill>
                  <a:srgbClr val="FFFFFF"/>
                </a:solidFill>
                <a:latin typeface="Arial" pitchFamily="34" charset="0"/>
                <a:ea typeface="Arial" pitchFamily="34" charset="-122"/>
                <a:cs typeface="Arial" pitchFamily="34" charset="-120"/>
              </a:rPr>
              <a:t>Sankofa Health</a:t>
            </a:r>
            <a:endParaRPr lang="en-US" sz="1050" dirty="0"/>
          </a:p>
        </p:txBody>
      </p:sp>
      <p:sp>
        <p:nvSpPr>
          <p:cNvPr id="14" name="Shape 12"/>
          <p:cNvSpPr/>
          <p:nvPr/>
        </p:nvSpPr>
        <p:spPr>
          <a:xfrm>
            <a:off x="4297680" y="3291840"/>
            <a:ext cx="3429000" cy="18288"/>
          </a:xfrm>
          <a:prstGeom prst="rect">
            <a:avLst/>
          </a:prstGeom>
          <a:solidFill>
            <a:srgbClr val="8B5CF6"/>
          </a:solidFill>
          <a:ln/>
        </p:spPr>
      </p:sp>
      <p:sp>
        <p:nvSpPr>
          <p:cNvPr id="15" name="Text 13"/>
          <p:cNvSpPr/>
          <p:nvPr/>
        </p:nvSpPr>
        <p:spPr>
          <a:xfrm>
            <a:off x="4251960" y="3383280"/>
            <a:ext cx="3520440" cy="118872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Screening navigation, genetic counseling, survivor support. Connected to her OB, her mental health provider, her medication management.</a:t>
            </a:r>
            <a:endParaRPr lang="en-US" sz="1000" dirty="0"/>
          </a:p>
        </p:txBody>
      </p:sp>
      <p:sp>
        <p:nvSpPr>
          <p:cNvPr id="16" name="Shape 14"/>
          <p:cNvSpPr/>
          <p:nvPr/>
        </p:nvSpPr>
        <p:spPr>
          <a:xfrm>
            <a:off x="8046720" y="2926080"/>
            <a:ext cx="3703320" cy="1783080"/>
          </a:xfrm>
          <a:prstGeom prst="roundRect">
            <a:avLst>
              <a:gd name="adj" fmla="val 4103"/>
            </a:avLst>
          </a:prstGeom>
          <a:solidFill>
            <a:srgbClr val="161B22"/>
          </a:solidFill>
          <a:ln w="19050">
            <a:solidFill>
              <a:srgbClr val="E8459E"/>
            </a:solidFill>
            <a:prstDash val="solid"/>
          </a:ln>
        </p:spPr>
      </p:sp>
      <p:sp>
        <p:nvSpPr>
          <p:cNvPr id="17" name="Text 15"/>
          <p:cNvSpPr/>
          <p:nvPr/>
        </p:nvSpPr>
        <p:spPr>
          <a:xfrm>
            <a:off x="8138160" y="2953512"/>
            <a:ext cx="2011680" cy="320040"/>
          </a:xfrm>
          <a:prstGeom prst="rect">
            <a:avLst/>
          </a:prstGeom>
          <a:noFill/>
          <a:ln/>
        </p:spPr>
        <p:txBody>
          <a:bodyPr wrap="square" rtlCol="0" anchor="ctr"/>
          <a:lstStyle/>
          <a:p>
            <a:pPr indent="0" marL="0">
              <a:buNone/>
            </a:pPr>
            <a:r>
              <a:rPr lang="en-US" sz="1200" b="1" dirty="0">
                <a:solidFill>
                  <a:srgbClr val="E8459E"/>
                </a:solidFill>
                <a:latin typeface="Arial" pitchFamily="34" charset="0"/>
                <a:ea typeface="Arial" pitchFamily="34" charset="-122"/>
                <a:cs typeface="Arial" pitchFamily="34" charset="-120"/>
              </a:rPr>
              <a:t>She's pregnant.</a:t>
            </a:r>
            <a:endParaRPr lang="en-US" sz="1200" dirty="0"/>
          </a:p>
        </p:txBody>
      </p:sp>
      <p:sp>
        <p:nvSpPr>
          <p:cNvPr id="18" name="Text 16"/>
          <p:cNvSpPr/>
          <p:nvPr/>
        </p:nvSpPr>
        <p:spPr>
          <a:xfrm>
            <a:off x="10058400" y="2953512"/>
            <a:ext cx="1600200" cy="320040"/>
          </a:xfrm>
          <a:prstGeom prst="rect">
            <a:avLst/>
          </a:prstGeom>
          <a:noFill/>
          <a:ln/>
        </p:spPr>
        <p:txBody>
          <a:bodyPr wrap="square" rtlCol="0" anchor="ctr"/>
          <a:lstStyle/>
          <a:p>
            <a:pPr algn="r" indent="0" marL="0">
              <a:buNone/>
            </a:pPr>
            <a:r>
              <a:rPr lang="en-US" sz="1050" b="1" dirty="0">
                <a:solidFill>
                  <a:srgbClr val="FFFFFF"/>
                </a:solidFill>
                <a:latin typeface="Arial" pitchFamily="34" charset="0"/>
                <a:ea typeface="Arial" pitchFamily="34" charset="-122"/>
                <a:cs typeface="Arial" pitchFamily="34" charset="-120"/>
              </a:rPr>
              <a:t>Black Maternal Health</a:t>
            </a:r>
            <a:endParaRPr lang="en-US" sz="1050" dirty="0"/>
          </a:p>
        </p:txBody>
      </p:sp>
      <p:sp>
        <p:nvSpPr>
          <p:cNvPr id="19" name="Shape 17"/>
          <p:cNvSpPr/>
          <p:nvPr/>
        </p:nvSpPr>
        <p:spPr>
          <a:xfrm>
            <a:off x="8183880" y="3291840"/>
            <a:ext cx="3429000" cy="18288"/>
          </a:xfrm>
          <a:prstGeom prst="rect">
            <a:avLst/>
          </a:prstGeom>
          <a:solidFill>
            <a:srgbClr val="E8459E"/>
          </a:solidFill>
          <a:ln/>
        </p:spPr>
      </p:sp>
      <p:sp>
        <p:nvSpPr>
          <p:cNvPr id="20" name="Text 18"/>
          <p:cNvSpPr/>
          <p:nvPr/>
        </p:nvSpPr>
        <p:spPr>
          <a:xfrm>
            <a:off x="8138160" y="3383280"/>
            <a:ext cx="3520440" cy="118872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High-risk pregnancy protocol. AI flags the cancer overlap. Her oncologist and OB are in the same ecosystem — they SEE each other's treatment plans.</a:t>
            </a:r>
            <a:endParaRPr lang="en-US" sz="1000" dirty="0"/>
          </a:p>
        </p:txBody>
      </p:sp>
      <p:sp>
        <p:nvSpPr>
          <p:cNvPr id="21" name="Shape 19"/>
          <p:cNvSpPr/>
          <p:nvPr/>
        </p:nvSpPr>
        <p:spPr>
          <a:xfrm>
            <a:off x="274320" y="4892040"/>
            <a:ext cx="3703320" cy="1783080"/>
          </a:xfrm>
          <a:prstGeom prst="roundRect">
            <a:avLst>
              <a:gd name="adj" fmla="val 4103"/>
            </a:avLst>
          </a:prstGeom>
          <a:solidFill>
            <a:srgbClr val="161B22"/>
          </a:solidFill>
          <a:ln w="19050">
            <a:solidFill>
              <a:srgbClr val="0079F2"/>
            </a:solidFill>
            <a:prstDash val="solid"/>
          </a:ln>
        </p:spPr>
      </p:sp>
      <p:sp>
        <p:nvSpPr>
          <p:cNvPr id="22" name="Text 20"/>
          <p:cNvSpPr/>
          <p:nvPr/>
        </p:nvSpPr>
        <p:spPr>
          <a:xfrm>
            <a:off x="365760" y="4919472"/>
            <a:ext cx="2011680" cy="320040"/>
          </a:xfrm>
          <a:prstGeom prst="rect">
            <a:avLst/>
          </a:prstGeom>
          <a:noFill/>
          <a:ln/>
        </p:spPr>
        <p:txBody>
          <a:bodyPr wrap="square" rtlCol="0" anchor="ctr"/>
          <a:lstStyle/>
          <a:p>
            <a:pPr indent="0" marL="0">
              <a:buNone/>
            </a:pPr>
            <a:r>
              <a:rPr lang="en-US" sz="1200" b="1" dirty="0">
                <a:solidFill>
                  <a:srgbClr val="0079F2"/>
                </a:solidFill>
                <a:latin typeface="Arial" pitchFamily="34" charset="0"/>
                <a:ea typeface="Arial" pitchFamily="34" charset="-122"/>
                <a:cs typeface="Arial" pitchFamily="34" charset="-120"/>
              </a:rPr>
              <a:t>She has depression.</a:t>
            </a:r>
            <a:endParaRPr lang="en-US" sz="1200" dirty="0"/>
          </a:p>
        </p:txBody>
      </p:sp>
      <p:sp>
        <p:nvSpPr>
          <p:cNvPr id="23" name="Text 21"/>
          <p:cNvSpPr/>
          <p:nvPr/>
        </p:nvSpPr>
        <p:spPr>
          <a:xfrm>
            <a:off x="2286000" y="4919472"/>
            <a:ext cx="1600200" cy="320040"/>
          </a:xfrm>
          <a:prstGeom prst="rect">
            <a:avLst/>
          </a:prstGeom>
          <a:noFill/>
          <a:ln/>
        </p:spPr>
        <p:txBody>
          <a:bodyPr wrap="square" rtlCol="0" anchor="ctr"/>
          <a:lstStyle/>
          <a:p>
            <a:pPr algn="r" indent="0" marL="0">
              <a:buNone/>
            </a:pPr>
            <a:r>
              <a:rPr lang="en-US" sz="1050" b="1" dirty="0">
                <a:solidFill>
                  <a:srgbClr val="FFFFFF"/>
                </a:solidFill>
                <a:latin typeface="Arial" pitchFamily="34" charset="0"/>
                <a:ea typeface="Arial" pitchFamily="34" charset="-122"/>
                <a:cs typeface="Arial" pitchFamily="34" charset="-120"/>
              </a:rPr>
              <a:t>Whole-Person Health</a:t>
            </a:r>
            <a:endParaRPr lang="en-US" sz="1050" dirty="0"/>
          </a:p>
        </p:txBody>
      </p:sp>
      <p:sp>
        <p:nvSpPr>
          <p:cNvPr id="24" name="Shape 22"/>
          <p:cNvSpPr/>
          <p:nvPr/>
        </p:nvSpPr>
        <p:spPr>
          <a:xfrm>
            <a:off x="411480" y="5257800"/>
            <a:ext cx="3429000" cy="18288"/>
          </a:xfrm>
          <a:prstGeom prst="rect">
            <a:avLst/>
          </a:prstGeom>
          <a:solidFill>
            <a:srgbClr val="0079F2"/>
          </a:solidFill>
          <a:ln/>
        </p:spPr>
      </p:sp>
      <p:sp>
        <p:nvSpPr>
          <p:cNvPr id="25" name="Text 23"/>
          <p:cNvSpPr/>
          <p:nvPr/>
        </p:nvSpPr>
        <p:spPr>
          <a:xfrm>
            <a:off x="365760" y="5349240"/>
            <a:ext cx="3520440" cy="118872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Culturally matched counselor. PillScheduler coordinates BOTH chemo and prenatal meds. SafeCogniCare monitors cognitive impact.</a:t>
            </a:r>
            <a:endParaRPr lang="en-US" sz="1000" dirty="0"/>
          </a:p>
        </p:txBody>
      </p:sp>
      <p:sp>
        <p:nvSpPr>
          <p:cNvPr id="26" name="Shape 24"/>
          <p:cNvSpPr/>
          <p:nvPr/>
        </p:nvSpPr>
        <p:spPr>
          <a:xfrm>
            <a:off x="4160520" y="4892040"/>
            <a:ext cx="3703320" cy="1783080"/>
          </a:xfrm>
          <a:prstGeom prst="roundRect">
            <a:avLst>
              <a:gd name="adj" fmla="val 4103"/>
            </a:avLst>
          </a:prstGeom>
          <a:solidFill>
            <a:srgbClr val="161B22"/>
          </a:solidFill>
          <a:ln w="19050">
            <a:solidFill>
              <a:srgbClr val="F0B429"/>
            </a:solidFill>
            <a:prstDash val="solid"/>
          </a:ln>
        </p:spPr>
      </p:sp>
      <p:sp>
        <p:nvSpPr>
          <p:cNvPr id="27" name="Text 25"/>
          <p:cNvSpPr/>
          <p:nvPr/>
        </p:nvSpPr>
        <p:spPr>
          <a:xfrm>
            <a:off x="4251960" y="4919472"/>
            <a:ext cx="2011680" cy="320040"/>
          </a:xfrm>
          <a:prstGeom prst="rect">
            <a:avLst/>
          </a:prstGeom>
          <a:noFill/>
          <a:ln/>
        </p:spPr>
        <p:txBody>
          <a:bodyPr wrap="square" rtlCol="0" anchor="ctr"/>
          <a:lstStyle/>
          <a:p>
            <a:pPr indent="0" marL="0">
              <a:buNone/>
            </a:pPr>
            <a:r>
              <a:rPr lang="en-US" sz="1200" b="1" dirty="0">
                <a:solidFill>
                  <a:srgbClr val="F0B429"/>
                </a:solidFill>
                <a:latin typeface="Arial" pitchFamily="34" charset="0"/>
                <a:ea typeface="Arial" pitchFamily="34" charset="-122"/>
                <a:cs typeface="Arial" pitchFamily="34" charset="-120"/>
              </a:rPr>
              <a:t>Her child is struggling.</a:t>
            </a:r>
            <a:endParaRPr lang="en-US" sz="1200" dirty="0"/>
          </a:p>
        </p:txBody>
      </p:sp>
      <p:sp>
        <p:nvSpPr>
          <p:cNvPr id="28" name="Text 26"/>
          <p:cNvSpPr/>
          <p:nvPr/>
        </p:nvSpPr>
        <p:spPr>
          <a:xfrm>
            <a:off x="6172200" y="4919472"/>
            <a:ext cx="1600200" cy="320040"/>
          </a:xfrm>
          <a:prstGeom prst="rect">
            <a:avLst/>
          </a:prstGeom>
          <a:noFill/>
          <a:ln/>
        </p:spPr>
        <p:txBody>
          <a:bodyPr wrap="square" rtlCol="0" anchor="ctr"/>
          <a:lstStyle/>
          <a:p>
            <a:pPr algn="r" indent="0" marL="0">
              <a:buNone/>
            </a:pPr>
            <a:r>
              <a:rPr lang="en-US" sz="1050" b="1" dirty="0">
                <a:solidFill>
                  <a:srgbClr val="FFFFFF"/>
                </a:solidFill>
                <a:latin typeface="Arial" pitchFamily="34" charset="0"/>
                <a:ea typeface="Arial" pitchFamily="34" charset="-122"/>
                <a:cs typeface="Arial" pitchFamily="34" charset="-120"/>
              </a:rPr>
              <a:t>ISSS + ThriveUp Academy</a:t>
            </a:r>
            <a:endParaRPr lang="en-US" sz="1050" dirty="0"/>
          </a:p>
        </p:txBody>
      </p:sp>
      <p:sp>
        <p:nvSpPr>
          <p:cNvPr id="29" name="Shape 27"/>
          <p:cNvSpPr/>
          <p:nvPr/>
        </p:nvSpPr>
        <p:spPr>
          <a:xfrm>
            <a:off x="4297680" y="5257800"/>
            <a:ext cx="3429000" cy="18288"/>
          </a:xfrm>
          <a:prstGeom prst="rect">
            <a:avLst/>
          </a:prstGeom>
          <a:solidFill>
            <a:srgbClr val="F0B429"/>
          </a:solidFill>
          <a:ln/>
        </p:spPr>
      </p:sp>
      <p:sp>
        <p:nvSpPr>
          <p:cNvPr id="30" name="Text 28"/>
          <p:cNvSpPr/>
          <p:nvPr/>
        </p:nvSpPr>
        <p:spPr>
          <a:xfrm>
            <a:off x="4251960" y="5349240"/>
            <a:ext cx="3520440" cy="118872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Grades dropping. Behavior changing. The school sees attendance — but the ecosystem sees WHY. Mom's cancer, the pregnancy, the stress at home. ISSS wraps supports around the child.</a:t>
            </a:r>
            <a:endParaRPr lang="en-US" sz="1000" dirty="0"/>
          </a:p>
        </p:txBody>
      </p:sp>
      <p:sp>
        <p:nvSpPr>
          <p:cNvPr id="31" name="Shape 29"/>
          <p:cNvSpPr/>
          <p:nvPr/>
        </p:nvSpPr>
        <p:spPr>
          <a:xfrm>
            <a:off x="8046720" y="4892040"/>
            <a:ext cx="3703320" cy="1783080"/>
          </a:xfrm>
          <a:prstGeom prst="roundRect">
            <a:avLst>
              <a:gd name="adj" fmla="val 4103"/>
            </a:avLst>
          </a:prstGeom>
          <a:solidFill>
            <a:srgbClr val="161B22"/>
          </a:solidFill>
          <a:ln w="19050">
            <a:solidFill>
              <a:srgbClr val="00C9A7"/>
            </a:solidFill>
            <a:prstDash val="solid"/>
          </a:ln>
        </p:spPr>
      </p:sp>
      <p:sp>
        <p:nvSpPr>
          <p:cNvPr id="32" name="Text 30"/>
          <p:cNvSpPr/>
          <p:nvPr/>
        </p:nvSpPr>
        <p:spPr>
          <a:xfrm>
            <a:off x="8138160" y="4919472"/>
            <a:ext cx="2011680" cy="320040"/>
          </a:xfrm>
          <a:prstGeom prst="rect">
            <a:avLst/>
          </a:prstGeom>
          <a:noFill/>
          <a:ln/>
        </p:spPr>
        <p:txBody>
          <a:bodyPr wrap="square" rtlCol="0" anchor="ctr"/>
          <a:lstStyle/>
          <a:p>
            <a:pPr indent="0" marL="0">
              <a:buNone/>
            </a:pPr>
            <a:r>
              <a:rPr lang="en-US" sz="1200" b="1" dirty="0">
                <a:solidFill>
                  <a:srgbClr val="00C9A7"/>
                </a:solidFill>
                <a:latin typeface="Arial" pitchFamily="34" charset="0"/>
                <a:ea typeface="Arial" pitchFamily="34" charset="-122"/>
                <a:cs typeface="Arial" pitchFamily="34" charset="-120"/>
              </a:rPr>
              <a:t>She runs a nonprofit.</a:t>
            </a:r>
            <a:endParaRPr lang="en-US" sz="1200" dirty="0"/>
          </a:p>
        </p:txBody>
      </p:sp>
      <p:sp>
        <p:nvSpPr>
          <p:cNvPr id="33" name="Text 31"/>
          <p:cNvSpPr/>
          <p:nvPr/>
        </p:nvSpPr>
        <p:spPr>
          <a:xfrm>
            <a:off x="10058400" y="4919472"/>
            <a:ext cx="1600200" cy="320040"/>
          </a:xfrm>
          <a:prstGeom prst="rect">
            <a:avLst/>
          </a:prstGeom>
          <a:noFill/>
          <a:ln/>
        </p:spPr>
        <p:txBody>
          <a:bodyPr wrap="square" rtlCol="0" anchor="ctr"/>
          <a:lstStyle/>
          <a:p>
            <a:pPr algn="r" indent="0" marL="0">
              <a:buNone/>
            </a:pPr>
            <a:r>
              <a:rPr lang="en-US" sz="1050" b="1" dirty="0">
                <a:solidFill>
                  <a:srgbClr val="FFFFFF"/>
                </a:solidFill>
                <a:latin typeface="Arial" pitchFamily="34" charset="0"/>
                <a:ea typeface="Arial" pitchFamily="34" charset="-122"/>
                <a:cs typeface="Arial" pitchFamily="34" charset="-120"/>
              </a:rPr>
              <a:t>Minority CoE + Advocate</a:t>
            </a:r>
            <a:endParaRPr lang="en-US" sz="1050" dirty="0"/>
          </a:p>
        </p:txBody>
      </p:sp>
      <p:sp>
        <p:nvSpPr>
          <p:cNvPr id="34" name="Shape 32"/>
          <p:cNvSpPr/>
          <p:nvPr/>
        </p:nvSpPr>
        <p:spPr>
          <a:xfrm>
            <a:off x="8183880" y="5257800"/>
            <a:ext cx="3429000" cy="18288"/>
          </a:xfrm>
          <a:prstGeom prst="rect">
            <a:avLst/>
          </a:prstGeom>
          <a:solidFill>
            <a:srgbClr val="00C9A7"/>
          </a:solidFill>
          <a:ln/>
        </p:spPr>
      </p:sp>
      <p:sp>
        <p:nvSpPr>
          <p:cNvPr id="35" name="Text 33"/>
          <p:cNvSpPr/>
          <p:nvPr/>
        </p:nvSpPr>
        <p:spPr>
          <a:xfrm>
            <a:off x="8138160" y="5349240"/>
            <a:ext cx="3520440" cy="118872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Business continuity during crisis. Benefits, legal aid, housing, childcare, transportation to twice as many appointments.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E8459E"/>
          </a:solidFill>
          <a:ln/>
        </p:spPr>
      </p:sp>
      <p:sp>
        <p:nvSpPr>
          <p:cNvPr id="3" name="Text 1"/>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E8459E"/>
                </a:solidFill>
                <a:latin typeface="Arial" pitchFamily="34" charset="0"/>
                <a:ea typeface="Arial" pitchFamily="34" charset="-122"/>
                <a:cs typeface="Arial" pitchFamily="34" charset="-120"/>
              </a:rPr>
              <a:t>When Domains Collide</a:t>
            </a:r>
            <a:endParaRPr lang="en-US" sz="1300" dirty="0"/>
          </a:p>
        </p:txBody>
      </p:sp>
      <p:sp>
        <p:nvSpPr>
          <p:cNvPr id="4" name="Text 2"/>
          <p:cNvSpPr/>
          <p:nvPr/>
        </p:nvSpPr>
        <p:spPr>
          <a:xfrm>
            <a:off x="731520" y="777240"/>
            <a:ext cx="10698480" cy="1051560"/>
          </a:xfrm>
          <a:prstGeom prst="rect">
            <a:avLst/>
          </a:prstGeom>
          <a:noFill/>
          <a:ln/>
        </p:spPr>
        <p:txBody>
          <a:bodyPr wrap="square" rtlCol="0" anchor="ctr"/>
          <a:lstStyle/>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Pregnant During Cancer Treatment.</a:t>
            </a:r>
            <a:endParaRPr lang="en-US" sz="3300" dirty="0"/>
          </a:p>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Child Falling Behind. Everything Connected.</a:t>
            </a:r>
            <a:endParaRPr lang="en-US" sz="3300" dirty="0"/>
          </a:p>
        </p:txBody>
      </p:sp>
      <p:sp>
        <p:nvSpPr>
          <p:cNvPr id="5" name="Text 3"/>
          <p:cNvSpPr/>
          <p:nvPr/>
        </p:nvSpPr>
        <p:spPr>
          <a:xfrm>
            <a:off x="731520" y="1874520"/>
            <a:ext cx="10515600" cy="777240"/>
          </a:xfrm>
          <a:prstGeom prst="rect">
            <a:avLst/>
          </a:prstGeom>
          <a:noFill/>
          <a:ln/>
        </p:spPr>
        <p:txBody>
          <a:bodyPr wrap="square" rtlCol="0" anchor="ctr"/>
          <a:lstStyle/>
          <a:p>
            <a:pPr indent="0" marL="0">
              <a:lnSpc>
                <a:spcPct val="140000"/>
              </a:lnSpc>
              <a:buNone/>
            </a:pPr>
            <a:r>
              <a:rPr lang="en-US" sz="1250" dirty="0">
                <a:solidFill>
                  <a:srgbClr val="8B949E"/>
                </a:solidFill>
                <a:latin typeface="Arial" pitchFamily="34" charset="0"/>
                <a:ea typeface="Arial" pitchFamily="34" charset="-122"/>
                <a:cs typeface="Arial" pitchFamily="34" charset="-120"/>
              </a:rPr>
              <a:t>This is the moment that proves why disconnected systems fail. Keisha's cancer treatment, her pregnancy, her depression, and her child's grades are all one crisis — caused by the same root: a family under pressure with no connected support. The school sees attendance. The hospital sees labs. Nobody sees the family. Except ThriveUp:</a:t>
            </a:r>
            <a:endParaRPr lang="en-US" sz="1250" dirty="0"/>
          </a:p>
        </p:txBody>
      </p:sp>
      <p:sp>
        <p:nvSpPr>
          <p:cNvPr id="6" name="Shape 4"/>
          <p:cNvSpPr/>
          <p:nvPr/>
        </p:nvSpPr>
        <p:spPr>
          <a:xfrm>
            <a:off x="274320" y="2834640"/>
            <a:ext cx="3703320" cy="1874520"/>
          </a:xfrm>
          <a:prstGeom prst="roundRect">
            <a:avLst>
              <a:gd name="adj" fmla="val 3902"/>
            </a:avLst>
          </a:prstGeom>
          <a:solidFill>
            <a:srgbClr val="161B22"/>
          </a:solidFill>
          <a:ln w="19050">
            <a:solidFill>
              <a:srgbClr val="E8459E"/>
            </a:solidFill>
            <a:prstDash val="solid"/>
          </a:ln>
        </p:spPr>
      </p:sp>
      <p:sp>
        <p:nvSpPr>
          <p:cNvPr id="7" name="Text 5"/>
          <p:cNvSpPr/>
          <p:nvPr/>
        </p:nvSpPr>
        <p:spPr>
          <a:xfrm>
            <a:off x="365760" y="2852928"/>
            <a:ext cx="2286000" cy="256032"/>
          </a:xfrm>
          <a:prstGeom prst="rect">
            <a:avLst/>
          </a:prstGeom>
          <a:noFill/>
          <a:ln/>
        </p:spPr>
        <p:txBody>
          <a:bodyPr wrap="square" rtlCol="0" anchor="ctr"/>
          <a:lstStyle/>
          <a:p>
            <a:pPr indent="0" marL="0">
              <a:buNone/>
            </a:pPr>
            <a:r>
              <a:rPr lang="en-US" sz="950" b="1" dirty="0">
                <a:solidFill>
                  <a:srgbClr val="E8459E"/>
                </a:solidFill>
                <a:latin typeface="Arial" pitchFamily="34" charset="0"/>
                <a:ea typeface="Arial" pitchFamily="34" charset="-122"/>
                <a:cs typeface="Arial" pitchFamily="34" charset="-120"/>
              </a:rPr>
              <a:t>Sankofa ↔ Maternal Health</a:t>
            </a:r>
            <a:endParaRPr lang="en-US" sz="950" dirty="0"/>
          </a:p>
        </p:txBody>
      </p:sp>
      <p:sp>
        <p:nvSpPr>
          <p:cNvPr id="8" name="Text 6"/>
          <p:cNvSpPr/>
          <p:nvPr/>
        </p:nvSpPr>
        <p:spPr>
          <a:xfrm>
            <a:off x="2560320" y="2852928"/>
            <a:ext cx="1325880" cy="256032"/>
          </a:xfrm>
          <a:prstGeom prst="rect">
            <a:avLst/>
          </a:prstGeom>
          <a:noFill/>
          <a:ln/>
        </p:spPr>
        <p:txBody>
          <a:bodyPr wrap="square"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Cancer Meets Pregnancy</a:t>
            </a:r>
            <a:endParaRPr lang="en-US" sz="950" dirty="0"/>
          </a:p>
        </p:txBody>
      </p:sp>
      <p:sp>
        <p:nvSpPr>
          <p:cNvPr id="9" name="Shape 7"/>
          <p:cNvSpPr/>
          <p:nvPr/>
        </p:nvSpPr>
        <p:spPr>
          <a:xfrm>
            <a:off x="411480" y="3136392"/>
            <a:ext cx="3429000" cy="18288"/>
          </a:xfrm>
          <a:prstGeom prst="rect">
            <a:avLst/>
          </a:prstGeom>
          <a:solidFill>
            <a:srgbClr val="E8459E"/>
          </a:solidFill>
          <a:ln/>
        </p:spPr>
      </p:sp>
      <p:sp>
        <p:nvSpPr>
          <p:cNvPr id="10" name="Text 8"/>
          <p:cNvSpPr/>
          <p:nvPr/>
        </p:nvSpPr>
        <p:spPr>
          <a:xfrm>
            <a:off x="365760" y="3200400"/>
            <a:ext cx="3520440" cy="1371600"/>
          </a:xfrm>
          <a:prstGeom prst="rect">
            <a:avLst/>
          </a:prstGeom>
          <a:noFill/>
          <a:ln/>
        </p:spPr>
        <p:txBody>
          <a:bodyPr wrap="square" rtlCol="0" anchor="ctr"/>
          <a:lstStyle/>
          <a:p>
            <a:pPr indent="0" marL="0">
              <a:lnSpc>
                <a:spcPct val="125000"/>
              </a:lnSpc>
              <a:buNone/>
            </a:pPr>
            <a:r>
              <a:rPr lang="en-US" sz="950" dirty="0">
                <a:solidFill>
                  <a:srgbClr val="8B949E"/>
                </a:solidFill>
                <a:latin typeface="Arial" pitchFamily="34" charset="0"/>
                <a:ea typeface="Arial" pitchFamily="34" charset="-122"/>
                <a:cs typeface="Arial" pitchFamily="34" charset="-120"/>
              </a:rPr>
              <a:t>Keisha's pregnancy is confirmed during chemo. Sankofa alerts Black Maternal Health Network instantly. Both platforms see the full picture — treatment protocol, gestational age, risk factors. Her oncologist and OB work from the SAME record. Not separate charts that never cross.</a:t>
            </a:r>
            <a:endParaRPr lang="en-US" sz="950" dirty="0"/>
          </a:p>
        </p:txBody>
      </p:sp>
      <p:sp>
        <p:nvSpPr>
          <p:cNvPr id="11" name="Shape 9"/>
          <p:cNvSpPr/>
          <p:nvPr/>
        </p:nvSpPr>
        <p:spPr>
          <a:xfrm>
            <a:off x="4160520" y="2834640"/>
            <a:ext cx="3703320" cy="1874520"/>
          </a:xfrm>
          <a:prstGeom prst="roundRect">
            <a:avLst>
              <a:gd name="adj" fmla="val 3902"/>
            </a:avLst>
          </a:prstGeom>
          <a:solidFill>
            <a:srgbClr val="161B22"/>
          </a:solidFill>
          <a:ln w="19050">
            <a:solidFill>
              <a:srgbClr val="8B5CF6"/>
            </a:solidFill>
            <a:prstDash val="solid"/>
          </a:ln>
        </p:spPr>
      </p:sp>
      <p:sp>
        <p:nvSpPr>
          <p:cNvPr id="12" name="Text 10"/>
          <p:cNvSpPr/>
          <p:nvPr/>
        </p:nvSpPr>
        <p:spPr>
          <a:xfrm>
            <a:off x="4251960" y="2852928"/>
            <a:ext cx="2286000" cy="256032"/>
          </a:xfrm>
          <a:prstGeom prst="rect">
            <a:avLst/>
          </a:prstGeom>
          <a:noFill/>
          <a:ln/>
        </p:spPr>
        <p:txBody>
          <a:bodyPr wrap="square" rtlCol="0" anchor="ctr"/>
          <a:lstStyle/>
          <a:p>
            <a:pPr indent="0" marL="0">
              <a:buNone/>
            </a:pPr>
            <a:r>
              <a:rPr lang="en-US" sz="950" b="1" dirty="0">
                <a:solidFill>
                  <a:srgbClr val="8B5CF6"/>
                </a:solidFill>
                <a:latin typeface="Arial" pitchFamily="34" charset="0"/>
                <a:ea typeface="Arial" pitchFamily="34" charset="-122"/>
                <a:cs typeface="Arial" pitchFamily="34" charset="-120"/>
              </a:rPr>
              <a:t>Behavioral Health</a:t>
            </a:r>
            <a:endParaRPr lang="en-US" sz="950" dirty="0"/>
          </a:p>
        </p:txBody>
      </p:sp>
      <p:sp>
        <p:nvSpPr>
          <p:cNvPr id="13" name="Text 11"/>
          <p:cNvSpPr/>
          <p:nvPr/>
        </p:nvSpPr>
        <p:spPr>
          <a:xfrm>
            <a:off x="6446520" y="2852928"/>
            <a:ext cx="1325880" cy="256032"/>
          </a:xfrm>
          <a:prstGeom prst="rect">
            <a:avLst/>
          </a:prstGeom>
          <a:noFill/>
          <a:ln/>
        </p:spPr>
        <p:txBody>
          <a:bodyPr wrap="square"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Mental Health Emergency</a:t>
            </a:r>
            <a:endParaRPr lang="en-US" sz="950" dirty="0"/>
          </a:p>
        </p:txBody>
      </p:sp>
      <p:sp>
        <p:nvSpPr>
          <p:cNvPr id="14" name="Shape 12"/>
          <p:cNvSpPr/>
          <p:nvPr/>
        </p:nvSpPr>
        <p:spPr>
          <a:xfrm>
            <a:off x="4297680" y="3136392"/>
            <a:ext cx="3429000" cy="18288"/>
          </a:xfrm>
          <a:prstGeom prst="rect">
            <a:avLst/>
          </a:prstGeom>
          <a:solidFill>
            <a:srgbClr val="8B5CF6"/>
          </a:solidFill>
          <a:ln/>
        </p:spPr>
      </p:sp>
      <p:sp>
        <p:nvSpPr>
          <p:cNvPr id="15" name="Text 13"/>
          <p:cNvSpPr/>
          <p:nvPr/>
        </p:nvSpPr>
        <p:spPr>
          <a:xfrm>
            <a:off x="4251960" y="3200400"/>
            <a:ext cx="3520440" cy="1371600"/>
          </a:xfrm>
          <a:prstGeom prst="rect">
            <a:avLst/>
          </a:prstGeom>
          <a:noFill/>
          <a:ln/>
        </p:spPr>
        <p:txBody>
          <a:bodyPr wrap="square" rtlCol="0" anchor="ctr"/>
          <a:lstStyle/>
          <a:p>
            <a:pPr indent="0" marL="0">
              <a:lnSpc>
                <a:spcPct val="125000"/>
              </a:lnSpc>
              <a:buNone/>
            </a:pPr>
            <a:r>
              <a:rPr lang="en-US" sz="950" dirty="0">
                <a:solidFill>
                  <a:srgbClr val="8B949E"/>
                </a:solidFill>
                <a:latin typeface="Arial" pitchFamily="34" charset="0"/>
                <a:ea typeface="Arial" pitchFamily="34" charset="-122"/>
                <a:cs typeface="Arial" pitchFamily="34" charset="-120"/>
              </a:rPr>
              <a:t>Cancer + high-risk pregnancy + single parenting = crisis. Whole-Person Health auto-escalates. Her counselor is notified. PillScheduler flags every medication for pregnancy safety — antidepressants, chemo drugs, prenatal vitamins. Everything checked against everything.</a:t>
            </a:r>
            <a:endParaRPr lang="en-US" sz="950" dirty="0"/>
          </a:p>
        </p:txBody>
      </p:sp>
      <p:sp>
        <p:nvSpPr>
          <p:cNvPr id="16" name="Shape 14"/>
          <p:cNvSpPr/>
          <p:nvPr/>
        </p:nvSpPr>
        <p:spPr>
          <a:xfrm>
            <a:off x="8046720" y="2834640"/>
            <a:ext cx="3703320" cy="1874520"/>
          </a:xfrm>
          <a:prstGeom prst="roundRect">
            <a:avLst>
              <a:gd name="adj" fmla="val 3902"/>
            </a:avLst>
          </a:prstGeom>
          <a:solidFill>
            <a:srgbClr val="161B22"/>
          </a:solidFill>
          <a:ln w="19050">
            <a:solidFill>
              <a:srgbClr val="F0B429"/>
            </a:solidFill>
            <a:prstDash val="solid"/>
          </a:ln>
        </p:spPr>
      </p:sp>
      <p:sp>
        <p:nvSpPr>
          <p:cNvPr id="17" name="Text 15"/>
          <p:cNvSpPr/>
          <p:nvPr/>
        </p:nvSpPr>
        <p:spPr>
          <a:xfrm>
            <a:off x="8138160" y="2852928"/>
            <a:ext cx="2286000" cy="256032"/>
          </a:xfrm>
          <a:prstGeom prst="rect">
            <a:avLst/>
          </a:prstGeom>
          <a:noFill/>
          <a:ln/>
        </p:spPr>
        <p:txBody>
          <a:bodyPr wrap="square" rtlCol="0" anchor="ctr"/>
          <a:lstStyle/>
          <a:p>
            <a:pPr indent="0" marL="0">
              <a:buNone/>
            </a:pPr>
            <a:r>
              <a:rPr lang="en-US" sz="950" b="1" dirty="0">
                <a:solidFill>
                  <a:srgbClr val="F0B429"/>
                </a:solidFill>
                <a:latin typeface="Arial" pitchFamily="34" charset="0"/>
                <a:ea typeface="Arial" pitchFamily="34" charset="-122"/>
                <a:cs typeface="Arial" pitchFamily="34" charset="-120"/>
              </a:rPr>
              <a:t>ISSS + ThriveUp Academy</a:t>
            </a:r>
            <a:endParaRPr lang="en-US" sz="950" dirty="0"/>
          </a:p>
        </p:txBody>
      </p:sp>
      <p:sp>
        <p:nvSpPr>
          <p:cNvPr id="18" name="Text 16"/>
          <p:cNvSpPr/>
          <p:nvPr/>
        </p:nvSpPr>
        <p:spPr>
          <a:xfrm>
            <a:off x="10332720" y="2852928"/>
            <a:ext cx="1325880" cy="256032"/>
          </a:xfrm>
          <a:prstGeom prst="rect">
            <a:avLst/>
          </a:prstGeom>
          <a:noFill/>
          <a:ln/>
        </p:spPr>
        <p:txBody>
          <a:bodyPr wrap="square"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The Child Nobody Asked About</a:t>
            </a:r>
            <a:endParaRPr lang="en-US" sz="950" dirty="0"/>
          </a:p>
        </p:txBody>
      </p:sp>
      <p:sp>
        <p:nvSpPr>
          <p:cNvPr id="19" name="Shape 17"/>
          <p:cNvSpPr/>
          <p:nvPr/>
        </p:nvSpPr>
        <p:spPr>
          <a:xfrm>
            <a:off x="8183880" y="3136392"/>
            <a:ext cx="3429000" cy="18288"/>
          </a:xfrm>
          <a:prstGeom prst="rect">
            <a:avLst/>
          </a:prstGeom>
          <a:solidFill>
            <a:srgbClr val="F0B429"/>
          </a:solidFill>
          <a:ln/>
        </p:spPr>
      </p:sp>
      <p:sp>
        <p:nvSpPr>
          <p:cNvPr id="20" name="Text 18"/>
          <p:cNvSpPr/>
          <p:nvPr/>
        </p:nvSpPr>
        <p:spPr>
          <a:xfrm>
            <a:off x="8138160" y="3200400"/>
            <a:ext cx="3520440" cy="1371600"/>
          </a:xfrm>
          <a:prstGeom prst="rect">
            <a:avLst/>
          </a:prstGeom>
          <a:noFill/>
          <a:ln/>
        </p:spPr>
        <p:txBody>
          <a:bodyPr wrap="square" rtlCol="0" anchor="ctr"/>
          <a:lstStyle/>
          <a:p>
            <a:pPr indent="0" marL="0">
              <a:lnSpc>
                <a:spcPct val="125000"/>
              </a:lnSpc>
              <a:buNone/>
            </a:pPr>
            <a:r>
              <a:rPr lang="en-US" sz="950" dirty="0">
                <a:solidFill>
                  <a:srgbClr val="8B949E"/>
                </a:solidFill>
                <a:latin typeface="Arial" pitchFamily="34" charset="0"/>
                <a:ea typeface="Arial" pitchFamily="34" charset="-122"/>
                <a:cs typeface="Arial" pitchFamily="34" charset="-120"/>
              </a:rPr>
              <a:t>Her daughter's grades drop from B's to D's. Attendance slips. The school sees a struggling student. The ECOSYSTEM sees: mom has cancer, is pregnant, can't help with homework, can't drive to school events, is exhausted from treatment. ISSS wraps tutoring, mentoring, counseling, and after-school support around the child — because it knows WHY she's struggling.</a:t>
            </a:r>
            <a:endParaRPr lang="en-US" sz="950" dirty="0"/>
          </a:p>
        </p:txBody>
      </p:sp>
      <p:sp>
        <p:nvSpPr>
          <p:cNvPr id="21" name="Shape 19"/>
          <p:cNvSpPr/>
          <p:nvPr/>
        </p:nvSpPr>
        <p:spPr>
          <a:xfrm>
            <a:off x="274320" y="4892040"/>
            <a:ext cx="3703320" cy="1874520"/>
          </a:xfrm>
          <a:prstGeom prst="roundRect">
            <a:avLst>
              <a:gd name="adj" fmla="val 3902"/>
            </a:avLst>
          </a:prstGeom>
          <a:solidFill>
            <a:srgbClr val="161B22"/>
          </a:solidFill>
          <a:ln w="19050">
            <a:solidFill>
              <a:srgbClr val="F97316"/>
            </a:solidFill>
            <a:prstDash val="solid"/>
          </a:ln>
        </p:spPr>
      </p:sp>
      <p:sp>
        <p:nvSpPr>
          <p:cNvPr id="22" name="Text 20"/>
          <p:cNvSpPr/>
          <p:nvPr/>
        </p:nvSpPr>
        <p:spPr>
          <a:xfrm>
            <a:off x="365760" y="4910328"/>
            <a:ext cx="2286000" cy="256032"/>
          </a:xfrm>
          <a:prstGeom prst="rect">
            <a:avLst/>
          </a:prstGeom>
          <a:noFill/>
          <a:ln/>
        </p:spPr>
        <p:txBody>
          <a:bodyPr wrap="square" rtlCol="0" anchor="ctr"/>
          <a:lstStyle/>
          <a:p>
            <a:pPr indent="0" marL="0">
              <a:buNone/>
            </a:pPr>
            <a:r>
              <a:rPr lang="en-US" sz="950" b="1" dirty="0">
                <a:solidFill>
                  <a:srgbClr val="F97316"/>
                </a:solidFill>
                <a:latin typeface="Arial" pitchFamily="34" charset="0"/>
                <a:ea typeface="Arial" pitchFamily="34" charset="-122"/>
                <a:cs typeface="Arial" pitchFamily="34" charset="-120"/>
              </a:rPr>
              <a:t>Perfectly Different</a:t>
            </a:r>
            <a:endParaRPr lang="en-US" sz="950" dirty="0"/>
          </a:p>
        </p:txBody>
      </p:sp>
      <p:sp>
        <p:nvSpPr>
          <p:cNvPr id="23" name="Text 21"/>
          <p:cNvSpPr/>
          <p:nvPr/>
        </p:nvSpPr>
        <p:spPr>
          <a:xfrm>
            <a:off x="2560320" y="4910328"/>
            <a:ext cx="1325880" cy="256032"/>
          </a:xfrm>
          <a:prstGeom prst="rect">
            <a:avLst/>
          </a:prstGeom>
          <a:noFill/>
          <a:ln/>
        </p:spPr>
        <p:txBody>
          <a:bodyPr wrap="square"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Is It More Than Stress?</a:t>
            </a:r>
            <a:endParaRPr lang="en-US" sz="950" dirty="0"/>
          </a:p>
        </p:txBody>
      </p:sp>
      <p:sp>
        <p:nvSpPr>
          <p:cNvPr id="24" name="Shape 22"/>
          <p:cNvSpPr/>
          <p:nvPr/>
        </p:nvSpPr>
        <p:spPr>
          <a:xfrm>
            <a:off x="411480" y="5193792"/>
            <a:ext cx="3429000" cy="18288"/>
          </a:xfrm>
          <a:prstGeom prst="rect">
            <a:avLst/>
          </a:prstGeom>
          <a:solidFill>
            <a:srgbClr val="F97316"/>
          </a:solidFill>
          <a:ln/>
        </p:spPr>
      </p:sp>
      <p:sp>
        <p:nvSpPr>
          <p:cNvPr id="25" name="Text 23"/>
          <p:cNvSpPr/>
          <p:nvPr/>
        </p:nvSpPr>
        <p:spPr>
          <a:xfrm>
            <a:off x="365760" y="5257800"/>
            <a:ext cx="3520440" cy="1371600"/>
          </a:xfrm>
          <a:prstGeom prst="rect">
            <a:avLst/>
          </a:prstGeom>
          <a:noFill/>
          <a:ln/>
        </p:spPr>
        <p:txBody>
          <a:bodyPr wrap="square" rtlCol="0" anchor="ctr"/>
          <a:lstStyle/>
          <a:p>
            <a:pPr indent="0" marL="0">
              <a:lnSpc>
                <a:spcPct val="125000"/>
              </a:lnSpc>
              <a:buNone/>
            </a:pPr>
            <a:r>
              <a:rPr lang="en-US" sz="950" dirty="0">
                <a:solidFill>
                  <a:srgbClr val="8B949E"/>
                </a:solidFill>
                <a:latin typeface="Arial" pitchFamily="34" charset="0"/>
                <a:ea typeface="Arial" pitchFamily="34" charset="-122"/>
                <a:cs typeface="Arial" pitchFamily="34" charset="-120"/>
              </a:rPr>
              <a:t>The child's behavioral changes could be emotional — or they could signal something deeper. Perfectly Different screens for learning differences that stress may have unmasked. If she needs an IEP or adaptive support, the platform catches it. The ecosystem doesn't assume — it checks.</a:t>
            </a:r>
            <a:endParaRPr lang="en-US" sz="950" dirty="0"/>
          </a:p>
        </p:txBody>
      </p:sp>
      <p:sp>
        <p:nvSpPr>
          <p:cNvPr id="26" name="Shape 24"/>
          <p:cNvSpPr/>
          <p:nvPr/>
        </p:nvSpPr>
        <p:spPr>
          <a:xfrm>
            <a:off x="4160520" y="4892040"/>
            <a:ext cx="3703320" cy="1874520"/>
          </a:xfrm>
          <a:prstGeom prst="roundRect">
            <a:avLst>
              <a:gd name="adj" fmla="val 3902"/>
            </a:avLst>
          </a:prstGeom>
          <a:solidFill>
            <a:srgbClr val="161B22"/>
          </a:solidFill>
          <a:ln w="19050">
            <a:solidFill>
              <a:srgbClr val="0079F2"/>
            </a:solidFill>
            <a:prstDash val="solid"/>
          </a:ln>
        </p:spPr>
      </p:sp>
      <p:sp>
        <p:nvSpPr>
          <p:cNvPr id="27" name="Text 25"/>
          <p:cNvSpPr/>
          <p:nvPr/>
        </p:nvSpPr>
        <p:spPr>
          <a:xfrm>
            <a:off x="4251960" y="4910328"/>
            <a:ext cx="2286000" cy="256032"/>
          </a:xfrm>
          <a:prstGeom prst="rect">
            <a:avLst/>
          </a:prstGeom>
          <a:noFill/>
          <a:ln/>
        </p:spPr>
        <p:txBody>
          <a:bodyPr wrap="square" rtlCol="0" anchor="ctr"/>
          <a:lstStyle/>
          <a:p>
            <a:pPr indent="0" marL="0">
              <a:buNone/>
            </a:pPr>
            <a:r>
              <a:rPr lang="en-US" sz="950" b="1" dirty="0">
                <a:solidFill>
                  <a:srgbClr val="0079F2"/>
                </a:solidFill>
                <a:latin typeface="Arial" pitchFamily="34" charset="0"/>
                <a:ea typeface="Arial" pitchFamily="34" charset="-122"/>
                <a:cs typeface="Arial" pitchFamily="34" charset="-120"/>
              </a:rPr>
              <a:t>Workforce + Business</a:t>
            </a:r>
            <a:endParaRPr lang="en-US" sz="950" dirty="0"/>
          </a:p>
        </p:txBody>
      </p:sp>
      <p:sp>
        <p:nvSpPr>
          <p:cNvPr id="28" name="Text 26"/>
          <p:cNvSpPr/>
          <p:nvPr/>
        </p:nvSpPr>
        <p:spPr>
          <a:xfrm>
            <a:off x="6446520" y="4910328"/>
            <a:ext cx="1325880" cy="256032"/>
          </a:xfrm>
          <a:prstGeom prst="rect">
            <a:avLst/>
          </a:prstGeom>
          <a:noFill/>
          <a:ln/>
        </p:spPr>
        <p:txBody>
          <a:bodyPr wrap="square"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Income Collapsing</a:t>
            </a:r>
            <a:endParaRPr lang="en-US" sz="950" dirty="0"/>
          </a:p>
        </p:txBody>
      </p:sp>
      <p:sp>
        <p:nvSpPr>
          <p:cNvPr id="29" name="Shape 27"/>
          <p:cNvSpPr/>
          <p:nvPr/>
        </p:nvSpPr>
        <p:spPr>
          <a:xfrm>
            <a:off x="4297680" y="5193792"/>
            <a:ext cx="3429000" cy="18288"/>
          </a:xfrm>
          <a:prstGeom prst="rect">
            <a:avLst/>
          </a:prstGeom>
          <a:solidFill>
            <a:srgbClr val="0079F2"/>
          </a:solidFill>
          <a:ln/>
        </p:spPr>
      </p:sp>
      <p:sp>
        <p:nvSpPr>
          <p:cNvPr id="30" name="Text 28"/>
          <p:cNvSpPr/>
          <p:nvPr/>
        </p:nvSpPr>
        <p:spPr>
          <a:xfrm>
            <a:off x="4251960" y="5257800"/>
            <a:ext cx="3520440" cy="1371600"/>
          </a:xfrm>
          <a:prstGeom prst="rect">
            <a:avLst/>
          </a:prstGeom>
          <a:noFill/>
          <a:ln/>
        </p:spPr>
        <p:txBody>
          <a:bodyPr wrap="square" rtlCol="0" anchor="ctr"/>
          <a:lstStyle/>
          <a:p>
            <a:pPr indent="0" marL="0">
              <a:lnSpc>
                <a:spcPct val="125000"/>
              </a:lnSpc>
              <a:buNone/>
            </a:pPr>
            <a:r>
              <a:rPr lang="en-US" sz="950" dirty="0">
                <a:solidFill>
                  <a:srgbClr val="8B949E"/>
                </a:solidFill>
                <a:latin typeface="Arial" pitchFamily="34" charset="0"/>
                <a:ea typeface="Arial" pitchFamily="34" charset="-122"/>
                <a:cs typeface="Arial" pitchFamily="34" charset="-120"/>
              </a:rPr>
              <a:t>Keisha can't work full-time through cancer AND pregnancy. Workforce shifts her profile to part-time/remote. Minority Center of Excellence provides emergency nonprofit continuity. Collaborative Advocate activates FMLA, disability, WIC, childcare assistance — all in one record.</a:t>
            </a:r>
            <a:endParaRPr lang="en-US" sz="950" dirty="0"/>
          </a:p>
        </p:txBody>
      </p:sp>
      <p:sp>
        <p:nvSpPr>
          <p:cNvPr id="31" name="Shape 29"/>
          <p:cNvSpPr/>
          <p:nvPr/>
        </p:nvSpPr>
        <p:spPr>
          <a:xfrm>
            <a:off x="8046720" y="4892040"/>
            <a:ext cx="3703320" cy="1874520"/>
          </a:xfrm>
          <a:prstGeom prst="roundRect">
            <a:avLst>
              <a:gd name="adj" fmla="val 3902"/>
            </a:avLst>
          </a:prstGeom>
          <a:solidFill>
            <a:srgbClr val="161B22"/>
          </a:solidFill>
          <a:ln w="19050">
            <a:solidFill>
              <a:srgbClr val="00C9A7"/>
            </a:solidFill>
            <a:prstDash val="solid"/>
          </a:ln>
        </p:spPr>
      </p:sp>
      <p:sp>
        <p:nvSpPr>
          <p:cNvPr id="32" name="Text 30"/>
          <p:cNvSpPr/>
          <p:nvPr/>
        </p:nvSpPr>
        <p:spPr>
          <a:xfrm>
            <a:off x="8138160" y="4910328"/>
            <a:ext cx="2286000" cy="256032"/>
          </a:xfrm>
          <a:prstGeom prst="rect">
            <a:avLst/>
          </a:prstGeom>
          <a:noFill/>
          <a:ln/>
        </p:spPr>
        <p:txBody>
          <a:bodyPr wrap="square" rtlCol="0" anchor="ctr"/>
          <a:lstStyle/>
          <a:p>
            <a:pPr indent="0" marL="0">
              <a:buNone/>
            </a:pPr>
            <a:r>
              <a:rPr lang="en-US" sz="950" b="1" dirty="0">
                <a:solidFill>
                  <a:srgbClr val="00C9A7"/>
                </a:solidFill>
                <a:latin typeface="Arial" pitchFamily="34" charset="0"/>
                <a:ea typeface="Arial" pitchFamily="34" charset="-122"/>
                <a:cs typeface="Arial" pitchFamily="34" charset="-120"/>
              </a:rPr>
              <a:t>AI Intelligence Layer</a:t>
            </a:r>
            <a:endParaRPr lang="en-US" sz="950" dirty="0"/>
          </a:p>
        </p:txBody>
      </p:sp>
      <p:sp>
        <p:nvSpPr>
          <p:cNvPr id="33" name="Text 31"/>
          <p:cNvSpPr/>
          <p:nvPr/>
        </p:nvSpPr>
        <p:spPr>
          <a:xfrm>
            <a:off x="10332720" y="4910328"/>
            <a:ext cx="1325880" cy="256032"/>
          </a:xfrm>
          <a:prstGeom prst="rect">
            <a:avLst/>
          </a:prstGeom>
          <a:noFill/>
          <a:ln/>
        </p:spPr>
        <p:txBody>
          <a:bodyPr wrap="square"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No Human Can Do This</a:t>
            </a:r>
            <a:endParaRPr lang="en-US" sz="950" dirty="0"/>
          </a:p>
        </p:txBody>
      </p:sp>
      <p:sp>
        <p:nvSpPr>
          <p:cNvPr id="34" name="Shape 32"/>
          <p:cNvSpPr/>
          <p:nvPr/>
        </p:nvSpPr>
        <p:spPr>
          <a:xfrm>
            <a:off x="8183880" y="5193792"/>
            <a:ext cx="3429000" cy="18288"/>
          </a:xfrm>
          <a:prstGeom prst="rect">
            <a:avLst/>
          </a:prstGeom>
          <a:solidFill>
            <a:srgbClr val="00C9A7"/>
          </a:solidFill>
          <a:ln/>
        </p:spPr>
      </p:sp>
      <p:sp>
        <p:nvSpPr>
          <p:cNvPr id="35" name="Text 33"/>
          <p:cNvSpPr/>
          <p:nvPr/>
        </p:nvSpPr>
        <p:spPr>
          <a:xfrm>
            <a:off x="8138160" y="5257800"/>
            <a:ext cx="3520440" cy="1371600"/>
          </a:xfrm>
          <a:prstGeom prst="rect">
            <a:avLst/>
          </a:prstGeom>
          <a:noFill/>
          <a:ln/>
        </p:spPr>
        <p:txBody>
          <a:bodyPr wrap="square" rtlCol="0" anchor="ctr"/>
          <a:lstStyle/>
          <a:p>
            <a:pPr indent="0" marL="0">
              <a:lnSpc>
                <a:spcPct val="125000"/>
              </a:lnSpc>
              <a:buNone/>
            </a:pPr>
            <a:r>
              <a:rPr lang="en-US" sz="950" dirty="0">
                <a:solidFill>
                  <a:srgbClr val="8B949E"/>
                </a:solidFill>
                <a:latin typeface="Arial" pitchFamily="34" charset="0"/>
                <a:ea typeface="Arial" pitchFamily="34" charset="-122"/>
                <a:cs typeface="Arial" pitchFamily="34" charset="-120"/>
              </a:rPr>
              <a:t>Cancer protocol + pregnancy risk + depression + child's grades + job loss + medication interactions + housing stability. The AI sees ALL of it across ALL domains simultaneously. It alerts the right providers before crisis — because no case manager can track this many signals across this many systems.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EF4444"/>
          </a:solidFill>
          <a:ln/>
        </p:spPr>
      </p:sp>
      <p:sp>
        <p:nvSpPr>
          <p:cNvPr id="3" name="Text 1"/>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EF4444"/>
                </a:solidFill>
                <a:latin typeface="Arial" pitchFamily="34" charset="0"/>
                <a:ea typeface="Arial" pitchFamily="34" charset="-122"/>
                <a:cs typeface="Arial" pitchFamily="34" charset="-120"/>
              </a:rPr>
              <a:t>The Ecosystem in Action: Criminal Justice</a:t>
            </a:r>
            <a:endParaRPr lang="en-US" sz="1300" dirty="0"/>
          </a:p>
        </p:txBody>
      </p:sp>
      <p:sp>
        <p:nvSpPr>
          <p:cNvPr id="4" name="Text 2"/>
          <p:cNvSpPr/>
          <p:nvPr/>
        </p:nvSpPr>
        <p:spPr>
          <a:xfrm>
            <a:off x="731520" y="777240"/>
            <a:ext cx="10698480" cy="1051560"/>
          </a:xfrm>
          <a:prstGeom prst="rect">
            <a:avLst/>
          </a:prstGeom>
          <a:noFill/>
          <a:ln/>
        </p:spPr>
        <p:txBody>
          <a:bodyPr wrap="square" rtlCol="0" anchor="ctr"/>
          <a:lstStyle/>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Then Her Brother Marcus</a:t>
            </a:r>
            <a:endParaRPr lang="en-US" sz="3300" dirty="0"/>
          </a:p>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Comes Home From Prison.</a:t>
            </a:r>
            <a:endParaRPr lang="en-US" sz="3300" dirty="0"/>
          </a:p>
        </p:txBody>
      </p:sp>
      <p:sp>
        <p:nvSpPr>
          <p:cNvPr id="5" name="Text 3"/>
          <p:cNvSpPr/>
          <p:nvPr/>
        </p:nvSpPr>
        <p:spPr>
          <a:xfrm>
            <a:off x="731520" y="1874520"/>
            <a:ext cx="10515600" cy="502920"/>
          </a:xfrm>
          <a:prstGeom prst="rect">
            <a:avLst/>
          </a:prstGeom>
          <a:noFill/>
          <a:ln/>
        </p:spPr>
        <p:txBody>
          <a:bodyPr wrap="square" rtlCol="0" anchor="ctr"/>
          <a:lstStyle/>
          <a:p>
            <a:pPr indent="0" marL="0">
              <a:lnSpc>
                <a:spcPct val="130000"/>
              </a:lnSpc>
              <a:buNone/>
            </a:pPr>
            <a:r>
              <a:rPr lang="en-US" sz="1300" i="1" dirty="0">
                <a:solidFill>
                  <a:srgbClr val="8B949E"/>
                </a:solidFill>
                <a:latin typeface="Arial" pitchFamily="34" charset="0"/>
                <a:ea typeface="Arial" pitchFamily="34" charset="-122"/>
                <a:cs typeface="Arial" pitchFamily="34" charset="-120"/>
              </a:rPr>
              <a:t>Same family. Same ecosystem. Marcus is released after 4 years. He also served. In the current system, he'd get a bus ticket. In ThriveUp, his sister's family file means every platform already knows he's coming — and his niece already has supports in place:</a:t>
            </a:r>
            <a:endParaRPr lang="en-US" sz="1300" dirty="0"/>
          </a:p>
        </p:txBody>
      </p:sp>
      <p:sp>
        <p:nvSpPr>
          <p:cNvPr id="6" name="Shape 4"/>
          <p:cNvSpPr/>
          <p:nvPr/>
        </p:nvSpPr>
        <p:spPr>
          <a:xfrm>
            <a:off x="274320" y="2606040"/>
            <a:ext cx="3703320" cy="1828800"/>
          </a:xfrm>
          <a:prstGeom prst="roundRect">
            <a:avLst>
              <a:gd name="adj" fmla="val 4000"/>
            </a:avLst>
          </a:prstGeom>
          <a:solidFill>
            <a:srgbClr val="161B22"/>
          </a:solidFill>
          <a:ln w="12700">
            <a:solidFill>
              <a:srgbClr val="EF4444"/>
            </a:solidFill>
            <a:prstDash val="solid"/>
          </a:ln>
        </p:spPr>
      </p:sp>
      <p:sp>
        <p:nvSpPr>
          <p:cNvPr id="7" name="Text 5"/>
          <p:cNvSpPr/>
          <p:nvPr/>
        </p:nvSpPr>
        <p:spPr>
          <a:xfrm>
            <a:off x="365760" y="2633472"/>
            <a:ext cx="1005840" cy="274320"/>
          </a:xfrm>
          <a:prstGeom prst="rect">
            <a:avLst/>
          </a:prstGeom>
          <a:noFill/>
          <a:ln/>
        </p:spPr>
        <p:txBody>
          <a:bodyPr wrap="square" rtlCol="0" anchor="ctr"/>
          <a:lstStyle/>
          <a:p>
            <a:pPr indent="0" marL="0">
              <a:buNone/>
            </a:pPr>
            <a:r>
              <a:rPr lang="en-US" sz="1100" b="1" dirty="0">
                <a:solidFill>
                  <a:srgbClr val="EF4444"/>
                </a:solidFill>
                <a:latin typeface="Arial" pitchFamily="34" charset="0"/>
                <a:ea typeface="Arial" pitchFamily="34" charset="-122"/>
                <a:cs typeface="Arial" pitchFamily="34" charset="-120"/>
              </a:rPr>
              <a:t>Day 1</a:t>
            </a:r>
            <a:endParaRPr lang="en-US" sz="1100" dirty="0"/>
          </a:p>
        </p:txBody>
      </p:sp>
      <p:sp>
        <p:nvSpPr>
          <p:cNvPr id="8" name="Text 6"/>
          <p:cNvSpPr/>
          <p:nvPr/>
        </p:nvSpPr>
        <p:spPr>
          <a:xfrm>
            <a:off x="1371600" y="2633472"/>
            <a:ext cx="2514600" cy="274320"/>
          </a:xfrm>
          <a:prstGeom prst="rect">
            <a:avLst/>
          </a:prstGeom>
          <a:noFill/>
          <a:ln/>
        </p:spPr>
        <p:txBody>
          <a:bodyPr wrap="square"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LifeBridge</a:t>
            </a:r>
            <a:endParaRPr lang="en-US" sz="1100" dirty="0"/>
          </a:p>
        </p:txBody>
      </p:sp>
      <p:sp>
        <p:nvSpPr>
          <p:cNvPr id="9" name="Shape 7"/>
          <p:cNvSpPr/>
          <p:nvPr/>
        </p:nvSpPr>
        <p:spPr>
          <a:xfrm>
            <a:off x="411480" y="2935224"/>
            <a:ext cx="3429000" cy="18288"/>
          </a:xfrm>
          <a:prstGeom prst="rect">
            <a:avLst/>
          </a:prstGeom>
          <a:solidFill>
            <a:srgbClr val="EF4444"/>
          </a:solidFill>
          <a:ln/>
        </p:spPr>
      </p:sp>
      <p:sp>
        <p:nvSpPr>
          <p:cNvPr id="10" name="Text 8"/>
          <p:cNvSpPr/>
          <p:nvPr/>
        </p:nvSpPr>
        <p:spPr>
          <a:xfrm>
            <a:off x="365760" y="3017520"/>
            <a:ext cx="3520440" cy="128016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Reentry profile. Keisha's family file already exists — Marcus joins it. His niece's school supports, his sister's medical team, the community resources they use — all visible. One intake, not eight.</a:t>
            </a:r>
            <a:endParaRPr lang="en-US" sz="1000" dirty="0"/>
          </a:p>
        </p:txBody>
      </p:sp>
      <p:sp>
        <p:nvSpPr>
          <p:cNvPr id="11" name="Shape 9"/>
          <p:cNvSpPr/>
          <p:nvPr/>
        </p:nvSpPr>
        <p:spPr>
          <a:xfrm>
            <a:off x="4160520" y="2606040"/>
            <a:ext cx="3703320" cy="1828800"/>
          </a:xfrm>
          <a:prstGeom prst="roundRect">
            <a:avLst>
              <a:gd name="adj" fmla="val 4000"/>
            </a:avLst>
          </a:prstGeom>
          <a:solidFill>
            <a:srgbClr val="161B22"/>
          </a:solidFill>
          <a:ln w="12700">
            <a:solidFill>
              <a:srgbClr val="0079F2"/>
            </a:solidFill>
            <a:prstDash val="solid"/>
          </a:ln>
        </p:spPr>
      </p:sp>
      <p:sp>
        <p:nvSpPr>
          <p:cNvPr id="12" name="Text 10"/>
          <p:cNvSpPr/>
          <p:nvPr/>
        </p:nvSpPr>
        <p:spPr>
          <a:xfrm>
            <a:off x="4251960" y="2633472"/>
            <a:ext cx="1005840" cy="274320"/>
          </a:xfrm>
          <a:prstGeom prst="rect">
            <a:avLst/>
          </a:prstGeom>
          <a:noFill/>
          <a:ln/>
        </p:spPr>
        <p:txBody>
          <a:bodyPr wrap="square" rtlCol="0" anchor="ctr"/>
          <a:lstStyle/>
          <a:p>
            <a:pPr indent="0" marL="0">
              <a:buNone/>
            </a:pPr>
            <a:r>
              <a:rPr lang="en-US" sz="1100" b="1" dirty="0">
                <a:solidFill>
                  <a:srgbClr val="0079F2"/>
                </a:solidFill>
                <a:latin typeface="Arial" pitchFamily="34" charset="0"/>
                <a:ea typeface="Arial" pitchFamily="34" charset="-122"/>
                <a:cs typeface="Arial" pitchFamily="34" charset="-120"/>
              </a:rPr>
              <a:t>Week 1</a:t>
            </a:r>
            <a:endParaRPr lang="en-US" sz="1100" dirty="0"/>
          </a:p>
        </p:txBody>
      </p:sp>
      <p:sp>
        <p:nvSpPr>
          <p:cNvPr id="13" name="Text 11"/>
          <p:cNvSpPr/>
          <p:nvPr/>
        </p:nvSpPr>
        <p:spPr>
          <a:xfrm>
            <a:off x="5257800" y="2633472"/>
            <a:ext cx="2514600" cy="274320"/>
          </a:xfrm>
          <a:prstGeom prst="rect">
            <a:avLst/>
          </a:prstGeom>
          <a:noFill/>
          <a:ln/>
        </p:spPr>
        <p:txBody>
          <a:bodyPr wrap="square"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Mission Transition</a:t>
            </a:r>
            <a:endParaRPr lang="en-US" sz="1100" dirty="0"/>
          </a:p>
        </p:txBody>
      </p:sp>
      <p:sp>
        <p:nvSpPr>
          <p:cNvPr id="14" name="Shape 12"/>
          <p:cNvSpPr/>
          <p:nvPr/>
        </p:nvSpPr>
        <p:spPr>
          <a:xfrm>
            <a:off x="4297680" y="2935224"/>
            <a:ext cx="3429000" cy="18288"/>
          </a:xfrm>
          <a:prstGeom prst="rect">
            <a:avLst/>
          </a:prstGeom>
          <a:solidFill>
            <a:srgbClr val="0079F2"/>
          </a:solidFill>
          <a:ln/>
        </p:spPr>
      </p:sp>
      <p:sp>
        <p:nvSpPr>
          <p:cNvPr id="15" name="Text 13"/>
          <p:cNvSpPr/>
          <p:nvPr/>
        </p:nvSpPr>
        <p:spPr>
          <a:xfrm>
            <a:off x="4251960" y="3017520"/>
            <a:ext cx="3520440" cy="128016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Marcus served too. Military + prison work experience mapped to civilian jobs. AI matches 3 employers. If he needs training, ThriveUp Academy activates. Connected to his niece's education record.</a:t>
            </a:r>
            <a:endParaRPr lang="en-US" sz="1000" dirty="0"/>
          </a:p>
        </p:txBody>
      </p:sp>
      <p:sp>
        <p:nvSpPr>
          <p:cNvPr id="16" name="Shape 14"/>
          <p:cNvSpPr/>
          <p:nvPr/>
        </p:nvSpPr>
        <p:spPr>
          <a:xfrm>
            <a:off x="8046720" y="2606040"/>
            <a:ext cx="3703320" cy="1828800"/>
          </a:xfrm>
          <a:prstGeom prst="roundRect">
            <a:avLst>
              <a:gd name="adj" fmla="val 4000"/>
            </a:avLst>
          </a:prstGeom>
          <a:solidFill>
            <a:srgbClr val="161B22"/>
          </a:solidFill>
          <a:ln w="12700">
            <a:solidFill>
              <a:srgbClr val="8B5CF6"/>
            </a:solidFill>
            <a:prstDash val="solid"/>
          </a:ln>
        </p:spPr>
      </p:sp>
      <p:sp>
        <p:nvSpPr>
          <p:cNvPr id="17" name="Text 15"/>
          <p:cNvSpPr/>
          <p:nvPr/>
        </p:nvSpPr>
        <p:spPr>
          <a:xfrm>
            <a:off x="8138160" y="2633472"/>
            <a:ext cx="1005840" cy="274320"/>
          </a:xfrm>
          <a:prstGeom prst="rect">
            <a:avLst/>
          </a:prstGeom>
          <a:noFill/>
          <a:ln/>
        </p:spPr>
        <p:txBody>
          <a:bodyPr wrap="square" rtlCol="0" anchor="ctr"/>
          <a:lstStyle/>
          <a:p>
            <a:pPr indent="0" marL="0">
              <a:buNone/>
            </a:pPr>
            <a:r>
              <a:rPr lang="en-US" sz="1100" b="1" dirty="0">
                <a:solidFill>
                  <a:srgbClr val="8B5CF6"/>
                </a:solidFill>
                <a:latin typeface="Arial" pitchFamily="34" charset="0"/>
                <a:ea typeface="Arial" pitchFamily="34" charset="-122"/>
                <a:cs typeface="Arial" pitchFamily="34" charset="-120"/>
              </a:rPr>
              <a:t>Week 2</a:t>
            </a:r>
            <a:endParaRPr lang="en-US" sz="1100" dirty="0"/>
          </a:p>
        </p:txBody>
      </p:sp>
      <p:sp>
        <p:nvSpPr>
          <p:cNvPr id="18" name="Text 16"/>
          <p:cNvSpPr/>
          <p:nvPr/>
        </p:nvSpPr>
        <p:spPr>
          <a:xfrm>
            <a:off x="9144000" y="2633472"/>
            <a:ext cx="2514600" cy="274320"/>
          </a:xfrm>
          <a:prstGeom prst="rect">
            <a:avLst/>
          </a:prstGeom>
          <a:noFill/>
          <a:ln/>
        </p:spPr>
        <p:txBody>
          <a:bodyPr wrap="square"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Whole-Person Health</a:t>
            </a:r>
            <a:endParaRPr lang="en-US" sz="1100" dirty="0"/>
          </a:p>
        </p:txBody>
      </p:sp>
      <p:sp>
        <p:nvSpPr>
          <p:cNvPr id="19" name="Shape 17"/>
          <p:cNvSpPr/>
          <p:nvPr/>
        </p:nvSpPr>
        <p:spPr>
          <a:xfrm>
            <a:off x="8183880" y="2935224"/>
            <a:ext cx="3429000" cy="18288"/>
          </a:xfrm>
          <a:prstGeom prst="rect">
            <a:avLst/>
          </a:prstGeom>
          <a:solidFill>
            <a:srgbClr val="8B5CF6"/>
          </a:solidFill>
          <a:ln/>
        </p:spPr>
      </p:sp>
      <p:sp>
        <p:nvSpPr>
          <p:cNvPr id="20" name="Text 18"/>
          <p:cNvSpPr/>
          <p:nvPr/>
        </p:nvSpPr>
        <p:spPr>
          <a:xfrm>
            <a:off x="8138160" y="3017520"/>
            <a:ext cx="3520440" cy="128016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Behavioral health screening. Substance abuse flagged. Matched to a provider who understands BOTH reentry AND veteran experience. PillScheduler if medication needed.</a:t>
            </a:r>
            <a:endParaRPr lang="en-US" sz="1000" dirty="0"/>
          </a:p>
        </p:txBody>
      </p:sp>
      <p:sp>
        <p:nvSpPr>
          <p:cNvPr id="21" name="Shape 19"/>
          <p:cNvSpPr/>
          <p:nvPr/>
        </p:nvSpPr>
        <p:spPr>
          <a:xfrm>
            <a:off x="274320" y="4617720"/>
            <a:ext cx="3703320" cy="1828800"/>
          </a:xfrm>
          <a:prstGeom prst="roundRect">
            <a:avLst>
              <a:gd name="adj" fmla="val 4000"/>
            </a:avLst>
          </a:prstGeom>
          <a:solidFill>
            <a:srgbClr val="161B22"/>
          </a:solidFill>
          <a:ln w="12700">
            <a:solidFill>
              <a:srgbClr val="F0B429"/>
            </a:solidFill>
            <a:prstDash val="solid"/>
          </a:ln>
        </p:spPr>
      </p:sp>
      <p:sp>
        <p:nvSpPr>
          <p:cNvPr id="22" name="Text 20"/>
          <p:cNvSpPr/>
          <p:nvPr/>
        </p:nvSpPr>
        <p:spPr>
          <a:xfrm>
            <a:off x="365760" y="4645152"/>
            <a:ext cx="1005840" cy="274320"/>
          </a:xfrm>
          <a:prstGeom prst="rect">
            <a:avLst/>
          </a:prstGeom>
          <a:noFill/>
          <a:ln/>
        </p:spPr>
        <p:txBody>
          <a:bodyPr wrap="square" rtlCol="0" anchor="ctr"/>
          <a:lstStyle/>
          <a:p>
            <a:pPr indent="0" marL="0">
              <a:buNone/>
            </a:pPr>
            <a:r>
              <a:rPr lang="en-US" sz="1100" b="1" dirty="0">
                <a:solidFill>
                  <a:srgbClr val="F0B429"/>
                </a:solidFill>
                <a:latin typeface="Arial" pitchFamily="34" charset="0"/>
                <a:ea typeface="Arial" pitchFamily="34" charset="-122"/>
                <a:cs typeface="Arial" pitchFamily="34" charset="-120"/>
              </a:rPr>
              <a:t>Week 3</a:t>
            </a:r>
            <a:endParaRPr lang="en-US" sz="1100" dirty="0"/>
          </a:p>
        </p:txBody>
      </p:sp>
      <p:sp>
        <p:nvSpPr>
          <p:cNvPr id="23" name="Text 21"/>
          <p:cNvSpPr/>
          <p:nvPr/>
        </p:nvSpPr>
        <p:spPr>
          <a:xfrm>
            <a:off x="1371600" y="4645152"/>
            <a:ext cx="2514600" cy="274320"/>
          </a:xfrm>
          <a:prstGeom prst="rect">
            <a:avLst/>
          </a:prstGeom>
          <a:noFill/>
          <a:ln/>
        </p:spPr>
        <p:txBody>
          <a:bodyPr wrap="square"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ISSS + SafeReport</a:t>
            </a:r>
            <a:endParaRPr lang="en-US" sz="1100" dirty="0"/>
          </a:p>
        </p:txBody>
      </p:sp>
      <p:sp>
        <p:nvSpPr>
          <p:cNvPr id="24" name="Shape 22"/>
          <p:cNvSpPr/>
          <p:nvPr/>
        </p:nvSpPr>
        <p:spPr>
          <a:xfrm>
            <a:off x="411480" y="4946904"/>
            <a:ext cx="3429000" cy="18288"/>
          </a:xfrm>
          <a:prstGeom prst="rect">
            <a:avLst/>
          </a:prstGeom>
          <a:solidFill>
            <a:srgbClr val="F0B429"/>
          </a:solidFill>
          <a:ln/>
        </p:spPr>
      </p:sp>
      <p:sp>
        <p:nvSpPr>
          <p:cNvPr id="25" name="Text 23"/>
          <p:cNvSpPr/>
          <p:nvPr/>
        </p:nvSpPr>
        <p:spPr>
          <a:xfrm>
            <a:off x="365760" y="5029200"/>
            <a:ext cx="3520440" cy="128016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If Marcus has kids — family reunification. Mandated reporting compliance built in. Youth supports for ALL children in the family. His niece now has an uncle in the picture — ISSS adjusts her support plan.</a:t>
            </a:r>
            <a:endParaRPr lang="en-US" sz="1000" dirty="0"/>
          </a:p>
        </p:txBody>
      </p:sp>
      <p:sp>
        <p:nvSpPr>
          <p:cNvPr id="26" name="Shape 24"/>
          <p:cNvSpPr/>
          <p:nvPr/>
        </p:nvSpPr>
        <p:spPr>
          <a:xfrm>
            <a:off x="4160520" y="4617720"/>
            <a:ext cx="3703320" cy="1828800"/>
          </a:xfrm>
          <a:prstGeom prst="roundRect">
            <a:avLst>
              <a:gd name="adj" fmla="val 4000"/>
            </a:avLst>
          </a:prstGeom>
          <a:solidFill>
            <a:srgbClr val="161B22"/>
          </a:solidFill>
          <a:ln w="12700">
            <a:solidFill>
              <a:srgbClr val="00C9A7"/>
            </a:solidFill>
            <a:prstDash val="solid"/>
          </a:ln>
        </p:spPr>
      </p:sp>
      <p:sp>
        <p:nvSpPr>
          <p:cNvPr id="27" name="Text 25"/>
          <p:cNvSpPr/>
          <p:nvPr/>
        </p:nvSpPr>
        <p:spPr>
          <a:xfrm>
            <a:off x="4251960" y="4645152"/>
            <a:ext cx="1005840" cy="274320"/>
          </a:xfrm>
          <a:prstGeom prst="rect">
            <a:avLst/>
          </a:prstGeom>
          <a:noFill/>
          <a:ln/>
        </p:spPr>
        <p:txBody>
          <a:bodyPr wrap="square" rtlCol="0" anchor="ctr"/>
          <a:lstStyle/>
          <a:p>
            <a:pPr indent="0" marL="0">
              <a:buNone/>
            </a:pPr>
            <a:r>
              <a:rPr lang="en-US" sz="1100" b="1" dirty="0">
                <a:solidFill>
                  <a:srgbClr val="00C9A7"/>
                </a:solidFill>
                <a:latin typeface="Arial" pitchFamily="34" charset="0"/>
                <a:ea typeface="Arial" pitchFamily="34" charset="-122"/>
                <a:cs typeface="Arial" pitchFamily="34" charset="-120"/>
              </a:rPr>
              <a:t>Month 2</a:t>
            </a:r>
            <a:endParaRPr lang="en-US" sz="1100" dirty="0"/>
          </a:p>
        </p:txBody>
      </p:sp>
      <p:sp>
        <p:nvSpPr>
          <p:cNvPr id="28" name="Text 26"/>
          <p:cNvSpPr/>
          <p:nvPr/>
        </p:nvSpPr>
        <p:spPr>
          <a:xfrm>
            <a:off x="5257800" y="4645152"/>
            <a:ext cx="2514600" cy="274320"/>
          </a:xfrm>
          <a:prstGeom prst="rect">
            <a:avLst/>
          </a:prstGeom>
          <a:noFill/>
          <a:ln/>
        </p:spPr>
        <p:txBody>
          <a:bodyPr wrap="square"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Collaborative Advocate</a:t>
            </a:r>
            <a:endParaRPr lang="en-US" sz="1100" dirty="0"/>
          </a:p>
        </p:txBody>
      </p:sp>
      <p:sp>
        <p:nvSpPr>
          <p:cNvPr id="29" name="Shape 27"/>
          <p:cNvSpPr/>
          <p:nvPr/>
        </p:nvSpPr>
        <p:spPr>
          <a:xfrm>
            <a:off x="4297680" y="4946904"/>
            <a:ext cx="3429000" cy="18288"/>
          </a:xfrm>
          <a:prstGeom prst="rect">
            <a:avLst/>
          </a:prstGeom>
          <a:solidFill>
            <a:srgbClr val="00C9A7"/>
          </a:solidFill>
          <a:ln/>
        </p:spPr>
      </p:sp>
      <p:sp>
        <p:nvSpPr>
          <p:cNvPr id="30" name="Text 28"/>
          <p:cNvSpPr/>
          <p:nvPr/>
        </p:nvSpPr>
        <p:spPr>
          <a:xfrm>
            <a:off x="4251960" y="5029200"/>
            <a:ext cx="3520440" cy="128016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Legal aid. Record expungement. Benefits. All in the same system Keisha uses. The family is connected — not siloed across agencies that will never coordinate.</a:t>
            </a:r>
            <a:endParaRPr lang="en-US" sz="1000" dirty="0"/>
          </a:p>
        </p:txBody>
      </p:sp>
      <p:sp>
        <p:nvSpPr>
          <p:cNvPr id="31" name="Shape 29"/>
          <p:cNvSpPr/>
          <p:nvPr/>
        </p:nvSpPr>
        <p:spPr>
          <a:xfrm>
            <a:off x="8046720" y="4617720"/>
            <a:ext cx="3703320" cy="1828800"/>
          </a:xfrm>
          <a:prstGeom prst="roundRect">
            <a:avLst>
              <a:gd name="adj" fmla="val 4000"/>
            </a:avLst>
          </a:prstGeom>
          <a:solidFill>
            <a:srgbClr val="161B22"/>
          </a:solidFill>
          <a:ln w="12700">
            <a:solidFill>
              <a:srgbClr val="F97316"/>
            </a:solidFill>
            <a:prstDash val="solid"/>
          </a:ln>
        </p:spPr>
      </p:sp>
      <p:sp>
        <p:nvSpPr>
          <p:cNvPr id="32" name="Text 30"/>
          <p:cNvSpPr/>
          <p:nvPr/>
        </p:nvSpPr>
        <p:spPr>
          <a:xfrm>
            <a:off x="8138160" y="4645152"/>
            <a:ext cx="1005840" cy="274320"/>
          </a:xfrm>
          <a:prstGeom prst="rect">
            <a:avLst/>
          </a:prstGeom>
          <a:noFill/>
          <a:ln/>
        </p:spPr>
        <p:txBody>
          <a:bodyPr wrap="square" rtlCol="0" anchor="ctr"/>
          <a:lstStyle/>
          <a:p>
            <a:pPr indent="0" marL="0">
              <a:buNone/>
            </a:pPr>
            <a:r>
              <a:rPr lang="en-US" sz="1100" b="1" dirty="0">
                <a:solidFill>
                  <a:srgbClr val="F97316"/>
                </a:solidFill>
                <a:latin typeface="Arial" pitchFamily="34" charset="0"/>
                <a:ea typeface="Arial" pitchFamily="34" charset="-122"/>
                <a:cs typeface="Arial" pitchFamily="34" charset="-120"/>
              </a:rPr>
              <a:t>Month 6+</a:t>
            </a:r>
            <a:endParaRPr lang="en-US" sz="1100" dirty="0"/>
          </a:p>
        </p:txBody>
      </p:sp>
      <p:sp>
        <p:nvSpPr>
          <p:cNvPr id="33" name="Text 31"/>
          <p:cNvSpPr/>
          <p:nvPr/>
        </p:nvSpPr>
        <p:spPr>
          <a:xfrm>
            <a:off x="9144000" y="4645152"/>
            <a:ext cx="2514600" cy="274320"/>
          </a:xfrm>
          <a:prstGeom prst="rect">
            <a:avLst/>
          </a:prstGeom>
          <a:noFill/>
          <a:ln/>
        </p:spPr>
        <p:txBody>
          <a:bodyPr wrap="square"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AI Early Warning</a:t>
            </a:r>
            <a:endParaRPr lang="en-US" sz="1100" dirty="0"/>
          </a:p>
        </p:txBody>
      </p:sp>
      <p:sp>
        <p:nvSpPr>
          <p:cNvPr id="34" name="Shape 32"/>
          <p:cNvSpPr/>
          <p:nvPr/>
        </p:nvSpPr>
        <p:spPr>
          <a:xfrm>
            <a:off x="8183880" y="4946904"/>
            <a:ext cx="3429000" cy="18288"/>
          </a:xfrm>
          <a:prstGeom prst="rect">
            <a:avLst/>
          </a:prstGeom>
          <a:solidFill>
            <a:srgbClr val="F97316"/>
          </a:solidFill>
          <a:ln/>
        </p:spPr>
      </p:sp>
      <p:sp>
        <p:nvSpPr>
          <p:cNvPr id="35" name="Text 33"/>
          <p:cNvSpPr/>
          <p:nvPr/>
        </p:nvSpPr>
        <p:spPr>
          <a:xfrm>
            <a:off x="8138160" y="5029200"/>
            <a:ext cx="3520440" cy="128016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If anything destabilizes — job, health, housing — the whole team alerts before crisis. The ecosystem already learned from Keisha's journey. It wraps around Marcus AND the family.</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F0B429"/>
                </a:solidFill>
                <a:latin typeface="Arial" pitchFamily="34" charset="0"/>
                <a:ea typeface="Arial" pitchFamily="34" charset="-122"/>
                <a:cs typeface="Arial" pitchFamily="34" charset="-120"/>
              </a:rPr>
              <a:t>The Intelligence Layer</a:t>
            </a:r>
            <a:endParaRPr lang="en-US" sz="1300" dirty="0"/>
          </a:p>
        </p:txBody>
      </p:sp>
      <p:sp>
        <p:nvSpPr>
          <p:cNvPr id="3" name="Text 1"/>
          <p:cNvSpPr/>
          <p:nvPr/>
        </p:nvSpPr>
        <p:spPr>
          <a:xfrm>
            <a:off x="731520" y="777240"/>
            <a:ext cx="10698480" cy="1051560"/>
          </a:xfrm>
          <a:prstGeom prst="rect">
            <a:avLst/>
          </a:prstGeom>
          <a:noFill/>
          <a:ln/>
        </p:spPr>
        <p:txBody>
          <a:bodyPr wrap="square" rtlCol="0" anchor="ctr"/>
          <a:lstStyle/>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AI That Sees Across All 24 Platforms —</a:t>
            </a:r>
            <a:endParaRPr lang="en-US" sz="3300" dirty="0"/>
          </a:p>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Because No Human Can Connect These Dots</a:t>
            </a:r>
            <a:endParaRPr lang="en-US" sz="3300" dirty="0"/>
          </a:p>
        </p:txBody>
      </p:sp>
      <p:sp>
        <p:nvSpPr>
          <p:cNvPr id="4" name="Text 2"/>
          <p:cNvSpPr/>
          <p:nvPr/>
        </p:nvSpPr>
        <p:spPr>
          <a:xfrm>
            <a:off x="731520" y="1874520"/>
            <a:ext cx="10515600" cy="502920"/>
          </a:xfrm>
          <a:prstGeom prst="rect">
            <a:avLst/>
          </a:prstGeom>
          <a:noFill/>
          <a:ln/>
        </p:spPr>
        <p:txBody>
          <a:bodyPr wrap="square" rtlCol="0" anchor="ctr"/>
          <a:lstStyle/>
          <a:p>
            <a:pPr indent="0" marL="0">
              <a:lnSpc>
                <a:spcPct val="135000"/>
              </a:lnSpc>
              <a:buNone/>
            </a:pPr>
            <a:r>
              <a:rPr lang="en-US" sz="1300" dirty="0">
                <a:solidFill>
                  <a:srgbClr val="8B949E"/>
                </a:solidFill>
                <a:latin typeface="Arial" pitchFamily="34" charset="0"/>
                <a:ea typeface="Arial" pitchFamily="34" charset="-122"/>
                <a:cs typeface="Arial" pitchFamily="34" charset="-120"/>
              </a:rPr>
              <a:t>Keisha has needs across 6 domains. Her unborn child adds another layer. Her daughter is struggling in school. Her brother Marcus just came home. No case manager can track all of that across all those systems. The AI can.</a:t>
            </a:r>
            <a:endParaRPr lang="en-US" sz="1300" dirty="0"/>
          </a:p>
        </p:txBody>
      </p:sp>
      <p:sp>
        <p:nvSpPr>
          <p:cNvPr id="5" name="Shape 3"/>
          <p:cNvSpPr/>
          <p:nvPr/>
        </p:nvSpPr>
        <p:spPr>
          <a:xfrm>
            <a:off x="365760" y="2560320"/>
            <a:ext cx="5577840" cy="1828800"/>
          </a:xfrm>
          <a:prstGeom prst="roundRect">
            <a:avLst>
              <a:gd name="adj" fmla="val 5000"/>
            </a:avLst>
          </a:prstGeom>
          <a:solidFill>
            <a:srgbClr val="161B22"/>
          </a:solidFill>
          <a:ln w="19050">
            <a:solidFill>
              <a:srgbClr val="E8459E"/>
            </a:solidFill>
            <a:prstDash val="solid"/>
          </a:ln>
        </p:spPr>
      </p:sp>
      <p:sp>
        <p:nvSpPr>
          <p:cNvPr id="6" name="Text 4"/>
          <p:cNvSpPr/>
          <p:nvPr/>
        </p:nvSpPr>
        <p:spPr>
          <a:xfrm>
            <a:off x="502920" y="2651760"/>
            <a:ext cx="1828800" cy="731520"/>
          </a:xfrm>
          <a:prstGeom prst="rect">
            <a:avLst/>
          </a:prstGeom>
          <a:noFill/>
          <a:ln/>
        </p:spPr>
        <p:txBody>
          <a:bodyPr wrap="square" rtlCol="0" anchor="ctr"/>
          <a:lstStyle/>
          <a:p>
            <a:pPr indent="0" marL="0">
              <a:buNone/>
            </a:pPr>
            <a:r>
              <a:rPr lang="en-US" sz="1400" b="1" dirty="0">
                <a:solidFill>
                  <a:srgbClr val="E8459E"/>
                </a:solidFill>
                <a:latin typeface="Arial" pitchFamily="34" charset="0"/>
                <a:ea typeface="Arial" pitchFamily="34" charset="-122"/>
                <a:cs typeface="Arial" pitchFamily="34" charset="-120"/>
              </a:rPr>
              <a:t>Predictive Risk</a:t>
            </a:r>
            <a:endParaRPr lang="en-US" sz="1400" dirty="0"/>
          </a:p>
          <a:p>
            <a:pPr indent="0" marL="0">
              <a:buNone/>
            </a:pPr>
            <a:r>
              <a:rPr lang="en-US" sz="1400" b="1" dirty="0">
                <a:solidFill>
                  <a:srgbClr val="E8459E"/>
                </a:solidFill>
                <a:latin typeface="Arial" pitchFamily="34" charset="0"/>
                <a:ea typeface="Arial" pitchFamily="34" charset="-122"/>
                <a:cs typeface="Arial" pitchFamily="34" charset="-120"/>
              </a:rPr>
              <a:t>Detection</a:t>
            </a:r>
            <a:endParaRPr lang="en-US" sz="1400" dirty="0"/>
          </a:p>
        </p:txBody>
      </p:sp>
      <p:sp>
        <p:nvSpPr>
          <p:cNvPr id="7" name="Text 5"/>
          <p:cNvSpPr/>
          <p:nvPr/>
        </p:nvSpPr>
        <p:spPr>
          <a:xfrm>
            <a:off x="2331720" y="2651760"/>
            <a:ext cx="3429000" cy="1600200"/>
          </a:xfrm>
          <a:prstGeom prst="rect">
            <a:avLst/>
          </a:prstGeom>
          <a:noFill/>
          <a:ln/>
        </p:spPr>
        <p:txBody>
          <a:bodyPr wrap="square" rtlCol="0" anchor="ctr"/>
          <a:lstStyle/>
          <a:p>
            <a:pPr indent="0" marL="0">
              <a:lnSpc>
                <a:spcPct val="130000"/>
              </a:lnSpc>
              <a:buNone/>
            </a:pPr>
            <a:r>
              <a:rPr lang="en-US" sz="1050" dirty="0">
                <a:solidFill>
                  <a:srgbClr val="8B949E"/>
                </a:solidFill>
                <a:latin typeface="Arial" pitchFamily="34" charset="0"/>
                <a:ea typeface="Arial" pitchFamily="34" charset="-122"/>
                <a:cs typeface="Arial" pitchFamily="34" charset="-120"/>
              </a:rPr>
              <a:t>Keisha's chemo changes + pregnancy confirmed + depression worsens + daughter's grades drop = multi-provider alert. Oncologist, OB, counselor, school, and ISSS all see it. BEFORE anyone falls through the cracks.</a:t>
            </a:r>
            <a:endParaRPr lang="en-US" sz="1050" dirty="0"/>
          </a:p>
        </p:txBody>
      </p:sp>
      <p:sp>
        <p:nvSpPr>
          <p:cNvPr id="8" name="Shape 6"/>
          <p:cNvSpPr/>
          <p:nvPr/>
        </p:nvSpPr>
        <p:spPr>
          <a:xfrm>
            <a:off x="6126480" y="2560320"/>
            <a:ext cx="5577840" cy="1828800"/>
          </a:xfrm>
          <a:prstGeom prst="roundRect">
            <a:avLst>
              <a:gd name="adj" fmla="val 5000"/>
            </a:avLst>
          </a:prstGeom>
          <a:solidFill>
            <a:srgbClr val="161B22"/>
          </a:solidFill>
          <a:ln w="19050">
            <a:solidFill>
              <a:srgbClr val="F0B429"/>
            </a:solidFill>
            <a:prstDash val="solid"/>
          </a:ln>
        </p:spPr>
      </p:sp>
      <p:sp>
        <p:nvSpPr>
          <p:cNvPr id="9" name="Text 7"/>
          <p:cNvSpPr/>
          <p:nvPr/>
        </p:nvSpPr>
        <p:spPr>
          <a:xfrm>
            <a:off x="6263640" y="2651760"/>
            <a:ext cx="1828800" cy="731520"/>
          </a:xfrm>
          <a:prstGeom prst="rect">
            <a:avLst/>
          </a:prstGeom>
          <a:noFill/>
          <a:ln/>
        </p:spPr>
        <p:txBody>
          <a:bodyPr wrap="square" rtlCol="0" anchor="ctr"/>
          <a:lstStyle/>
          <a:p>
            <a:pPr indent="0" marL="0">
              <a:buNone/>
            </a:pPr>
            <a:r>
              <a:rPr lang="en-US" sz="1400" b="1" dirty="0">
                <a:solidFill>
                  <a:srgbClr val="F0B429"/>
                </a:solidFill>
                <a:latin typeface="Arial" pitchFamily="34" charset="0"/>
                <a:ea typeface="Arial" pitchFamily="34" charset="-122"/>
                <a:cs typeface="Arial" pitchFamily="34" charset="-120"/>
              </a:rPr>
              <a:t>Cross-Domain</a:t>
            </a:r>
            <a:endParaRPr lang="en-US" sz="1400" dirty="0"/>
          </a:p>
          <a:p>
            <a:pPr indent="0" marL="0">
              <a:buNone/>
            </a:pPr>
            <a:r>
              <a:rPr lang="en-US" sz="1400" b="1" dirty="0">
                <a:solidFill>
                  <a:srgbClr val="F0B429"/>
                </a:solidFill>
                <a:latin typeface="Arial" pitchFamily="34" charset="0"/>
                <a:ea typeface="Arial" pitchFamily="34" charset="-122"/>
                <a:cs typeface="Arial" pitchFamily="34" charset="-120"/>
              </a:rPr>
              <a:t>Early Warning</a:t>
            </a:r>
            <a:endParaRPr lang="en-US" sz="1400" dirty="0"/>
          </a:p>
        </p:txBody>
      </p:sp>
      <p:sp>
        <p:nvSpPr>
          <p:cNvPr id="10" name="Text 8"/>
          <p:cNvSpPr/>
          <p:nvPr/>
        </p:nvSpPr>
        <p:spPr>
          <a:xfrm>
            <a:off x="8092440" y="2651760"/>
            <a:ext cx="3429000" cy="1600200"/>
          </a:xfrm>
          <a:prstGeom prst="rect">
            <a:avLst/>
          </a:prstGeom>
          <a:noFill/>
          <a:ln/>
        </p:spPr>
        <p:txBody>
          <a:bodyPr wrap="square" rtlCol="0" anchor="ctr"/>
          <a:lstStyle/>
          <a:p>
            <a:pPr indent="0" marL="0">
              <a:lnSpc>
                <a:spcPct val="130000"/>
              </a:lnSpc>
              <a:buNone/>
            </a:pPr>
            <a:r>
              <a:rPr lang="en-US" sz="1050" dirty="0">
                <a:solidFill>
                  <a:srgbClr val="8B949E"/>
                </a:solidFill>
                <a:latin typeface="Arial" pitchFamily="34" charset="0"/>
                <a:ea typeface="Arial" pitchFamily="34" charset="-122"/>
                <a:cs typeface="Arial" pitchFamily="34" charset="-120"/>
              </a:rPr>
              <a:t>Daughter's grades drop from B's to D's → AI checks family file → sees mom's cancer + pregnancy + depression + work reduction → flags school counselor AND ISSS AND family support. The school finally knows WHY.</a:t>
            </a:r>
            <a:endParaRPr lang="en-US" sz="1050" dirty="0"/>
          </a:p>
        </p:txBody>
      </p:sp>
      <p:sp>
        <p:nvSpPr>
          <p:cNvPr id="11" name="Shape 9"/>
          <p:cNvSpPr/>
          <p:nvPr/>
        </p:nvSpPr>
        <p:spPr>
          <a:xfrm>
            <a:off x="365760" y="4617720"/>
            <a:ext cx="5577840" cy="1828800"/>
          </a:xfrm>
          <a:prstGeom prst="roundRect">
            <a:avLst>
              <a:gd name="adj" fmla="val 5000"/>
            </a:avLst>
          </a:prstGeom>
          <a:solidFill>
            <a:srgbClr val="161B22"/>
          </a:solidFill>
          <a:ln w="19050">
            <a:solidFill>
              <a:srgbClr val="00C9A7"/>
            </a:solidFill>
            <a:prstDash val="solid"/>
          </a:ln>
        </p:spPr>
      </p:sp>
      <p:sp>
        <p:nvSpPr>
          <p:cNvPr id="12" name="Text 10"/>
          <p:cNvSpPr/>
          <p:nvPr/>
        </p:nvSpPr>
        <p:spPr>
          <a:xfrm>
            <a:off x="502920" y="4709160"/>
            <a:ext cx="1828800" cy="731520"/>
          </a:xfrm>
          <a:prstGeom prst="rect">
            <a:avLst/>
          </a:prstGeom>
          <a:noFill/>
          <a:ln/>
        </p:spPr>
        <p:txBody>
          <a:bodyPr wrap="square" rtlCol="0" anchor="ctr"/>
          <a:lstStyle/>
          <a:p>
            <a:pPr indent="0" marL="0">
              <a:buNone/>
            </a:pPr>
            <a:r>
              <a:rPr lang="en-US" sz="1400" b="1" dirty="0">
                <a:solidFill>
                  <a:srgbClr val="00C9A7"/>
                </a:solidFill>
                <a:latin typeface="Arial" pitchFamily="34" charset="0"/>
                <a:ea typeface="Arial" pitchFamily="34" charset="-122"/>
                <a:cs typeface="Arial" pitchFamily="34" charset="-120"/>
              </a:rPr>
              <a:t>Platform</a:t>
            </a:r>
            <a:endParaRPr lang="en-US" sz="1400" dirty="0"/>
          </a:p>
          <a:p>
            <a:pPr indent="0" marL="0">
              <a:buNone/>
            </a:pPr>
            <a:r>
              <a:rPr lang="en-US" sz="1400" b="1" dirty="0">
                <a:solidFill>
                  <a:srgbClr val="00C9A7"/>
                </a:solidFill>
                <a:latin typeface="Arial" pitchFamily="34" charset="0"/>
                <a:ea typeface="Arial" pitchFamily="34" charset="-122"/>
                <a:cs typeface="Arial" pitchFamily="34" charset="-120"/>
              </a:rPr>
              <a:t>Accountability</a:t>
            </a:r>
            <a:endParaRPr lang="en-US" sz="1400" dirty="0"/>
          </a:p>
        </p:txBody>
      </p:sp>
      <p:sp>
        <p:nvSpPr>
          <p:cNvPr id="13" name="Text 11"/>
          <p:cNvSpPr/>
          <p:nvPr/>
        </p:nvSpPr>
        <p:spPr>
          <a:xfrm>
            <a:off x="2331720" y="4709160"/>
            <a:ext cx="3429000" cy="1600200"/>
          </a:xfrm>
          <a:prstGeom prst="rect">
            <a:avLst/>
          </a:prstGeom>
          <a:noFill/>
          <a:ln/>
        </p:spPr>
        <p:txBody>
          <a:bodyPr wrap="square" rtlCol="0" anchor="ctr"/>
          <a:lstStyle/>
          <a:p>
            <a:pPr indent="0" marL="0">
              <a:lnSpc>
                <a:spcPct val="130000"/>
              </a:lnSpc>
              <a:buNone/>
            </a:pPr>
            <a:r>
              <a:rPr lang="en-US" sz="1050" dirty="0">
                <a:solidFill>
                  <a:srgbClr val="8B949E"/>
                </a:solidFill>
                <a:latin typeface="Arial" pitchFamily="34" charset="0"/>
                <a:ea typeface="Arial" pitchFamily="34" charset="-122"/>
                <a:cs typeface="Arial" pitchFamily="34" charset="-120"/>
              </a:rPr>
              <a:t>ISSS wrapped tutoring around the daughter 2 weeks ago. Grades haven't improved. AI flags it — is the intervention working? Does she need Perfectly Different screening? Platforms don't just refer. They follow up.</a:t>
            </a:r>
            <a:endParaRPr lang="en-US" sz="1050" dirty="0"/>
          </a:p>
        </p:txBody>
      </p:sp>
      <p:sp>
        <p:nvSpPr>
          <p:cNvPr id="14" name="Shape 12"/>
          <p:cNvSpPr/>
          <p:nvPr/>
        </p:nvSpPr>
        <p:spPr>
          <a:xfrm>
            <a:off x="6126480" y="4617720"/>
            <a:ext cx="5577840" cy="1828800"/>
          </a:xfrm>
          <a:prstGeom prst="roundRect">
            <a:avLst>
              <a:gd name="adj" fmla="val 5000"/>
            </a:avLst>
          </a:prstGeom>
          <a:solidFill>
            <a:srgbClr val="161B22"/>
          </a:solidFill>
          <a:ln w="19050">
            <a:solidFill>
              <a:srgbClr val="0079F2"/>
            </a:solidFill>
            <a:prstDash val="solid"/>
          </a:ln>
        </p:spPr>
      </p:sp>
      <p:sp>
        <p:nvSpPr>
          <p:cNvPr id="15" name="Text 13"/>
          <p:cNvSpPr/>
          <p:nvPr/>
        </p:nvSpPr>
        <p:spPr>
          <a:xfrm>
            <a:off x="6263640" y="4709160"/>
            <a:ext cx="1828800" cy="731520"/>
          </a:xfrm>
          <a:prstGeom prst="rect">
            <a:avLst/>
          </a:prstGeom>
          <a:noFill/>
          <a:ln/>
        </p:spPr>
        <p:txBody>
          <a:bodyPr wrap="square" rtlCol="0" anchor="ctr"/>
          <a:lstStyle/>
          <a:p>
            <a:pPr indent="0" marL="0">
              <a:buNone/>
            </a:pPr>
            <a:r>
              <a:rPr lang="en-US" sz="1400" b="1" dirty="0">
                <a:solidFill>
                  <a:srgbClr val="0079F2"/>
                </a:solidFill>
                <a:latin typeface="Arial" pitchFamily="34" charset="0"/>
                <a:ea typeface="Arial" pitchFamily="34" charset="-122"/>
                <a:cs typeface="Arial" pitchFamily="34" charset="-120"/>
              </a:rPr>
              <a:t>Multi-Engine</a:t>
            </a:r>
            <a:endParaRPr lang="en-US" sz="1400" dirty="0"/>
          </a:p>
          <a:p>
            <a:pPr indent="0" marL="0">
              <a:buNone/>
            </a:pPr>
            <a:r>
              <a:rPr lang="en-US" sz="1400" b="1" dirty="0">
                <a:solidFill>
                  <a:srgbClr val="0079F2"/>
                </a:solidFill>
                <a:latin typeface="Arial" pitchFamily="34" charset="0"/>
                <a:ea typeface="Arial" pitchFamily="34" charset="-122"/>
                <a:cs typeface="Arial" pitchFamily="34" charset="-120"/>
              </a:rPr>
              <a:t>Consensus</a:t>
            </a:r>
            <a:endParaRPr lang="en-US" sz="1400" dirty="0"/>
          </a:p>
        </p:txBody>
      </p:sp>
      <p:sp>
        <p:nvSpPr>
          <p:cNvPr id="16" name="Text 14"/>
          <p:cNvSpPr/>
          <p:nvPr/>
        </p:nvSpPr>
        <p:spPr>
          <a:xfrm>
            <a:off x="8092440" y="4709160"/>
            <a:ext cx="3429000" cy="1600200"/>
          </a:xfrm>
          <a:prstGeom prst="rect">
            <a:avLst/>
          </a:prstGeom>
          <a:noFill/>
          <a:ln/>
        </p:spPr>
        <p:txBody>
          <a:bodyPr wrap="square" rtlCol="0" anchor="ctr"/>
          <a:lstStyle/>
          <a:p>
            <a:pPr indent="0" marL="0">
              <a:lnSpc>
                <a:spcPct val="130000"/>
              </a:lnSpc>
              <a:buNone/>
            </a:pPr>
            <a:r>
              <a:rPr lang="en-US" sz="1050" dirty="0">
                <a:solidFill>
                  <a:srgbClr val="8B949E"/>
                </a:solidFill>
                <a:latin typeface="Arial" pitchFamily="34" charset="0"/>
                <a:ea typeface="Arial" pitchFamily="34" charset="-122"/>
                <a:cs typeface="Arial" pitchFamily="34" charset="-120"/>
              </a:rPr>
              <a:t>4 AI models (GPT-4o, Claude, Gemini, DeepSeek) process critical decisions together — medication safety during pregnancy + chemo, family risk scoring, child support plans. No single model decides alone.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0079F2"/>
                </a:solidFill>
                <a:latin typeface="Arial" pitchFamily="34" charset="0"/>
                <a:ea typeface="Arial" pitchFamily="34" charset="-122"/>
                <a:cs typeface="Arial" pitchFamily="34" charset="-120"/>
              </a:rPr>
              <a:t>Business Model</a:t>
            </a:r>
            <a:endParaRPr lang="en-US" sz="1300" dirty="0"/>
          </a:p>
        </p:txBody>
      </p:sp>
      <p:sp>
        <p:nvSpPr>
          <p:cNvPr id="3" name="Text 1"/>
          <p:cNvSpPr/>
          <p:nvPr/>
        </p:nvSpPr>
        <p:spPr>
          <a:xfrm>
            <a:off x="731520" y="777240"/>
            <a:ext cx="10698480" cy="1051560"/>
          </a:xfrm>
          <a:prstGeom prst="rect">
            <a:avLst/>
          </a:prstGeom>
          <a:noFill/>
          <a:ln/>
        </p:spPr>
        <p:txBody>
          <a:bodyPr wrap="square" rtlCol="0" anchor="ctr"/>
          <a:lstStyle/>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Communities Enter Where Their Gap Is.</a:t>
            </a:r>
            <a:endParaRPr lang="en-US" sz="3300" dirty="0"/>
          </a:p>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The Ecosystem Grows With Them.</a:t>
            </a:r>
            <a:endParaRPr lang="en-US" sz="3300" dirty="0"/>
          </a:p>
        </p:txBody>
      </p:sp>
      <p:sp>
        <p:nvSpPr>
          <p:cNvPr id="4" name="Text 2"/>
          <p:cNvSpPr/>
          <p:nvPr/>
        </p:nvSpPr>
        <p:spPr>
          <a:xfrm>
            <a:off x="731520" y="1874520"/>
            <a:ext cx="10515600" cy="640080"/>
          </a:xfrm>
          <a:prstGeom prst="rect">
            <a:avLst/>
          </a:prstGeom>
          <a:noFill/>
          <a:ln/>
        </p:spPr>
        <p:txBody>
          <a:bodyPr wrap="square" rtlCol="0" anchor="ctr"/>
          <a:lstStyle/>
          <a:p>
            <a:pPr indent="0" marL="0">
              <a:lnSpc>
                <a:spcPct val="135000"/>
              </a:lnSpc>
              <a:buNone/>
            </a:pPr>
            <a:r>
              <a:rPr lang="en-US" sz="1300" dirty="0">
                <a:solidFill>
                  <a:srgbClr val="8B949E"/>
                </a:solidFill>
                <a:latin typeface="Arial" pitchFamily="34" charset="0"/>
                <a:ea typeface="Arial" pitchFamily="34" charset="-122"/>
                <a:cs typeface="Arial" pitchFamily="34" charset="-120"/>
              </a:rPr>
              <a:t>A school district starts with Education + ISSS. A reentry program starts with LifeBridge + Workforce. A health center starts with Maternal Health + Cancer Navigation. Then they see what's connected — and they expand. Every expansion is recurring revenue.</a:t>
            </a:r>
            <a:endParaRPr lang="en-US" sz="1300" dirty="0"/>
          </a:p>
        </p:txBody>
      </p:sp>
      <p:sp>
        <p:nvSpPr>
          <p:cNvPr id="5" name="Shape 3"/>
          <p:cNvSpPr/>
          <p:nvPr/>
        </p:nvSpPr>
        <p:spPr>
          <a:xfrm>
            <a:off x="640080" y="2743200"/>
            <a:ext cx="3520440" cy="3291840"/>
          </a:xfrm>
          <a:prstGeom prst="roundRect">
            <a:avLst>
              <a:gd name="adj" fmla="val 3333"/>
            </a:avLst>
          </a:prstGeom>
          <a:solidFill>
            <a:srgbClr val="161B22"/>
          </a:solidFill>
          <a:ln w="25400">
            <a:solidFill>
              <a:srgbClr val="0079F2"/>
            </a:solidFill>
            <a:prstDash val="solid"/>
          </a:ln>
        </p:spPr>
      </p:sp>
      <p:sp>
        <p:nvSpPr>
          <p:cNvPr id="6" name="Text 4"/>
          <p:cNvSpPr/>
          <p:nvPr/>
        </p:nvSpPr>
        <p:spPr>
          <a:xfrm>
            <a:off x="640080" y="2788920"/>
            <a:ext cx="3520440" cy="411480"/>
          </a:xfrm>
          <a:prstGeom prst="rect">
            <a:avLst/>
          </a:prstGeom>
          <a:noFill/>
          <a:ln/>
        </p:spPr>
        <p:txBody>
          <a:bodyPr wrap="square" rtlCol="0" anchor="ctr"/>
          <a:lstStyle/>
          <a:p>
            <a:pPr algn="ctr" indent="0" marL="0">
              <a:buNone/>
            </a:pPr>
            <a:r>
              <a:rPr lang="en-US" sz="1800" b="1" dirty="0">
                <a:solidFill>
                  <a:srgbClr val="0079F2"/>
                </a:solidFill>
                <a:latin typeface="Arial" pitchFamily="34" charset="0"/>
                <a:ea typeface="Arial" pitchFamily="34" charset="-122"/>
                <a:cs typeface="Arial" pitchFamily="34" charset="-120"/>
              </a:rPr>
              <a:t>Entry Point</a:t>
            </a:r>
            <a:endParaRPr lang="en-US" sz="1800" dirty="0"/>
          </a:p>
        </p:txBody>
      </p:sp>
      <p:sp>
        <p:nvSpPr>
          <p:cNvPr id="7" name="Text 5"/>
          <p:cNvSpPr/>
          <p:nvPr/>
        </p:nvSpPr>
        <p:spPr>
          <a:xfrm>
            <a:off x="640080" y="3154680"/>
            <a:ext cx="3520440" cy="274320"/>
          </a:xfrm>
          <a:prstGeom prst="rect">
            <a:avLst/>
          </a:prstGeom>
          <a:noFill/>
          <a:ln/>
        </p:spPr>
        <p:txBody>
          <a:bodyPr wrap="square" rtlCol="0" anchor="ctr"/>
          <a:lstStyle/>
          <a:p>
            <a:pPr algn="ctr" indent="0" marL="0">
              <a:buNone/>
            </a:pPr>
            <a:r>
              <a:rPr lang="en-US" sz="1200" dirty="0">
                <a:solidFill>
                  <a:srgbClr val="FFFFFF"/>
                </a:solidFill>
                <a:latin typeface="Arial" pitchFamily="34" charset="0"/>
                <a:ea typeface="Arial" pitchFamily="34" charset="-122"/>
                <a:cs typeface="Arial" pitchFamily="34" charset="-120"/>
              </a:rPr>
              <a:t>1-3 Platforms</a:t>
            </a:r>
            <a:endParaRPr lang="en-US" sz="1200" dirty="0"/>
          </a:p>
        </p:txBody>
      </p:sp>
      <p:sp>
        <p:nvSpPr>
          <p:cNvPr id="8" name="Shape 6"/>
          <p:cNvSpPr/>
          <p:nvPr/>
        </p:nvSpPr>
        <p:spPr>
          <a:xfrm>
            <a:off x="960120" y="3474720"/>
            <a:ext cx="2880360" cy="18288"/>
          </a:xfrm>
          <a:prstGeom prst="rect">
            <a:avLst/>
          </a:prstGeom>
          <a:solidFill>
            <a:srgbClr val="0079F2"/>
          </a:solidFill>
          <a:ln/>
        </p:spPr>
      </p:sp>
      <p:sp>
        <p:nvSpPr>
          <p:cNvPr id="9" name="Text 7"/>
          <p:cNvSpPr/>
          <p:nvPr/>
        </p:nvSpPr>
        <p:spPr>
          <a:xfrm>
            <a:off x="822960" y="3566160"/>
            <a:ext cx="3154680" cy="640080"/>
          </a:xfrm>
          <a:prstGeom prst="rect">
            <a:avLst/>
          </a:prstGeom>
          <a:noFill/>
          <a:ln/>
        </p:spPr>
        <p:txBody>
          <a:bodyPr wrap="square" rtlCol="0" anchor="ctr"/>
          <a:lstStyle/>
          <a:p>
            <a:pPr algn="ctr" indent="0" marL="0">
              <a:lnSpc>
                <a:spcPct val="125000"/>
              </a:lnSpc>
              <a:buNone/>
            </a:pPr>
            <a:r>
              <a:rPr lang="en-US" sz="1100" dirty="0">
                <a:solidFill>
                  <a:srgbClr val="8B949E"/>
                </a:solidFill>
                <a:latin typeface="Arial" pitchFamily="34" charset="0"/>
                <a:ea typeface="Arial" pitchFamily="34" charset="-122"/>
                <a:cs typeface="Arial" pitchFamily="34" charset="-120"/>
              </a:rPr>
              <a:t>Start where the gap is greatest.</a:t>
            </a:r>
            <a:endParaRPr lang="en-US" sz="1100" dirty="0"/>
          </a:p>
          <a:p>
            <a:pPr algn="ctr" indent="0" marL="0">
              <a:lnSpc>
                <a:spcPct val="125000"/>
              </a:lnSpc>
              <a:buNone/>
            </a:pPr>
            <a:r>
              <a:rPr lang="en-US" sz="1100" dirty="0">
                <a:solidFill>
                  <a:srgbClr val="8B949E"/>
                </a:solidFill>
                <a:latin typeface="Arial" pitchFamily="34" charset="0"/>
                <a:ea typeface="Arial" pitchFamily="34" charset="-122"/>
                <a:cs typeface="Arial" pitchFamily="34" charset="-120"/>
              </a:rPr>
              <a:t>Prove value. Build trust.</a:t>
            </a:r>
            <a:endParaRPr lang="en-US" sz="1100" dirty="0"/>
          </a:p>
        </p:txBody>
      </p:sp>
      <p:sp>
        <p:nvSpPr>
          <p:cNvPr id="10" name="Text 8"/>
          <p:cNvSpPr/>
          <p:nvPr/>
        </p:nvSpPr>
        <p:spPr>
          <a:xfrm>
            <a:off x="777240" y="4297680"/>
            <a:ext cx="3246120" cy="1463040"/>
          </a:xfrm>
          <a:prstGeom prst="rect">
            <a:avLst/>
          </a:prstGeom>
          <a:noFill/>
          <a:ln/>
        </p:spPr>
        <p:txBody>
          <a:bodyPr wrap="square" rtlCol="0" anchor="ctr"/>
          <a:lstStyle/>
          <a:p>
            <a:pPr indent="0" marL="0">
              <a:lnSpc>
                <a:spcPct val="130000"/>
              </a:lnSpc>
              <a:buNone/>
            </a:pPr>
            <a:r>
              <a:rPr lang="en-US" sz="1000" i="1" dirty="0">
                <a:solidFill>
                  <a:srgbClr val="8B949E"/>
                </a:solidFill>
                <a:latin typeface="Arial" pitchFamily="34" charset="0"/>
                <a:ea typeface="Arial" pitchFamily="34" charset="-122"/>
                <a:cs typeface="Arial" pitchFamily="34" charset="-120"/>
              </a:rPr>
              <a:t>School district: Academy + ISSS + BH</a:t>
            </a:r>
            <a:endParaRPr lang="en-US" sz="1000" dirty="0"/>
          </a:p>
          <a:p>
            <a:pPr indent="0" marL="0">
              <a:lnSpc>
                <a:spcPct val="130000"/>
              </a:lnSpc>
              <a:buNone/>
            </a:pPr>
            <a:r>
              <a:rPr lang="en-US" sz="1000" i="1" dirty="0">
                <a:solidFill>
                  <a:srgbClr val="8B949E"/>
                </a:solidFill>
                <a:latin typeface="Arial" pitchFamily="34" charset="0"/>
                <a:ea typeface="Arial" pitchFamily="34" charset="-122"/>
                <a:cs typeface="Arial" pitchFamily="34" charset="-120"/>
              </a:rPr>
              <a:t>Reentry org: LifeBridge + Workforce</a:t>
            </a:r>
            <a:endParaRPr lang="en-US" sz="1000" dirty="0"/>
          </a:p>
          <a:p>
            <a:pPr indent="0" marL="0">
              <a:lnSpc>
                <a:spcPct val="130000"/>
              </a:lnSpc>
              <a:buNone/>
            </a:pPr>
            <a:r>
              <a:rPr lang="en-US" sz="1000" i="1" dirty="0">
                <a:solidFill>
                  <a:srgbClr val="8B949E"/>
                </a:solidFill>
                <a:latin typeface="Arial" pitchFamily="34" charset="0"/>
                <a:ea typeface="Arial" pitchFamily="34" charset="-122"/>
                <a:cs typeface="Arial" pitchFamily="34" charset="-120"/>
              </a:rPr>
              <a:t>Health center: Maternal + Sankofa</a:t>
            </a:r>
            <a:endParaRPr lang="en-US" sz="1000" dirty="0"/>
          </a:p>
        </p:txBody>
      </p:sp>
      <p:sp>
        <p:nvSpPr>
          <p:cNvPr id="11" name="Shape 9"/>
          <p:cNvSpPr/>
          <p:nvPr/>
        </p:nvSpPr>
        <p:spPr>
          <a:xfrm>
            <a:off x="4389120" y="2743200"/>
            <a:ext cx="3520440" cy="3291840"/>
          </a:xfrm>
          <a:prstGeom prst="roundRect">
            <a:avLst>
              <a:gd name="adj" fmla="val 3333"/>
            </a:avLst>
          </a:prstGeom>
          <a:solidFill>
            <a:srgbClr val="161B22"/>
          </a:solidFill>
          <a:ln w="25400">
            <a:solidFill>
              <a:srgbClr val="00C9A7"/>
            </a:solidFill>
            <a:prstDash val="solid"/>
          </a:ln>
        </p:spPr>
      </p:sp>
      <p:sp>
        <p:nvSpPr>
          <p:cNvPr id="12" name="Text 10"/>
          <p:cNvSpPr/>
          <p:nvPr/>
        </p:nvSpPr>
        <p:spPr>
          <a:xfrm>
            <a:off x="4389120" y="2788920"/>
            <a:ext cx="3520440" cy="411480"/>
          </a:xfrm>
          <a:prstGeom prst="rect">
            <a:avLst/>
          </a:prstGeom>
          <a:noFill/>
          <a:ln/>
        </p:spPr>
        <p:txBody>
          <a:bodyPr wrap="square" rtlCol="0" anchor="ctr"/>
          <a:lstStyle/>
          <a:p>
            <a:pPr algn="ctr" indent="0" marL="0">
              <a:buNone/>
            </a:pPr>
            <a:r>
              <a:rPr lang="en-US" sz="1800" b="1" dirty="0">
                <a:solidFill>
                  <a:srgbClr val="00C9A7"/>
                </a:solidFill>
                <a:latin typeface="Arial" pitchFamily="34" charset="0"/>
                <a:ea typeface="Arial" pitchFamily="34" charset="-122"/>
                <a:cs typeface="Arial" pitchFamily="34" charset="-120"/>
              </a:rPr>
              <a:t>Expansion</a:t>
            </a:r>
            <a:endParaRPr lang="en-US" sz="1800" dirty="0"/>
          </a:p>
        </p:txBody>
      </p:sp>
      <p:sp>
        <p:nvSpPr>
          <p:cNvPr id="13" name="Text 11"/>
          <p:cNvSpPr/>
          <p:nvPr/>
        </p:nvSpPr>
        <p:spPr>
          <a:xfrm>
            <a:off x="4389120" y="3154680"/>
            <a:ext cx="3520440" cy="274320"/>
          </a:xfrm>
          <a:prstGeom prst="rect">
            <a:avLst/>
          </a:prstGeom>
          <a:noFill/>
          <a:ln/>
        </p:spPr>
        <p:txBody>
          <a:bodyPr wrap="square" rtlCol="0" anchor="ctr"/>
          <a:lstStyle/>
          <a:p>
            <a:pPr algn="ctr" indent="0" marL="0">
              <a:buNone/>
            </a:pPr>
            <a:r>
              <a:rPr lang="en-US" sz="1200" dirty="0">
                <a:solidFill>
                  <a:srgbClr val="FFFFFF"/>
                </a:solidFill>
                <a:latin typeface="Arial" pitchFamily="34" charset="0"/>
                <a:ea typeface="Arial" pitchFamily="34" charset="-122"/>
                <a:cs typeface="Arial" pitchFamily="34" charset="-120"/>
              </a:rPr>
              <a:t>5-10 Platforms</a:t>
            </a:r>
            <a:endParaRPr lang="en-US" sz="1200" dirty="0"/>
          </a:p>
        </p:txBody>
      </p:sp>
      <p:sp>
        <p:nvSpPr>
          <p:cNvPr id="14" name="Shape 12"/>
          <p:cNvSpPr/>
          <p:nvPr/>
        </p:nvSpPr>
        <p:spPr>
          <a:xfrm>
            <a:off x="4709160" y="3474720"/>
            <a:ext cx="2880360" cy="18288"/>
          </a:xfrm>
          <a:prstGeom prst="rect">
            <a:avLst/>
          </a:prstGeom>
          <a:solidFill>
            <a:srgbClr val="00C9A7"/>
          </a:solidFill>
          <a:ln/>
        </p:spPr>
      </p:sp>
      <p:sp>
        <p:nvSpPr>
          <p:cNvPr id="15" name="Text 13"/>
          <p:cNvSpPr/>
          <p:nvPr/>
        </p:nvSpPr>
        <p:spPr>
          <a:xfrm>
            <a:off x="4572000" y="3566160"/>
            <a:ext cx="3154680" cy="640080"/>
          </a:xfrm>
          <a:prstGeom prst="rect">
            <a:avLst/>
          </a:prstGeom>
          <a:noFill/>
          <a:ln/>
        </p:spPr>
        <p:txBody>
          <a:bodyPr wrap="square" rtlCol="0" anchor="ctr"/>
          <a:lstStyle/>
          <a:p>
            <a:pPr algn="ctr" indent="0" marL="0">
              <a:lnSpc>
                <a:spcPct val="125000"/>
              </a:lnSpc>
              <a:buNone/>
            </a:pPr>
            <a:r>
              <a:rPr lang="en-US" sz="1100" dirty="0">
                <a:solidFill>
                  <a:srgbClr val="8B949E"/>
                </a:solidFill>
                <a:latin typeface="Arial" pitchFamily="34" charset="0"/>
                <a:ea typeface="Arial" pitchFamily="34" charset="-122"/>
                <a:cs typeface="Arial" pitchFamily="34" charset="-120"/>
              </a:rPr>
              <a:t>Community sees connections.</a:t>
            </a:r>
            <a:endParaRPr lang="en-US" sz="1100" dirty="0"/>
          </a:p>
          <a:p>
            <a:pPr algn="ctr" indent="0" marL="0">
              <a:lnSpc>
                <a:spcPct val="125000"/>
              </a:lnSpc>
              <a:buNone/>
            </a:pPr>
            <a:r>
              <a:rPr lang="en-US" sz="1100" dirty="0">
                <a:solidFill>
                  <a:srgbClr val="8B949E"/>
                </a:solidFill>
                <a:latin typeface="Arial" pitchFamily="34" charset="0"/>
                <a:ea typeface="Arial" pitchFamily="34" charset="-122"/>
                <a:cs typeface="Arial" pitchFamily="34" charset="-120"/>
              </a:rPr>
              <a:t>Adds domains organically.</a:t>
            </a:r>
            <a:endParaRPr lang="en-US" sz="1100" dirty="0"/>
          </a:p>
        </p:txBody>
      </p:sp>
      <p:sp>
        <p:nvSpPr>
          <p:cNvPr id="16" name="Text 14"/>
          <p:cNvSpPr/>
          <p:nvPr/>
        </p:nvSpPr>
        <p:spPr>
          <a:xfrm>
            <a:off x="4526280" y="4297680"/>
            <a:ext cx="3246120" cy="1463040"/>
          </a:xfrm>
          <a:prstGeom prst="rect">
            <a:avLst/>
          </a:prstGeom>
          <a:noFill/>
          <a:ln/>
        </p:spPr>
        <p:txBody>
          <a:bodyPr wrap="square" rtlCol="0" anchor="ctr"/>
          <a:lstStyle/>
          <a:p>
            <a:pPr indent="0" marL="0">
              <a:lnSpc>
                <a:spcPct val="130000"/>
              </a:lnSpc>
              <a:buNone/>
            </a:pPr>
            <a:r>
              <a:rPr lang="en-US" sz="1000" i="1" dirty="0">
                <a:solidFill>
                  <a:srgbClr val="8B949E"/>
                </a:solidFill>
                <a:latin typeface="Arial" pitchFamily="34" charset="0"/>
                <a:ea typeface="Arial" pitchFamily="34" charset="-122"/>
                <a:cs typeface="Arial" pitchFamily="34" charset="-120"/>
              </a:rPr>
              <a:t>School adds SafeReport + Workforce</a:t>
            </a:r>
            <a:endParaRPr lang="en-US" sz="1000" dirty="0"/>
          </a:p>
          <a:p>
            <a:pPr indent="0" marL="0">
              <a:lnSpc>
                <a:spcPct val="130000"/>
              </a:lnSpc>
              <a:buNone/>
            </a:pPr>
            <a:r>
              <a:rPr lang="en-US" sz="1000" i="1" dirty="0">
                <a:solidFill>
                  <a:srgbClr val="8B949E"/>
                </a:solidFill>
                <a:latin typeface="Arial" pitchFamily="34" charset="0"/>
                <a:ea typeface="Arial" pitchFamily="34" charset="-122"/>
                <a:cs typeface="Arial" pitchFamily="34" charset="-120"/>
              </a:rPr>
              <a:t>Reentry adds Health + Education</a:t>
            </a:r>
            <a:endParaRPr lang="en-US" sz="1000" dirty="0"/>
          </a:p>
          <a:p>
            <a:pPr indent="0" marL="0">
              <a:lnSpc>
                <a:spcPct val="130000"/>
              </a:lnSpc>
              <a:buNone/>
            </a:pPr>
            <a:r>
              <a:rPr lang="en-US" sz="1000" i="1" dirty="0">
                <a:solidFill>
                  <a:srgbClr val="8B949E"/>
                </a:solidFill>
                <a:latin typeface="Arial" pitchFamily="34" charset="0"/>
                <a:ea typeface="Arial" pitchFamily="34" charset="-122"/>
                <a:cs typeface="Arial" pitchFamily="34" charset="-120"/>
              </a:rPr>
              <a:t>Health adds Workforce + BH + Community</a:t>
            </a:r>
            <a:endParaRPr lang="en-US" sz="1000" dirty="0"/>
          </a:p>
        </p:txBody>
      </p:sp>
      <p:sp>
        <p:nvSpPr>
          <p:cNvPr id="17" name="Shape 15"/>
          <p:cNvSpPr/>
          <p:nvPr/>
        </p:nvSpPr>
        <p:spPr>
          <a:xfrm>
            <a:off x="8138160" y="2743200"/>
            <a:ext cx="3520440" cy="3291840"/>
          </a:xfrm>
          <a:prstGeom prst="roundRect">
            <a:avLst>
              <a:gd name="adj" fmla="val 3333"/>
            </a:avLst>
          </a:prstGeom>
          <a:solidFill>
            <a:srgbClr val="161B22"/>
          </a:solidFill>
          <a:ln w="25400">
            <a:solidFill>
              <a:srgbClr val="F0B429"/>
            </a:solidFill>
            <a:prstDash val="solid"/>
          </a:ln>
        </p:spPr>
      </p:sp>
      <p:sp>
        <p:nvSpPr>
          <p:cNvPr id="18" name="Text 16"/>
          <p:cNvSpPr/>
          <p:nvPr/>
        </p:nvSpPr>
        <p:spPr>
          <a:xfrm>
            <a:off x="8138160" y="2788920"/>
            <a:ext cx="3520440" cy="411480"/>
          </a:xfrm>
          <a:prstGeom prst="rect">
            <a:avLst/>
          </a:prstGeom>
          <a:noFill/>
          <a:ln/>
        </p:spPr>
        <p:txBody>
          <a:bodyPr wrap="square" rtlCol="0" anchor="ctr"/>
          <a:lstStyle/>
          <a:p>
            <a:pPr algn="ctr" indent="0" marL="0">
              <a:buNone/>
            </a:pPr>
            <a:r>
              <a:rPr lang="en-US" sz="1800" b="1" dirty="0">
                <a:solidFill>
                  <a:srgbClr val="F0B429"/>
                </a:solidFill>
                <a:latin typeface="Arial" pitchFamily="34" charset="0"/>
                <a:ea typeface="Arial" pitchFamily="34" charset="-122"/>
                <a:cs typeface="Arial" pitchFamily="34" charset="-120"/>
              </a:rPr>
              <a:t>Full Ecosystem</a:t>
            </a:r>
            <a:endParaRPr lang="en-US" sz="1800" dirty="0"/>
          </a:p>
        </p:txBody>
      </p:sp>
      <p:sp>
        <p:nvSpPr>
          <p:cNvPr id="19" name="Text 17"/>
          <p:cNvSpPr/>
          <p:nvPr/>
        </p:nvSpPr>
        <p:spPr>
          <a:xfrm>
            <a:off x="8138160" y="3154680"/>
            <a:ext cx="3520440" cy="274320"/>
          </a:xfrm>
          <a:prstGeom prst="rect">
            <a:avLst/>
          </a:prstGeom>
          <a:noFill/>
          <a:ln/>
        </p:spPr>
        <p:txBody>
          <a:bodyPr wrap="square" rtlCol="0" anchor="ctr"/>
          <a:lstStyle/>
          <a:p>
            <a:pPr algn="ctr" indent="0" marL="0">
              <a:buNone/>
            </a:pPr>
            <a:r>
              <a:rPr lang="en-US" sz="1200" dirty="0">
                <a:solidFill>
                  <a:srgbClr val="FFFFFF"/>
                </a:solidFill>
                <a:latin typeface="Arial" pitchFamily="34" charset="0"/>
                <a:ea typeface="Arial" pitchFamily="34" charset="-122"/>
                <a:cs typeface="Arial" pitchFamily="34" charset="-120"/>
              </a:rPr>
              <a:t>All 24 Platforms</a:t>
            </a:r>
            <a:endParaRPr lang="en-US" sz="1200" dirty="0"/>
          </a:p>
        </p:txBody>
      </p:sp>
      <p:sp>
        <p:nvSpPr>
          <p:cNvPr id="20" name="Shape 18"/>
          <p:cNvSpPr/>
          <p:nvPr/>
        </p:nvSpPr>
        <p:spPr>
          <a:xfrm>
            <a:off x="8458200" y="3474720"/>
            <a:ext cx="2880360" cy="18288"/>
          </a:xfrm>
          <a:prstGeom prst="rect">
            <a:avLst/>
          </a:prstGeom>
          <a:solidFill>
            <a:srgbClr val="F0B429"/>
          </a:solidFill>
          <a:ln/>
        </p:spPr>
      </p:sp>
      <p:sp>
        <p:nvSpPr>
          <p:cNvPr id="21" name="Text 19"/>
          <p:cNvSpPr/>
          <p:nvPr/>
        </p:nvSpPr>
        <p:spPr>
          <a:xfrm>
            <a:off x="8321040" y="3566160"/>
            <a:ext cx="3154680" cy="640080"/>
          </a:xfrm>
          <a:prstGeom prst="rect">
            <a:avLst/>
          </a:prstGeom>
          <a:noFill/>
          <a:ln/>
        </p:spPr>
        <p:txBody>
          <a:bodyPr wrap="square" rtlCol="0" anchor="ctr"/>
          <a:lstStyle/>
          <a:p>
            <a:pPr algn="ctr" indent="0" marL="0">
              <a:lnSpc>
                <a:spcPct val="125000"/>
              </a:lnSpc>
              <a:buNone/>
            </a:pPr>
            <a:r>
              <a:rPr lang="en-US" sz="1100" dirty="0">
                <a:solidFill>
                  <a:srgbClr val="8B949E"/>
                </a:solidFill>
                <a:latin typeface="Arial" pitchFamily="34" charset="0"/>
                <a:ea typeface="Arial" pitchFamily="34" charset="-122"/>
                <a:cs typeface="Arial" pitchFamily="34" charset="-120"/>
              </a:rPr>
              <a:t>Complete community OS.</a:t>
            </a:r>
            <a:endParaRPr lang="en-US" sz="1100" dirty="0"/>
          </a:p>
          <a:p>
            <a:pPr algn="ctr" indent="0" marL="0">
              <a:lnSpc>
                <a:spcPct val="125000"/>
              </a:lnSpc>
              <a:buNone/>
            </a:pPr>
            <a:r>
              <a:rPr lang="en-US" sz="1100" dirty="0">
                <a:solidFill>
                  <a:srgbClr val="8B949E"/>
                </a:solidFill>
                <a:latin typeface="Arial" pitchFamily="34" charset="0"/>
                <a:ea typeface="Arial" pitchFamily="34" charset="-122"/>
                <a:cs typeface="Arial" pitchFamily="34" charset="-120"/>
              </a:rPr>
              <a:t>Every person, every need.</a:t>
            </a:r>
            <a:endParaRPr lang="en-US" sz="1100" dirty="0"/>
          </a:p>
        </p:txBody>
      </p:sp>
      <p:sp>
        <p:nvSpPr>
          <p:cNvPr id="22" name="Text 20"/>
          <p:cNvSpPr/>
          <p:nvPr/>
        </p:nvSpPr>
        <p:spPr>
          <a:xfrm>
            <a:off x="8275320" y="4297680"/>
            <a:ext cx="3246120" cy="1463040"/>
          </a:xfrm>
          <a:prstGeom prst="rect">
            <a:avLst/>
          </a:prstGeom>
          <a:noFill/>
          <a:ln/>
        </p:spPr>
        <p:txBody>
          <a:bodyPr wrap="square" rtlCol="0" anchor="ctr"/>
          <a:lstStyle/>
          <a:p>
            <a:pPr indent="0" marL="0">
              <a:lnSpc>
                <a:spcPct val="130000"/>
              </a:lnSpc>
              <a:buNone/>
            </a:pPr>
            <a:r>
              <a:rPr lang="en-US" sz="1000" i="1" dirty="0">
                <a:solidFill>
                  <a:srgbClr val="8B949E"/>
                </a:solidFill>
                <a:latin typeface="Arial" pitchFamily="34" charset="0"/>
                <a:ea typeface="Arial" pitchFamily="34" charset="-122"/>
                <a:cs typeface="Arial" pitchFamily="34" charset="-120"/>
              </a:rPr>
              <a:t>Community agency deploys everything.</a:t>
            </a:r>
            <a:endParaRPr lang="en-US" sz="1000" dirty="0"/>
          </a:p>
          <a:p>
            <a:pPr indent="0" marL="0">
              <a:lnSpc>
                <a:spcPct val="130000"/>
              </a:lnSpc>
              <a:buNone/>
            </a:pPr>
            <a:r>
              <a:rPr lang="en-US" sz="1000" i="1" dirty="0">
                <a:solidFill>
                  <a:srgbClr val="8B949E"/>
                </a:solidFill>
                <a:latin typeface="Arial" pitchFamily="34" charset="0"/>
                <a:ea typeface="Arial" pitchFamily="34" charset="-122"/>
                <a:cs typeface="Arial" pitchFamily="34" charset="-120"/>
              </a:rPr>
              <a:t>One family like Keisha's — one record.</a:t>
            </a:r>
            <a:endParaRPr lang="en-US" sz="1000" dirty="0"/>
          </a:p>
          <a:p>
            <a:pPr indent="0" marL="0">
              <a:lnSpc>
                <a:spcPct val="130000"/>
              </a:lnSpc>
              <a:buNone/>
            </a:pPr>
            <a:r>
              <a:rPr lang="en-US" sz="1000" i="1" dirty="0">
                <a:solidFill>
                  <a:srgbClr val="8B949E"/>
                </a:solidFill>
                <a:latin typeface="Arial" pitchFamily="34" charset="0"/>
                <a:ea typeface="Arial" pitchFamily="34" charset="-122"/>
                <a:cs typeface="Arial" pitchFamily="34" charset="-120"/>
              </a:rPr>
              <a:t>Maximum impact. Maximum revenue.</a:t>
            </a:r>
            <a:endParaRPr lang="en-US" sz="1000" dirty="0"/>
          </a:p>
        </p:txBody>
      </p:sp>
      <p:sp>
        <p:nvSpPr>
          <p:cNvPr id="23" name="Text 21"/>
          <p:cNvSpPr/>
          <p:nvPr/>
        </p:nvSpPr>
        <p:spPr>
          <a:xfrm>
            <a:off x="731520" y="6217920"/>
            <a:ext cx="10698480" cy="320040"/>
          </a:xfrm>
          <a:prstGeom prst="rect">
            <a:avLst/>
          </a:prstGeom>
          <a:noFill/>
          <a:ln/>
        </p:spPr>
        <p:txBody>
          <a:bodyPr wrap="square" rtlCol="0" anchor="ctr"/>
          <a:lstStyle/>
          <a:p>
            <a:pPr algn="ctr" indent="0" marL="0">
              <a:buNone/>
            </a:pPr>
            <a:r>
              <a:rPr lang="en-US" sz="1100" dirty="0">
                <a:solidFill>
                  <a:srgbClr val="0079F2"/>
                </a:solidFill>
                <a:latin typeface="Arial" pitchFamily="34" charset="0"/>
                <a:ea typeface="Arial" pitchFamily="34" charset="-122"/>
                <a:cs typeface="Arial" pitchFamily="34" charset="-120"/>
              </a:rPr>
              <a:t>Revenue: SaaS licensing (monthly/annual recurring)  •  Aligned to federal funding: WIOA • ESSA • SAMHSA • HRSA • DOL • DOJ • HHS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00C9A7"/>
                </a:solidFill>
                <a:latin typeface="Arial" pitchFamily="34" charset="0"/>
                <a:ea typeface="Arial" pitchFamily="34" charset="-122"/>
                <a:cs typeface="Arial" pitchFamily="34" charset="-120"/>
              </a:rPr>
              <a:t>Market &amp; Traction</a:t>
            </a:r>
            <a:endParaRPr lang="en-US" sz="1300" dirty="0"/>
          </a:p>
        </p:txBody>
      </p:sp>
      <p:sp>
        <p:nvSpPr>
          <p:cNvPr id="3" name="Text 1"/>
          <p:cNvSpPr/>
          <p:nvPr/>
        </p:nvSpPr>
        <p:spPr>
          <a:xfrm>
            <a:off x="731520" y="777240"/>
            <a:ext cx="10698480" cy="1051560"/>
          </a:xfrm>
          <a:prstGeom prst="rect">
            <a:avLst/>
          </a:prstGeom>
          <a:noFill/>
          <a:ln/>
        </p:spPr>
        <p:txBody>
          <a:bodyPr wrap="square" rtlCol="0" anchor="ctr"/>
          <a:lstStyle/>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Every Underserved Community</a:t>
            </a:r>
            <a:endParaRPr lang="en-US" sz="3300" dirty="0"/>
          </a:p>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is a Customer. We're Already Live.</a:t>
            </a:r>
            <a:endParaRPr lang="en-US" sz="3300" dirty="0"/>
          </a:p>
        </p:txBody>
      </p:sp>
      <p:sp>
        <p:nvSpPr>
          <p:cNvPr id="4" name="Text 2"/>
          <p:cNvSpPr/>
          <p:nvPr/>
        </p:nvSpPr>
        <p:spPr>
          <a:xfrm>
            <a:off x="457200" y="1920240"/>
            <a:ext cx="4572000" cy="320040"/>
          </a:xfrm>
          <a:prstGeom prst="rect">
            <a:avLst/>
          </a:prstGeom>
          <a:noFill/>
          <a:ln/>
        </p:spPr>
        <p:txBody>
          <a:bodyPr wrap="square" rtlCol="0" anchor="ctr"/>
          <a:lstStyle/>
          <a:p>
            <a:pPr indent="0" marL="0">
              <a:buNone/>
            </a:pPr>
            <a:r>
              <a:rPr lang="en-US" sz="1200" b="1" dirty="0">
                <a:solidFill>
                  <a:srgbClr val="00C9A7"/>
                </a:solidFill>
                <a:latin typeface="Arial" pitchFamily="34" charset="0"/>
                <a:ea typeface="Arial" pitchFamily="34" charset="-122"/>
                <a:cs typeface="Arial" pitchFamily="34" charset="-120"/>
              </a:rPr>
              <a:t>TOTAL ADDRESSABLE MARKET</a:t>
            </a:r>
            <a:endParaRPr lang="en-US" sz="1200" dirty="0"/>
          </a:p>
        </p:txBody>
      </p:sp>
      <p:sp>
        <p:nvSpPr>
          <p:cNvPr id="5" name="Text 3"/>
          <p:cNvSpPr/>
          <p:nvPr/>
        </p:nvSpPr>
        <p:spPr>
          <a:xfrm>
            <a:off x="457200" y="2331720"/>
            <a:ext cx="1463040" cy="457200"/>
          </a:xfrm>
          <a:prstGeom prst="rect">
            <a:avLst/>
          </a:prstGeom>
          <a:noFill/>
          <a:ln/>
        </p:spPr>
        <p:txBody>
          <a:bodyPr wrap="square" rtlCol="0" anchor="ctr"/>
          <a:lstStyle/>
          <a:p>
            <a:pPr algn="r" indent="0" marL="0">
              <a:buNone/>
            </a:pPr>
            <a:r>
              <a:rPr lang="en-US" sz="1900" b="1" dirty="0">
                <a:solidFill>
                  <a:srgbClr val="0079F2"/>
                </a:solidFill>
                <a:latin typeface="Arial" pitchFamily="34" charset="0"/>
                <a:ea typeface="Arial" pitchFamily="34" charset="-122"/>
                <a:cs typeface="Arial" pitchFamily="34" charset="-120"/>
              </a:rPr>
              <a:t>40,000+</a:t>
            </a:r>
            <a:endParaRPr lang="en-US" sz="1900" dirty="0"/>
          </a:p>
        </p:txBody>
      </p:sp>
      <p:sp>
        <p:nvSpPr>
          <p:cNvPr id="6" name="Text 4"/>
          <p:cNvSpPr/>
          <p:nvPr/>
        </p:nvSpPr>
        <p:spPr>
          <a:xfrm>
            <a:off x="2011680" y="2331720"/>
            <a:ext cx="3474720" cy="457200"/>
          </a:xfrm>
          <a:prstGeom prst="rect">
            <a:avLst/>
          </a:prstGeom>
          <a:noFill/>
          <a:ln/>
        </p:spPr>
        <p:txBody>
          <a:bodyPr wrap="square" rtlCol="0" anchor="ctr"/>
          <a:lstStyle/>
          <a:p>
            <a:pPr indent="0" marL="0">
              <a:buNone/>
            </a:pPr>
            <a:r>
              <a:rPr lang="en-US" sz="1300" dirty="0">
                <a:solidFill>
                  <a:srgbClr val="FFFFFF"/>
                </a:solidFill>
                <a:latin typeface="Arial" pitchFamily="34" charset="0"/>
                <a:ea typeface="Arial" pitchFamily="34" charset="-122"/>
                <a:cs typeface="Arial" pitchFamily="34" charset="-120"/>
              </a:rPr>
              <a:t>Community Action Agencies</a:t>
            </a:r>
            <a:endParaRPr lang="en-US" sz="1300" dirty="0"/>
          </a:p>
        </p:txBody>
      </p:sp>
      <p:sp>
        <p:nvSpPr>
          <p:cNvPr id="7" name="Text 5"/>
          <p:cNvSpPr/>
          <p:nvPr/>
        </p:nvSpPr>
        <p:spPr>
          <a:xfrm>
            <a:off x="457200" y="2880360"/>
            <a:ext cx="1463040" cy="457200"/>
          </a:xfrm>
          <a:prstGeom prst="rect">
            <a:avLst/>
          </a:prstGeom>
          <a:noFill/>
          <a:ln/>
        </p:spPr>
        <p:txBody>
          <a:bodyPr wrap="square" rtlCol="0" anchor="ctr"/>
          <a:lstStyle/>
          <a:p>
            <a:pPr algn="r" indent="0" marL="0">
              <a:buNone/>
            </a:pPr>
            <a:r>
              <a:rPr lang="en-US" sz="1900" b="1" dirty="0">
                <a:solidFill>
                  <a:srgbClr val="F0B429"/>
                </a:solidFill>
                <a:latin typeface="Arial" pitchFamily="34" charset="0"/>
                <a:ea typeface="Arial" pitchFamily="34" charset="-122"/>
                <a:cs typeface="Arial" pitchFamily="34" charset="-120"/>
              </a:rPr>
              <a:t>13,000+</a:t>
            </a:r>
            <a:endParaRPr lang="en-US" sz="1900" dirty="0"/>
          </a:p>
        </p:txBody>
      </p:sp>
      <p:sp>
        <p:nvSpPr>
          <p:cNvPr id="8" name="Text 6"/>
          <p:cNvSpPr/>
          <p:nvPr/>
        </p:nvSpPr>
        <p:spPr>
          <a:xfrm>
            <a:off x="2011680" y="2880360"/>
            <a:ext cx="3474720" cy="457200"/>
          </a:xfrm>
          <a:prstGeom prst="rect">
            <a:avLst/>
          </a:prstGeom>
          <a:noFill/>
          <a:ln/>
        </p:spPr>
        <p:txBody>
          <a:bodyPr wrap="square" rtlCol="0" anchor="ctr"/>
          <a:lstStyle/>
          <a:p>
            <a:pPr indent="0" marL="0">
              <a:buNone/>
            </a:pPr>
            <a:r>
              <a:rPr lang="en-US" sz="1300" dirty="0">
                <a:solidFill>
                  <a:srgbClr val="FFFFFF"/>
                </a:solidFill>
                <a:latin typeface="Arial" pitchFamily="34" charset="0"/>
                <a:ea typeface="Arial" pitchFamily="34" charset="-122"/>
                <a:cs typeface="Arial" pitchFamily="34" charset="-120"/>
              </a:rPr>
              <a:t>School Districts</a:t>
            </a:r>
            <a:endParaRPr lang="en-US" sz="1300" dirty="0"/>
          </a:p>
        </p:txBody>
      </p:sp>
      <p:sp>
        <p:nvSpPr>
          <p:cNvPr id="9" name="Text 7"/>
          <p:cNvSpPr/>
          <p:nvPr/>
        </p:nvSpPr>
        <p:spPr>
          <a:xfrm>
            <a:off x="457200" y="3429000"/>
            <a:ext cx="1463040" cy="457200"/>
          </a:xfrm>
          <a:prstGeom prst="rect">
            <a:avLst/>
          </a:prstGeom>
          <a:noFill/>
          <a:ln/>
        </p:spPr>
        <p:txBody>
          <a:bodyPr wrap="square" rtlCol="0" anchor="ctr"/>
          <a:lstStyle/>
          <a:p>
            <a:pPr algn="r" indent="0" marL="0">
              <a:buNone/>
            </a:pPr>
            <a:r>
              <a:rPr lang="en-US" sz="1900" b="1" dirty="0">
                <a:solidFill>
                  <a:srgbClr val="EF4444"/>
                </a:solidFill>
                <a:latin typeface="Arial" pitchFamily="34" charset="0"/>
                <a:ea typeface="Arial" pitchFamily="34" charset="-122"/>
                <a:cs typeface="Arial" pitchFamily="34" charset="-120"/>
              </a:rPr>
              <a:t>4,700+</a:t>
            </a:r>
            <a:endParaRPr lang="en-US" sz="1900" dirty="0"/>
          </a:p>
        </p:txBody>
      </p:sp>
      <p:sp>
        <p:nvSpPr>
          <p:cNvPr id="10" name="Text 8"/>
          <p:cNvSpPr/>
          <p:nvPr/>
        </p:nvSpPr>
        <p:spPr>
          <a:xfrm>
            <a:off x="2011680" y="3429000"/>
            <a:ext cx="3474720" cy="457200"/>
          </a:xfrm>
          <a:prstGeom prst="rect">
            <a:avLst/>
          </a:prstGeom>
          <a:noFill/>
          <a:ln/>
        </p:spPr>
        <p:txBody>
          <a:bodyPr wrap="square" rtlCol="0" anchor="ctr"/>
          <a:lstStyle/>
          <a:p>
            <a:pPr indent="0" marL="0">
              <a:buNone/>
            </a:pPr>
            <a:r>
              <a:rPr lang="en-US" sz="1300" dirty="0">
                <a:solidFill>
                  <a:srgbClr val="FFFFFF"/>
                </a:solidFill>
                <a:latin typeface="Arial" pitchFamily="34" charset="0"/>
                <a:ea typeface="Arial" pitchFamily="34" charset="-122"/>
                <a:cs typeface="Arial" pitchFamily="34" charset="-120"/>
              </a:rPr>
              <a:t>Correctional Facilities</a:t>
            </a:r>
            <a:endParaRPr lang="en-US" sz="1300" dirty="0"/>
          </a:p>
        </p:txBody>
      </p:sp>
      <p:sp>
        <p:nvSpPr>
          <p:cNvPr id="11" name="Text 9"/>
          <p:cNvSpPr/>
          <p:nvPr/>
        </p:nvSpPr>
        <p:spPr>
          <a:xfrm>
            <a:off x="457200" y="3977640"/>
            <a:ext cx="1463040" cy="457200"/>
          </a:xfrm>
          <a:prstGeom prst="rect">
            <a:avLst/>
          </a:prstGeom>
          <a:noFill/>
          <a:ln/>
        </p:spPr>
        <p:txBody>
          <a:bodyPr wrap="square" rtlCol="0" anchor="ctr"/>
          <a:lstStyle/>
          <a:p>
            <a:pPr algn="r" indent="0" marL="0">
              <a:buNone/>
            </a:pPr>
            <a:r>
              <a:rPr lang="en-US" sz="1900" b="1" dirty="0">
                <a:solidFill>
                  <a:srgbClr val="E8459E"/>
                </a:solidFill>
                <a:latin typeface="Arial" pitchFamily="34" charset="0"/>
                <a:ea typeface="Arial" pitchFamily="34" charset="-122"/>
                <a:cs typeface="Arial" pitchFamily="34" charset="-120"/>
              </a:rPr>
              <a:t>3,000+</a:t>
            </a:r>
            <a:endParaRPr lang="en-US" sz="1900" dirty="0"/>
          </a:p>
        </p:txBody>
      </p:sp>
      <p:sp>
        <p:nvSpPr>
          <p:cNvPr id="12" name="Text 10"/>
          <p:cNvSpPr/>
          <p:nvPr/>
        </p:nvSpPr>
        <p:spPr>
          <a:xfrm>
            <a:off x="2011680" y="3977640"/>
            <a:ext cx="3474720" cy="457200"/>
          </a:xfrm>
          <a:prstGeom prst="rect">
            <a:avLst/>
          </a:prstGeom>
          <a:noFill/>
          <a:ln/>
        </p:spPr>
        <p:txBody>
          <a:bodyPr wrap="square" rtlCol="0" anchor="ctr"/>
          <a:lstStyle/>
          <a:p>
            <a:pPr indent="0" marL="0">
              <a:buNone/>
            </a:pPr>
            <a:r>
              <a:rPr lang="en-US" sz="1300" dirty="0">
                <a:solidFill>
                  <a:srgbClr val="FFFFFF"/>
                </a:solidFill>
                <a:latin typeface="Arial" pitchFamily="34" charset="0"/>
                <a:ea typeface="Arial" pitchFamily="34" charset="-122"/>
                <a:cs typeface="Arial" pitchFamily="34" charset="-120"/>
              </a:rPr>
              <a:t>Community Health Centers</a:t>
            </a:r>
            <a:endParaRPr lang="en-US" sz="1300" dirty="0"/>
          </a:p>
        </p:txBody>
      </p:sp>
      <p:sp>
        <p:nvSpPr>
          <p:cNvPr id="13" name="Text 11"/>
          <p:cNvSpPr/>
          <p:nvPr/>
        </p:nvSpPr>
        <p:spPr>
          <a:xfrm>
            <a:off x="457200" y="4526280"/>
            <a:ext cx="1463040" cy="457200"/>
          </a:xfrm>
          <a:prstGeom prst="rect">
            <a:avLst/>
          </a:prstGeom>
          <a:noFill/>
          <a:ln/>
        </p:spPr>
        <p:txBody>
          <a:bodyPr wrap="square" rtlCol="0" anchor="ctr"/>
          <a:lstStyle/>
          <a:p>
            <a:pPr algn="r" indent="0" marL="0">
              <a:buNone/>
            </a:pPr>
            <a:r>
              <a:rPr lang="en-US" sz="1900" b="1" dirty="0">
                <a:solidFill>
                  <a:srgbClr val="2EA043"/>
                </a:solidFill>
                <a:latin typeface="Arial" pitchFamily="34" charset="0"/>
                <a:ea typeface="Arial" pitchFamily="34" charset="-122"/>
                <a:cs typeface="Arial" pitchFamily="34" charset="-120"/>
              </a:rPr>
              <a:t>550+</a:t>
            </a:r>
            <a:endParaRPr lang="en-US" sz="1900" dirty="0"/>
          </a:p>
        </p:txBody>
      </p:sp>
      <p:sp>
        <p:nvSpPr>
          <p:cNvPr id="14" name="Text 12"/>
          <p:cNvSpPr/>
          <p:nvPr/>
        </p:nvSpPr>
        <p:spPr>
          <a:xfrm>
            <a:off x="2011680" y="4526280"/>
            <a:ext cx="3474720" cy="457200"/>
          </a:xfrm>
          <a:prstGeom prst="rect">
            <a:avLst/>
          </a:prstGeom>
          <a:noFill/>
          <a:ln/>
        </p:spPr>
        <p:txBody>
          <a:bodyPr wrap="square" rtlCol="0" anchor="ctr"/>
          <a:lstStyle/>
          <a:p>
            <a:pPr indent="0" marL="0">
              <a:buNone/>
            </a:pPr>
            <a:r>
              <a:rPr lang="en-US" sz="1300" dirty="0">
                <a:solidFill>
                  <a:srgbClr val="FFFFFF"/>
                </a:solidFill>
                <a:latin typeface="Arial" pitchFamily="34" charset="0"/>
                <a:ea typeface="Arial" pitchFamily="34" charset="-122"/>
                <a:cs typeface="Arial" pitchFamily="34" charset="-120"/>
              </a:rPr>
              <a:t>Workforce Development Boards</a:t>
            </a:r>
            <a:endParaRPr lang="en-US" sz="1300" dirty="0"/>
          </a:p>
        </p:txBody>
      </p:sp>
      <p:sp>
        <p:nvSpPr>
          <p:cNvPr id="15" name="Text 13"/>
          <p:cNvSpPr/>
          <p:nvPr/>
        </p:nvSpPr>
        <p:spPr>
          <a:xfrm>
            <a:off x="457200" y="5074920"/>
            <a:ext cx="1463040" cy="457200"/>
          </a:xfrm>
          <a:prstGeom prst="rect">
            <a:avLst/>
          </a:prstGeom>
          <a:noFill/>
          <a:ln/>
        </p:spPr>
        <p:txBody>
          <a:bodyPr wrap="square" rtlCol="0" anchor="ctr"/>
          <a:lstStyle/>
          <a:p>
            <a:pPr algn="r" indent="0" marL="0">
              <a:buNone/>
            </a:pPr>
            <a:r>
              <a:rPr lang="en-US" sz="1900" b="1" dirty="0">
                <a:solidFill>
                  <a:srgbClr val="8B5CF6"/>
                </a:solidFill>
                <a:latin typeface="Arial" pitchFamily="34" charset="0"/>
                <a:ea typeface="Arial" pitchFamily="34" charset="-122"/>
                <a:cs typeface="Arial" pitchFamily="34" charset="-120"/>
              </a:rPr>
              <a:t>32,000+</a:t>
            </a:r>
            <a:endParaRPr lang="en-US" sz="1900" dirty="0"/>
          </a:p>
        </p:txBody>
      </p:sp>
      <p:sp>
        <p:nvSpPr>
          <p:cNvPr id="16" name="Text 14"/>
          <p:cNvSpPr/>
          <p:nvPr/>
        </p:nvSpPr>
        <p:spPr>
          <a:xfrm>
            <a:off x="2011680" y="5074920"/>
            <a:ext cx="3474720" cy="457200"/>
          </a:xfrm>
          <a:prstGeom prst="rect">
            <a:avLst/>
          </a:prstGeom>
          <a:noFill/>
          <a:ln/>
        </p:spPr>
        <p:txBody>
          <a:bodyPr wrap="square" rtlCol="0" anchor="ctr"/>
          <a:lstStyle/>
          <a:p>
            <a:pPr indent="0" marL="0">
              <a:buNone/>
            </a:pPr>
            <a:r>
              <a:rPr lang="en-US" sz="1300" dirty="0">
                <a:solidFill>
                  <a:srgbClr val="FFFFFF"/>
                </a:solidFill>
                <a:latin typeface="Arial" pitchFamily="34" charset="0"/>
                <a:ea typeface="Arial" pitchFamily="34" charset="-122"/>
                <a:cs typeface="Arial" pitchFamily="34" charset="-120"/>
              </a:rPr>
              <a:t>Behavioral Health Providers</a:t>
            </a:r>
            <a:endParaRPr lang="en-US" sz="1300" dirty="0"/>
          </a:p>
        </p:txBody>
      </p:sp>
      <p:sp>
        <p:nvSpPr>
          <p:cNvPr id="17" name="Text 15"/>
          <p:cNvSpPr/>
          <p:nvPr/>
        </p:nvSpPr>
        <p:spPr>
          <a:xfrm>
            <a:off x="457200" y="5760720"/>
            <a:ext cx="4572000" cy="274320"/>
          </a:xfrm>
          <a:prstGeom prst="rect">
            <a:avLst/>
          </a:prstGeom>
          <a:noFill/>
          <a:ln/>
        </p:spPr>
        <p:txBody>
          <a:bodyPr wrap="square" rtlCol="0" anchor="ctr"/>
          <a:lstStyle/>
          <a:p>
            <a:pPr indent="0" marL="0">
              <a:buNone/>
            </a:pPr>
            <a:r>
              <a:rPr lang="en-US" sz="1100" i="1" dirty="0">
                <a:solidFill>
                  <a:srgbClr val="8B949E"/>
                </a:solidFill>
                <a:latin typeface="Arial" pitchFamily="34" charset="0"/>
                <a:ea typeface="Arial" pitchFamily="34" charset="-122"/>
                <a:cs typeface="Arial" pitchFamily="34" charset="-120"/>
              </a:rPr>
              <a:t>$180B+ US social services market</a:t>
            </a:r>
            <a:endParaRPr lang="en-US" sz="1100" dirty="0"/>
          </a:p>
        </p:txBody>
      </p:sp>
      <p:sp>
        <p:nvSpPr>
          <p:cNvPr id="18" name="Shape 16"/>
          <p:cNvSpPr/>
          <p:nvPr/>
        </p:nvSpPr>
        <p:spPr>
          <a:xfrm>
            <a:off x="5943600" y="1920240"/>
            <a:ext cx="5760720" cy="4572000"/>
          </a:xfrm>
          <a:prstGeom prst="roundRect">
            <a:avLst>
              <a:gd name="adj" fmla="val 2400"/>
            </a:avLst>
          </a:prstGeom>
          <a:solidFill>
            <a:srgbClr val="161B22"/>
          </a:solidFill>
          <a:ln w="19050">
            <a:solidFill>
              <a:srgbClr val="00C9A7"/>
            </a:solidFill>
            <a:prstDash val="solid"/>
          </a:ln>
        </p:spPr>
      </p:sp>
      <p:sp>
        <p:nvSpPr>
          <p:cNvPr id="19" name="Text 17"/>
          <p:cNvSpPr/>
          <p:nvPr/>
        </p:nvSpPr>
        <p:spPr>
          <a:xfrm>
            <a:off x="5943600" y="1965960"/>
            <a:ext cx="5760720" cy="411480"/>
          </a:xfrm>
          <a:prstGeom prst="rect">
            <a:avLst/>
          </a:prstGeom>
          <a:noFill/>
          <a:ln/>
        </p:spPr>
        <p:txBody>
          <a:bodyPr wrap="square" rtlCol="0" anchor="ctr"/>
          <a:lstStyle/>
          <a:p>
            <a:pPr algn="ctr" indent="0" marL="0">
              <a:buNone/>
            </a:pPr>
            <a:r>
              <a:rPr lang="en-US" sz="1400" b="1" dirty="0">
                <a:solidFill>
                  <a:srgbClr val="00C9A7"/>
                </a:solidFill>
                <a:latin typeface="Arial" pitchFamily="34" charset="0"/>
                <a:ea typeface="Arial" pitchFamily="34" charset="-122"/>
                <a:cs typeface="Arial" pitchFamily="34" charset="-120"/>
              </a:rPr>
              <a:t>TRACTION — TODAY</a:t>
            </a:r>
            <a:endParaRPr lang="en-US" sz="1400" dirty="0"/>
          </a:p>
        </p:txBody>
      </p:sp>
      <p:sp>
        <p:nvSpPr>
          <p:cNvPr id="20" name="Text 18"/>
          <p:cNvSpPr/>
          <p:nvPr/>
        </p:nvSpPr>
        <p:spPr>
          <a:xfrm>
            <a:off x="6217920" y="2468880"/>
            <a:ext cx="3200400" cy="329184"/>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Interconnected Platforms Live</a:t>
            </a:r>
            <a:endParaRPr lang="en-US" sz="1050" dirty="0"/>
          </a:p>
        </p:txBody>
      </p:sp>
      <p:sp>
        <p:nvSpPr>
          <p:cNvPr id="21" name="Text 19"/>
          <p:cNvSpPr/>
          <p:nvPr/>
        </p:nvSpPr>
        <p:spPr>
          <a:xfrm>
            <a:off x="9418320" y="2468880"/>
            <a:ext cx="2103120" cy="329184"/>
          </a:xfrm>
          <a:prstGeom prst="rect">
            <a:avLst/>
          </a:prstGeom>
          <a:noFill/>
          <a:ln/>
        </p:spPr>
        <p:txBody>
          <a:bodyPr wrap="square" rtlCol="0" anchor="ctr"/>
          <a:lstStyle/>
          <a:p>
            <a:pPr algn="r" indent="0" marL="0">
              <a:buNone/>
            </a:pPr>
            <a:r>
              <a:rPr lang="en-US" sz="1050" b="1" dirty="0">
                <a:solidFill>
                  <a:srgbClr val="00C9A7"/>
                </a:solidFill>
                <a:latin typeface="Arial" pitchFamily="34" charset="0"/>
                <a:ea typeface="Arial" pitchFamily="34" charset="-122"/>
                <a:cs typeface="Arial" pitchFamily="34" charset="-120"/>
              </a:rPr>
              <a:t>24 / 24</a:t>
            </a:r>
            <a:endParaRPr lang="en-US" sz="1050" dirty="0"/>
          </a:p>
        </p:txBody>
      </p:sp>
      <p:sp>
        <p:nvSpPr>
          <p:cNvPr id="22" name="Text 20"/>
          <p:cNvSpPr/>
          <p:nvPr/>
        </p:nvSpPr>
        <p:spPr>
          <a:xfrm>
            <a:off x="6217920" y="2825496"/>
            <a:ext cx="3200400" cy="329184"/>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Domains Covered</a:t>
            </a:r>
            <a:endParaRPr lang="en-US" sz="1050" dirty="0"/>
          </a:p>
        </p:txBody>
      </p:sp>
      <p:sp>
        <p:nvSpPr>
          <p:cNvPr id="23" name="Text 21"/>
          <p:cNvSpPr/>
          <p:nvPr/>
        </p:nvSpPr>
        <p:spPr>
          <a:xfrm>
            <a:off x="9418320" y="2825496"/>
            <a:ext cx="2103120" cy="329184"/>
          </a:xfrm>
          <a:prstGeom prst="rect">
            <a:avLst/>
          </a:prstGeom>
          <a:noFill/>
          <a:ln/>
        </p:spPr>
        <p:txBody>
          <a:bodyPr wrap="square" rtlCol="0" anchor="ctr"/>
          <a:lstStyle/>
          <a:p>
            <a:pPr algn="r" indent="0" marL="0">
              <a:buNone/>
            </a:pPr>
            <a:r>
              <a:rPr lang="en-US" sz="1050" b="1" dirty="0">
                <a:solidFill>
                  <a:srgbClr val="0079F2"/>
                </a:solidFill>
                <a:latin typeface="Arial" pitchFamily="34" charset="0"/>
                <a:ea typeface="Arial" pitchFamily="34" charset="-122"/>
                <a:cs typeface="Arial" pitchFamily="34" charset="-120"/>
              </a:rPr>
              <a:t>6</a:t>
            </a:r>
            <a:endParaRPr lang="en-US" sz="1050" dirty="0"/>
          </a:p>
        </p:txBody>
      </p:sp>
      <p:sp>
        <p:nvSpPr>
          <p:cNvPr id="24" name="Text 22"/>
          <p:cNvSpPr/>
          <p:nvPr/>
        </p:nvSpPr>
        <p:spPr>
          <a:xfrm>
            <a:off x="6217920" y="3182112"/>
            <a:ext cx="3200400" cy="329184"/>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First Customer Active</a:t>
            </a:r>
            <a:endParaRPr lang="en-US" sz="1050" dirty="0"/>
          </a:p>
        </p:txBody>
      </p:sp>
      <p:sp>
        <p:nvSpPr>
          <p:cNvPr id="25" name="Text 23"/>
          <p:cNvSpPr/>
          <p:nvPr/>
        </p:nvSpPr>
        <p:spPr>
          <a:xfrm>
            <a:off x="9418320" y="3182112"/>
            <a:ext cx="2103120" cy="329184"/>
          </a:xfrm>
          <a:prstGeom prst="rect">
            <a:avLst/>
          </a:prstGeom>
          <a:noFill/>
          <a:ln/>
        </p:spPr>
        <p:txBody>
          <a:bodyPr wrap="square" rtlCol="0" anchor="ctr"/>
          <a:lstStyle/>
          <a:p>
            <a:pPr algn="r" indent="0" marL="0">
              <a:buNone/>
            </a:pPr>
            <a:r>
              <a:rPr lang="en-US" sz="1050" b="1" dirty="0">
                <a:solidFill>
                  <a:srgbClr val="2EA043"/>
                </a:solidFill>
                <a:latin typeface="Arial" pitchFamily="34" charset="0"/>
                <a:ea typeface="Arial" pitchFamily="34" charset="-122"/>
                <a:cs typeface="Arial" pitchFamily="34" charset="-120"/>
              </a:rPr>
              <a:t>TCAF (501c3)</a:t>
            </a:r>
            <a:endParaRPr lang="en-US" sz="1050" dirty="0"/>
          </a:p>
        </p:txBody>
      </p:sp>
      <p:sp>
        <p:nvSpPr>
          <p:cNvPr id="26" name="Text 24"/>
          <p:cNvSpPr/>
          <p:nvPr/>
        </p:nvSpPr>
        <p:spPr>
          <a:xfrm>
            <a:off x="6217920" y="3538728"/>
            <a:ext cx="3200400" cy="329184"/>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AI Engines Running</a:t>
            </a:r>
            <a:endParaRPr lang="en-US" sz="1050" dirty="0"/>
          </a:p>
        </p:txBody>
      </p:sp>
      <p:sp>
        <p:nvSpPr>
          <p:cNvPr id="27" name="Text 25"/>
          <p:cNvSpPr/>
          <p:nvPr/>
        </p:nvSpPr>
        <p:spPr>
          <a:xfrm>
            <a:off x="9418320" y="3538728"/>
            <a:ext cx="2103120" cy="329184"/>
          </a:xfrm>
          <a:prstGeom prst="rect">
            <a:avLst/>
          </a:prstGeom>
          <a:noFill/>
          <a:ln/>
        </p:spPr>
        <p:txBody>
          <a:bodyPr wrap="square" rtlCol="0" anchor="ctr"/>
          <a:lstStyle/>
          <a:p>
            <a:pPr algn="r" indent="0" marL="0">
              <a:buNone/>
            </a:pPr>
            <a:r>
              <a:rPr lang="en-US" sz="1050" b="1" dirty="0">
                <a:solidFill>
                  <a:srgbClr val="F0B429"/>
                </a:solidFill>
                <a:latin typeface="Arial" pitchFamily="34" charset="0"/>
                <a:ea typeface="Arial" pitchFamily="34" charset="-122"/>
                <a:cs typeface="Arial" pitchFamily="34" charset="-120"/>
              </a:rPr>
              <a:t>4 (cross-checking)</a:t>
            </a:r>
            <a:endParaRPr lang="en-US" sz="1050" dirty="0"/>
          </a:p>
        </p:txBody>
      </p:sp>
      <p:sp>
        <p:nvSpPr>
          <p:cNvPr id="28" name="Text 26"/>
          <p:cNvSpPr/>
          <p:nvPr/>
        </p:nvSpPr>
        <p:spPr>
          <a:xfrm>
            <a:off x="6217920" y="3895344"/>
            <a:ext cx="3200400" cy="329184"/>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TEKS Curriculum Coverage</a:t>
            </a:r>
            <a:endParaRPr lang="en-US" sz="1050" dirty="0"/>
          </a:p>
        </p:txBody>
      </p:sp>
      <p:sp>
        <p:nvSpPr>
          <p:cNvPr id="29" name="Text 27"/>
          <p:cNvSpPr/>
          <p:nvPr/>
        </p:nvSpPr>
        <p:spPr>
          <a:xfrm>
            <a:off x="9418320" y="3895344"/>
            <a:ext cx="2103120" cy="329184"/>
          </a:xfrm>
          <a:prstGeom prst="rect">
            <a:avLst/>
          </a:prstGeom>
          <a:noFill/>
          <a:ln/>
        </p:spPr>
        <p:txBody>
          <a:bodyPr wrap="square" rtlCol="0" anchor="ctr"/>
          <a:lstStyle/>
          <a:p>
            <a:pPr algn="r" indent="0" marL="0">
              <a:buNone/>
            </a:pPr>
            <a:r>
              <a:rPr lang="en-US" sz="1050" b="1" dirty="0">
                <a:solidFill>
                  <a:srgbClr val="F0B429"/>
                </a:solidFill>
                <a:latin typeface="Arial" pitchFamily="34" charset="0"/>
                <a:ea typeface="Arial" pitchFamily="34" charset="-122"/>
                <a:cs typeface="Arial" pitchFamily="34" charset="-120"/>
              </a:rPr>
              <a:t>100%</a:t>
            </a:r>
            <a:endParaRPr lang="en-US" sz="1050" dirty="0"/>
          </a:p>
        </p:txBody>
      </p:sp>
      <p:sp>
        <p:nvSpPr>
          <p:cNvPr id="30" name="Shape 28"/>
          <p:cNvSpPr/>
          <p:nvPr/>
        </p:nvSpPr>
        <p:spPr>
          <a:xfrm>
            <a:off x="6217920" y="4251960"/>
            <a:ext cx="5212080" cy="18288"/>
          </a:xfrm>
          <a:prstGeom prst="rect">
            <a:avLst/>
          </a:prstGeom>
          <a:solidFill>
            <a:srgbClr val="8B949E"/>
          </a:solidFill>
          <a:ln/>
        </p:spPr>
      </p:sp>
      <p:sp>
        <p:nvSpPr>
          <p:cNvPr id="31" name="Text 29"/>
          <p:cNvSpPr/>
          <p:nvPr/>
        </p:nvSpPr>
        <p:spPr>
          <a:xfrm>
            <a:off x="6217920" y="4608576"/>
            <a:ext cx="3200400" cy="329184"/>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TWC Pipeline</a:t>
            </a:r>
            <a:endParaRPr lang="en-US" sz="1050" dirty="0"/>
          </a:p>
        </p:txBody>
      </p:sp>
      <p:sp>
        <p:nvSpPr>
          <p:cNvPr id="32" name="Text 30"/>
          <p:cNvSpPr/>
          <p:nvPr/>
        </p:nvSpPr>
        <p:spPr>
          <a:xfrm>
            <a:off x="9418320" y="4608576"/>
            <a:ext cx="2103120" cy="329184"/>
          </a:xfrm>
          <a:prstGeom prst="rect">
            <a:avLst/>
          </a:prstGeom>
          <a:noFill/>
          <a:ln/>
        </p:spPr>
        <p:txBody>
          <a:bodyPr wrap="square" rtlCol="0" anchor="ctr"/>
          <a:lstStyle/>
          <a:p>
            <a:pPr algn="r" indent="0" marL="0">
              <a:buNone/>
            </a:pPr>
            <a:r>
              <a:rPr lang="en-US" sz="1050" b="1" dirty="0">
                <a:solidFill>
                  <a:srgbClr val="F0B429"/>
                </a:solidFill>
                <a:latin typeface="Arial" pitchFamily="34" charset="0"/>
                <a:ea typeface="Arial" pitchFamily="34" charset="-122"/>
                <a:cs typeface="Arial" pitchFamily="34" charset="-120"/>
              </a:rPr>
              <a:t>$1.6M</a:t>
            </a:r>
            <a:endParaRPr lang="en-US" sz="1050" dirty="0"/>
          </a:p>
        </p:txBody>
      </p:sp>
      <p:sp>
        <p:nvSpPr>
          <p:cNvPr id="33" name="Text 31"/>
          <p:cNvSpPr/>
          <p:nvPr/>
        </p:nvSpPr>
        <p:spPr>
          <a:xfrm>
            <a:off x="6217920" y="4965192"/>
            <a:ext cx="3200400" cy="329184"/>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DOL RESTART</a:t>
            </a:r>
            <a:endParaRPr lang="en-US" sz="1050" dirty="0"/>
          </a:p>
        </p:txBody>
      </p:sp>
      <p:sp>
        <p:nvSpPr>
          <p:cNvPr id="34" name="Text 32"/>
          <p:cNvSpPr/>
          <p:nvPr/>
        </p:nvSpPr>
        <p:spPr>
          <a:xfrm>
            <a:off x="9418320" y="4965192"/>
            <a:ext cx="2103120" cy="329184"/>
          </a:xfrm>
          <a:prstGeom prst="rect">
            <a:avLst/>
          </a:prstGeom>
          <a:noFill/>
          <a:ln/>
        </p:spPr>
        <p:txBody>
          <a:bodyPr wrap="square" rtlCol="0" anchor="ctr"/>
          <a:lstStyle/>
          <a:p>
            <a:pPr algn="r" indent="0" marL="0">
              <a:buNone/>
            </a:pPr>
            <a:r>
              <a:rPr lang="en-US" sz="1050" b="1" dirty="0">
                <a:solidFill>
                  <a:srgbClr val="F0B429"/>
                </a:solidFill>
                <a:latin typeface="Arial" pitchFamily="34" charset="0"/>
                <a:ea typeface="Arial" pitchFamily="34" charset="-122"/>
                <a:cs typeface="Arial" pitchFamily="34" charset="-120"/>
              </a:rPr>
              <a:t>$5.1M (In Progress)</a:t>
            </a:r>
            <a:endParaRPr lang="en-US" sz="1050" dirty="0"/>
          </a:p>
        </p:txBody>
      </p:sp>
      <p:sp>
        <p:nvSpPr>
          <p:cNvPr id="35" name="Text 33"/>
          <p:cNvSpPr/>
          <p:nvPr/>
        </p:nvSpPr>
        <p:spPr>
          <a:xfrm>
            <a:off x="6217920" y="5321808"/>
            <a:ext cx="3200400" cy="329184"/>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Google.org</a:t>
            </a:r>
            <a:endParaRPr lang="en-US" sz="1050" dirty="0"/>
          </a:p>
        </p:txBody>
      </p:sp>
      <p:sp>
        <p:nvSpPr>
          <p:cNvPr id="36" name="Text 34"/>
          <p:cNvSpPr/>
          <p:nvPr/>
        </p:nvSpPr>
        <p:spPr>
          <a:xfrm>
            <a:off x="9418320" y="5321808"/>
            <a:ext cx="2103120" cy="329184"/>
          </a:xfrm>
          <a:prstGeom prst="rect">
            <a:avLst/>
          </a:prstGeom>
          <a:noFill/>
          <a:ln/>
        </p:spPr>
        <p:txBody>
          <a:bodyPr wrap="square" rtlCol="0" anchor="ctr"/>
          <a:lstStyle/>
          <a:p>
            <a:pPr algn="r" indent="0" marL="0">
              <a:buNone/>
            </a:pPr>
            <a:r>
              <a:rPr lang="en-US" sz="1050" b="1" dirty="0">
                <a:solidFill>
                  <a:srgbClr val="8B949E"/>
                </a:solidFill>
                <a:latin typeface="Arial" pitchFamily="34" charset="0"/>
                <a:ea typeface="Arial" pitchFamily="34" charset="-122"/>
                <a:cs typeface="Arial" pitchFamily="34" charset="-120"/>
              </a:rPr>
              <a:t>Applied</a:t>
            </a:r>
            <a:endParaRPr lang="en-US" sz="1050" dirty="0"/>
          </a:p>
        </p:txBody>
      </p:sp>
      <p:sp>
        <p:nvSpPr>
          <p:cNvPr id="37" name="Text 35"/>
          <p:cNvSpPr/>
          <p:nvPr/>
        </p:nvSpPr>
        <p:spPr>
          <a:xfrm>
            <a:off x="6217920" y="5678424"/>
            <a:ext cx="3200400" cy="329184"/>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Gates Foundation</a:t>
            </a:r>
            <a:endParaRPr lang="en-US" sz="1050" dirty="0"/>
          </a:p>
        </p:txBody>
      </p:sp>
      <p:sp>
        <p:nvSpPr>
          <p:cNvPr id="38" name="Text 36"/>
          <p:cNvSpPr/>
          <p:nvPr/>
        </p:nvSpPr>
        <p:spPr>
          <a:xfrm>
            <a:off x="9418320" y="5678424"/>
            <a:ext cx="2103120" cy="329184"/>
          </a:xfrm>
          <a:prstGeom prst="rect">
            <a:avLst/>
          </a:prstGeom>
          <a:noFill/>
          <a:ln/>
        </p:spPr>
        <p:txBody>
          <a:bodyPr wrap="square" rtlCol="0" anchor="ctr"/>
          <a:lstStyle/>
          <a:p>
            <a:pPr algn="r" indent="0" marL="0">
              <a:buNone/>
            </a:pPr>
            <a:r>
              <a:rPr lang="en-US" sz="1050" b="1" dirty="0">
                <a:solidFill>
                  <a:srgbClr val="8B949E"/>
                </a:solidFill>
                <a:latin typeface="Arial" pitchFamily="34" charset="0"/>
                <a:ea typeface="Arial" pitchFamily="34" charset="-122"/>
                <a:cs typeface="Arial" pitchFamily="34" charset="-120"/>
              </a:rPr>
              <a:t>Applied</a:t>
            </a:r>
            <a:endParaRPr lang="en-US" sz="1050" dirty="0"/>
          </a:p>
        </p:txBody>
      </p:sp>
      <p:sp>
        <p:nvSpPr>
          <p:cNvPr id="39" name="Text 37"/>
          <p:cNvSpPr/>
          <p:nvPr/>
        </p:nvSpPr>
        <p:spPr>
          <a:xfrm>
            <a:off x="6217920" y="6035040"/>
            <a:ext cx="3200400" cy="329184"/>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NSF</a:t>
            </a:r>
            <a:endParaRPr lang="en-US" sz="1050" dirty="0"/>
          </a:p>
        </p:txBody>
      </p:sp>
      <p:sp>
        <p:nvSpPr>
          <p:cNvPr id="40" name="Text 38"/>
          <p:cNvSpPr/>
          <p:nvPr/>
        </p:nvSpPr>
        <p:spPr>
          <a:xfrm>
            <a:off x="9418320" y="6035040"/>
            <a:ext cx="2103120" cy="329184"/>
          </a:xfrm>
          <a:prstGeom prst="rect">
            <a:avLst/>
          </a:prstGeom>
          <a:noFill/>
          <a:ln/>
        </p:spPr>
        <p:txBody>
          <a:bodyPr wrap="square" rtlCol="0" anchor="ctr"/>
          <a:lstStyle/>
          <a:p>
            <a:pPr algn="r" indent="0" marL="0">
              <a:buNone/>
            </a:pPr>
            <a:r>
              <a:rPr lang="en-US" sz="1050" b="1" dirty="0">
                <a:solidFill>
                  <a:srgbClr val="8B949E"/>
                </a:solidFill>
                <a:latin typeface="Arial" pitchFamily="34" charset="0"/>
                <a:ea typeface="Arial" pitchFamily="34" charset="-122"/>
                <a:cs typeface="Arial" pitchFamily="34" charset="-120"/>
              </a:rPr>
              <a:t>Applied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F0B429"/>
                </a:solidFill>
                <a:latin typeface="Arial" pitchFamily="34" charset="0"/>
                <a:ea typeface="Arial" pitchFamily="34" charset="-122"/>
                <a:cs typeface="Arial" pitchFamily="34" charset="-120"/>
              </a:rPr>
              <a:t>The Ask</a:t>
            </a:r>
            <a:endParaRPr lang="en-US" sz="1300" dirty="0"/>
          </a:p>
        </p:txBody>
      </p:sp>
      <p:sp>
        <p:nvSpPr>
          <p:cNvPr id="3" name="Text 1"/>
          <p:cNvSpPr/>
          <p:nvPr/>
        </p:nvSpPr>
        <p:spPr>
          <a:xfrm>
            <a:off x="731520" y="594360"/>
            <a:ext cx="10698480" cy="868680"/>
          </a:xfrm>
          <a:prstGeom prst="rect">
            <a:avLst/>
          </a:prstGeom>
          <a:noFill/>
          <a:ln/>
        </p:spPr>
        <p:txBody>
          <a:bodyPr wrap="square" rtlCol="0" anchor="ctr"/>
          <a:lstStyle/>
          <a:p>
            <a:pPr algn="ctr" indent="0" marL="0">
              <a:buNone/>
            </a:pPr>
            <a:r>
              <a:rPr lang="en-US" sz="5800" b="1" dirty="0">
                <a:solidFill>
                  <a:srgbClr val="F0B429"/>
                </a:solidFill>
                <a:latin typeface="Arial" pitchFamily="34" charset="0"/>
                <a:ea typeface="Arial" pitchFamily="34" charset="-122"/>
                <a:cs typeface="Arial" pitchFamily="34" charset="-120"/>
              </a:rPr>
              <a:t>$1,000,000</a:t>
            </a:r>
            <a:endParaRPr lang="en-US" sz="5800" dirty="0"/>
          </a:p>
        </p:txBody>
      </p:sp>
      <p:sp>
        <p:nvSpPr>
          <p:cNvPr id="4" name="Text 2"/>
          <p:cNvSpPr/>
          <p:nvPr/>
        </p:nvSpPr>
        <p:spPr>
          <a:xfrm>
            <a:off x="731520" y="1371600"/>
            <a:ext cx="10698480" cy="274320"/>
          </a:xfrm>
          <a:prstGeom prst="rect">
            <a:avLst/>
          </a:prstGeom>
          <a:noFill/>
          <a:ln/>
        </p:spPr>
        <p:txBody>
          <a:bodyPr wrap="square" rtlCol="0" anchor="ctr"/>
          <a:lstStyle/>
          <a:p>
            <a:pPr algn="ctr" indent="0" marL="0">
              <a:buNone/>
            </a:pPr>
            <a:r>
              <a:rPr lang="en-US" sz="1400" dirty="0">
                <a:solidFill>
                  <a:srgbClr val="8B949E"/>
                </a:solidFill>
                <a:latin typeface="Arial" pitchFamily="34" charset="0"/>
                <a:ea typeface="Arial" pitchFamily="34" charset="-122"/>
                <a:cs typeface="Arial" pitchFamily="34" charset="-120"/>
              </a:rPr>
              <a:t>SAFE Investment  •  Integrated Services and Solutions LLC</a:t>
            </a:r>
            <a:endParaRPr lang="en-US" sz="1400" dirty="0"/>
          </a:p>
        </p:txBody>
      </p:sp>
      <p:sp>
        <p:nvSpPr>
          <p:cNvPr id="5" name="Shape 3"/>
          <p:cNvSpPr/>
          <p:nvPr/>
        </p:nvSpPr>
        <p:spPr>
          <a:xfrm>
            <a:off x="731520" y="1828800"/>
            <a:ext cx="3383280" cy="1371600"/>
          </a:xfrm>
          <a:prstGeom prst="roundRect">
            <a:avLst>
              <a:gd name="adj" fmla="val 6667"/>
            </a:avLst>
          </a:prstGeom>
          <a:solidFill>
            <a:srgbClr val="161B22"/>
          </a:solidFill>
          <a:ln w="25400">
            <a:solidFill>
              <a:srgbClr val="0079F2"/>
            </a:solidFill>
            <a:prstDash val="solid"/>
          </a:ln>
        </p:spPr>
      </p:sp>
      <p:sp>
        <p:nvSpPr>
          <p:cNvPr id="6" name="Text 4"/>
          <p:cNvSpPr/>
          <p:nvPr/>
        </p:nvSpPr>
        <p:spPr>
          <a:xfrm>
            <a:off x="731520" y="1874520"/>
            <a:ext cx="3383280" cy="411480"/>
          </a:xfrm>
          <a:prstGeom prst="rect">
            <a:avLst/>
          </a:prstGeom>
          <a:noFill/>
          <a:ln/>
        </p:spPr>
        <p:txBody>
          <a:bodyPr wrap="square" rtlCol="0" anchor="ctr"/>
          <a:lstStyle/>
          <a:p>
            <a:pPr algn="ctr" indent="0" marL="0">
              <a:buNone/>
            </a:pPr>
            <a:r>
              <a:rPr lang="en-US" sz="2200" b="1" dirty="0">
                <a:solidFill>
                  <a:srgbClr val="0079F2"/>
                </a:solidFill>
                <a:latin typeface="Arial" pitchFamily="34" charset="0"/>
                <a:ea typeface="Arial" pitchFamily="34" charset="-122"/>
                <a:cs typeface="Arial" pitchFamily="34" charset="-120"/>
              </a:rPr>
              <a:t>40%</a:t>
            </a:r>
            <a:endParaRPr lang="en-US" sz="2200" dirty="0"/>
          </a:p>
        </p:txBody>
      </p:sp>
      <p:sp>
        <p:nvSpPr>
          <p:cNvPr id="7" name="Text 5"/>
          <p:cNvSpPr/>
          <p:nvPr/>
        </p:nvSpPr>
        <p:spPr>
          <a:xfrm>
            <a:off x="731520" y="2240280"/>
            <a:ext cx="3383280" cy="32004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 New Communities</a:t>
            </a:r>
            <a:endParaRPr lang="en-US" sz="1300" dirty="0"/>
          </a:p>
        </p:txBody>
      </p:sp>
      <p:sp>
        <p:nvSpPr>
          <p:cNvPr id="8" name="Text 6"/>
          <p:cNvSpPr/>
          <p:nvPr/>
        </p:nvSpPr>
        <p:spPr>
          <a:xfrm>
            <a:off x="1005840" y="2606040"/>
            <a:ext cx="2834640" cy="457200"/>
          </a:xfrm>
          <a:prstGeom prst="rect">
            <a:avLst/>
          </a:prstGeom>
          <a:noFill/>
          <a:ln/>
        </p:spPr>
        <p:txBody>
          <a:bodyPr wrap="square" rtlCol="0" anchor="ctr"/>
          <a:lstStyle/>
          <a:p>
            <a:pPr algn="ctr" indent="0" marL="0">
              <a:lnSpc>
                <a:spcPct val="120000"/>
              </a:lnSpc>
              <a:buNone/>
            </a:pPr>
            <a:r>
              <a:rPr lang="en-US" sz="1000" dirty="0">
                <a:solidFill>
                  <a:srgbClr val="8B949E"/>
                </a:solidFill>
                <a:latin typeface="Arial" pitchFamily="34" charset="0"/>
                <a:ea typeface="Arial" pitchFamily="34" charset="-122"/>
                <a:cs typeface="Arial" pitchFamily="34" charset="-120"/>
              </a:rPr>
              <a:t>Scale from Central Texas</a:t>
            </a:r>
            <a:endParaRPr lang="en-US" sz="1000" dirty="0"/>
          </a:p>
          <a:p>
            <a:pPr algn="ctr" indent="0" marL="0">
              <a:lnSpc>
                <a:spcPct val="120000"/>
              </a:lnSpc>
              <a:buNone/>
            </a:pPr>
            <a:r>
              <a:rPr lang="en-US" sz="1000" dirty="0">
                <a:solidFill>
                  <a:srgbClr val="8B949E"/>
                </a:solidFill>
                <a:latin typeface="Arial" pitchFamily="34" charset="0"/>
                <a:ea typeface="Arial" pitchFamily="34" charset="-122"/>
                <a:cs typeface="Arial" pitchFamily="34" charset="-120"/>
              </a:rPr>
              <a:t>to 5 communities in 12 months</a:t>
            </a:r>
            <a:endParaRPr lang="en-US" sz="1000" dirty="0"/>
          </a:p>
        </p:txBody>
      </p:sp>
      <p:sp>
        <p:nvSpPr>
          <p:cNvPr id="9" name="Shape 7"/>
          <p:cNvSpPr/>
          <p:nvPr/>
        </p:nvSpPr>
        <p:spPr>
          <a:xfrm>
            <a:off x="4389120" y="1828800"/>
            <a:ext cx="3383280" cy="1371600"/>
          </a:xfrm>
          <a:prstGeom prst="roundRect">
            <a:avLst>
              <a:gd name="adj" fmla="val 6667"/>
            </a:avLst>
          </a:prstGeom>
          <a:solidFill>
            <a:srgbClr val="161B22"/>
          </a:solidFill>
          <a:ln w="25400">
            <a:solidFill>
              <a:srgbClr val="00C9A7"/>
            </a:solidFill>
            <a:prstDash val="solid"/>
          </a:ln>
        </p:spPr>
      </p:sp>
      <p:sp>
        <p:nvSpPr>
          <p:cNvPr id="10" name="Text 8"/>
          <p:cNvSpPr/>
          <p:nvPr/>
        </p:nvSpPr>
        <p:spPr>
          <a:xfrm>
            <a:off x="4389120" y="1874520"/>
            <a:ext cx="3383280" cy="411480"/>
          </a:xfrm>
          <a:prstGeom prst="rect">
            <a:avLst/>
          </a:prstGeom>
          <a:noFill/>
          <a:ln/>
        </p:spPr>
        <p:txBody>
          <a:bodyPr wrap="square" rtlCol="0" anchor="ctr"/>
          <a:lstStyle/>
          <a:p>
            <a:pPr algn="ctr" indent="0" marL="0">
              <a:buNone/>
            </a:pPr>
            <a:r>
              <a:rPr lang="en-US" sz="2200" b="1" dirty="0">
                <a:solidFill>
                  <a:srgbClr val="00C9A7"/>
                </a:solidFill>
                <a:latin typeface="Arial" pitchFamily="34" charset="0"/>
                <a:ea typeface="Arial" pitchFamily="34" charset="-122"/>
                <a:cs typeface="Arial" pitchFamily="34" charset="-120"/>
              </a:rPr>
              <a:t>35%</a:t>
            </a:r>
            <a:endParaRPr lang="en-US" sz="2200" dirty="0"/>
          </a:p>
        </p:txBody>
      </p:sp>
      <p:sp>
        <p:nvSpPr>
          <p:cNvPr id="11" name="Text 9"/>
          <p:cNvSpPr/>
          <p:nvPr/>
        </p:nvSpPr>
        <p:spPr>
          <a:xfrm>
            <a:off x="4389120" y="2240280"/>
            <a:ext cx="3383280" cy="32004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Sales &amp; Success</a:t>
            </a:r>
            <a:endParaRPr lang="en-US" sz="1300" dirty="0"/>
          </a:p>
        </p:txBody>
      </p:sp>
      <p:sp>
        <p:nvSpPr>
          <p:cNvPr id="12" name="Text 10"/>
          <p:cNvSpPr/>
          <p:nvPr/>
        </p:nvSpPr>
        <p:spPr>
          <a:xfrm>
            <a:off x="4663440" y="2606040"/>
            <a:ext cx="2834640" cy="457200"/>
          </a:xfrm>
          <a:prstGeom prst="rect">
            <a:avLst/>
          </a:prstGeom>
          <a:noFill/>
          <a:ln/>
        </p:spPr>
        <p:txBody>
          <a:bodyPr wrap="square" rtlCol="0" anchor="ctr"/>
          <a:lstStyle/>
          <a:p>
            <a:pPr algn="ctr" indent="0" marL="0">
              <a:lnSpc>
                <a:spcPct val="120000"/>
              </a:lnSpc>
              <a:buNone/>
            </a:pPr>
            <a:r>
              <a:rPr lang="en-US" sz="1000" dirty="0">
                <a:solidFill>
                  <a:srgbClr val="8B949E"/>
                </a:solidFill>
                <a:latin typeface="Arial" pitchFamily="34" charset="0"/>
                <a:ea typeface="Arial" pitchFamily="34" charset="-122"/>
                <a:cs typeface="Arial" pitchFamily="34" charset="-120"/>
              </a:rPr>
              <a:t>Onboard communities.</a:t>
            </a:r>
            <a:endParaRPr lang="en-US" sz="1000" dirty="0"/>
          </a:p>
          <a:p>
            <a:pPr algn="ctr" indent="0" marL="0">
              <a:lnSpc>
                <a:spcPct val="120000"/>
              </a:lnSpc>
              <a:buNone/>
            </a:pPr>
            <a:r>
              <a:rPr lang="en-US" sz="1000" dirty="0">
                <a:solidFill>
                  <a:srgbClr val="8B949E"/>
                </a:solidFill>
                <a:latin typeface="Arial" pitchFamily="34" charset="0"/>
                <a:ea typeface="Arial" pitchFamily="34" charset="-122"/>
                <a:cs typeface="Arial" pitchFamily="34" charset="-120"/>
              </a:rPr>
              <a:t>Expand platform adoption.</a:t>
            </a:r>
            <a:endParaRPr lang="en-US" sz="1000" dirty="0"/>
          </a:p>
        </p:txBody>
      </p:sp>
      <p:sp>
        <p:nvSpPr>
          <p:cNvPr id="13" name="Shape 11"/>
          <p:cNvSpPr/>
          <p:nvPr/>
        </p:nvSpPr>
        <p:spPr>
          <a:xfrm>
            <a:off x="8046720" y="1828800"/>
            <a:ext cx="3383280" cy="1371600"/>
          </a:xfrm>
          <a:prstGeom prst="roundRect">
            <a:avLst>
              <a:gd name="adj" fmla="val 6667"/>
            </a:avLst>
          </a:prstGeom>
          <a:solidFill>
            <a:srgbClr val="161B22"/>
          </a:solidFill>
          <a:ln w="25400">
            <a:solidFill>
              <a:srgbClr val="F0B429"/>
            </a:solidFill>
            <a:prstDash val="solid"/>
          </a:ln>
        </p:spPr>
      </p:sp>
      <p:sp>
        <p:nvSpPr>
          <p:cNvPr id="14" name="Text 12"/>
          <p:cNvSpPr/>
          <p:nvPr/>
        </p:nvSpPr>
        <p:spPr>
          <a:xfrm>
            <a:off x="8046720" y="1874520"/>
            <a:ext cx="3383280" cy="411480"/>
          </a:xfrm>
          <a:prstGeom prst="rect">
            <a:avLst/>
          </a:prstGeom>
          <a:noFill/>
          <a:ln/>
        </p:spPr>
        <p:txBody>
          <a:bodyPr wrap="square" rtlCol="0" anchor="ctr"/>
          <a:lstStyle/>
          <a:p>
            <a:pPr algn="ctr" indent="0" marL="0">
              <a:buNone/>
            </a:pPr>
            <a:r>
              <a:rPr lang="en-US" sz="2200" b="1" dirty="0">
                <a:solidFill>
                  <a:srgbClr val="F0B429"/>
                </a:solidFill>
                <a:latin typeface="Arial" pitchFamily="34" charset="0"/>
                <a:ea typeface="Arial" pitchFamily="34" charset="-122"/>
                <a:cs typeface="Arial" pitchFamily="34" charset="-120"/>
              </a:rPr>
              <a:t>25%</a:t>
            </a:r>
            <a:endParaRPr lang="en-US" sz="2200" dirty="0"/>
          </a:p>
        </p:txBody>
      </p:sp>
      <p:sp>
        <p:nvSpPr>
          <p:cNvPr id="15" name="Text 13"/>
          <p:cNvSpPr/>
          <p:nvPr/>
        </p:nvSpPr>
        <p:spPr>
          <a:xfrm>
            <a:off x="8046720" y="2240280"/>
            <a:ext cx="3383280" cy="32004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Product &amp; Infra</a:t>
            </a:r>
            <a:endParaRPr lang="en-US" sz="1300" dirty="0"/>
          </a:p>
        </p:txBody>
      </p:sp>
      <p:sp>
        <p:nvSpPr>
          <p:cNvPr id="16" name="Text 14"/>
          <p:cNvSpPr/>
          <p:nvPr/>
        </p:nvSpPr>
        <p:spPr>
          <a:xfrm>
            <a:off x="8321040" y="2606040"/>
            <a:ext cx="2834640" cy="457200"/>
          </a:xfrm>
          <a:prstGeom prst="rect">
            <a:avLst/>
          </a:prstGeom>
          <a:noFill/>
          <a:ln/>
        </p:spPr>
        <p:txBody>
          <a:bodyPr wrap="square" rtlCol="0" anchor="ctr"/>
          <a:lstStyle/>
          <a:p>
            <a:pPr algn="ctr" indent="0" marL="0">
              <a:lnSpc>
                <a:spcPct val="120000"/>
              </a:lnSpc>
              <a:buNone/>
            </a:pPr>
            <a:r>
              <a:rPr lang="en-US" sz="1000" dirty="0">
                <a:solidFill>
                  <a:srgbClr val="8B949E"/>
                </a:solidFill>
                <a:latin typeface="Arial" pitchFamily="34" charset="0"/>
                <a:ea typeface="Arial" pitchFamily="34" charset="-122"/>
                <a:cs typeface="Arial" pitchFamily="34" charset="-120"/>
              </a:rPr>
              <a:t>Platform hardening.</a:t>
            </a:r>
            <a:endParaRPr lang="en-US" sz="1000" dirty="0"/>
          </a:p>
          <a:p>
            <a:pPr algn="ctr" indent="0" marL="0">
              <a:lnSpc>
                <a:spcPct val="120000"/>
              </a:lnSpc>
              <a:buNone/>
            </a:pPr>
            <a:r>
              <a:rPr lang="en-US" sz="1000" dirty="0">
                <a:solidFill>
                  <a:srgbClr val="8B949E"/>
                </a:solidFill>
                <a:latin typeface="Arial" pitchFamily="34" charset="0"/>
                <a:ea typeface="Arial" pitchFamily="34" charset="-122"/>
                <a:cs typeface="Arial" pitchFamily="34" charset="-120"/>
              </a:rPr>
              <a:t>Compliance. Scale.</a:t>
            </a:r>
            <a:endParaRPr lang="en-US" sz="1000" dirty="0"/>
          </a:p>
        </p:txBody>
      </p:sp>
      <p:sp>
        <p:nvSpPr>
          <p:cNvPr id="17" name="Shape 15"/>
          <p:cNvSpPr/>
          <p:nvPr/>
        </p:nvSpPr>
        <p:spPr>
          <a:xfrm>
            <a:off x="2286000" y="3429000"/>
            <a:ext cx="7589520" cy="457200"/>
          </a:xfrm>
          <a:prstGeom prst="roundRect">
            <a:avLst>
              <a:gd name="adj" fmla="val 20000"/>
            </a:avLst>
          </a:prstGeom>
          <a:solidFill>
            <a:srgbClr val="161B22"/>
          </a:solidFill>
          <a:ln w="12700">
            <a:solidFill>
              <a:srgbClr val="F0B429"/>
            </a:solidFill>
            <a:prstDash val="solid"/>
          </a:ln>
        </p:spPr>
      </p:sp>
      <p:sp>
        <p:nvSpPr>
          <p:cNvPr id="18" name="Text 16"/>
          <p:cNvSpPr/>
          <p:nvPr/>
        </p:nvSpPr>
        <p:spPr>
          <a:xfrm>
            <a:off x="2286000" y="3429000"/>
            <a:ext cx="7589520" cy="457200"/>
          </a:xfrm>
          <a:prstGeom prst="rect">
            <a:avLst/>
          </a:prstGeom>
          <a:noFill/>
          <a:ln/>
        </p:spPr>
        <p:txBody>
          <a:bodyPr wrap="square" rtlCol="0" anchor="ctr"/>
          <a:lstStyle/>
          <a:p>
            <a:pPr algn="ctr" indent="0" marL="0">
              <a:buNone/>
            </a:pPr>
            <a:r>
              <a:rPr lang="en-US" sz="1300" b="1" dirty="0">
                <a:solidFill>
                  <a:srgbClr val="F0B429"/>
                </a:solidFill>
                <a:latin typeface="Arial" pitchFamily="34" charset="0"/>
                <a:ea typeface="Arial" pitchFamily="34" charset="-122"/>
                <a:cs typeface="Arial" pitchFamily="34" charset="-120"/>
              </a:rPr>
              <a:t>12-Month Target:   $2M ARR   •   5 Communities   •   50+ Organizations Licensed</a:t>
            </a:r>
            <a:endParaRPr lang="en-US" sz="1300" dirty="0"/>
          </a:p>
        </p:txBody>
      </p:sp>
      <p:sp>
        <p:nvSpPr>
          <p:cNvPr id="19" name="Shape 17"/>
          <p:cNvSpPr/>
          <p:nvPr/>
        </p:nvSpPr>
        <p:spPr>
          <a:xfrm>
            <a:off x="731520" y="4114800"/>
            <a:ext cx="10698480" cy="27432"/>
          </a:xfrm>
          <a:prstGeom prst="rect">
            <a:avLst/>
          </a:prstGeom>
          <a:solidFill>
            <a:srgbClr val="0079F2"/>
          </a:solidFill>
          <a:ln/>
        </p:spPr>
      </p:sp>
      <p:sp>
        <p:nvSpPr>
          <p:cNvPr id="20" name="Text 18"/>
          <p:cNvSpPr/>
          <p:nvPr/>
        </p:nvSpPr>
        <p:spPr>
          <a:xfrm>
            <a:off x="731520" y="4251960"/>
            <a:ext cx="7315200" cy="32004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Dr. Terry Flood, DHA, DBA  —  Founder &amp; CEO</a:t>
            </a:r>
            <a:endParaRPr lang="en-US" sz="1600" dirty="0"/>
          </a:p>
        </p:txBody>
      </p:sp>
      <p:sp>
        <p:nvSpPr>
          <p:cNvPr id="21" name="Text 19"/>
          <p:cNvSpPr/>
          <p:nvPr/>
        </p:nvSpPr>
        <p:spPr>
          <a:xfrm>
            <a:off x="731520" y="4572000"/>
            <a:ext cx="9144000" cy="45720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U.S. Army Veteran  •  DHA  •  DBA  •  MS Criminal Justice  •  MS I/O Psychology  •  MS HRM</a:t>
            </a:r>
            <a:endParaRPr lang="en-US" sz="1000" dirty="0"/>
          </a:p>
          <a:p>
            <a:pPr indent="0" marL="0">
              <a:lnSpc>
                <a:spcPct val="130000"/>
              </a:lnSpc>
              <a:buNone/>
            </a:pPr>
            <a:r>
              <a:rPr lang="en-US" sz="1000" dirty="0">
                <a:solidFill>
                  <a:srgbClr val="8B949E"/>
                </a:solidFill>
                <a:latin typeface="Arial" pitchFamily="34" charset="0"/>
                <a:ea typeface="Arial" pitchFamily="34" charset="-122"/>
                <a:cs typeface="Arial" pitchFamily="34" charset="-120"/>
              </a:rPr>
              <a:t>Implementation Science (Dartmouth)  •  VA Crisis Line  •  25 Years Direct Service  •  Black-led, Veteran-founded</a:t>
            </a:r>
            <a:endParaRPr lang="en-US" sz="1000" dirty="0"/>
          </a:p>
        </p:txBody>
      </p:sp>
      <p:sp>
        <p:nvSpPr>
          <p:cNvPr id="22" name="Shape 20"/>
          <p:cNvSpPr/>
          <p:nvPr/>
        </p:nvSpPr>
        <p:spPr>
          <a:xfrm>
            <a:off x="731520" y="5166360"/>
            <a:ext cx="10698480" cy="1691640"/>
          </a:xfrm>
          <a:prstGeom prst="roundRect">
            <a:avLst>
              <a:gd name="adj" fmla="val 6486"/>
            </a:avLst>
          </a:prstGeom>
          <a:solidFill>
            <a:srgbClr val="161B22"/>
          </a:solidFill>
          <a:ln w="25400">
            <a:solidFill>
              <a:srgbClr val="00C9A7"/>
            </a:solidFill>
            <a:prstDash val="solid"/>
          </a:ln>
        </p:spPr>
      </p:sp>
      <p:sp>
        <p:nvSpPr>
          <p:cNvPr id="23" name="Text 21"/>
          <p:cNvSpPr/>
          <p:nvPr/>
        </p:nvSpPr>
        <p:spPr>
          <a:xfrm>
            <a:off x="1005840" y="5212080"/>
            <a:ext cx="10149840" cy="1234440"/>
          </a:xfrm>
          <a:prstGeom prst="rect">
            <a:avLst/>
          </a:prstGeom>
          <a:noFill/>
          <a:ln/>
        </p:spPr>
        <p:txBody>
          <a:bodyPr wrap="square" rtlCol="0" anchor="ctr"/>
          <a:lstStyle/>
          <a:p>
            <a:pPr algn="ctr" indent="0" marL="0">
              <a:lnSpc>
                <a:spcPct val="125000"/>
              </a:lnSpc>
              <a:buNone/>
            </a:pPr>
            <a:r>
              <a:rPr lang="en-US" sz="1100" i="1" dirty="0">
                <a:solidFill>
                  <a:srgbClr val="8B949E"/>
                </a:solidFill>
                <a:latin typeface="Arial" pitchFamily="34" charset="0"/>
                <a:ea typeface="Arial" pitchFamily="34" charset="-122"/>
                <a:cs typeface="Arial" pitchFamily="34" charset="-120"/>
              </a:rPr>
              <a:t>Keisha is not hypothetical. She is every woman in every underserved community in America.</a:t>
            </a:r>
            <a:endParaRPr lang="en-US" sz="1100" dirty="0"/>
          </a:p>
          <a:p>
            <a:pPr algn="ctr" indent="0" marL="0">
              <a:lnSpc>
                <a:spcPct val="125000"/>
              </a:lnSpc>
              <a:buNone/>
            </a:pPr>
            <a:endParaRPr lang="en-US" sz="1100" dirty="0"/>
          </a:p>
          <a:p>
            <a:pPr algn="ctr" indent="0" marL="0">
              <a:lnSpc>
                <a:spcPct val="125000"/>
              </a:lnSpc>
              <a:buNone/>
            </a:pPr>
            <a:r>
              <a:rPr lang="en-US" sz="1100" i="1" dirty="0">
                <a:solidFill>
                  <a:srgbClr val="8B949E"/>
                </a:solidFill>
                <a:latin typeface="Arial" pitchFamily="34" charset="0"/>
                <a:ea typeface="Arial" pitchFamily="34" charset="-122"/>
                <a:cs typeface="Arial" pitchFamily="34" charset="-120"/>
              </a:rPr>
              <a:t>She is a veteran and a mother and a cancer patient and pregnant and depressed — and her child</a:t>
            </a:r>
            <a:endParaRPr lang="en-US" sz="1100" dirty="0"/>
          </a:p>
          <a:p>
            <a:pPr algn="ctr" indent="0" marL="0">
              <a:lnSpc>
                <a:spcPct val="125000"/>
              </a:lnSpc>
              <a:buNone/>
            </a:pPr>
            <a:r>
              <a:rPr lang="en-US" sz="1100" i="1" dirty="0">
                <a:solidFill>
                  <a:srgbClr val="8B949E"/>
                </a:solidFill>
                <a:latin typeface="Arial" pitchFamily="34" charset="0"/>
                <a:ea typeface="Arial" pitchFamily="34" charset="-122"/>
                <a:cs typeface="Arial" pitchFamily="34" charset="-120"/>
              </a:rPr>
              <a:t>is failing in school because of all of it. The school sees a struggling student. The hospital sees a patient.</a:t>
            </a:r>
            <a:endParaRPr lang="en-US" sz="1100" dirty="0"/>
          </a:p>
          <a:p>
            <a:pPr algn="ctr" indent="0" marL="0">
              <a:lnSpc>
                <a:spcPct val="125000"/>
              </a:lnSpc>
              <a:buNone/>
            </a:pPr>
            <a:r>
              <a:rPr lang="en-US" sz="1100" i="1" dirty="0">
                <a:solidFill>
                  <a:srgbClr val="8B949E"/>
                </a:solidFill>
                <a:latin typeface="Arial" pitchFamily="34" charset="0"/>
                <a:ea typeface="Arial" pitchFamily="34" charset="-122"/>
                <a:cs typeface="Arial" pitchFamily="34" charset="-120"/>
              </a:rPr>
              <a:t>The workforce board sees an employee. Nobody sees the family.</a:t>
            </a:r>
            <a:endParaRPr lang="en-US" sz="1100" dirty="0"/>
          </a:p>
          <a:p>
            <a:pPr algn="ctr" indent="0" marL="0">
              <a:lnSpc>
                <a:spcPct val="125000"/>
              </a:lnSpc>
              <a:buNone/>
            </a:pPr>
            <a:endParaRPr lang="en-US" sz="1100" dirty="0"/>
          </a:p>
          <a:p>
            <a:pPr algn="ctr" indent="0" marL="0">
              <a:lnSpc>
                <a:spcPct val="125000"/>
              </a:lnSpc>
              <a:buNone/>
            </a:pPr>
            <a:r>
              <a:rPr lang="en-US" sz="1100" i="1" dirty="0">
                <a:solidFill>
                  <a:srgbClr val="8B949E"/>
                </a:solidFill>
                <a:latin typeface="Arial" pitchFamily="34" charset="0"/>
                <a:ea typeface="Arial" pitchFamily="34" charset="-122"/>
                <a:cs typeface="Arial" pitchFamily="34" charset="-120"/>
              </a:rPr>
              <a:t>ThriveUp sees the family. Because it's one ecosystem, not eight agencies.</a:t>
            </a:r>
            <a:endParaRPr lang="en-US" sz="1100" dirty="0"/>
          </a:p>
        </p:txBody>
      </p:sp>
      <p:sp>
        <p:nvSpPr>
          <p:cNvPr id="24" name="Text 22"/>
          <p:cNvSpPr/>
          <p:nvPr/>
        </p:nvSpPr>
        <p:spPr>
          <a:xfrm>
            <a:off x="1005840" y="6492240"/>
            <a:ext cx="10149840" cy="320040"/>
          </a:xfrm>
          <a:prstGeom prst="rect">
            <a:avLst/>
          </a:prstGeom>
          <a:noFill/>
          <a:ln/>
        </p:spPr>
        <p:txBody>
          <a:bodyPr wrap="square" rtlCol="0" anchor="ctr"/>
          <a:lstStyle/>
          <a:p>
            <a:pPr algn="ctr" indent="0" marL="0">
              <a:buNone/>
            </a:pPr>
            <a:r>
              <a:rPr lang="en-US" sz="1600" b="1" dirty="0">
                <a:solidFill>
                  <a:srgbClr val="00C9A7"/>
                </a:solidFill>
                <a:latin typeface="Arial" pitchFamily="34" charset="0"/>
                <a:ea typeface="Arial" pitchFamily="34" charset="-122"/>
                <a:cs typeface="Arial" pitchFamily="34" charset="-120"/>
              </a:rPr>
              <a:t>Walk through any door. Get help in every room.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Integrated Services and Solutions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ThriveUp Ecosystem — The Pitch by Deel 2026</dc:title>
  <dc:subject>PptxGenJS Presentation</dc:subject>
  <dc:creator>Dr. Terry Flood</dc:creator>
  <cp:lastModifiedBy>Dr. Terry Flood</cp:lastModifiedBy>
  <cp:revision>1</cp:revision>
  <dcterms:created xsi:type="dcterms:W3CDTF">2026-04-04T18:22:10Z</dcterms:created>
  <dcterms:modified xsi:type="dcterms:W3CDTF">2026-04-04T18:22:10Z</dcterms:modified>
</cp:coreProperties>
</file>