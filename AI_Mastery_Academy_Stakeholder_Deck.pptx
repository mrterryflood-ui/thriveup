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AI Mastery Academy stakeholder presentation. This platform is a comprehensive School Support Hub designed for under-resourced youth ages 14-24, focused on AI mastery and workforce development. Our tagline captures our mission: teaching the first generation to guide their smartest classmate.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mission is empowering under-resourced youth with AI literacy, workforce readiness, and direct school-to-career pipelines. We focus on three pillars: AI literacy as the new foundation for every career, direct pipelines from classroom to career placement, and whole-child support through mentorship and community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challenge is significant. 67% of low-income students lack career readiness programs. Without workforce training, they are 3x more likely to face unemployment. And 82% of future jobs will require digital and AI literacy. These compounding barriers create a cycle that our platform is designed to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a complete ecosystem, not just a course. It includes a 5-level AI curriculum, 55 career pathways across 12 industries, an AI Creation Studio with 10 professional tools, and a growing mentor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curriculum progresses through five mastery levels: Explorer, Guide, Architect, Innovator, and Master. Each level has specific competencies, capstone projects, and parent teachback verification. The 31 modules are structured so students build skills progressively.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offer 55 career pathways across 12 industry categories including Technology, Healthcare, Skilled Trades, Engineering, and more. Each pathway has structured progression from exploration through job readiness, skill training, and career 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Creation Studio gives students 10 professional-grade tools. Students earn access by completing curriculum modules, ensuring they understand responsible AI use before accessing powerful tools. Adults can access all tools through Sparky.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Spark is our AI learning companion for students with grade-band-specific responses, Socratic questioning, emotional intelligence, bilingual support, and comprehensive safety guardrails. Sparky serves parents and teachers with compassionate, evidence-based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Panther Village is our immersive virtual campus featuring interactive buildings, avatar customization, a stock market simulation for financial literacy, and academic competitions with houses, quests, and leaderboards.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live numbers from our platform. We track youth served, career pathways available, professional mentors, mastery levels, learning modules, and career milestones. The full impact dashboard is available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platform meets every criterion for workforce development grant eligibility. Each checkmark represents a fully implemented capability, not a planned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mentor network connects youth with professional coaches across all 12 career categories. The system includes structured pathway planning with milestone tracking.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academics, we provide whole-child support including the IGN-Thrive six-domain scoring engine with early warning systems, financial literacy through stock market simulation, a nationwide community resource finder, and STAAR test preparation.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Community Resource Finder connects families to local support services including healthcare, food assistance, housing, education, and employment across all 50 states plus DC and territories.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serve three primary audiences. Students ages 14-24, schools and districts, and funders and employers. Each audience gets specific value from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differentiate us. Tools earned through mastery, safety-first AI, real impact data, and community-embedded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Accessibility is not an afterthought. We have WCAG 2.1 AA compliance, adaptive learning features, and inclusive design with bilingual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COPPA compliant, FERPA aligned, with secure OIDC authentication and rate-limited AI interactions. All 124 API routes have comprehensive error handling.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runs on a production-ready stack with 70+ pages, 124 API routes with 100% error handling, 60+ code-split components. React, Vite, TanStack Query frontend. Express, PostgreSQL, Drizzle ORM, Gemini AI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phased rollout starts with foundation deployment in months 1-3, growth with mentor expansion in months 4-6, and scales to multi-district rollout with national expansion in months 7-12.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students who learn to think with AI today will lead tomorrow. We invite you to explore the live platform, review our impact dashboard, and connect with us. Contact us at sisnett.meredith@gmail.com and mr.terryflood@gmail.com.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1C2A"/>
        </a:solidFill>
      </p:bgPr>
    </p:bg>
    <p:spTree>
      <p:nvGrpSpPr>
        <p:cNvPr id="1" name=""/>
        <p:cNvGrpSpPr/>
        <p:nvPr/>
      </p:nvGrpSpPr>
      <p:grpSpPr>
        <a:xfrm>
          <a:off x="0" y="0"/>
          <a:ext cx="0" cy="0"/>
          <a:chOff x="0" y="0"/>
          <a:chExt cx="0" cy="0"/>
        </a:xfrm>
      </p:grpSpPr>
      <p:sp>
        <p:nvSpPr>
          <p:cNvPr id="3" name="Text 0"/>
          <p:cNvSpPr/>
          <p:nvPr/>
        </p:nvSpPr>
        <p:spPr>
          <a:xfrm>
            <a:off x="731520" y="1371600"/>
            <a:ext cx="10515600" cy="13716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AI Mastery Academy</a:t>
            </a:r>
            <a:endParaRPr lang="en-US" sz="4400" dirty="0"/>
          </a:p>
        </p:txBody>
      </p:sp>
      <p:sp>
        <p:nvSpPr>
          <p:cNvPr id="4" name="Text 1"/>
          <p:cNvSpPr/>
          <p:nvPr/>
        </p:nvSpPr>
        <p:spPr>
          <a:xfrm>
            <a:off x="731520" y="2743200"/>
            <a:ext cx="10515600" cy="731520"/>
          </a:xfrm>
          <a:prstGeom prst="rect">
            <a:avLst/>
          </a:prstGeom>
          <a:noFill/>
          <a:ln/>
        </p:spPr>
        <p:txBody>
          <a:bodyPr wrap="square" rtlCol="0" anchor="ctr"/>
          <a:lstStyle/>
          <a:p>
            <a:pPr algn="ctr" indent="0" marL="0">
              <a:buNone/>
            </a:pPr>
            <a:r>
              <a:rPr lang="en-US" sz="2200" dirty="0">
                <a:solidFill>
                  <a:srgbClr val="D0D0D0"/>
                </a:solidFill>
                <a:latin typeface="Arial" pitchFamily="34" charset="0"/>
                <a:ea typeface="Arial" pitchFamily="34" charset="-122"/>
                <a:cs typeface="Arial" pitchFamily="34" charset="-120"/>
              </a:rPr>
              <a:t>School Support Hub for Under-Resourced Youth</a:t>
            </a:r>
            <a:endParaRPr lang="en-US" sz="2200" dirty="0"/>
          </a:p>
        </p:txBody>
      </p:sp>
      <p:sp>
        <p:nvSpPr>
          <p:cNvPr id="5" name="Text 2"/>
          <p:cNvSpPr/>
          <p:nvPr/>
        </p:nvSpPr>
        <p:spPr>
          <a:xfrm>
            <a:off x="731520" y="3840480"/>
            <a:ext cx="10515600" cy="457200"/>
          </a:xfrm>
          <a:prstGeom prst="rect">
            <a:avLst/>
          </a:prstGeom>
          <a:noFill/>
          <a:ln/>
        </p:spPr>
        <p:txBody>
          <a:bodyPr wrap="square" rtlCol="0" anchor="ctr"/>
          <a:lstStyle/>
          <a:p>
            <a:pPr algn="ctr" indent="0" marL="0">
              <a:buNone/>
            </a:pPr>
            <a:r>
              <a:rPr lang="en-US" sz="1400" dirty="0">
                <a:solidFill>
                  <a:srgbClr val="E8E8E8"/>
                </a:solidFill>
              </a:rPr>
              <a:t>Ages 14-24</a:t>
            </a:r>
            <a:pPr algn="ctr" indent="0" marL="0">
              <a:buNone/>
            </a:pPr>
            <a:r>
              <a:rPr lang="en-US" sz="1400" dirty="0">
                <a:solidFill>
                  <a:srgbClr val="999999"/>
                </a:solidFill>
              </a:rPr>
              <a:t>    |    </a:t>
            </a:r>
            <a:pPr algn="ctr" indent="0" marL="0">
              <a:buNone/>
            </a:pPr>
            <a:r>
              <a:rPr lang="en-US" sz="1400" dirty="0">
                <a:solidFill>
                  <a:srgbClr val="E8E8E8"/>
                </a:solidFill>
              </a:rPr>
              <a:t>Workforce Development</a:t>
            </a:r>
            <a:pPr algn="ctr" indent="0" marL="0">
              <a:buNone/>
            </a:pPr>
            <a:r>
              <a:rPr lang="en-US" sz="1400" dirty="0">
                <a:solidFill>
                  <a:srgbClr val="999999"/>
                </a:solidFill>
              </a:rPr>
              <a:t>    |    </a:t>
            </a:r>
            <a:pPr algn="ctr" indent="0" marL="0">
              <a:buNone/>
            </a:pPr>
            <a:r>
              <a:rPr lang="en-US" sz="1400" dirty="0">
                <a:solidFill>
                  <a:srgbClr val="E8E8E8"/>
                </a:solidFill>
              </a:rPr>
              <a:t>AI-Powered Learning</a:t>
            </a:r>
            <a:endParaRPr lang="en-US" sz="1400" dirty="0"/>
          </a:p>
        </p:txBody>
      </p:sp>
      <p:sp>
        <p:nvSpPr>
          <p:cNvPr id="6" name="Text 3"/>
          <p:cNvSpPr/>
          <p:nvPr/>
        </p:nvSpPr>
        <p:spPr>
          <a:xfrm>
            <a:off x="731520" y="5303520"/>
            <a:ext cx="10515600" cy="457200"/>
          </a:xfrm>
          <a:prstGeom prst="rect">
            <a:avLst/>
          </a:prstGeom>
          <a:noFill/>
          <a:ln/>
        </p:spPr>
        <p:txBody>
          <a:bodyPr wrap="square" rtlCol="0" anchor="ctr"/>
          <a:lstStyle/>
          <a:p>
            <a:pPr algn="ctr" indent="0" marL="0">
              <a:buNone/>
            </a:pPr>
            <a:r>
              <a:rPr lang="en-US" sz="1400" i="1" dirty="0">
                <a:solidFill>
                  <a:srgbClr val="AAAAAA"/>
                </a:solidFill>
                <a:latin typeface="Arial" pitchFamily="34" charset="0"/>
                <a:ea typeface="Arial" pitchFamily="34" charset="-122"/>
                <a:cs typeface="Arial" pitchFamily="34" charset="-120"/>
              </a:rPr>
              <a:t>Teaching the first generation to guide their smartest classmate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5"/>
        </a:solidFill>
      </p:bgPr>
    </p:bg>
    <p:spTree>
      <p:nvGrpSpPr>
        <p:cNvPr id="1" name=""/>
        <p:cNvGrpSpPr/>
        <p:nvPr/>
      </p:nvGrpSpPr>
      <p:grpSpPr>
        <a:xfrm>
          <a:off x="0" y="0"/>
          <a:ext cx="0" cy="0"/>
          <a:chOff x="0" y="0"/>
          <a:chExt cx="0" cy="0"/>
        </a:xfrm>
      </p:grpSpPr>
      <p:sp>
        <p:nvSpPr>
          <p:cNvPr id="3" name="Shape 0"/>
          <p:cNvSpPr/>
          <p:nvPr/>
        </p:nvSpPr>
        <p:spPr>
          <a:xfrm>
            <a:off x="0" y="0"/>
            <a:ext cx="4114800" cy="6858000"/>
          </a:xfrm>
          <a:prstGeom prst="rect">
            <a:avLst/>
          </a:prstGeom>
          <a:solidFill>
            <a:srgbClr val="6B1C2A"/>
          </a:solidFill>
          <a:ln/>
        </p:spPr>
      </p:sp>
      <p:sp>
        <p:nvSpPr>
          <p:cNvPr id="4" name="Text 1"/>
          <p:cNvSpPr/>
          <p:nvPr/>
        </p:nvSpPr>
        <p:spPr>
          <a:xfrm>
            <a:off x="457200" y="1828800"/>
            <a:ext cx="3200400" cy="1828800"/>
          </a:xfrm>
          <a:prstGeom prst="rect">
            <a:avLst/>
          </a:prstGeom>
          <a:noFill/>
          <a:ln/>
        </p:spPr>
        <p:txBody>
          <a:bodyPr wrap="square" rtlCol="0" anchor="ctr"/>
          <a:lstStyle/>
          <a:p>
            <a:pPr indent="0" marL="0">
              <a:buNone/>
            </a:pPr>
            <a:r>
              <a:rPr lang="en-US" sz="4000" b="1" dirty="0">
                <a:solidFill>
                  <a:srgbClr val="FFFFFF"/>
                </a:solidFill>
                <a:latin typeface="Arial" pitchFamily="34" charset="0"/>
                <a:ea typeface="Arial" pitchFamily="34" charset="-122"/>
                <a:cs typeface="Arial" pitchFamily="34" charset="-120"/>
              </a:rPr>
              <a:t>Our</a:t>
            </a:r>
            <a:endParaRPr lang="en-US" sz="4000" dirty="0"/>
          </a:p>
          <a:p>
            <a:pPr indent="0" marL="0">
              <a:buNone/>
            </a:pPr>
            <a:r>
              <a:rPr lang="en-US" sz="4000" b="1" dirty="0">
                <a:solidFill>
                  <a:srgbClr val="FFFFFF"/>
                </a:solidFill>
                <a:latin typeface="Arial" pitchFamily="34" charset="0"/>
                <a:ea typeface="Arial" pitchFamily="34" charset="-122"/>
                <a:cs typeface="Arial" pitchFamily="34" charset="-120"/>
              </a:rPr>
              <a:t>Mission</a:t>
            </a:r>
            <a:endParaRPr lang="en-US" sz="4000" dirty="0"/>
          </a:p>
        </p:txBody>
      </p:sp>
      <p:sp>
        <p:nvSpPr>
          <p:cNvPr id="5" name="Text 2"/>
          <p:cNvSpPr/>
          <p:nvPr/>
        </p:nvSpPr>
        <p:spPr>
          <a:xfrm>
            <a:off x="4572000" y="914400"/>
            <a:ext cx="6858000" cy="1097280"/>
          </a:xfrm>
          <a:prstGeom prst="rect">
            <a:avLst/>
          </a:prstGeom>
          <a:noFill/>
          <a:ln/>
        </p:spPr>
        <p:txBody>
          <a:bodyPr wrap="square" rtlCol="0" anchor="ctr"/>
          <a:lstStyle/>
          <a:p>
            <a:pPr indent="0" marL="0">
              <a:buNone/>
            </a:pPr>
            <a:r>
              <a:rPr lang="en-US" sz="2000" dirty="0">
                <a:solidFill>
                  <a:srgbClr val="2A1015"/>
                </a:solidFill>
                <a:latin typeface="Arial" pitchFamily="34" charset="0"/>
                <a:ea typeface="Arial" pitchFamily="34" charset="-122"/>
                <a:cs typeface="Arial" pitchFamily="34" charset="-120"/>
              </a:rPr>
              <a:t>Empowering under-resourced youth with AI mastery, workforce readiness, and school-to-career pipelines.</a:t>
            </a:r>
            <a:endParaRPr lang="en-US" sz="2000" dirty="0"/>
          </a:p>
        </p:txBody>
      </p:sp>
      <p:sp>
        <p:nvSpPr>
          <p:cNvPr id="6" name="Text 3"/>
          <p:cNvSpPr/>
          <p:nvPr/>
        </p:nvSpPr>
        <p:spPr>
          <a:xfrm>
            <a:off x="4572000" y="2560320"/>
            <a:ext cx="6858000" cy="640080"/>
          </a:xfrm>
          <a:prstGeom prst="rect">
            <a:avLst/>
          </a:prstGeom>
          <a:noFill/>
          <a:ln/>
        </p:spPr>
        <p:txBody>
          <a:bodyPr wrap="square" rtlCol="0" anchor="ctr"/>
          <a:lstStyle/>
          <a:p>
            <a:pPr indent="0" marL="0">
              <a:buNone/>
            </a:pPr>
            <a:r>
              <a:rPr lang="en-US" sz="1600" dirty="0">
                <a:solidFill>
                  <a:srgbClr val="6B5050"/>
                </a:solidFill>
                <a:latin typeface="Arial" pitchFamily="34" charset="0"/>
                <a:ea typeface="Arial" pitchFamily="34" charset="-122"/>
                <a:cs typeface="Arial" pitchFamily="34" charset="-120"/>
              </a:rPr>
              <a:t>✓  AI literacy as the new foundation for career success</a:t>
            </a:r>
            <a:endParaRPr lang="en-US" sz="1600" dirty="0"/>
          </a:p>
        </p:txBody>
      </p:sp>
      <p:sp>
        <p:nvSpPr>
          <p:cNvPr id="7" name="Text 4"/>
          <p:cNvSpPr/>
          <p:nvPr/>
        </p:nvSpPr>
        <p:spPr>
          <a:xfrm>
            <a:off x="4572000" y="3474720"/>
            <a:ext cx="6858000" cy="640080"/>
          </a:xfrm>
          <a:prstGeom prst="rect">
            <a:avLst/>
          </a:prstGeom>
          <a:noFill/>
          <a:ln/>
        </p:spPr>
        <p:txBody>
          <a:bodyPr wrap="square" rtlCol="0" anchor="ctr"/>
          <a:lstStyle/>
          <a:p>
            <a:pPr indent="0" marL="0">
              <a:buNone/>
            </a:pPr>
            <a:r>
              <a:rPr lang="en-US" sz="1600" dirty="0">
                <a:solidFill>
                  <a:srgbClr val="6B5050"/>
                </a:solidFill>
                <a:latin typeface="Arial" pitchFamily="34" charset="0"/>
                <a:ea typeface="Arial" pitchFamily="34" charset="-122"/>
                <a:cs typeface="Arial" pitchFamily="34" charset="-120"/>
              </a:rPr>
              <a:t>✓  Direct pipelines from classroom to career placement</a:t>
            </a:r>
            <a:endParaRPr lang="en-US" sz="1600" dirty="0"/>
          </a:p>
        </p:txBody>
      </p:sp>
      <p:sp>
        <p:nvSpPr>
          <p:cNvPr id="8" name="Text 5"/>
          <p:cNvSpPr/>
          <p:nvPr/>
        </p:nvSpPr>
        <p:spPr>
          <a:xfrm>
            <a:off x="4572000" y="4389120"/>
            <a:ext cx="6858000" cy="640080"/>
          </a:xfrm>
          <a:prstGeom prst="rect">
            <a:avLst/>
          </a:prstGeom>
          <a:noFill/>
          <a:ln/>
        </p:spPr>
        <p:txBody>
          <a:bodyPr wrap="square" rtlCol="0" anchor="ctr"/>
          <a:lstStyle/>
          <a:p>
            <a:pPr indent="0" marL="0">
              <a:buNone/>
            </a:pPr>
            <a:r>
              <a:rPr lang="en-US" sz="1600" dirty="0">
                <a:solidFill>
                  <a:srgbClr val="6B5050"/>
                </a:solidFill>
                <a:latin typeface="Arial" pitchFamily="34" charset="0"/>
                <a:ea typeface="Arial" pitchFamily="34" charset="-122"/>
                <a:cs typeface="Arial" pitchFamily="34" charset="-120"/>
              </a:rPr>
              <a:t>✓  Whole-child support through mentorship and community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215"/>
        </a:solidFill>
      </p:bgPr>
    </p:bg>
    <p:spTree>
      <p:nvGrpSpPr>
        <p:cNvPr id="1" name=""/>
        <p:cNvGrpSpPr/>
        <p:nvPr/>
      </p:nvGrpSpPr>
      <p:grpSpPr>
        <a:xfrm>
          <a:off x="0" y="0"/>
          <a:ext cx="0" cy="0"/>
          <a:chOff x="0" y="0"/>
          <a:chExt cx="0" cy="0"/>
        </a:xfrm>
      </p:grpSpPr>
      <p:sp>
        <p:nvSpPr>
          <p:cNvPr id="3" name="Text 0"/>
          <p:cNvSpPr/>
          <p:nvPr/>
        </p:nvSpPr>
        <p:spPr>
          <a:xfrm>
            <a:off x="731520" y="457200"/>
            <a:ext cx="10058400" cy="457200"/>
          </a:xfrm>
          <a:prstGeom prst="rect">
            <a:avLst/>
          </a:prstGeom>
          <a:noFill/>
          <a:ln/>
        </p:spPr>
        <p:txBody>
          <a:bodyPr wrap="square" rtlCol="0" anchor="ctr"/>
          <a:lstStyle/>
          <a:p>
            <a:pPr indent="0" marL="0">
              <a:buNone/>
            </a:pPr>
            <a:r>
              <a:rPr lang="en-US" sz="1200" b="1" spc="400" kern="0" dirty="0">
                <a:solidFill>
                  <a:srgbClr val="C9A0A0"/>
                </a:solidFill>
                <a:latin typeface="Arial" pitchFamily="34" charset="0"/>
                <a:ea typeface="Arial" pitchFamily="34" charset="-122"/>
                <a:cs typeface="Arial" pitchFamily="34" charset="-120"/>
              </a:rPr>
              <a:t>THE CHALLENGE</a:t>
            </a:r>
            <a:endParaRPr lang="en-US" sz="1200" dirty="0"/>
          </a:p>
        </p:txBody>
      </p:sp>
      <p:sp>
        <p:nvSpPr>
          <p:cNvPr id="4" name="Text 1"/>
          <p:cNvSpPr/>
          <p:nvPr/>
        </p:nvSpPr>
        <p:spPr>
          <a:xfrm>
            <a:off x="731520" y="914400"/>
            <a:ext cx="10058400" cy="13716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Under-resourced youth face</a:t>
            </a:r>
            <a:endParaRPr lang="en-US" sz="3200" dirty="0"/>
          </a:p>
          <a:p>
            <a:pPr indent="0" marL="0">
              <a:buNone/>
            </a:pPr>
            <a:r>
              <a:rPr lang="en-US" sz="3200" b="1" dirty="0">
                <a:solidFill>
                  <a:srgbClr val="FFFFFF"/>
                </a:solidFill>
                <a:latin typeface="Arial" pitchFamily="34" charset="0"/>
                <a:ea typeface="Arial" pitchFamily="34" charset="-122"/>
                <a:cs typeface="Arial" pitchFamily="34" charset="-120"/>
              </a:rPr>
              <a:t>compounding barriers</a:t>
            </a:r>
            <a:endParaRPr lang="en-US" sz="3200" dirty="0"/>
          </a:p>
        </p:txBody>
      </p:sp>
      <p:sp>
        <p:nvSpPr>
          <p:cNvPr id="5" name="Shape 2"/>
          <p:cNvSpPr/>
          <p:nvPr/>
        </p:nvSpPr>
        <p:spPr>
          <a:xfrm>
            <a:off x="731520" y="2743200"/>
            <a:ext cx="3291840" cy="3200400"/>
          </a:xfrm>
          <a:prstGeom prst="roundRect">
            <a:avLst>
              <a:gd name="adj" fmla="val 4286"/>
            </a:avLst>
          </a:prstGeom>
          <a:solidFill>
            <a:srgbClr val="2A2025"/>
          </a:solidFill>
          <a:ln w="12700">
            <a:solidFill>
              <a:srgbClr val="3A3035"/>
            </a:solidFill>
            <a:prstDash val="solid"/>
          </a:ln>
        </p:spPr>
      </p:sp>
      <p:sp>
        <p:nvSpPr>
          <p:cNvPr id="6" name="Text 3"/>
          <p:cNvSpPr/>
          <p:nvPr/>
        </p:nvSpPr>
        <p:spPr>
          <a:xfrm>
            <a:off x="731520" y="2926080"/>
            <a:ext cx="3291840" cy="1097280"/>
          </a:xfrm>
          <a:prstGeom prst="rect">
            <a:avLst/>
          </a:prstGeom>
          <a:noFill/>
          <a:ln/>
        </p:spPr>
        <p:txBody>
          <a:bodyPr wrap="square" rtlCol="0" anchor="ctr"/>
          <a:lstStyle/>
          <a:p>
            <a:pPr algn="ctr" indent="0" marL="0">
              <a:buNone/>
            </a:pPr>
            <a:r>
              <a:rPr lang="en-US" sz="4400" b="1" dirty="0">
                <a:solidFill>
                  <a:srgbClr val="C9A0A0"/>
                </a:solidFill>
                <a:latin typeface="Arial" pitchFamily="34" charset="0"/>
                <a:ea typeface="Arial" pitchFamily="34" charset="-122"/>
                <a:cs typeface="Arial" pitchFamily="34" charset="-120"/>
              </a:rPr>
              <a:t>67%</a:t>
            </a:r>
            <a:endParaRPr lang="en-US" sz="4400" dirty="0"/>
          </a:p>
        </p:txBody>
      </p:sp>
      <p:sp>
        <p:nvSpPr>
          <p:cNvPr id="7" name="Text 4"/>
          <p:cNvSpPr/>
          <p:nvPr/>
        </p:nvSpPr>
        <p:spPr>
          <a:xfrm>
            <a:off x="1005840" y="4114800"/>
            <a:ext cx="2743200" cy="1371600"/>
          </a:xfrm>
          <a:prstGeom prst="rect">
            <a:avLst/>
          </a:prstGeom>
          <a:noFill/>
          <a:ln/>
        </p:spPr>
        <p:txBody>
          <a:bodyPr wrap="square" rtlCol="0" anchor="ctr"/>
          <a:lstStyle/>
          <a:p>
            <a:pPr algn="ctr" indent="0" marL="0">
              <a:buNone/>
            </a:pPr>
            <a:r>
              <a:rPr lang="en-US" sz="1300" dirty="0">
                <a:solidFill>
                  <a:srgbClr val="D0D0D0"/>
                </a:solidFill>
                <a:latin typeface="Arial" pitchFamily="34" charset="0"/>
                <a:ea typeface="Arial" pitchFamily="34" charset="-122"/>
                <a:cs typeface="Arial" pitchFamily="34" charset="-120"/>
              </a:rPr>
              <a:t>of low-income students lack access</a:t>
            </a:r>
            <a:endParaRPr lang="en-US" sz="1300" dirty="0"/>
          </a:p>
          <a:p>
            <a:pPr algn="ctr" indent="0" marL="0">
              <a:buNone/>
            </a:pPr>
            <a:r>
              <a:rPr lang="en-US" sz="1300" dirty="0">
                <a:solidFill>
                  <a:srgbClr val="D0D0D0"/>
                </a:solidFill>
                <a:latin typeface="Arial" pitchFamily="34" charset="0"/>
                <a:ea typeface="Arial" pitchFamily="34" charset="-122"/>
                <a:cs typeface="Arial" pitchFamily="34" charset="-120"/>
              </a:rPr>
              <a:t>to career readiness programs</a:t>
            </a:r>
            <a:endParaRPr lang="en-US" sz="1300" dirty="0"/>
          </a:p>
        </p:txBody>
      </p:sp>
      <p:sp>
        <p:nvSpPr>
          <p:cNvPr id="8" name="Shape 5"/>
          <p:cNvSpPr/>
          <p:nvPr/>
        </p:nvSpPr>
        <p:spPr>
          <a:xfrm>
            <a:off x="4389120" y="2743200"/>
            <a:ext cx="3291840" cy="3200400"/>
          </a:xfrm>
          <a:prstGeom prst="roundRect">
            <a:avLst>
              <a:gd name="adj" fmla="val 4286"/>
            </a:avLst>
          </a:prstGeom>
          <a:solidFill>
            <a:srgbClr val="2A2025"/>
          </a:solidFill>
          <a:ln w="12700">
            <a:solidFill>
              <a:srgbClr val="3A3035"/>
            </a:solidFill>
            <a:prstDash val="solid"/>
          </a:ln>
        </p:spPr>
      </p:sp>
      <p:sp>
        <p:nvSpPr>
          <p:cNvPr id="9" name="Text 6"/>
          <p:cNvSpPr/>
          <p:nvPr/>
        </p:nvSpPr>
        <p:spPr>
          <a:xfrm>
            <a:off x="4389120" y="2926080"/>
            <a:ext cx="3291840" cy="1097280"/>
          </a:xfrm>
          <a:prstGeom prst="rect">
            <a:avLst/>
          </a:prstGeom>
          <a:noFill/>
          <a:ln/>
        </p:spPr>
        <p:txBody>
          <a:bodyPr wrap="square" rtlCol="0" anchor="ctr"/>
          <a:lstStyle/>
          <a:p>
            <a:pPr algn="ctr" indent="0" marL="0">
              <a:buNone/>
            </a:pPr>
            <a:r>
              <a:rPr lang="en-US" sz="4400" b="1" dirty="0">
                <a:solidFill>
                  <a:srgbClr val="C9A0A0"/>
                </a:solidFill>
                <a:latin typeface="Arial" pitchFamily="34" charset="0"/>
                <a:ea typeface="Arial" pitchFamily="34" charset="-122"/>
                <a:cs typeface="Arial" pitchFamily="34" charset="-120"/>
              </a:rPr>
              <a:t>3x</a:t>
            </a:r>
            <a:endParaRPr lang="en-US" sz="4400" dirty="0"/>
          </a:p>
        </p:txBody>
      </p:sp>
      <p:sp>
        <p:nvSpPr>
          <p:cNvPr id="10" name="Text 7"/>
          <p:cNvSpPr/>
          <p:nvPr/>
        </p:nvSpPr>
        <p:spPr>
          <a:xfrm>
            <a:off x="4663440" y="4114800"/>
            <a:ext cx="2743200" cy="1371600"/>
          </a:xfrm>
          <a:prstGeom prst="rect">
            <a:avLst/>
          </a:prstGeom>
          <a:noFill/>
          <a:ln/>
        </p:spPr>
        <p:txBody>
          <a:bodyPr wrap="square" rtlCol="0" anchor="ctr"/>
          <a:lstStyle/>
          <a:p>
            <a:pPr algn="ctr" indent="0" marL="0">
              <a:buNone/>
            </a:pPr>
            <a:r>
              <a:rPr lang="en-US" sz="1300" dirty="0">
                <a:solidFill>
                  <a:srgbClr val="D0D0D0"/>
                </a:solidFill>
                <a:latin typeface="Arial" pitchFamily="34" charset="0"/>
                <a:ea typeface="Arial" pitchFamily="34" charset="-122"/>
                <a:cs typeface="Arial" pitchFamily="34" charset="-120"/>
              </a:rPr>
              <a:t>more likely to face unemployment</a:t>
            </a:r>
            <a:endParaRPr lang="en-US" sz="1300" dirty="0"/>
          </a:p>
          <a:p>
            <a:pPr algn="ctr" indent="0" marL="0">
              <a:buNone/>
            </a:pPr>
            <a:r>
              <a:rPr lang="en-US" sz="1300" dirty="0">
                <a:solidFill>
                  <a:srgbClr val="D0D0D0"/>
                </a:solidFill>
                <a:latin typeface="Arial" pitchFamily="34" charset="0"/>
                <a:ea typeface="Arial" pitchFamily="34" charset="-122"/>
                <a:cs typeface="Arial" pitchFamily="34" charset="-120"/>
              </a:rPr>
              <a:t>without workforce training</a:t>
            </a:r>
            <a:endParaRPr lang="en-US" sz="1300" dirty="0"/>
          </a:p>
        </p:txBody>
      </p:sp>
      <p:sp>
        <p:nvSpPr>
          <p:cNvPr id="11" name="Shape 8"/>
          <p:cNvSpPr/>
          <p:nvPr/>
        </p:nvSpPr>
        <p:spPr>
          <a:xfrm>
            <a:off x="8046720" y="2743200"/>
            <a:ext cx="3291840" cy="3200400"/>
          </a:xfrm>
          <a:prstGeom prst="roundRect">
            <a:avLst>
              <a:gd name="adj" fmla="val 4286"/>
            </a:avLst>
          </a:prstGeom>
          <a:solidFill>
            <a:srgbClr val="2A2025"/>
          </a:solidFill>
          <a:ln w="12700">
            <a:solidFill>
              <a:srgbClr val="3A3035"/>
            </a:solidFill>
            <a:prstDash val="solid"/>
          </a:ln>
        </p:spPr>
      </p:sp>
      <p:sp>
        <p:nvSpPr>
          <p:cNvPr id="12" name="Text 9"/>
          <p:cNvSpPr/>
          <p:nvPr/>
        </p:nvSpPr>
        <p:spPr>
          <a:xfrm>
            <a:off x="8046720" y="2926080"/>
            <a:ext cx="3291840" cy="1097280"/>
          </a:xfrm>
          <a:prstGeom prst="rect">
            <a:avLst/>
          </a:prstGeom>
          <a:noFill/>
          <a:ln/>
        </p:spPr>
        <p:txBody>
          <a:bodyPr wrap="square" rtlCol="0" anchor="ctr"/>
          <a:lstStyle/>
          <a:p>
            <a:pPr algn="ctr" indent="0" marL="0">
              <a:buNone/>
            </a:pPr>
            <a:r>
              <a:rPr lang="en-US" sz="4400" b="1" dirty="0">
                <a:solidFill>
                  <a:srgbClr val="C9A0A0"/>
                </a:solidFill>
                <a:latin typeface="Arial" pitchFamily="34" charset="0"/>
                <a:ea typeface="Arial" pitchFamily="34" charset="-122"/>
                <a:cs typeface="Arial" pitchFamily="34" charset="-120"/>
              </a:rPr>
              <a:t>82%</a:t>
            </a:r>
            <a:endParaRPr lang="en-US" sz="4400" dirty="0"/>
          </a:p>
        </p:txBody>
      </p:sp>
      <p:sp>
        <p:nvSpPr>
          <p:cNvPr id="13" name="Text 10"/>
          <p:cNvSpPr/>
          <p:nvPr/>
        </p:nvSpPr>
        <p:spPr>
          <a:xfrm>
            <a:off x="8321040" y="4114800"/>
            <a:ext cx="2743200" cy="1371600"/>
          </a:xfrm>
          <a:prstGeom prst="rect">
            <a:avLst/>
          </a:prstGeom>
          <a:noFill/>
          <a:ln/>
        </p:spPr>
        <p:txBody>
          <a:bodyPr wrap="square" rtlCol="0" anchor="ctr"/>
          <a:lstStyle/>
          <a:p>
            <a:pPr algn="ctr" indent="0" marL="0">
              <a:buNone/>
            </a:pPr>
            <a:r>
              <a:rPr lang="en-US" sz="1300" dirty="0">
                <a:solidFill>
                  <a:srgbClr val="D0D0D0"/>
                </a:solidFill>
                <a:latin typeface="Arial" pitchFamily="34" charset="0"/>
                <a:ea typeface="Arial" pitchFamily="34" charset="-122"/>
                <a:cs typeface="Arial" pitchFamily="34" charset="-120"/>
              </a:rPr>
              <a:t>of future jobs will require digital</a:t>
            </a:r>
            <a:endParaRPr lang="en-US" sz="1300" dirty="0"/>
          </a:p>
          <a:p>
            <a:pPr algn="ctr" indent="0" marL="0">
              <a:buNone/>
            </a:pPr>
            <a:r>
              <a:rPr lang="en-US" sz="1300" dirty="0">
                <a:solidFill>
                  <a:srgbClr val="D0D0D0"/>
                </a:solidFill>
                <a:latin typeface="Arial" pitchFamily="34" charset="0"/>
                <a:ea typeface="Arial" pitchFamily="34" charset="-122"/>
                <a:cs typeface="Arial" pitchFamily="34" charset="-120"/>
              </a:rPr>
              <a:t>and AI literacy skills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5"/>
        </a:solidFill>
      </p:bgPr>
    </p:bg>
    <p:spTree>
      <p:nvGrpSpPr>
        <p:cNvPr id="1" name=""/>
        <p:cNvGrpSpPr/>
        <p:nvPr/>
      </p:nvGrpSpPr>
      <p:grpSpPr>
        <a:xfrm>
          <a:off x="0" y="0"/>
          <a:ext cx="0" cy="0"/>
          <a:chOff x="0" y="0"/>
          <a:chExt cx="0" cy="0"/>
        </a:xfrm>
      </p:grpSpPr>
      <p:sp>
        <p:nvSpPr>
          <p:cNvPr id="3" name="Text 0"/>
          <p:cNvSpPr/>
          <p:nvPr/>
        </p:nvSpPr>
        <p:spPr>
          <a:xfrm>
            <a:off x="731520" y="457200"/>
            <a:ext cx="10058400" cy="457200"/>
          </a:xfrm>
          <a:prstGeom prst="rect">
            <a:avLst/>
          </a:prstGeom>
          <a:noFill/>
          <a:ln/>
        </p:spPr>
        <p:txBody>
          <a:bodyPr wrap="square" rtlCol="0" anchor="ctr"/>
          <a:lstStyle/>
          <a:p>
            <a:pPr indent="0" marL="0">
              <a:buNone/>
            </a:pPr>
            <a:r>
              <a:rPr lang="en-US" sz="1200" b="1" spc="400" kern="0" dirty="0">
                <a:solidFill>
                  <a:srgbClr val="6B1C2A"/>
                </a:solidFill>
                <a:latin typeface="Arial" pitchFamily="34" charset="0"/>
                <a:ea typeface="Arial" pitchFamily="34" charset="-122"/>
                <a:cs typeface="Arial" pitchFamily="34" charset="-120"/>
              </a:rPr>
              <a:t>OUR SOLUTION</a:t>
            </a:r>
            <a:endParaRPr lang="en-US" sz="1200" dirty="0"/>
          </a:p>
        </p:txBody>
      </p:sp>
      <p:sp>
        <p:nvSpPr>
          <p:cNvPr id="4" name="Text 1"/>
          <p:cNvSpPr/>
          <p:nvPr/>
        </p:nvSpPr>
        <p:spPr>
          <a:xfrm>
            <a:off x="731520" y="914400"/>
            <a:ext cx="10058400" cy="914400"/>
          </a:xfrm>
          <a:prstGeom prst="rect">
            <a:avLst/>
          </a:prstGeom>
          <a:noFill/>
          <a:ln/>
        </p:spPr>
        <p:txBody>
          <a:bodyPr wrap="square" rtlCol="0" anchor="ctr"/>
          <a:lstStyle/>
          <a:p>
            <a:pPr indent="0" marL="0">
              <a:buNone/>
            </a:pPr>
            <a:r>
              <a:rPr lang="en-US" sz="3000" b="1" dirty="0">
                <a:solidFill>
                  <a:srgbClr val="2A1015"/>
                </a:solidFill>
                <a:latin typeface="Arial" pitchFamily="34" charset="0"/>
                <a:ea typeface="Arial" pitchFamily="34" charset="-122"/>
                <a:cs typeface="Arial" pitchFamily="34" charset="-120"/>
              </a:rPr>
              <a:t>A complete ecosystem, not just a course</a:t>
            </a:r>
            <a:endParaRPr lang="en-US" sz="3000" dirty="0"/>
          </a:p>
        </p:txBody>
      </p:sp>
      <p:sp>
        <p:nvSpPr>
          <p:cNvPr id="5" name="Shape 2"/>
          <p:cNvSpPr/>
          <p:nvPr/>
        </p:nvSpPr>
        <p:spPr>
          <a:xfrm>
            <a:off x="731520" y="2286000"/>
            <a:ext cx="5029200" cy="1645920"/>
          </a:xfrm>
          <a:prstGeom prst="roundRect">
            <a:avLst>
              <a:gd name="adj" fmla="val 8333"/>
            </a:avLst>
          </a:prstGeom>
          <a:solidFill>
            <a:srgbClr val="FFFFFF"/>
          </a:solidFill>
          <a:ln w="12700">
            <a:solidFill>
              <a:srgbClr val="E8E0D8"/>
            </a:solidFill>
            <a:prstDash val="solid"/>
          </a:ln>
        </p:spPr>
      </p:sp>
      <p:sp>
        <p:nvSpPr>
          <p:cNvPr id="6" name="Text 3"/>
          <p:cNvSpPr/>
          <p:nvPr/>
        </p:nvSpPr>
        <p:spPr>
          <a:xfrm>
            <a:off x="1005840" y="2468880"/>
            <a:ext cx="4480560" cy="548640"/>
          </a:xfrm>
          <a:prstGeom prst="rect">
            <a:avLst/>
          </a:prstGeom>
          <a:noFill/>
          <a:ln/>
        </p:spPr>
        <p:txBody>
          <a:bodyPr wrap="square" rtlCol="0" anchor="ctr"/>
          <a:lstStyle/>
          <a:p>
            <a:pPr indent="0" marL="0">
              <a:buNone/>
            </a:pPr>
            <a:r>
              <a:rPr lang="en-US" sz="1800" b="1" dirty="0">
                <a:solidFill>
                  <a:srgbClr val="2A1015"/>
                </a:solidFill>
                <a:latin typeface="Arial" pitchFamily="34" charset="0"/>
                <a:ea typeface="Arial" pitchFamily="34" charset="-122"/>
                <a:cs typeface="Arial" pitchFamily="34" charset="-120"/>
              </a:rPr>
              <a:t>5-Level AI Curriculum</a:t>
            </a:r>
            <a:endParaRPr lang="en-US" sz="1800" dirty="0"/>
          </a:p>
        </p:txBody>
      </p:sp>
      <p:sp>
        <p:nvSpPr>
          <p:cNvPr id="7" name="Text 4"/>
          <p:cNvSpPr/>
          <p:nvPr/>
        </p:nvSpPr>
        <p:spPr>
          <a:xfrm>
            <a:off x="1005840" y="3017520"/>
            <a:ext cx="4480560" cy="548640"/>
          </a:xfrm>
          <a:prstGeom prst="rect">
            <a:avLst/>
          </a:prstGeom>
          <a:noFill/>
          <a:ln/>
        </p:spPr>
        <p:txBody>
          <a:bodyPr wrap="square" rtlCol="0" anchor="ctr"/>
          <a:lstStyle/>
          <a:p>
            <a:pPr indent="0" marL="0">
              <a:buNone/>
            </a:pPr>
            <a:r>
              <a:rPr lang="en-US" sz="1400" dirty="0">
                <a:solidFill>
                  <a:srgbClr val="6B5050"/>
                </a:solidFill>
                <a:latin typeface="Arial" pitchFamily="34" charset="0"/>
                <a:ea typeface="Arial" pitchFamily="34" charset="-122"/>
                <a:cs typeface="Arial" pitchFamily="34" charset="-120"/>
              </a:rPr>
              <a:t>From Explorer to Master with module-gated progression</a:t>
            </a:r>
            <a:endParaRPr lang="en-US" sz="1400" dirty="0"/>
          </a:p>
        </p:txBody>
      </p:sp>
      <p:sp>
        <p:nvSpPr>
          <p:cNvPr id="8" name="Shape 5"/>
          <p:cNvSpPr/>
          <p:nvPr/>
        </p:nvSpPr>
        <p:spPr>
          <a:xfrm>
            <a:off x="6217920" y="2286000"/>
            <a:ext cx="5029200" cy="1645920"/>
          </a:xfrm>
          <a:prstGeom prst="roundRect">
            <a:avLst>
              <a:gd name="adj" fmla="val 8333"/>
            </a:avLst>
          </a:prstGeom>
          <a:solidFill>
            <a:srgbClr val="FFFFFF"/>
          </a:solidFill>
          <a:ln w="12700">
            <a:solidFill>
              <a:srgbClr val="E8E0D8"/>
            </a:solidFill>
            <a:prstDash val="solid"/>
          </a:ln>
        </p:spPr>
      </p:sp>
      <p:sp>
        <p:nvSpPr>
          <p:cNvPr id="9" name="Text 6"/>
          <p:cNvSpPr/>
          <p:nvPr/>
        </p:nvSpPr>
        <p:spPr>
          <a:xfrm>
            <a:off x="6492240" y="2468880"/>
            <a:ext cx="4480560" cy="548640"/>
          </a:xfrm>
          <a:prstGeom prst="rect">
            <a:avLst/>
          </a:prstGeom>
          <a:noFill/>
          <a:ln/>
        </p:spPr>
        <p:txBody>
          <a:bodyPr wrap="square" rtlCol="0" anchor="ctr"/>
          <a:lstStyle/>
          <a:p>
            <a:pPr indent="0" marL="0">
              <a:buNone/>
            </a:pPr>
            <a:r>
              <a:rPr lang="en-US" sz="1800" b="1" dirty="0">
                <a:solidFill>
                  <a:srgbClr val="2A1015"/>
                </a:solidFill>
                <a:latin typeface="Arial" pitchFamily="34" charset="0"/>
                <a:ea typeface="Arial" pitchFamily="34" charset="-122"/>
                <a:cs typeface="Arial" pitchFamily="34" charset="-120"/>
              </a:rPr>
              <a:t>55 Career Pathways</a:t>
            </a:r>
            <a:endParaRPr lang="en-US" sz="1800" dirty="0"/>
          </a:p>
        </p:txBody>
      </p:sp>
      <p:sp>
        <p:nvSpPr>
          <p:cNvPr id="10" name="Text 7"/>
          <p:cNvSpPr/>
          <p:nvPr/>
        </p:nvSpPr>
        <p:spPr>
          <a:xfrm>
            <a:off x="6492240" y="3017520"/>
            <a:ext cx="4480560" cy="548640"/>
          </a:xfrm>
          <a:prstGeom prst="rect">
            <a:avLst/>
          </a:prstGeom>
          <a:noFill/>
          <a:ln/>
        </p:spPr>
        <p:txBody>
          <a:bodyPr wrap="square" rtlCol="0" anchor="ctr"/>
          <a:lstStyle/>
          <a:p>
            <a:pPr indent="0" marL="0">
              <a:buNone/>
            </a:pPr>
            <a:r>
              <a:rPr lang="en-US" sz="1400" dirty="0">
                <a:solidFill>
                  <a:srgbClr val="6B5050"/>
                </a:solidFill>
                <a:latin typeface="Arial" pitchFamily="34" charset="0"/>
                <a:ea typeface="Arial" pitchFamily="34" charset="-122"/>
                <a:cs typeface="Arial" pitchFamily="34" charset="-120"/>
              </a:rPr>
              <a:t>Structured pipelines across 12 industries</a:t>
            </a:r>
            <a:endParaRPr lang="en-US" sz="1400" dirty="0"/>
          </a:p>
        </p:txBody>
      </p:sp>
      <p:sp>
        <p:nvSpPr>
          <p:cNvPr id="11" name="Shape 8"/>
          <p:cNvSpPr/>
          <p:nvPr/>
        </p:nvSpPr>
        <p:spPr>
          <a:xfrm>
            <a:off x="731520" y="4297680"/>
            <a:ext cx="5029200" cy="1645920"/>
          </a:xfrm>
          <a:prstGeom prst="roundRect">
            <a:avLst>
              <a:gd name="adj" fmla="val 8333"/>
            </a:avLst>
          </a:prstGeom>
          <a:solidFill>
            <a:srgbClr val="FFFFFF"/>
          </a:solidFill>
          <a:ln w="12700">
            <a:solidFill>
              <a:srgbClr val="E8E0D8"/>
            </a:solidFill>
            <a:prstDash val="solid"/>
          </a:ln>
        </p:spPr>
      </p:sp>
      <p:sp>
        <p:nvSpPr>
          <p:cNvPr id="12" name="Text 9"/>
          <p:cNvSpPr/>
          <p:nvPr/>
        </p:nvSpPr>
        <p:spPr>
          <a:xfrm>
            <a:off x="1005840" y="4480560"/>
            <a:ext cx="4480560" cy="548640"/>
          </a:xfrm>
          <a:prstGeom prst="rect">
            <a:avLst/>
          </a:prstGeom>
          <a:noFill/>
          <a:ln/>
        </p:spPr>
        <p:txBody>
          <a:bodyPr wrap="square" rtlCol="0" anchor="ctr"/>
          <a:lstStyle/>
          <a:p>
            <a:pPr indent="0" marL="0">
              <a:buNone/>
            </a:pPr>
            <a:r>
              <a:rPr lang="en-US" sz="1800" b="1" dirty="0">
                <a:solidFill>
                  <a:srgbClr val="2A1015"/>
                </a:solidFill>
                <a:latin typeface="Arial" pitchFamily="34" charset="0"/>
                <a:ea typeface="Arial" pitchFamily="34" charset="-122"/>
                <a:cs typeface="Arial" pitchFamily="34" charset="-120"/>
              </a:rPr>
              <a:t>AI Creation Studio</a:t>
            </a:r>
            <a:endParaRPr lang="en-US" sz="1800" dirty="0"/>
          </a:p>
        </p:txBody>
      </p:sp>
      <p:sp>
        <p:nvSpPr>
          <p:cNvPr id="13" name="Text 10"/>
          <p:cNvSpPr/>
          <p:nvPr/>
        </p:nvSpPr>
        <p:spPr>
          <a:xfrm>
            <a:off x="1005840" y="5029200"/>
            <a:ext cx="4480560" cy="548640"/>
          </a:xfrm>
          <a:prstGeom prst="rect">
            <a:avLst/>
          </a:prstGeom>
          <a:noFill/>
          <a:ln/>
        </p:spPr>
        <p:txBody>
          <a:bodyPr wrap="square" rtlCol="0" anchor="ctr"/>
          <a:lstStyle/>
          <a:p>
            <a:pPr indent="0" marL="0">
              <a:buNone/>
            </a:pPr>
            <a:r>
              <a:rPr lang="en-US" sz="1400" dirty="0">
                <a:solidFill>
                  <a:srgbClr val="6B5050"/>
                </a:solidFill>
                <a:latin typeface="Arial" pitchFamily="34" charset="0"/>
                <a:ea typeface="Arial" pitchFamily="34" charset="-122"/>
                <a:cs typeface="Arial" pitchFamily="34" charset="-120"/>
              </a:rPr>
              <a:t>10 professional tools earned through mastery</a:t>
            </a:r>
            <a:endParaRPr lang="en-US" sz="1400" dirty="0"/>
          </a:p>
        </p:txBody>
      </p:sp>
      <p:sp>
        <p:nvSpPr>
          <p:cNvPr id="14" name="Shape 11"/>
          <p:cNvSpPr/>
          <p:nvPr/>
        </p:nvSpPr>
        <p:spPr>
          <a:xfrm>
            <a:off x="6217920" y="4297680"/>
            <a:ext cx="5029200" cy="1645920"/>
          </a:xfrm>
          <a:prstGeom prst="roundRect">
            <a:avLst>
              <a:gd name="adj" fmla="val 8333"/>
            </a:avLst>
          </a:prstGeom>
          <a:solidFill>
            <a:srgbClr val="FFFFFF"/>
          </a:solidFill>
          <a:ln w="12700">
            <a:solidFill>
              <a:srgbClr val="E8E0D8"/>
            </a:solidFill>
            <a:prstDash val="solid"/>
          </a:ln>
        </p:spPr>
      </p:sp>
      <p:sp>
        <p:nvSpPr>
          <p:cNvPr id="15" name="Text 12"/>
          <p:cNvSpPr/>
          <p:nvPr/>
        </p:nvSpPr>
        <p:spPr>
          <a:xfrm>
            <a:off x="6492240" y="4480560"/>
            <a:ext cx="4480560" cy="548640"/>
          </a:xfrm>
          <a:prstGeom prst="rect">
            <a:avLst/>
          </a:prstGeom>
          <a:noFill/>
          <a:ln/>
        </p:spPr>
        <p:txBody>
          <a:bodyPr wrap="square" rtlCol="0" anchor="ctr"/>
          <a:lstStyle/>
          <a:p>
            <a:pPr indent="0" marL="0">
              <a:buNone/>
            </a:pPr>
            <a:r>
              <a:rPr lang="en-US" sz="1800" b="1" dirty="0">
                <a:solidFill>
                  <a:srgbClr val="2A1015"/>
                </a:solidFill>
                <a:latin typeface="Arial" pitchFamily="34" charset="0"/>
                <a:ea typeface="Arial" pitchFamily="34" charset="-122"/>
                <a:cs typeface="Arial" pitchFamily="34" charset="-120"/>
              </a:rPr>
              <a:t>Mentor Network</a:t>
            </a:r>
            <a:endParaRPr lang="en-US" sz="1800" dirty="0"/>
          </a:p>
        </p:txBody>
      </p:sp>
      <p:sp>
        <p:nvSpPr>
          <p:cNvPr id="16" name="Text 13"/>
          <p:cNvSpPr/>
          <p:nvPr/>
        </p:nvSpPr>
        <p:spPr>
          <a:xfrm>
            <a:off x="6492240" y="5029200"/>
            <a:ext cx="4480560" cy="548640"/>
          </a:xfrm>
          <a:prstGeom prst="rect">
            <a:avLst/>
          </a:prstGeom>
          <a:noFill/>
          <a:ln/>
        </p:spPr>
        <p:txBody>
          <a:bodyPr wrap="square" rtlCol="0" anchor="ctr"/>
          <a:lstStyle/>
          <a:p>
            <a:pPr indent="0" marL="0">
              <a:buNone/>
            </a:pPr>
            <a:r>
              <a:rPr lang="en-US" sz="1400" dirty="0">
                <a:solidFill>
                  <a:srgbClr val="6B5050"/>
                </a:solidFill>
                <a:latin typeface="Arial" pitchFamily="34" charset="0"/>
                <a:ea typeface="Arial" pitchFamily="34" charset="-122"/>
                <a:cs typeface="Arial" pitchFamily="34" charset="-120"/>
              </a:rPr>
              <a:t>Professional coaching for career advancement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215"/>
        </a:solidFill>
      </p:bgPr>
    </p:bg>
    <p:spTree>
      <p:nvGrpSpPr>
        <p:cNvPr id="1" name=""/>
        <p:cNvGrpSpPr/>
        <p:nvPr/>
      </p:nvGrpSpPr>
      <p:grpSpPr>
        <a:xfrm>
          <a:off x="0" y="0"/>
          <a:ext cx="0" cy="0"/>
          <a:chOff x="0" y="0"/>
          <a:chExt cx="0" cy="0"/>
        </a:xfrm>
      </p:grpSpPr>
      <p:sp>
        <p:nvSpPr>
          <p:cNvPr id="3" name="Text 0"/>
          <p:cNvSpPr/>
          <p:nvPr/>
        </p:nvSpPr>
        <p:spPr>
          <a:xfrm>
            <a:off x="731520" y="365760"/>
            <a:ext cx="10058400" cy="457200"/>
          </a:xfrm>
          <a:prstGeom prst="rect">
            <a:avLst/>
          </a:prstGeom>
          <a:noFill/>
          <a:ln/>
        </p:spPr>
        <p:txBody>
          <a:bodyPr wrap="square" rtlCol="0" anchor="ctr"/>
          <a:lstStyle/>
          <a:p>
            <a:pPr indent="0" marL="0">
              <a:buNone/>
            </a:pPr>
            <a:r>
              <a:rPr lang="en-US" sz="1200" b="1" spc="400" kern="0" dirty="0">
                <a:solidFill>
                  <a:srgbClr val="C9A0A0"/>
                </a:solidFill>
                <a:latin typeface="Arial" pitchFamily="34" charset="0"/>
                <a:ea typeface="Arial" pitchFamily="34" charset="-122"/>
                <a:cs typeface="Arial" pitchFamily="34" charset="-120"/>
              </a:rPr>
              <a:t>AI MASTERY CURRICULUM</a:t>
            </a:r>
            <a:endParaRPr lang="en-US" sz="1200" dirty="0"/>
          </a:p>
        </p:txBody>
      </p:sp>
      <p:sp>
        <p:nvSpPr>
          <p:cNvPr id="4" name="Text 1"/>
          <p:cNvSpPr/>
          <p:nvPr/>
        </p:nvSpPr>
        <p:spPr>
          <a:xfrm>
            <a:off x="731520" y="822960"/>
            <a:ext cx="1005840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Five levels of progressive mastery</a:t>
            </a:r>
            <a:endParaRPr lang="en-US" sz="2800" dirty="0"/>
          </a:p>
        </p:txBody>
      </p:sp>
      <p:sp>
        <p:nvSpPr>
          <p:cNvPr id="5" name="Shape 2"/>
          <p:cNvSpPr/>
          <p:nvPr/>
        </p:nvSpPr>
        <p:spPr>
          <a:xfrm>
            <a:off x="457200" y="2011680"/>
            <a:ext cx="2011680" cy="3200400"/>
          </a:xfrm>
          <a:prstGeom prst="roundRect">
            <a:avLst>
              <a:gd name="adj" fmla="val 6818"/>
            </a:avLst>
          </a:prstGeom>
          <a:solidFill>
            <a:srgbClr val="2A2025"/>
          </a:solidFill>
          <a:ln w="12700">
            <a:solidFill>
              <a:srgbClr val="3A3035"/>
            </a:solidFill>
            <a:prstDash val="solid"/>
          </a:ln>
        </p:spPr>
      </p:sp>
      <p:sp>
        <p:nvSpPr>
          <p:cNvPr id="6" name="Shape 3"/>
          <p:cNvSpPr/>
          <p:nvPr/>
        </p:nvSpPr>
        <p:spPr>
          <a:xfrm>
            <a:off x="457200" y="2011680"/>
            <a:ext cx="2011680" cy="73152"/>
          </a:xfrm>
          <a:prstGeom prst="rect">
            <a:avLst/>
          </a:prstGeom>
          <a:solidFill>
            <a:srgbClr val="10B981"/>
          </a:solidFill>
          <a:ln/>
        </p:spPr>
      </p:sp>
      <p:sp>
        <p:nvSpPr>
          <p:cNvPr id="7" name="Text 4"/>
          <p:cNvSpPr/>
          <p:nvPr/>
        </p:nvSpPr>
        <p:spPr>
          <a:xfrm>
            <a:off x="457200" y="2286000"/>
            <a:ext cx="2011680" cy="457200"/>
          </a:xfrm>
          <a:prstGeom prst="rect">
            <a:avLst/>
          </a:prstGeom>
          <a:noFill/>
          <a:ln/>
        </p:spPr>
        <p:txBody>
          <a:bodyPr wrap="square" rtlCol="0" anchor="ctr"/>
          <a:lstStyle/>
          <a:p>
            <a:pPr algn="ctr" indent="0" marL="0">
              <a:buNone/>
            </a:pPr>
            <a:r>
              <a:rPr lang="en-US" sz="1100" dirty="0">
                <a:solidFill>
                  <a:srgbClr val="999999"/>
                </a:solidFill>
                <a:latin typeface="Arial" pitchFamily="34" charset="0"/>
                <a:ea typeface="Arial" pitchFamily="34" charset="-122"/>
                <a:cs typeface="Arial" pitchFamily="34" charset="-120"/>
              </a:rPr>
              <a:t>Level 1</a:t>
            </a:r>
            <a:endParaRPr lang="en-US" sz="1100" dirty="0"/>
          </a:p>
        </p:txBody>
      </p:sp>
      <p:sp>
        <p:nvSpPr>
          <p:cNvPr id="8" name="Text 5"/>
          <p:cNvSpPr/>
          <p:nvPr/>
        </p:nvSpPr>
        <p:spPr>
          <a:xfrm>
            <a:off x="457200" y="2743200"/>
            <a:ext cx="2011680"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Explorer</a:t>
            </a:r>
            <a:endParaRPr lang="en-US" sz="1800" dirty="0"/>
          </a:p>
        </p:txBody>
      </p:sp>
      <p:sp>
        <p:nvSpPr>
          <p:cNvPr id="9" name="Text 6"/>
          <p:cNvSpPr/>
          <p:nvPr/>
        </p:nvSpPr>
        <p:spPr>
          <a:xfrm>
            <a:off x="594360" y="3383280"/>
            <a:ext cx="1737360" cy="1371600"/>
          </a:xfrm>
          <a:prstGeom prst="rect">
            <a:avLst/>
          </a:prstGeom>
          <a:noFill/>
          <a:ln/>
        </p:spPr>
        <p:txBody>
          <a:bodyPr wrap="square" rtlCol="0" anchor="ctr"/>
          <a:lstStyle/>
          <a:p>
            <a:pPr algn="ctr" indent="0" marL="0">
              <a:buNone/>
            </a:pPr>
            <a:r>
              <a:rPr lang="en-US" sz="1100" dirty="0">
                <a:solidFill>
                  <a:srgbClr val="D0D0D0"/>
                </a:solidFill>
                <a:latin typeface="Arial" pitchFamily="34" charset="0"/>
                <a:ea typeface="Arial" pitchFamily="34" charset="-122"/>
                <a:cs typeface="Arial" pitchFamily="34" charset="-120"/>
              </a:rPr>
              <a:t>Discover AI basics through stories and activities</a:t>
            </a:r>
            <a:endParaRPr lang="en-US" sz="1100" dirty="0"/>
          </a:p>
        </p:txBody>
      </p:sp>
      <p:sp>
        <p:nvSpPr>
          <p:cNvPr id="10" name="Shape 7"/>
          <p:cNvSpPr/>
          <p:nvPr/>
        </p:nvSpPr>
        <p:spPr>
          <a:xfrm>
            <a:off x="2743200" y="2011680"/>
            <a:ext cx="2011680" cy="3200400"/>
          </a:xfrm>
          <a:prstGeom prst="roundRect">
            <a:avLst>
              <a:gd name="adj" fmla="val 6818"/>
            </a:avLst>
          </a:prstGeom>
          <a:solidFill>
            <a:srgbClr val="2A2025"/>
          </a:solidFill>
          <a:ln w="12700">
            <a:solidFill>
              <a:srgbClr val="3A3035"/>
            </a:solidFill>
            <a:prstDash val="solid"/>
          </a:ln>
        </p:spPr>
      </p:sp>
      <p:sp>
        <p:nvSpPr>
          <p:cNvPr id="11" name="Shape 8"/>
          <p:cNvSpPr/>
          <p:nvPr/>
        </p:nvSpPr>
        <p:spPr>
          <a:xfrm>
            <a:off x="2743200" y="2011680"/>
            <a:ext cx="2011680" cy="73152"/>
          </a:xfrm>
          <a:prstGeom prst="rect">
            <a:avLst/>
          </a:prstGeom>
          <a:solidFill>
            <a:srgbClr val="3B82F6"/>
          </a:solidFill>
          <a:ln/>
        </p:spPr>
      </p:sp>
      <p:sp>
        <p:nvSpPr>
          <p:cNvPr id="12" name="Text 9"/>
          <p:cNvSpPr/>
          <p:nvPr/>
        </p:nvSpPr>
        <p:spPr>
          <a:xfrm>
            <a:off x="2743200" y="2286000"/>
            <a:ext cx="2011680" cy="457200"/>
          </a:xfrm>
          <a:prstGeom prst="rect">
            <a:avLst/>
          </a:prstGeom>
          <a:noFill/>
          <a:ln/>
        </p:spPr>
        <p:txBody>
          <a:bodyPr wrap="square" rtlCol="0" anchor="ctr"/>
          <a:lstStyle/>
          <a:p>
            <a:pPr algn="ctr" indent="0" marL="0">
              <a:buNone/>
            </a:pPr>
            <a:r>
              <a:rPr lang="en-US" sz="1100" dirty="0">
                <a:solidFill>
                  <a:srgbClr val="999999"/>
                </a:solidFill>
                <a:latin typeface="Arial" pitchFamily="34" charset="0"/>
                <a:ea typeface="Arial" pitchFamily="34" charset="-122"/>
                <a:cs typeface="Arial" pitchFamily="34" charset="-120"/>
              </a:rPr>
              <a:t>Level 2</a:t>
            </a:r>
            <a:endParaRPr lang="en-US" sz="1100" dirty="0"/>
          </a:p>
        </p:txBody>
      </p:sp>
      <p:sp>
        <p:nvSpPr>
          <p:cNvPr id="13" name="Text 10"/>
          <p:cNvSpPr/>
          <p:nvPr/>
        </p:nvSpPr>
        <p:spPr>
          <a:xfrm>
            <a:off x="2743200" y="2743200"/>
            <a:ext cx="2011680"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Guide</a:t>
            </a:r>
            <a:endParaRPr lang="en-US" sz="1800" dirty="0"/>
          </a:p>
        </p:txBody>
      </p:sp>
      <p:sp>
        <p:nvSpPr>
          <p:cNvPr id="14" name="Text 11"/>
          <p:cNvSpPr/>
          <p:nvPr/>
        </p:nvSpPr>
        <p:spPr>
          <a:xfrm>
            <a:off x="2880360" y="3383280"/>
            <a:ext cx="1737360" cy="1371600"/>
          </a:xfrm>
          <a:prstGeom prst="rect">
            <a:avLst/>
          </a:prstGeom>
          <a:noFill/>
          <a:ln/>
        </p:spPr>
        <p:txBody>
          <a:bodyPr wrap="square" rtlCol="0" anchor="ctr"/>
          <a:lstStyle/>
          <a:p>
            <a:pPr algn="ctr" indent="0" marL="0">
              <a:buNone/>
            </a:pPr>
            <a:r>
              <a:rPr lang="en-US" sz="1100" dirty="0">
                <a:solidFill>
                  <a:srgbClr val="D0D0D0"/>
                </a:solidFill>
                <a:latin typeface="Arial" pitchFamily="34" charset="0"/>
                <a:ea typeface="Arial" pitchFamily="34" charset="-122"/>
                <a:cs typeface="Arial" pitchFamily="34" charset="-120"/>
              </a:rPr>
              <a:t>Master prompting, explore AI ethics</a:t>
            </a:r>
            <a:endParaRPr lang="en-US" sz="1100" dirty="0"/>
          </a:p>
        </p:txBody>
      </p:sp>
      <p:sp>
        <p:nvSpPr>
          <p:cNvPr id="15" name="Shape 12"/>
          <p:cNvSpPr/>
          <p:nvPr/>
        </p:nvSpPr>
        <p:spPr>
          <a:xfrm>
            <a:off x="5029200" y="2011680"/>
            <a:ext cx="2011680" cy="3200400"/>
          </a:xfrm>
          <a:prstGeom prst="roundRect">
            <a:avLst>
              <a:gd name="adj" fmla="val 6818"/>
            </a:avLst>
          </a:prstGeom>
          <a:solidFill>
            <a:srgbClr val="2A2025"/>
          </a:solidFill>
          <a:ln w="12700">
            <a:solidFill>
              <a:srgbClr val="3A3035"/>
            </a:solidFill>
            <a:prstDash val="solid"/>
          </a:ln>
        </p:spPr>
      </p:sp>
      <p:sp>
        <p:nvSpPr>
          <p:cNvPr id="16" name="Shape 13"/>
          <p:cNvSpPr/>
          <p:nvPr/>
        </p:nvSpPr>
        <p:spPr>
          <a:xfrm>
            <a:off x="5029200" y="2011680"/>
            <a:ext cx="2011680" cy="73152"/>
          </a:xfrm>
          <a:prstGeom prst="rect">
            <a:avLst/>
          </a:prstGeom>
          <a:solidFill>
            <a:srgbClr val="8B5CF6"/>
          </a:solidFill>
          <a:ln/>
        </p:spPr>
      </p:sp>
      <p:sp>
        <p:nvSpPr>
          <p:cNvPr id="17" name="Text 14"/>
          <p:cNvSpPr/>
          <p:nvPr/>
        </p:nvSpPr>
        <p:spPr>
          <a:xfrm>
            <a:off x="5029200" y="2286000"/>
            <a:ext cx="2011680" cy="457200"/>
          </a:xfrm>
          <a:prstGeom prst="rect">
            <a:avLst/>
          </a:prstGeom>
          <a:noFill/>
          <a:ln/>
        </p:spPr>
        <p:txBody>
          <a:bodyPr wrap="square" rtlCol="0" anchor="ctr"/>
          <a:lstStyle/>
          <a:p>
            <a:pPr algn="ctr" indent="0" marL="0">
              <a:buNone/>
            </a:pPr>
            <a:r>
              <a:rPr lang="en-US" sz="1100" dirty="0">
                <a:solidFill>
                  <a:srgbClr val="999999"/>
                </a:solidFill>
                <a:latin typeface="Arial" pitchFamily="34" charset="0"/>
                <a:ea typeface="Arial" pitchFamily="34" charset="-122"/>
                <a:cs typeface="Arial" pitchFamily="34" charset="-120"/>
              </a:rPr>
              <a:t>Level 3</a:t>
            </a:r>
            <a:endParaRPr lang="en-US" sz="1100" dirty="0"/>
          </a:p>
        </p:txBody>
      </p:sp>
      <p:sp>
        <p:nvSpPr>
          <p:cNvPr id="18" name="Text 15"/>
          <p:cNvSpPr/>
          <p:nvPr/>
        </p:nvSpPr>
        <p:spPr>
          <a:xfrm>
            <a:off x="5029200" y="2743200"/>
            <a:ext cx="2011680"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Architect</a:t>
            </a:r>
            <a:endParaRPr lang="en-US" sz="1800" dirty="0"/>
          </a:p>
        </p:txBody>
      </p:sp>
      <p:sp>
        <p:nvSpPr>
          <p:cNvPr id="19" name="Text 16"/>
          <p:cNvSpPr/>
          <p:nvPr/>
        </p:nvSpPr>
        <p:spPr>
          <a:xfrm>
            <a:off x="5166360" y="3383280"/>
            <a:ext cx="1737360" cy="1371600"/>
          </a:xfrm>
          <a:prstGeom prst="rect">
            <a:avLst/>
          </a:prstGeom>
          <a:noFill/>
          <a:ln/>
        </p:spPr>
        <p:txBody>
          <a:bodyPr wrap="square" rtlCol="0" anchor="ctr"/>
          <a:lstStyle/>
          <a:p>
            <a:pPr algn="ctr" indent="0" marL="0">
              <a:buNone/>
            </a:pPr>
            <a:r>
              <a:rPr lang="en-US" sz="1100" dirty="0">
                <a:solidFill>
                  <a:srgbClr val="D0D0D0"/>
                </a:solidFill>
                <a:latin typeface="Arial" pitchFamily="34" charset="0"/>
                <a:ea typeface="Arial" pitchFamily="34" charset="-122"/>
                <a:cs typeface="Arial" pitchFamily="34" charset="-120"/>
              </a:rPr>
              <a:t>Advanced prompting, understand AI systems</a:t>
            </a:r>
            <a:endParaRPr lang="en-US" sz="1100" dirty="0"/>
          </a:p>
        </p:txBody>
      </p:sp>
      <p:sp>
        <p:nvSpPr>
          <p:cNvPr id="20" name="Shape 17"/>
          <p:cNvSpPr/>
          <p:nvPr/>
        </p:nvSpPr>
        <p:spPr>
          <a:xfrm>
            <a:off x="7315200" y="2011680"/>
            <a:ext cx="2011680" cy="3200400"/>
          </a:xfrm>
          <a:prstGeom prst="roundRect">
            <a:avLst>
              <a:gd name="adj" fmla="val 6818"/>
            </a:avLst>
          </a:prstGeom>
          <a:solidFill>
            <a:srgbClr val="2A2025"/>
          </a:solidFill>
          <a:ln w="12700">
            <a:solidFill>
              <a:srgbClr val="3A3035"/>
            </a:solidFill>
            <a:prstDash val="solid"/>
          </a:ln>
        </p:spPr>
      </p:sp>
      <p:sp>
        <p:nvSpPr>
          <p:cNvPr id="21" name="Shape 18"/>
          <p:cNvSpPr/>
          <p:nvPr/>
        </p:nvSpPr>
        <p:spPr>
          <a:xfrm>
            <a:off x="7315200" y="2011680"/>
            <a:ext cx="2011680" cy="73152"/>
          </a:xfrm>
          <a:prstGeom prst="rect">
            <a:avLst/>
          </a:prstGeom>
          <a:solidFill>
            <a:srgbClr val="F97316"/>
          </a:solidFill>
          <a:ln/>
        </p:spPr>
      </p:sp>
      <p:sp>
        <p:nvSpPr>
          <p:cNvPr id="22" name="Text 19"/>
          <p:cNvSpPr/>
          <p:nvPr/>
        </p:nvSpPr>
        <p:spPr>
          <a:xfrm>
            <a:off x="7315200" y="2286000"/>
            <a:ext cx="2011680" cy="457200"/>
          </a:xfrm>
          <a:prstGeom prst="rect">
            <a:avLst/>
          </a:prstGeom>
          <a:noFill/>
          <a:ln/>
        </p:spPr>
        <p:txBody>
          <a:bodyPr wrap="square" rtlCol="0" anchor="ctr"/>
          <a:lstStyle/>
          <a:p>
            <a:pPr algn="ctr" indent="0" marL="0">
              <a:buNone/>
            </a:pPr>
            <a:r>
              <a:rPr lang="en-US" sz="1100" dirty="0">
                <a:solidFill>
                  <a:srgbClr val="999999"/>
                </a:solidFill>
                <a:latin typeface="Arial" pitchFamily="34" charset="0"/>
                <a:ea typeface="Arial" pitchFamily="34" charset="-122"/>
                <a:cs typeface="Arial" pitchFamily="34" charset="-120"/>
              </a:rPr>
              <a:t>Level 4</a:t>
            </a:r>
            <a:endParaRPr lang="en-US" sz="1100" dirty="0"/>
          </a:p>
        </p:txBody>
      </p:sp>
      <p:sp>
        <p:nvSpPr>
          <p:cNvPr id="23" name="Text 20"/>
          <p:cNvSpPr/>
          <p:nvPr/>
        </p:nvSpPr>
        <p:spPr>
          <a:xfrm>
            <a:off x="7315200" y="2743200"/>
            <a:ext cx="2011680"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Innovator</a:t>
            </a:r>
            <a:endParaRPr lang="en-US" sz="1800" dirty="0"/>
          </a:p>
        </p:txBody>
      </p:sp>
      <p:sp>
        <p:nvSpPr>
          <p:cNvPr id="24" name="Text 21"/>
          <p:cNvSpPr/>
          <p:nvPr/>
        </p:nvSpPr>
        <p:spPr>
          <a:xfrm>
            <a:off x="7452360" y="3383280"/>
            <a:ext cx="1737360" cy="1371600"/>
          </a:xfrm>
          <a:prstGeom prst="rect">
            <a:avLst/>
          </a:prstGeom>
          <a:noFill/>
          <a:ln/>
        </p:spPr>
        <p:txBody>
          <a:bodyPr wrap="square" rtlCol="0" anchor="ctr"/>
          <a:lstStyle/>
          <a:p>
            <a:pPr algn="ctr" indent="0" marL="0">
              <a:buNone/>
            </a:pPr>
            <a:r>
              <a:rPr lang="en-US" sz="1100" dirty="0">
                <a:solidFill>
                  <a:srgbClr val="D0D0D0"/>
                </a:solidFill>
                <a:latin typeface="Arial" pitchFamily="34" charset="0"/>
                <a:ea typeface="Arial" pitchFamily="34" charset="-122"/>
                <a:cs typeface="Arial" pitchFamily="34" charset="-120"/>
              </a:rPr>
              <a:t>Cutting-edge AI, entrepreneurship</a:t>
            </a:r>
            <a:endParaRPr lang="en-US" sz="1100" dirty="0"/>
          </a:p>
        </p:txBody>
      </p:sp>
      <p:sp>
        <p:nvSpPr>
          <p:cNvPr id="25" name="Shape 22"/>
          <p:cNvSpPr/>
          <p:nvPr/>
        </p:nvSpPr>
        <p:spPr>
          <a:xfrm>
            <a:off x="9601200" y="2011680"/>
            <a:ext cx="2011680" cy="3200400"/>
          </a:xfrm>
          <a:prstGeom prst="roundRect">
            <a:avLst>
              <a:gd name="adj" fmla="val 6818"/>
            </a:avLst>
          </a:prstGeom>
          <a:solidFill>
            <a:srgbClr val="2A2025"/>
          </a:solidFill>
          <a:ln w="12700">
            <a:solidFill>
              <a:srgbClr val="3A3035"/>
            </a:solidFill>
            <a:prstDash val="solid"/>
          </a:ln>
        </p:spPr>
      </p:sp>
      <p:sp>
        <p:nvSpPr>
          <p:cNvPr id="26" name="Shape 23"/>
          <p:cNvSpPr/>
          <p:nvPr/>
        </p:nvSpPr>
        <p:spPr>
          <a:xfrm>
            <a:off x="9601200" y="2011680"/>
            <a:ext cx="2011680" cy="73152"/>
          </a:xfrm>
          <a:prstGeom prst="rect">
            <a:avLst/>
          </a:prstGeom>
          <a:solidFill>
            <a:srgbClr val="BE123C"/>
          </a:solidFill>
          <a:ln/>
        </p:spPr>
      </p:sp>
      <p:sp>
        <p:nvSpPr>
          <p:cNvPr id="27" name="Text 24"/>
          <p:cNvSpPr/>
          <p:nvPr/>
        </p:nvSpPr>
        <p:spPr>
          <a:xfrm>
            <a:off x="9601200" y="2286000"/>
            <a:ext cx="2011680" cy="457200"/>
          </a:xfrm>
          <a:prstGeom prst="rect">
            <a:avLst/>
          </a:prstGeom>
          <a:noFill/>
          <a:ln/>
        </p:spPr>
        <p:txBody>
          <a:bodyPr wrap="square" rtlCol="0" anchor="ctr"/>
          <a:lstStyle/>
          <a:p>
            <a:pPr algn="ctr" indent="0" marL="0">
              <a:buNone/>
            </a:pPr>
            <a:r>
              <a:rPr lang="en-US" sz="1100" dirty="0">
                <a:solidFill>
                  <a:srgbClr val="999999"/>
                </a:solidFill>
                <a:latin typeface="Arial" pitchFamily="34" charset="0"/>
                <a:ea typeface="Arial" pitchFamily="34" charset="-122"/>
                <a:cs typeface="Arial" pitchFamily="34" charset="-120"/>
              </a:rPr>
              <a:t>Level 5</a:t>
            </a:r>
            <a:endParaRPr lang="en-US" sz="1100" dirty="0"/>
          </a:p>
        </p:txBody>
      </p:sp>
      <p:sp>
        <p:nvSpPr>
          <p:cNvPr id="28" name="Text 25"/>
          <p:cNvSpPr/>
          <p:nvPr/>
        </p:nvSpPr>
        <p:spPr>
          <a:xfrm>
            <a:off x="9601200" y="2743200"/>
            <a:ext cx="2011680"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Master</a:t>
            </a:r>
            <a:endParaRPr lang="en-US" sz="1800" dirty="0"/>
          </a:p>
        </p:txBody>
      </p:sp>
      <p:sp>
        <p:nvSpPr>
          <p:cNvPr id="29" name="Text 26"/>
          <p:cNvSpPr/>
          <p:nvPr/>
        </p:nvSpPr>
        <p:spPr>
          <a:xfrm>
            <a:off x="9738360" y="3383280"/>
            <a:ext cx="1737360" cy="1371600"/>
          </a:xfrm>
          <a:prstGeom prst="rect">
            <a:avLst/>
          </a:prstGeom>
          <a:noFill/>
          <a:ln/>
        </p:spPr>
        <p:txBody>
          <a:bodyPr wrap="square" rtlCol="0" anchor="ctr"/>
          <a:lstStyle/>
          <a:p>
            <a:pPr algn="ctr" indent="0" marL="0">
              <a:buNone/>
            </a:pPr>
            <a:r>
              <a:rPr lang="en-US" sz="1100" dirty="0">
                <a:solidFill>
                  <a:srgbClr val="D0D0D0"/>
                </a:solidFill>
                <a:latin typeface="Arial" pitchFamily="34" charset="0"/>
                <a:ea typeface="Arial" pitchFamily="34" charset="-122"/>
                <a:cs typeface="Arial" pitchFamily="34" charset="-120"/>
              </a:rPr>
              <a:t>Lead as Educator, Researcher, or Implementer</a:t>
            </a:r>
            <a:endParaRPr lang="en-US" sz="1100" dirty="0"/>
          </a:p>
        </p:txBody>
      </p:sp>
      <p:sp>
        <p:nvSpPr>
          <p:cNvPr id="30" name="Text 27"/>
          <p:cNvSpPr/>
          <p:nvPr/>
        </p:nvSpPr>
        <p:spPr>
          <a:xfrm>
            <a:off x="731520" y="5669280"/>
            <a:ext cx="10058400" cy="457200"/>
          </a:xfrm>
          <a:prstGeom prst="rect">
            <a:avLst/>
          </a:prstGeom>
          <a:noFill/>
          <a:ln/>
        </p:spPr>
        <p:txBody>
          <a:bodyPr wrap="square" rtlCol="0" anchor="ctr"/>
          <a:lstStyle/>
          <a:p>
            <a:pPr algn="l" indent="0" marL="0">
              <a:buNone/>
            </a:pPr>
            <a:r>
              <a:rPr lang="en-US" sz="1300" dirty="0">
                <a:solidFill>
                  <a:srgbClr val="AAAAAA"/>
                </a:solidFill>
                <a:latin typeface="Arial" pitchFamily="34" charset="0"/>
                <a:ea typeface="Arial" pitchFamily="34" charset="-122"/>
                <a:cs typeface="Arial" pitchFamily="34" charset="-120"/>
              </a:rPr>
              <a:t>31 Modules  |  Capstone Projects  |  Parent Teachback Verification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5"/>
        </a:solidFill>
      </p:bgPr>
    </p:bg>
    <p:spTree>
      <p:nvGrpSpPr>
        <p:cNvPr id="1" name=""/>
        <p:cNvGrpSpPr/>
        <p:nvPr/>
      </p:nvGrpSpPr>
      <p:grpSpPr>
        <a:xfrm>
          <a:off x="0" y="0"/>
          <a:ext cx="0" cy="0"/>
          <a:chOff x="0" y="0"/>
          <a:chExt cx="0" cy="0"/>
        </a:xfrm>
      </p:grpSpPr>
      <p:sp>
        <p:nvSpPr>
          <p:cNvPr id="3" name="Text 0"/>
          <p:cNvSpPr/>
          <p:nvPr/>
        </p:nvSpPr>
        <p:spPr>
          <a:xfrm>
            <a:off x="731520" y="365760"/>
            <a:ext cx="10058400" cy="457200"/>
          </a:xfrm>
          <a:prstGeom prst="rect">
            <a:avLst/>
          </a:prstGeom>
          <a:noFill/>
          <a:ln/>
        </p:spPr>
        <p:txBody>
          <a:bodyPr wrap="square" rtlCol="0" anchor="ctr"/>
          <a:lstStyle/>
          <a:p>
            <a:pPr indent="0" marL="0">
              <a:buNone/>
            </a:pPr>
            <a:r>
              <a:rPr lang="en-US" sz="1200" b="1" spc="400" kern="0" dirty="0">
                <a:solidFill>
                  <a:srgbClr val="6B1C2A"/>
                </a:solidFill>
                <a:latin typeface="Arial" pitchFamily="34" charset="0"/>
                <a:ea typeface="Arial" pitchFamily="34" charset="-122"/>
                <a:cs typeface="Arial" pitchFamily="34" charset="-120"/>
              </a:rPr>
              <a:t>SCHOOL-TO-CAREER PIPELINES</a:t>
            </a:r>
            <a:endParaRPr lang="en-US" sz="1200" dirty="0"/>
          </a:p>
        </p:txBody>
      </p:sp>
      <p:sp>
        <p:nvSpPr>
          <p:cNvPr id="4" name="Text 1"/>
          <p:cNvSpPr/>
          <p:nvPr/>
        </p:nvSpPr>
        <p:spPr>
          <a:xfrm>
            <a:off x="731520" y="822960"/>
            <a:ext cx="10058400" cy="731520"/>
          </a:xfrm>
          <a:prstGeom prst="rect">
            <a:avLst/>
          </a:prstGeom>
          <a:noFill/>
          <a:ln/>
        </p:spPr>
        <p:txBody>
          <a:bodyPr wrap="square" rtlCol="0" anchor="ctr"/>
          <a:lstStyle/>
          <a:p>
            <a:pPr indent="0" marL="0">
              <a:buNone/>
            </a:pPr>
            <a:r>
              <a:rPr lang="en-US" sz="2800" b="1" dirty="0">
                <a:solidFill>
                  <a:srgbClr val="2A1015"/>
                </a:solidFill>
                <a:latin typeface="Arial" pitchFamily="34" charset="0"/>
                <a:ea typeface="Arial" pitchFamily="34" charset="-122"/>
                <a:cs typeface="Arial" pitchFamily="34" charset="-120"/>
              </a:rPr>
              <a:t>55 career pathways across 12 industries</a:t>
            </a:r>
            <a:endParaRPr lang="en-US" sz="2800" dirty="0"/>
          </a:p>
        </p:txBody>
      </p:sp>
      <p:sp>
        <p:nvSpPr>
          <p:cNvPr id="5" name="Shape 2"/>
          <p:cNvSpPr/>
          <p:nvPr/>
        </p:nvSpPr>
        <p:spPr>
          <a:xfrm>
            <a:off x="731520" y="2011680"/>
            <a:ext cx="2468880" cy="1097280"/>
          </a:xfrm>
          <a:prstGeom prst="roundRect">
            <a:avLst>
              <a:gd name="adj" fmla="val 8333"/>
            </a:avLst>
          </a:prstGeom>
          <a:solidFill>
            <a:srgbClr val="FFFFFF"/>
          </a:solidFill>
          <a:ln w="12700">
            <a:solidFill>
              <a:srgbClr val="E8E0D8"/>
            </a:solidFill>
            <a:prstDash val="solid"/>
          </a:ln>
        </p:spPr>
      </p:sp>
      <p:sp>
        <p:nvSpPr>
          <p:cNvPr id="6" name="Text 3"/>
          <p:cNvSpPr/>
          <p:nvPr/>
        </p:nvSpPr>
        <p:spPr>
          <a:xfrm>
            <a:off x="914400" y="2148840"/>
            <a:ext cx="2103120" cy="457200"/>
          </a:xfrm>
          <a:prstGeom prst="rect">
            <a:avLst/>
          </a:prstGeom>
          <a:noFill/>
          <a:ln/>
        </p:spPr>
        <p:txBody>
          <a:bodyPr wrap="square" rtlCol="0" anchor="ctr"/>
          <a:lstStyle/>
          <a:p>
            <a:pPr indent="0" marL="0">
              <a:buNone/>
            </a:pPr>
            <a:r>
              <a:rPr lang="en-US" sz="1300" b="1" dirty="0">
                <a:solidFill>
                  <a:srgbClr val="2A1015"/>
                </a:solidFill>
                <a:latin typeface="Arial" pitchFamily="34" charset="0"/>
                <a:ea typeface="Arial" pitchFamily="34" charset="-122"/>
                <a:cs typeface="Arial" pitchFamily="34" charset="-120"/>
              </a:rPr>
              <a:t>Technology</a:t>
            </a:r>
            <a:endParaRPr lang="en-US" sz="1300" dirty="0"/>
          </a:p>
        </p:txBody>
      </p:sp>
      <p:sp>
        <p:nvSpPr>
          <p:cNvPr id="7" name="Text 4"/>
          <p:cNvSpPr/>
          <p:nvPr/>
        </p:nvSpPr>
        <p:spPr>
          <a:xfrm>
            <a:off x="914400" y="2560320"/>
            <a:ext cx="2103120" cy="365760"/>
          </a:xfrm>
          <a:prstGeom prst="rect">
            <a:avLst/>
          </a:prstGeom>
          <a:noFill/>
          <a:ln/>
        </p:spPr>
        <p:txBody>
          <a:bodyPr wrap="square" rtlCol="0" anchor="ctr"/>
          <a:lstStyle/>
          <a:p>
            <a:pPr indent="0" marL="0">
              <a:buNone/>
            </a:pPr>
            <a:r>
              <a:rPr lang="en-US" sz="1100" dirty="0">
                <a:solidFill>
                  <a:srgbClr val="6B5050"/>
                </a:solidFill>
                <a:latin typeface="Arial" pitchFamily="34" charset="0"/>
                <a:ea typeface="Arial" pitchFamily="34" charset="-122"/>
                <a:cs typeface="Arial" pitchFamily="34" charset="-120"/>
              </a:rPr>
              <a:t>8 pathways</a:t>
            </a:r>
            <a:endParaRPr lang="en-US" sz="1100" dirty="0"/>
          </a:p>
        </p:txBody>
      </p:sp>
      <p:sp>
        <p:nvSpPr>
          <p:cNvPr id="8" name="Shape 5"/>
          <p:cNvSpPr/>
          <p:nvPr/>
        </p:nvSpPr>
        <p:spPr>
          <a:xfrm>
            <a:off x="3474720" y="2011680"/>
            <a:ext cx="2468880" cy="1097280"/>
          </a:xfrm>
          <a:prstGeom prst="roundRect">
            <a:avLst>
              <a:gd name="adj" fmla="val 8333"/>
            </a:avLst>
          </a:prstGeom>
          <a:solidFill>
            <a:srgbClr val="FFFFFF"/>
          </a:solidFill>
          <a:ln w="12700">
            <a:solidFill>
              <a:srgbClr val="E8E0D8"/>
            </a:solidFill>
            <a:prstDash val="solid"/>
          </a:ln>
        </p:spPr>
      </p:sp>
      <p:sp>
        <p:nvSpPr>
          <p:cNvPr id="9" name="Text 6"/>
          <p:cNvSpPr/>
          <p:nvPr/>
        </p:nvSpPr>
        <p:spPr>
          <a:xfrm>
            <a:off x="3657600" y="2148840"/>
            <a:ext cx="2103120" cy="457200"/>
          </a:xfrm>
          <a:prstGeom prst="rect">
            <a:avLst/>
          </a:prstGeom>
          <a:noFill/>
          <a:ln/>
        </p:spPr>
        <p:txBody>
          <a:bodyPr wrap="square" rtlCol="0" anchor="ctr"/>
          <a:lstStyle/>
          <a:p>
            <a:pPr indent="0" marL="0">
              <a:buNone/>
            </a:pPr>
            <a:r>
              <a:rPr lang="en-US" sz="1300" b="1" dirty="0">
                <a:solidFill>
                  <a:srgbClr val="2A1015"/>
                </a:solidFill>
                <a:latin typeface="Arial" pitchFamily="34" charset="0"/>
                <a:ea typeface="Arial" pitchFamily="34" charset="-122"/>
                <a:cs typeface="Arial" pitchFamily="34" charset="-120"/>
              </a:rPr>
              <a:t>Healthcare</a:t>
            </a:r>
            <a:endParaRPr lang="en-US" sz="1300" dirty="0"/>
          </a:p>
        </p:txBody>
      </p:sp>
      <p:sp>
        <p:nvSpPr>
          <p:cNvPr id="10" name="Text 7"/>
          <p:cNvSpPr/>
          <p:nvPr/>
        </p:nvSpPr>
        <p:spPr>
          <a:xfrm>
            <a:off x="3657600" y="2560320"/>
            <a:ext cx="2103120" cy="365760"/>
          </a:xfrm>
          <a:prstGeom prst="rect">
            <a:avLst/>
          </a:prstGeom>
          <a:noFill/>
          <a:ln/>
        </p:spPr>
        <p:txBody>
          <a:bodyPr wrap="square" rtlCol="0" anchor="ctr"/>
          <a:lstStyle/>
          <a:p>
            <a:pPr indent="0" marL="0">
              <a:buNone/>
            </a:pPr>
            <a:r>
              <a:rPr lang="en-US" sz="1100" dirty="0">
                <a:solidFill>
                  <a:srgbClr val="6B5050"/>
                </a:solidFill>
                <a:latin typeface="Arial" pitchFamily="34" charset="0"/>
                <a:ea typeface="Arial" pitchFamily="34" charset="-122"/>
                <a:cs typeface="Arial" pitchFamily="34" charset="-120"/>
              </a:rPr>
              <a:t>6 pathways</a:t>
            </a:r>
            <a:endParaRPr lang="en-US" sz="1100" dirty="0"/>
          </a:p>
        </p:txBody>
      </p:sp>
      <p:sp>
        <p:nvSpPr>
          <p:cNvPr id="11" name="Shape 8"/>
          <p:cNvSpPr/>
          <p:nvPr/>
        </p:nvSpPr>
        <p:spPr>
          <a:xfrm>
            <a:off x="6217920" y="2011680"/>
            <a:ext cx="2468880" cy="1097280"/>
          </a:xfrm>
          <a:prstGeom prst="roundRect">
            <a:avLst>
              <a:gd name="adj" fmla="val 8333"/>
            </a:avLst>
          </a:prstGeom>
          <a:solidFill>
            <a:srgbClr val="FFFFFF"/>
          </a:solidFill>
          <a:ln w="12700">
            <a:solidFill>
              <a:srgbClr val="E8E0D8"/>
            </a:solidFill>
            <a:prstDash val="solid"/>
          </a:ln>
        </p:spPr>
      </p:sp>
      <p:sp>
        <p:nvSpPr>
          <p:cNvPr id="12" name="Text 9"/>
          <p:cNvSpPr/>
          <p:nvPr/>
        </p:nvSpPr>
        <p:spPr>
          <a:xfrm>
            <a:off x="6400800" y="2148840"/>
            <a:ext cx="2103120" cy="457200"/>
          </a:xfrm>
          <a:prstGeom prst="rect">
            <a:avLst/>
          </a:prstGeom>
          <a:noFill/>
          <a:ln/>
        </p:spPr>
        <p:txBody>
          <a:bodyPr wrap="square" rtlCol="0" anchor="ctr"/>
          <a:lstStyle/>
          <a:p>
            <a:pPr indent="0" marL="0">
              <a:buNone/>
            </a:pPr>
            <a:r>
              <a:rPr lang="en-US" sz="1300" b="1" dirty="0">
                <a:solidFill>
                  <a:srgbClr val="2A1015"/>
                </a:solidFill>
                <a:latin typeface="Arial" pitchFamily="34" charset="0"/>
                <a:ea typeface="Arial" pitchFamily="34" charset="-122"/>
                <a:cs typeface="Arial" pitchFamily="34" charset="-120"/>
              </a:rPr>
              <a:t>Business &amp; Finance</a:t>
            </a:r>
            <a:endParaRPr lang="en-US" sz="1300" dirty="0"/>
          </a:p>
        </p:txBody>
      </p:sp>
      <p:sp>
        <p:nvSpPr>
          <p:cNvPr id="13" name="Text 10"/>
          <p:cNvSpPr/>
          <p:nvPr/>
        </p:nvSpPr>
        <p:spPr>
          <a:xfrm>
            <a:off x="6400800" y="2560320"/>
            <a:ext cx="2103120" cy="365760"/>
          </a:xfrm>
          <a:prstGeom prst="rect">
            <a:avLst/>
          </a:prstGeom>
          <a:noFill/>
          <a:ln/>
        </p:spPr>
        <p:txBody>
          <a:bodyPr wrap="square" rtlCol="0" anchor="ctr"/>
          <a:lstStyle/>
          <a:p>
            <a:pPr indent="0" marL="0">
              <a:buNone/>
            </a:pPr>
            <a:r>
              <a:rPr lang="en-US" sz="1100" dirty="0">
                <a:solidFill>
                  <a:srgbClr val="6B5050"/>
                </a:solidFill>
                <a:latin typeface="Arial" pitchFamily="34" charset="0"/>
                <a:ea typeface="Arial" pitchFamily="34" charset="-122"/>
                <a:cs typeface="Arial" pitchFamily="34" charset="-120"/>
              </a:rPr>
              <a:t>5 pathways</a:t>
            </a:r>
            <a:endParaRPr lang="en-US" sz="1100" dirty="0"/>
          </a:p>
        </p:txBody>
      </p:sp>
      <p:sp>
        <p:nvSpPr>
          <p:cNvPr id="14" name="Shape 11"/>
          <p:cNvSpPr/>
          <p:nvPr/>
        </p:nvSpPr>
        <p:spPr>
          <a:xfrm>
            <a:off x="8961120" y="2011680"/>
            <a:ext cx="2468880" cy="1097280"/>
          </a:xfrm>
          <a:prstGeom prst="roundRect">
            <a:avLst>
              <a:gd name="adj" fmla="val 8333"/>
            </a:avLst>
          </a:prstGeom>
          <a:solidFill>
            <a:srgbClr val="FFFFFF"/>
          </a:solidFill>
          <a:ln w="12700">
            <a:solidFill>
              <a:srgbClr val="E8E0D8"/>
            </a:solidFill>
            <a:prstDash val="solid"/>
          </a:ln>
        </p:spPr>
      </p:sp>
      <p:sp>
        <p:nvSpPr>
          <p:cNvPr id="15" name="Text 12"/>
          <p:cNvSpPr/>
          <p:nvPr/>
        </p:nvSpPr>
        <p:spPr>
          <a:xfrm>
            <a:off x="9144000" y="2148840"/>
            <a:ext cx="2103120" cy="457200"/>
          </a:xfrm>
          <a:prstGeom prst="rect">
            <a:avLst/>
          </a:prstGeom>
          <a:noFill/>
          <a:ln/>
        </p:spPr>
        <p:txBody>
          <a:bodyPr wrap="square" rtlCol="0" anchor="ctr"/>
          <a:lstStyle/>
          <a:p>
            <a:pPr indent="0" marL="0">
              <a:buNone/>
            </a:pPr>
            <a:r>
              <a:rPr lang="en-US" sz="1300" b="1" dirty="0">
                <a:solidFill>
                  <a:srgbClr val="2A1015"/>
                </a:solidFill>
                <a:latin typeface="Arial" pitchFamily="34" charset="0"/>
                <a:ea typeface="Arial" pitchFamily="34" charset="-122"/>
                <a:cs typeface="Arial" pitchFamily="34" charset="-120"/>
              </a:rPr>
              <a:t>Engineering</a:t>
            </a:r>
            <a:endParaRPr lang="en-US" sz="1300" dirty="0"/>
          </a:p>
        </p:txBody>
      </p:sp>
      <p:sp>
        <p:nvSpPr>
          <p:cNvPr id="16" name="Text 13"/>
          <p:cNvSpPr/>
          <p:nvPr/>
        </p:nvSpPr>
        <p:spPr>
          <a:xfrm>
            <a:off x="9144000" y="2560320"/>
            <a:ext cx="2103120" cy="365760"/>
          </a:xfrm>
          <a:prstGeom prst="rect">
            <a:avLst/>
          </a:prstGeom>
          <a:noFill/>
          <a:ln/>
        </p:spPr>
        <p:txBody>
          <a:bodyPr wrap="square" rtlCol="0" anchor="ctr"/>
          <a:lstStyle/>
          <a:p>
            <a:pPr indent="0" marL="0">
              <a:buNone/>
            </a:pPr>
            <a:r>
              <a:rPr lang="en-US" sz="1100" dirty="0">
                <a:solidFill>
                  <a:srgbClr val="6B5050"/>
                </a:solidFill>
                <a:latin typeface="Arial" pitchFamily="34" charset="0"/>
                <a:ea typeface="Arial" pitchFamily="34" charset="-122"/>
                <a:cs typeface="Arial" pitchFamily="34" charset="-120"/>
              </a:rPr>
              <a:t>5 pathways</a:t>
            </a:r>
            <a:endParaRPr lang="en-US" sz="1100" dirty="0"/>
          </a:p>
        </p:txBody>
      </p:sp>
      <p:sp>
        <p:nvSpPr>
          <p:cNvPr id="17" name="Shape 14"/>
          <p:cNvSpPr/>
          <p:nvPr/>
        </p:nvSpPr>
        <p:spPr>
          <a:xfrm>
            <a:off x="731520" y="3383280"/>
            <a:ext cx="2468880" cy="1097280"/>
          </a:xfrm>
          <a:prstGeom prst="roundRect">
            <a:avLst>
              <a:gd name="adj" fmla="val 8333"/>
            </a:avLst>
          </a:prstGeom>
          <a:solidFill>
            <a:srgbClr val="FFFFFF"/>
          </a:solidFill>
          <a:ln w="12700">
            <a:solidFill>
              <a:srgbClr val="E8E0D8"/>
            </a:solidFill>
            <a:prstDash val="solid"/>
          </a:ln>
        </p:spPr>
      </p:sp>
      <p:sp>
        <p:nvSpPr>
          <p:cNvPr id="18" name="Text 15"/>
          <p:cNvSpPr/>
          <p:nvPr/>
        </p:nvSpPr>
        <p:spPr>
          <a:xfrm>
            <a:off x="914400" y="3520440"/>
            <a:ext cx="2103120" cy="457200"/>
          </a:xfrm>
          <a:prstGeom prst="rect">
            <a:avLst/>
          </a:prstGeom>
          <a:noFill/>
          <a:ln/>
        </p:spPr>
        <p:txBody>
          <a:bodyPr wrap="square" rtlCol="0" anchor="ctr"/>
          <a:lstStyle/>
          <a:p>
            <a:pPr indent="0" marL="0">
              <a:buNone/>
            </a:pPr>
            <a:r>
              <a:rPr lang="en-US" sz="1300" b="1" dirty="0">
                <a:solidFill>
                  <a:srgbClr val="2A1015"/>
                </a:solidFill>
                <a:latin typeface="Arial" pitchFamily="34" charset="0"/>
                <a:ea typeface="Arial" pitchFamily="34" charset="-122"/>
                <a:cs typeface="Arial" pitchFamily="34" charset="-120"/>
              </a:rPr>
              <a:t>Skilled Trades</a:t>
            </a:r>
            <a:endParaRPr lang="en-US" sz="1300" dirty="0"/>
          </a:p>
        </p:txBody>
      </p:sp>
      <p:sp>
        <p:nvSpPr>
          <p:cNvPr id="19" name="Text 16"/>
          <p:cNvSpPr/>
          <p:nvPr/>
        </p:nvSpPr>
        <p:spPr>
          <a:xfrm>
            <a:off x="914400" y="3931920"/>
            <a:ext cx="2103120" cy="365760"/>
          </a:xfrm>
          <a:prstGeom prst="rect">
            <a:avLst/>
          </a:prstGeom>
          <a:noFill/>
          <a:ln/>
        </p:spPr>
        <p:txBody>
          <a:bodyPr wrap="square" rtlCol="0" anchor="ctr"/>
          <a:lstStyle/>
          <a:p>
            <a:pPr indent="0" marL="0">
              <a:buNone/>
            </a:pPr>
            <a:r>
              <a:rPr lang="en-US" sz="1100" dirty="0">
                <a:solidFill>
                  <a:srgbClr val="6B5050"/>
                </a:solidFill>
                <a:latin typeface="Arial" pitchFamily="34" charset="0"/>
                <a:ea typeface="Arial" pitchFamily="34" charset="-122"/>
                <a:cs typeface="Arial" pitchFamily="34" charset="-120"/>
              </a:rPr>
              <a:t>8 pathways</a:t>
            </a:r>
            <a:endParaRPr lang="en-US" sz="1100" dirty="0"/>
          </a:p>
        </p:txBody>
      </p:sp>
      <p:sp>
        <p:nvSpPr>
          <p:cNvPr id="20" name="Shape 17"/>
          <p:cNvSpPr/>
          <p:nvPr/>
        </p:nvSpPr>
        <p:spPr>
          <a:xfrm>
            <a:off x="3474720" y="3383280"/>
            <a:ext cx="2468880" cy="1097280"/>
          </a:xfrm>
          <a:prstGeom prst="roundRect">
            <a:avLst>
              <a:gd name="adj" fmla="val 8333"/>
            </a:avLst>
          </a:prstGeom>
          <a:solidFill>
            <a:srgbClr val="FFFFFF"/>
          </a:solidFill>
          <a:ln w="12700">
            <a:solidFill>
              <a:srgbClr val="E8E0D8"/>
            </a:solidFill>
            <a:prstDash val="solid"/>
          </a:ln>
        </p:spPr>
      </p:sp>
      <p:sp>
        <p:nvSpPr>
          <p:cNvPr id="21" name="Text 18"/>
          <p:cNvSpPr/>
          <p:nvPr/>
        </p:nvSpPr>
        <p:spPr>
          <a:xfrm>
            <a:off x="3657600" y="3520440"/>
            <a:ext cx="2103120" cy="457200"/>
          </a:xfrm>
          <a:prstGeom prst="rect">
            <a:avLst/>
          </a:prstGeom>
          <a:noFill/>
          <a:ln/>
        </p:spPr>
        <p:txBody>
          <a:bodyPr wrap="square" rtlCol="0" anchor="ctr"/>
          <a:lstStyle/>
          <a:p>
            <a:pPr indent="0" marL="0">
              <a:buNone/>
            </a:pPr>
            <a:r>
              <a:rPr lang="en-US" sz="1300" b="1" dirty="0">
                <a:solidFill>
                  <a:srgbClr val="2A1015"/>
                </a:solidFill>
                <a:latin typeface="Arial" pitchFamily="34" charset="0"/>
                <a:ea typeface="Arial" pitchFamily="34" charset="-122"/>
                <a:cs typeface="Arial" pitchFamily="34" charset="-120"/>
              </a:rPr>
              <a:t>Military &amp; Public Svc</a:t>
            </a:r>
            <a:endParaRPr lang="en-US" sz="1300" dirty="0"/>
          </a:p>
        </p:txBody>
      </p:sp>
      <p:sp>
        <p:nvSpPr>
          <p:cNvPr id="22" name="Text 19"/>
          <p:cNvSpPr/>
          <p:nvPr/>
        </p:nvSpPr>
        <p:spPr>
          <a:xfrm>
            <a:off x="3657600" y="3931920"/>
            <a:ext cx="2103120" cy="365760"/>
          </a:xfrm>
          <a:prstGeom prst="rect">
            <a:avLst/>
          </a:prstGeom>
          <a:noFill/>
          <a:ln/>
        </p:spPr>
        <p:txBody>
          <a:bodyPr wrap="square" rtlCol="0" anchor="ctr"/>
          <a:lstStyle/>
          <a:p>
            <a:pPr indent="0" marL="0">
              <a:buNone/>
            </a:pPr>
            <a:r>
              <a:rPr lang="en-US" sz="1100" dirty="0">
                <a:solidFill>
                  <a:srgbClr val="6B5050"/>
                </a:solidFill>
                <a:latin typeface="Arial" pitchFamily="34" charset="0"/>
                <a:ea typeface="Arial" pitchFamily="34" charset="-122"/>
                <a:cs typeface="Arial" pitchFamily="34" charset="-120"/>
              </a:rPr>
              <a:t>5 pathways</a:t>
            </a:r>
            <a:endParaRPr lang="en-US" sz="1100" dirty="0"/>
          </a:p>
        </p:txBody>
      </p:sp>
      <p:sp>
        <p:nvSpPr>
          <p:cNvPr id="23" name="Shape 20"/>
          <p:cNvSpPr/>
          <p:nvPr/>
        </p:nvSpPr>
        <p:spPr>
          <a:xfrm>
            <a:off x="6217920" y="3383280"/>
            <a:ext cx="2468880" cy="1097280"/>
          </a:xfrm>
          <a:prstGeom prst="roundRect">
            <a:avLst>
              <a:gd name="adj" fmla="val 8333"/>
            </a:avLst>
          </a:prstGeom>
          <a:solidFill>
            <a:srgbClr val="FFFFFF"/>
          </a:solidFill>
          <a:ln w="12700">
            <a:solidFill>
              <a:srgbClr val="E8E0D8"/>
            </a:solidFill>
            <a:prstDash val="solid"/>
          </a:ln>
        </p:spPr>
      </p:sp>
      <p:sp>
        <p:nvSpPr>
          <p:cNvPr id="24" name="Text 21"/>
          <p:cNvSpPr/>
          <p:nvPr/>
        </p:nvSpPr>
        <p:spPr>
          <a:xfrm>
            <a:off x="6400800" y="3520440"/>
            <a:ext cx="2103120" cy="457200"/>
          </a:xfrm>
          <a:prstGeom prst="rect">
            <a:avLst/>
          </a:prstGeom>
          <a:noFill/>
          <a:ln/>
        </p:spPr>
        <p:txBody>
          <a:bodyPr wrap="square" rtlCol="0" anchor="ctr"/>
          <a:lstStyle/>
          <a:p>
            <a:pPr indent="0" marL="0">
              <a:buNone/>
            </a:pPr>
            <a:r>
              <a:rPr lang="en-US" sz="1300" b="1" dirty="0">
                <a:solidFill>
                  <a:srgbClr val="2A1015"/>
                </a:solidFill>
                <a:latin typeface="Arial" pitchFamily="34" charset="0"/>
                <a:ea typeface="Arial" pitchFamily="34" charset="-122"/>
                <a:cs typeface="Arial" pitchFamily="34" charset="-120"/>
              </a:rPr>
              <a:t>Arts &amp; Creative</a:t>
            </a:r>
            <a:endParaRPr lang="en-US" sz="1300" dirty="0"/>
          </a:p>
        </p:txBody>
      </p:sp>
      <p:sp>
        <p:nvSpPr>
          <p:cNvPr id="25" name="Text 22"/>
          <p:cNvSpPr/>
          <p:nvPr/>
        </p:nvSpPr>
        <p:spPr>
          <a:xfrm>
            <a:off x="6400800" y="3931920"/>
            <a:ext cx="2103120" cy="365760"/>
          </a:xfrm>
          <a:prstGeom prst="rect">
            <a:avLst/>
          </a:prstGeom>
          <a:noFill/>
          <a:ln/>
        </p:spPr>
        <p:txBody>
          <a:bodyPr wrap="square" rtlCol="0" anchor="ctr"/>
          <a:lstStyle/>
          <a:p>
            <a:pPr indent="0" marL="0">
              <a:buNone/>
            </a:pPr>
            <a:r>
              <a:rPr lang="en-US" sz="1100" dirty="0">
                <a:solidFill>
                  <a:srgbClr val="6B5050"/>
                </a:solidFill>
                <a:latin typeface="Arial" pitchFamily="34" charset="0"/>
                <a:ea typeface="Arial" pitchFamily="34" charset="-122"/>
                <a:cs typeface="Arial" pitchFamily="34" charset="-120"/>
              </a:rPr>
              <a:t>4 pathways</a:t>
            </a:r>
            <a:endParaRPr lang="en-US" sz="1100" dirty="0"/>
          </a:p>
        </p:txBody>
      </p:sp>
      <p:sp>
        <p:nvSpPr>
          <p:cNvPr id="26" name="Shape 23"/>
          <p:cNvSpPr/>
          <p:nvPr/>
        </p:nvSpPr>
        <p:spPr>
          <a:xfrm>
            <a:off x="8961120" y="3383280"/>
            <a:ext cx="2468880" cy="1097280"/>
          </a:xfrm>
          <a:prstGeom prst="roundRect">
            <a:avLst>
              <a:gd name="adj" fmla="val 8333"/>
            </a:avLst>
          </a:prstGeom>
          <a:solidFill>
            <a:srgbClr val="FFFFFF"/>
          </a:solidFill>
          <a:ln w="12700">
            <a:solidFill>
              <a:srgbClr val="E8E0D8"/>
            </a:solidFill>
            <a:prstDash val="solid"/>
          </a:ln>
        </p:spPr>
      </p:sp>
      <p:sp>
        <p:nvSpPr>
          <p:cNvPr id="27" name="Text 24"/>
          <p:cNvSpPr/>
          <p:nvPr/>
        </p:nvSpPr>
        <p:spPr>
          <a:xfrm>
            <a:off x="9144000" y="3520440"/>
            <a:ext cx="2103120" cy="457200"/>
          </a:xfrm>
          <a:prstGeom prst="rect">
            <a:avLst/>
          </a:prstGeom>
          <a:noFill/>
          <a:ln/>
        </p:spPr>
        <p:txBody>
          <a:bodyPr wrap="square" rtlCol="0" anchor="ctr"/>
          <a:lstStyle/>
          <a:p>
            <a:pPr indent="0" marL="0">
              <a:buNone/>
            </a:pPr>
            <a:r>
              <a:rPr lang="en-US" sz="1300" b="1" dirty="0">
                <a:solidFill>
                  <a:srgbClr val="2A1015"/>
                </a:solidFill>
                <a:latin typeface="Arial" pitchFamily="34" charset="0"/>
                <a:ea typeface="Arial" pitchFamily="34" charset="-122"/>
                <a:cs typeface="Arial" pitchFamily="34" charset="-120"/>
              </a:rPr>
              <a:t>Education</a:t>
            </a:r>
            <a:endParaRPr lang="en-US" sz="1300" dirty="0"/>
          </a:p>
        </p:txBody>
      </p:sp>
      <p:sp>
        <p:nvSpPr>
          <p:cNvPr id="28" name="Text 25"/>
          <p:cNvSpPr/>
          <p:nvPr/>
        </p:nvSpPr>
        <p:spPr>
          <a:xfrm>
            <a:off x="9144000" y="3931920"/>
            <a:ext cx="2103120" cy="365760"/>
          </a:xfrm>
          <a:prstGeom prst="rect">
            <a:avLst/>
          </a:prstGeom>
          <a:noFill/>
          <a:ln/>
        </p:spPr>
        <p:txBody>
          <a:bodyPr wrap="square" rtlCol="0" anchor="ctr"/>
          <a:lstStyle/>
          <a:p>
            <a:pPr indent="0" marL="0">
              <a:buNone/>
            </a:pPr>
            <a:r>
              <a:rPr lang="en-US" sz="1100" dirty="0">
                <a:solidFill>
                  <a:srgbClr val="6B5050"/>
                </a:solidFill>
                <a:latin typeface="Arial" pitchFamily="34" charset="0"/>
                <a:ea typeface="Arial" pitchFamily="34" charset="-122"/>
                <a:cs typeface="Arial" pitchFamily="34" charset="-120"/>
              </a:rPr>
              <a:t>3 pathways</a:t>
            </a:r>
            <a:endParaRPr lang="en-US" sz="1100" dirty="0"/>
          </a:p>
        </p:txBody>
      </p:sp>
      <p:sp>
        <p:nvSpPr>
          <p:cNvPr id="29" name="Shape 26"/>
          <p:cNvSpPr/>
          <p:nvPr/>
        </p:nvSpPr>
        <p:spPr>
          <a:xfrm>
            <a:off x="731520" y="4754880"/>
            <a:ext cx="2468880" cy="1097280"/>
          </a:xfrm>
          <a:prstGeom prst="roundRect">
            <a:avLst>
              <a:gd name="adj" fmla="val 8333"/>
            </a:avLst>
          </a:prstGeom>
          <a:solidFill>
            <a:srgbClr val="FFFFFF"/>
          </a:solidFill>
          <a:ln w="12700">
            <a:solidFill>
              <a:srgbClr val="E8E0D8"/>
            </a:solidFill>
            <a:prstDash val="solid"/>
          </a:ln>
        </p:spPr>
      </p:sp>
      <p:sp>
        <p:nvSpPr>
          <p:cNvPr id="30" name="Text 27"/>
          <p:cNvSpPr/>
          <p:nvPr/>
        </p:nvSpPr>
        <p:spPr>
          <a:xfrm>
            <a:off x="914400" y="4892040"/>
            <a:ext cx="2103120" cy="457200"/>
          </a:xfrm>
          <a:prstGeom prst="rect">
            <a:avLst/>
          </a:prstGeom>
          <a:noFill/>
          <a:ln/>
        </p:spPr>
        <p:txBody>
          <a:bodyPr wrap="square" rtlCol="0" anchor="ctr"/>
          <a:lstStyle/>
          <a:p>
            <a:pPr indent="0" marL="0">
              <a:buNone/>
            </a:pPr>
            <a:r>
              <a:rPr lang="en-US" sz="1300" b="1" dirty="0">
                <a:solidFill>
                  <a:srgbClr val="2A1015"/>
                </a:solidFill>
                <a:latin typeface="Arial" pitchFamily="34" charset="0"/>
                <a:ea typeface="Arial" pitchFamily="34" charset="-122"/>
                <a:cs typeface="Arial" pitchFamily="34" charset="-120"/>
              </a:rPr>
              <a:t>Law &amp; Justice</a:t>
            </a:r>
            <a:endParaRPr lang="en-US" sz="1300" dirty="0"/>
          </a:p>
        </p:txBody>
      </p:sp>
      <p:sp>
        <p:nvSpPr>
          <p:cNvPr id="31" name="Text 28"/>
          <p:cNvSpPr/>
          <p:nvPr/>
        </p:nvSpPr>
        <p:spPr>
          <a:xfrm>
            <a:off x="914400" y="5303520"/>
            <a:ext cx="2103120" cy="365760"/>
          </a:xfrm>
          <a:prstGeom prst="rect">
            <a:avLst/>
          </a:prstGeom>
          <a:noFill/>
          <a:ln/>
        </p:spPr>
        <p:txBody>
          <a:bodyPr wrap="square" rtlCol="0" anchor="ctr"/>
          <a:lstStyle/>
          <a:p>
            <a:pPr indent="0" marL="0">
              <a:buNone/>
            </a:pPr>
            <a:r>
              <a:rPr lang="en-US" sz="1100" dirty="0">
                <a:solidFill>
                  <a:srgbClr val="6B5050"/>
                </a:solidFill>
                <a:latin typeface="Arial" pitchFamily="34" charset="0"/>
                <a:ea typeface="Arial" pitchFamily="34" charset="-122"/>
                <a:cs typeface="Arial" pitchFamily="34" charset="-120"/>
              </a:rPr>
              <a:t>3 pathways</a:t>
            </a:r>
            <a:endParaRPr lang="en-US" sz="1100" dirty="0"/>
          </a:p>
        </p:txBody>
      </p:sp>
      <p:sp>
        <p:nvSpPr>
          <p:cNvPr id="32" name="Shape 29"/>
          <p:cNvSpPr/>
          <p:nvPr/>
        </p:nvSpPr>
        <p:spPr>
          <a:xfrm>
            <a:off x="3474720" y="4754880"/>
            <a:ext cx="2468880" cy="1097280"/>
          </a:xfrm>
          <a:prstGeom prst="roundRect">
            <a:avLst>
              <a:gd name="adj" fmla="val 8333"/>
            </a:avLst>
          </a:prstGeom>
          <a:solidFill>
            <a:srgbClr val="FFFFFF"/>
          </a:solidFill>
          <a:ln w="12700">
            <a:solidFill>
              <a:srgbClr val="E8E0D8"/>
            </a:solidFill>
            <a:prstDash val="solid"/>
          </a:ln>
        </p:spPr>
      </p:sp>
      <p:sp>
        <p:nvSpPr>
          <p:cNvPr id="33" name="Text 30"/>
          <p:cNvSpPr/>
          <p:nvPr/>
        </p:nvSpPr>
        <p:spPr>
          <a:xfrm>
            <a:off x="3657600" y="4892040"/>
            <a:ext cx="2103120" cy="457200"/>
          </a:xfrm>
          <a:prstGeom prst="rect">
            <a:avLst/>
          </a:prstGeom>
          <a:noFill/>
          <a:ln/>
        </p:spPr>
        <p:txBody>
          <a:bodyPr wrap="square" rtlCol="0" anchor="ctr"/>
          <a:lstStyle/>
          <a:p>
            <a:pPr indent="0" marL="0">
              <a:buNone/>
            </a:pPr>
            <a:r>
              <a:rPr lang="en-US" sz="1300" b="1" dirty="0">
                <a:solidFill>
                  <a:srgbClr val="2A1015"/>
                </a:solidFill>
                <a:latin typeface="Arial" pitchFamily="34" charset="0"/>
                <a:ea typeface="Arial" pitchFamily="34" charset="-122"/>
                <a:cs typeface="Arial" pitchFamily="34" charset="-120"/>
              </a:rPr>
              <a:t>Science &amp; Research</a:t>
            </a:r>
            <a:endParaRPr lang="en-US" sz="1300" dirty="0"/>
          </a:p>
        </p:txBody>
      </p:sp>
      <p:sp>
        <p:nvSpPr>
          <p:cNvPr id="34" name="Text 31"/>
          <p:cNvSpPr/>
          <p:nvPr/>
        </p:nvSpPr>
        <p:spPr>
          <a:xfrm>
            <a:off x="3657600" y="5303520"/>
            <a:ext cx="2103120" cy="365760"/>
          </a:xfrm>
          <a:prstGeom prst="rect">
            <a:avLst/>
          </a:prstGeom>
          <a:noFill/>
          <a:ln/>
        </p:spPr>
        <p:txBody>
          <a:bodyPr wrap="square" rtlCol="0" anchor="ctr"/>
          <a:lstStyle/>
          <a:p>
            <a:pPr indent="0" marL="0">
              <a:buNone/>
            </a:pPr>
            <a:r>
              <a:rPr lang="en-US" sz="1100" dirty="0">
                <a:solidFill>
                  <a:srgbClr val="6B5050"/>
                </a:solidFill>
                <a:latin typeface="Arial" pitchFamily="34" charset="0"/>
                <a:ea typeface="Arial" pitchFamily="34" charset="-122"/>
                <a:cs typeface="Arial" pitchFamily="34" charset="-120"/>
              </a:rPr>
              <a:t>3 pathways</a:t>
            </a:r>
            <a:endParaRPr lang="en-US" sz="1100" dirty="0"/>
          </a:p>
        </p:txBody>
      </p:sp>
      <p:sp>
        <p:nvSpPr>
          <p:cNvPr id="35" name="Shape 32"/>
          <p:cNvSpPr/>
          <p:nvPr/>
        </p:nvSpPr>
        <p:spPr>
          <a:xfrm>
            <a:off x="6217920" y="4754880"/>
            <a:ext cx="2468880" cy="1097280"/>
          </a:xfrm>
          <a:prstGeom prst="roundRect">
            <a:avLst>
              <a:gd name="adj" fmla="val 8333"/>
            </a:avLst>
          </a:prstGeom>
          <a:solidFill>
            <a:srgbClr val="FFFFFF"/>
          </a:solidFill>
          <a:ln w="12700">
            <a:solidFill>
              <a:srgbClr val="E8E0D8"/>
            </a:solidFill>
            <a:prstDash val="solid"/>
          </a:ln>
        </p:spPr>
      </p:sp>
      <p:sp>
        <p:nvSpPr>
          <p:cNvPr id="36" name="Text 33"/>
          <p:cNvSpPr/>
          <p:nvPr/>
        </p:nvSpPr>
        <p:spPr>
          <a:xfrm>
            <a:off x="6400800" y="4892040"/>
            <a:ext cx="2103120" cy="457200"/>
          </a:xfrm>
          <a:prstGeom prst="rect">
            <a:avLst/>
          </a:prstGeom>
          <a:noFill/>
          <a:ln/>
        </p:spPr>
        <p:txBody>
          <a:bodyPr wrap="square" rtlCol="0" anchor="ctr"/>
          <a:lstStyle/>
          <a:p>
            <a:pPr indent="0" marL="0">
              <a:buNone/>
            </a:pPr>
            <a:r>
              <a:rPr lang="en-US" sz="1300" b="1" dirty="0">
                <a:solidFill>
                  <a:srgbClr val="2A1015"/>
                </a:solidFill>
                <a:latin typeface="Arial" pitchFamily="34" charset="0"/>
                <a:ea typeface="Arial" pitchFamily="34" charset="-122"/>
                <a:cs typeface="Arial" pitchFamily="34" charset="-120"/>
              </a:rPr>
              <a:t>Media &amp; Comms</a:t>
            </a:r>
            <a:endParaRPr lang="en-US" sz="1300" dirty="0"/>
          </a:p>
        </p:txBody>
      </p:sp>
      <p:sp>
        <p:nvSpPr>
          <p:cNvPr id="37" name="Text 34"/>
          <p:cNvSpPr/>
          <p:nvPr/>
        </p:nvSpPr>
        <p:spPr>
          <a:xfrm>
            <a:off x="6400800" y="5303520"/>
            <a:ext cx="2103120" cy="365760"/>
          </a:xfrm>
          <a:prstGeom prst="rect">
            <a:avLst/>
          </a:prstGeom>
          <a:noFill/>
          <a:ln/>
        </p:spPr>
        <p:txBody>
          <a:bodyPr wrap="square" rtlCol="0" anchor="ctr"/>
          <a:lstStyle/>
          <a:p>
            <a:pPr indent="0" marL="0">
              <a:buNone/>
            </a:pPr>
            <a:r>
              <a:rPr lang="en-US" sz="1100" dirty="0">
                <a:solidFill>
                  <a:srgbClr val="6B5050"/>
                </a:solidFill>
                <a:latin typeface="Arial" pitchFamily="34" charset="0"/>
                <a:ea typeface="Arial" pitchFamily="34" charset="-122"/>
                <a:cs typeface="Arial" pitchFamily="34" charset="-120"/>
              </a:rPr>
              <a:t>3 pathways</a:t>
            </a:r>
            <a:endParaRPr lang="en-US" sz="1100" dirty="0"/>
          </a:p>
        </p:txBody>
      </p:sp>
      <p:sp>
        <p:nvSpPr>
          <p:cNvPr id="38" name="Shape 35"/>
          <p:cNvSpPr/>
          <p:nvPr/>
        </p:nvSpPr>
        <p:spPr>
          <a:xfrm>
            <a:off x="8961120" y="4754880"/>
            <a:ext cx="2468880" cy="1097280"/>
          </a:xfrm>
          <a:prstGeom prst="roundRect">
            <a:avLst>
              <a:gd name="adj" fmla="val 8333"/>
            </a:avLst>
          </a:prstGeom>
          <a:solidFill>
            <a:srgbClr val="FFFFFF"/>
          </a:solidFill>
          <a:ln w="12700">
            <a:solidFill>
              <a:srgbClr val="E8E0D8"/>
            </a:solidFill>
            <a:prstDash val="solid"/>
          </a:ln>
        </p:spPr>
      </p:sp>
      <p:sp>
        <p:nvSpPr>
          <p:cNvPr id="39" name="Text 36"/>
          <p:cNvSpPr/>
          <p:nvPr/>
        </p:nvSpPr>
        <p:spPr>
          <a:xfrm>
            <a:off x="9144000" y="4892040"/>
            <a:ext cx="2103120" cy="457200"/>
          </a:xfrm>
          <a:prstGeom prst="rect">
            <a:avLst/>
          </a:prstGeom>
          <a:noFill/>
          <a:ln/>
        </p:spPr>
        <p:txBody>
          <a:bodyPr wrap="square" rtlCol="0" anchor="ctr"/>
          <a:lstStyle/>
          <a:p>
            <a:pPr indent="0" marL="0">
              <a:buNone/>
            </a:pPr>
            <a:r>
              <a:rPr lang="en-US" sz="1300" b="1" dirty="0">
                <a:solidFill>
                  <a:srgbClr val="2A1015"/>
                </a:solidFill>
                <a:latin typeface="Arial" pitchFamily="34" charset="0"/>
                <a:ea typeface="Arial" pitchFamily="34" charset="-122"/>
                <a:cs typeface="Arial" pitchFamily="34" charset="-120"/>
              </a:rPr>
              <a:t>Agriculture</a:t>
            </a:r>
            <a:endParaRPr lang="en-US" sz="1300" dirty="0"/>
          </a:p>
        </p:txBody>
      </p:sp>
      <p:sp>
        <p:nvSpPr>
          <p:cNvPr id="40" name="Text 37"/>
          <p:cNvSpPr/>
          <p:nvPr/>
        </p:nvSpPr>
        <p:spPr>
          <a:xfrm>
            <a:off x="9144000" y="5303520"/>
            <a:ext cx="2103120" cy="365760"/>
          </a:xfrm>
          <a:prstGeom prst="rect">
            <a:avLst/>
          </a:prstGeom>
          <a:noFill/>
          <a:ln/>
        </p:spPr>
        <p:txBody>
          <a:bodyPr wrap="square" rtlCol="0" anchor="ctr"/>
          <a:lstStyle/>
          <a:p>
            <a:pPr indent="0" marL="0">
              <a:buNone/>
            </a:pPr>
            <a:r>
              <a:rPr lang="en-US" sz="1100" dirty="0">
                <a:solidFill>
                  <a:srgbClr val="6B5050"/>
                </a:solidFill>
                <a:latin typeface="Arial" pitchFamily="34" charset="0"/>
                <a:ea typeface="Arial" pitchFamily="34" charset="-122"/>
                <a:cs typeface="Arial" pitchFamily="34" charset="-120"/>
              </a:rPr>
              <a:t>2 pathways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B1C2A"/>
        </a:solidFill>
      </p:bgPr>
    </p:bg>
    <p:spTree>
      <p:nvGrpSpPr>
        <p:cNvPr id="1" name=""/>
        <p:cNvGrpSpPr/>
        <p:nvPr/>
      </p:nvGrpSpPr>
      <p:grpSpPr>
        <a:xfrm>
          <a:off x="0" y="0"/>
          <a:ext cx="0" cy="0"/>
          <a:chOff x="0" y="0"/>
          <a:chExt cx="0" cy="0"/>
        </a:xfrm>
      </p:grpSpPr>
      <p:sp>
        <p:nvSpPr>
          <p:cNvPr id="3" name="Text 0"/>
          <p:cNvSpPr/>
          <p:nvPr/>
        </p:nvSpPr>
        <p:spPr>
          <a:xfrm>
            <a:off x="731520" y="914400"/>
            <a:ext cx="4572000" cy="9144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AI Creation Studio</a:t>
            </a:r>
            <a:endParaRPr lang="en-US" sz="3200" dirty="0"/>
          </a:p>
        </p:txBody>
      </p:sp>
      <p:sp>
        <p:nvSpPr>
          <p:cNvPr id="4" name="Text 1"/>
          <p:cNvSpPr/>
          <p:nvPr/>
        </p:nvSpPr>
        <p:spPr>
          <a:xfrm>
            <a:off x="731520" y="2011680"/>
            <a:ext cx="4572000" cy="914400"/>
          </a:xfrm>
          <a:prstGeom prst="rect">
            <a:avLst/>
          </a:prstGeom>
          <a:noFill/>
          <a:ln/>
        </p:spPr>
        <p:txBody>
          <a:bodyPr wrap="square" rtlCol="0" anchor="ctr"/>
          <a:lstStyle/>
          <a:p>
            <a:pPr indent="0" marL="0">
              <a:buNone/>
            </a:pPr>
            <a:r>
              <a:rPr lang="en-US" sz="1600" dirty="0">
                <a:solidFill>
                  <a:srgbClr val="DDDDDD"/>
                </a:solidFill>
                <a:latin typeface="Arial" pitchFamily="34" charset="0"/>
                <a:ea typeface="Arial" pitchFamily="34" charset="-122"/>
                <a:cs typeface="Arial" pitchFamily="34" charset="-120"/>
              </a:rPr>
              <a:t>10 professional-grade tools students earn through demonstrated AI mastery</a:t>
            </a:r>
            <a:endParaRPr lang="en-US" sz="1600" dirty="0"/>
          </a:p>
        </p:txBody>
      </p:sp>
      <p:sp>
        <p:nvSpPr>
          <p:cNvPr id="5" name="Shape 2"/>
          <p:cNvSpPr/>
          <p:nvPr/>
        </p:nvSpPr>
        <p:spPr>
          <a:xfrm>
            <a:off x="5943600" y="731520"/>
            <a:ext cx="2651760" cy="822960"/>
          </a:xfrm>
          <a:prstGeom prst="roundRect">
            <a:avLst>
              <a:gd name="adj" fmla="val 11111"/>
            </a:avLst>
          </a:prstGeom>
          <a:solidFill>
            <a:srgbClr val="3A3035"/>
          </a:solidFill>
          <a:ln w="12700">
            <a:solidFill>
              <a:srgbClr val="3A3035"/>
            </a:solidFill>
            <a:prstDash val="solid"/>
          </a:ln>
        </p:spPr>
      </p:sp>
      <p:sp>
        <p:nvSpPr>
          <p:cNvPr id="6" name="Text 3"/>
          <p:cNvSpPr/>
          <p:nvPr/>
        </p:nvSpPr>
        <p:spPr>
          <a:xfrm>
            <a:off x="6126480" y="731520"/>
            <a:ext cx="2286000" cy="822960"/>
          </a:xfrm>
          <a:prstGeom prst="rect">
            <a:avLst/>
          </a:prstGeom>
          <a:noFill/>
          <a:ln/>
        </p:spPr>
        <p:txBody>
          <a:bodyPr wrap="square" rtlCol="0" anchor="ctr"/>
          <a:lstStyle/>
          <a:p>
            <a:pPr indent="0" marL="0">
              <a:buNone/>
            </a:pPr>
            <a:r>
              <a:rPr lang="en-US" sz="1300" dirty="0">
                <a:solidFill>
                  <a:srgbClr val="F5F5F5"/>
                </a:solidFill>
                <a:latin typeface="Arial" pitchFamily="34" charset="0"/>
                <a:ea typeface="Arial" pitchFamily="34" charset="-122"/>
                <a:cs typeface="Arial" pitchFamily="34" charset="-120"/>
              </a:rPr>
              <a:t>✓ Presentation Builder</a:t>
            </a:r>
            <a:endParaRPr lang="en-US" sz="1300" dirty="0"/>
          </a:p>
        </p:txBody>
      </p:sp>
      <p:sp>
        <p:nvSpPr>
          <p:cNvPr id="7" name="Shape 4"/>
          <p:cNvSpPr/>
          <p:nvPr/>
        </p:nvSpPr>
        <p:spPr>
          <a:xfrm>
            <a:off x="8869680" y="731520"/>
            <a:ext cx="2651760" cy="822960"/>
          </a:xfrm>
          <a:prstGeom prst="roundRect">
            <a:avLst>
              <a:gd name="adj" fmla="val 11111"/>
            </a:avLst>
          </a:prstGeom>
          <a:solidFill>
            <a:srgbClr val="3A3035"/>
          </a:solidFill>
          <a:ln w="12700">
            <a:solidFill>
              <a:srgbClr val="3A3035"/>
            </a:solidFill>
            <a:prstDash val="solid"/>
          </a:ln>
        </p:spPr>
      </p:sp>
      <p:sp>
        <p:nvSpPr>
          <p:cNvPr id="8" name="Text 5"/>
          <p:cNvSpPr/>
          <p:nvPr/>
        </p:nvSpPr>
        <p:spPr>
          <a:xfrm>
            <a:off x="9052560" y="731520"/>
            <a:ext cx="2286000" cy="822960"/>
          </a:xfrm>
          <a:prstGeom prst="rect">
            <a:avLst/>
          </a:prstGeom>
          <a:noFill/>
          <a:ln/>
        </p:spPr>
        <p:txBody>
          <a:bodyPr wrap="square" rtlCol="0" anchor="ctr"/>
          <a:lstStyle/>
          <a:p>
            <a:pPr indent="0" marL="0">
              <a:buNone/>
            </a:pPr>
            <a:r>
              <a:rPr lang="en-US" sz="1300" dirty="0">
                <a:solidFill>
                  <a:srgbClr val="F5F5F5"/>
                </a:solidFill>
                <a:latin typeface="Arial" pitchFamily="34" charset="0"/>
                <a:ea typeface="Arial" pitchFamily="34" charset="-122"/>
                <a:cs typeface="Arial" pitchFamily="34" charset="-120"/>
              </a:rPr>
              <a:t>✓ Video Script Creator</a:t>
            </a:r>
            <a:endParaRPr lang="en-US" sz="1300" dirty="0"/>
          </a:p>
        </p:txBody>
      </p:sp>
      <p:sp>
        <p:nvSpPr>
          <p:cNvPr id="9" name="Shape 6"/>
          <p:cNvSpPr/>
          <p:nvPr/>
        </p:nvSpPr>
        <p:spPr>
          <a:xfrm>
            <a:off x="5943600" y="1828800"/>
            <a:ext cx="2651760" cy="822960"/>
          </a:xfrm>
          <a:prstGeom prst="roundRect">
            <a:avLst>
              <a:gd name="adj" fmla="val 11111"/>
            </a:avLst>
          </a:prstGeom>
          <a:solidFill>
            <a:srgbClr val="3A3035"/>
          </a:solidFill>
          <a:ln w="12700">
            <a:solidFill>
              <a:srgbClr val="3A3035"/>
            </a:solidFill>
            <a:prstDash val="solid"/>
          </a:ln>
        </p:spPr>
      </p:sp>
      <p:sp>
        <p:nvSpPr>
          <p:cNvPr id="10" name="Text 7"/>
          <p:cNvSpPr/>
          <p:nvPr/>
        </p:nvSpPr>
        <p:spPr>
          <a:xfrm>
            <a:off x="6126480" y="1828800"/>
            <a:ext cx="2286000" cy="822960"/>
          </a:xfrm>
          <a:prstGeom prst="rect">
            <a:avLst/>
          </a:prstGeom>
          <a:noFill/>
          <a:ln/>
        </p:spPr>
        <p:txBody>
          <a:bodyPr wrap="square" rtlCol="0" anchor="ctr"/>
          <a:lstStyle/>
          <a:p>
            <a:pPr indent="0" marL="0">
              <a:buNone/>
            </a:pPr>
            <a:r>
              <a:rPr lang="en-US" sz="1300" dirty="0">
                <a:solidFill>
                  <a:srgbClr val="F5F5F5"/>
                </a:solidFill>
                <a:latin typeface="Arial" pitchFamily="34" charset="0"/>
                <a:ea typeface="Arial" pitchFamily="34" charset="-122"/>
                <a:cs typeface="Arial" pitchFamily="34" charset="-120"/>
              </a:rPr>
              <a:t>✓ Sales Pitch Builder</a:t>
            </a:r>
            <a:endParaRPr lang="en-US" sz="1300" dirty="0"/>
          </a:p>
        </p:txBody>
      </p:sp>
      <p:sp>
        <p:nvSpPr>
          <p:cNvPr id="11" name="Shape 8"/>
          <p:cNvSpPr/>
          <p:nvPr/>
        </p:nvSpPr>
        <p:spPr>
          <a:xfrm>
            <a:off x="8869680" y="1828800"/>
            <a:ext cx="2651760" cy="822960"/>
          </a:xfrm>
          <a:prstGeom prst="roundRect">
            <a:avLst>
              <a:gd name="adj" fmla="val 11111"/>
            </a:avLst>
          </a:prstGeom>
          <a:solidFill>
            <a:srgbClr val="3A3035"/>
          </a:solidFill>
          <a:ln w="12700">
            <a:solidFill>
              <a:srgbClr val="3A3035"/>
            </a:solidFill>
            <a:prstDash val="solid"/>
          </a:ln>
        </p:spPr>
      </p:sp>
      <p:sp>
        <p:nvSpPr>
          <p:cNvPr id="12" name="Text 9"/>
          <p:cNvSpPr/>
          <p:nvPr/>
        </p:nvSpPr>
        <p:spPr>
          <a:xfrm>
            <a:off x="9052560" y="1828800"/>
            <a:ext cx="2286000" cy="822960"/>
          </a:xfrm>
          <a:prstGeom prst="rect">
            <a:avLst/>
          </a:prstGeom>
          <a:noFill/>
          <a:ln/>
        </p:spPr>
        <p:txBody>
          <a:bodyPr wrap="square" rtlCol="0" anchor="ctr"/>
          <a:lstStyle/>
          <a:p>
            <a:pPr indent="0" marL="0">
              <a:buNone/>
            </a:pPr>
            <a:r>
              <a:rPr lang="en-US" sz="1300" dirty="0">
                <a:solidFill>
                  <a:srgbClr val="F5F5F5"/>
                </a:solidFill>
                <a:latin typeface="Arial" pitchFamily="34" charset="0"/>
                <a:ea typeface="Arial" pitchFamily="34" charset="-122"/>
                <a:cs typeface="Arial" pitchFamily="34" charset="-120"/>
              </a:rPr>
              <a:t>✓ Business Plan Generator</a:t>
            </a:r>
            <a:endParaRPr lang="en-US" sz="1300" dirty="0"/>
          </a:p>
        </p:txBody>
      </p:sp>
      <p:sp>
        <p:nvSpPr>
          <p:cNvPr id="13" name="Shape 10"/>
          <p:cNvSpPr/>
          <p:nvPr/>
        </p:nvSpPr>
        <p:spPr>
          <a:xfrm>
            <a:off x="5943600" y="2926080"/>
            <a:ext cx="2651760" cy="822960"/>
          </a:xfrm>
          <a:prstGeom prst="roundRect">
            <a:avLst>
              <a:gd name="adj" fmla="val 11111"/>
            </a:avLst>
          </a:prstGeom>
          <a:solidFill>
            <a:srgbClr val="3A3035"/>
          </a:solidFill>
          <a:ln w="12700">
            <a:solidFill>
              <a:srgbClr val="3A3035"/>
            </a:solidFill>
            <a:prstDash val="solid"/>
          </a:ln>
        </p:spPr>
      </p:sp>
      <p:sp>
        <p:nvSpPr>
          <p:cNvPr id="14" name="Text 11"/>
          <p:cNvSpPr/>
          <p:nvPr/>
        </p:nvSpPr>
        <p:spPr>
          <a:xfrm>
            <a:off x="6126480" y="2926080"/>
            <a:ext cx="2286000" cy="822960"/>
          </a:xfrm>
          <a:prstGeom prst="rect">
            <a:avLst/>
          </a:prstGeom>
          <a:noFill/>
          <a:ln/>
        </p:spPr>
        <p:txBody>
          <a:bodyPr wrap="square" rtlCol="0" anchor="ctr"/>
          <a:lstStyle/>
          <a:p>
            <a:pPr indent="0" marL="0">
              <a:buNone/>
            </a:pPr>
            <a:r>
              <a:rPr lang="en-US" sz="1300" dirty="0">
                <a:solidFill>
                  <a:srgbClr val="F5F5F5"/>
                </a:solidFill>
                <a:latin typeface="Arial" pitchFamily="34" charset="0"/>
                <a:ea typeface="Arial" pitchFamily="34" charset="-122"/>
                <a:cs typeface="Arial" pitchFamily="34" charset="-120"/>
              </a:rPr>
              <a:t>✓ Research Assistant</a:t>
            </a:r>
            <a:endParaRPr lang="en-US" sz="1300" dirty="0"/>
          </a:p>
        </p:txBody>
      </p:sp>
      <p:sp>
        <p:nvSpPr>
          <p:cNvPr id="15" name="Shape 12"/>
          <p:cNvSpPr/>
          <p:nvPr/>
        </p:nvSpPr>
        <p:spPr>
          <a:xfrm>
            <a:off x="8869680" y="2926080"/>
            <a:ext cx="2651760" cy="822960"/>
          </a:xfrm>
          <a:prstGeom prst="roundRect">
            <a:avLst>
              <a:gd name="adj" fmla="val 11111"/>
            </a:avLst>
          </a:prstGeom>
          <a:solidFill>
            <a:srgbClr val="3A3035"/>
          </a:solidFill>
          <a:ln w="12700">
            <a:solidFill>
              <a:srgbClr val="3A3035"/>
            </a:solidFill>
            <a:prstDash val="solid"/>
          </a:ln>
        </p:spPr>
      </p:sp>
      <p:sp>
        <p:nvSpPr>
          <p:cNvPr id="16" name="Text 13"/>
          <p:cNvSpPr/>
          <p:nvPr/>
        </p:nvSpPr>
        <p:spPr>
          <a:xfrm>
            <a:off x="9052560" y="2926080"/>
            <a:ext cx="2286000" cy="822960"/>
          </a:xfrm>
          <a:prstGeom prst="rect">
            <a:avLst/>
          </a:prstGeom>
          <a:noFill/>
          <a:ln/>
        </p:spPr>
        <p:txBody>
          <a:bodyPr wrap="square" rtlCol="0" anchor="ctr"/>
          <a:lstStyle/>
          <a:p>
            <a:pPr indent="0" marL="0">
              <a:buNone/>
            </a:pPr>
            <a:r>
              <a:rPr lang="en-US" sz="1300" dirty="0">
                <a:solidFill>
                  <a:srgbClr val="F5F5F5"/>
                </a:solidFill>
                <a:latin typeface="Arial" pitchFamily="34" charset="0"/>
                <a:ea typeface="Arial" pitchFamily="34" charset="-122"/>
                <a:cs typeface="Arial" pitchFamily="34" charset="-120"/>
              </a:rPr>
              <a:t>✓ Life Planner</a:t>
            </a:r>
            <a:endParaRPr lang="en-US" sz="1300" dirty="0"/>
          </a:p>
        </p:txBody>
      </p:sp>
      <p:sp>
        <p:nvSpPr>
          <p:cNvPr id="17" name="Shape 14"/>
          <p:cNvSpPr/>
          <p:nvPr/>
        </p:nvSpPr>
        <p:spPr>
          <a:xfrm>
            <a:off x="5943600" y="4023360"/>
            <a:ext cx="2651760" cy="822960"/>
          </a:xfrm>
          <a:prstGeom prst="roundRect">
            <a:avLst>
              <a:gd name="adj" fmla="val 11111"/>
            </a:avLst>
          </a:prstGeom>
          <a:solidFill>
            <a:srgbClr val="3A3035"/>
          </a:solidFill>
          <a:ln w="12700">
            <a:solidFill>
              <a:srgbClr val="3A3035"/>
            </a:solidFill>
            <a:prstDash val="solid"/>
          </a:ln>
        </p:spPr>
      </p:sp>
      <p:sp>
        <p:nvSpPr>
          <p:cNvPr id="18" name="Text 15"/>
          <p:cNvSpPr/>
          <p:nvPr/>
        </p:nvSpPr>
        <p:spPr>
          <a:xfrm>
            <a:off x="6126480" y="4023360"/>
            <a:ext cx="2286000" cy="822960"/>
          </a:xfrm>
          <a:prstGeom prst="rect">
            <a:avLst/>
          </a:prstGeom>
          <a:noFill/>
          <a:ln/>
        </p:spPr>
        <p:txBody>
          <a:bodyPr wrap="square" rtlCol="0" anchor="ctr"/>
          <a:lstStyle/>
          <a:p>
            <a:pPr indent="0" marL="0">
              <a:buNone/>
            </a:pPr>
            <a:r>
              <a:rPr lang="en-US" sz="1300" dirty="0">
                <a:solidFill>
                  <a:srgbClr val="F5F5F5"/>
                </a:solidFill>
                <a:latin typeface="Arial" pitchFamily="34" charset="0"/>
                <a:ea typeface="Arial" pitchFamily="34" charset="-122"/>
                <a:cs typeface="Arial" pitchFamily="34" charset="-120"/>
              </a:rPr>
              <a:t>✓ Project Planner</a:t>
            </a:r>
            <a:endParaRPr lang="en-US" sz="1300" dirty="0"/>
          </a:p>
        </p:txBody>
      </p:sp>
      <p:sp>
        <p:nvSpPr>
          <p:cNvPr id="19" name="Shape 16"/>
          <p:cNvSpPr/>
          <p:nvPr/>
        </p:nvSpPr>
        <p:spPr>
          <a:xfrm>
            <a:off x="8869680" y="4023360"/>
            <a:ext cx="2651760" cy="822960"/>
          </a:xfrm>
          <a:prstGeom prst="roundRect">
            <a:avLst>
              <a:gd name="adj" fmla="val 11111"/>
            </a:avLst>
          </a:prstGeom>
          <a:solidFill>
            <a:srgbClr val="3A3035"/>
          </a:solidFill>
          <a:ln w="12700">
            <a:solidFill>
              <a:srgbClr val="3A3035"/>
            </a:solidFill>
            <a:prstDash val="solid"/>
          </a:ln>
        </p:spPr>
      </p:sp>
      <p:sp>
        <p:nvSpPr>
          <p:cNvPr id="20" name="Text 17"/>
          <p:cNvSpPr/>
          <p:nvPr/>
        </p:nvSpPr>
        <p:spPr>
          <a:xfrm>
            <a:off x="9052560" y="4023360"/>
            <a:ext cx="2286000" cy="822960"/>
          </a:xfrm>
          <a:prstGeom prst="rect">
            <a:avLst/>
          </a:prstGeom>
          <a:noFill/>
          <a:ln/>
        </p:spPr>
        <p:txBody>
          <a:bodyPr wrap="square" rtlCol="0" anchor="ctr"/>
          <a:lstStyle/>
          <a:p>
            <a:pPr indent="0" marL="0">
              <a:buNone/>
            </a:pPr>
            <a:r>
              <a:rPr lang="en-US" sz="1300" dirty="0">
                <a:solidFill>
                  <a:srgbClr val="F5F5F5"/>
                </a:solidFill>
                <a:latin typeface="Arial" pitchFamily="34" charset="0"/>
                <a:ea typeface="Arial" pitchFamily="34" charset="-122"/>
                <a:cs typeface="Arial" pitchFamily="34" charset="-120"/>
              </a:rPr>
              <a:t>✓ Document Writer</a:t>
            </a:r>
            <a:endParaRPr lang="en-US" sz="1300" dirty="0"/>
          </a:p>
        </p:txBody>
      </p:sp>
      <p:sp>
        <p:nvSpPr>
          <p:cNvPr id="21" name="Shape 18"/>
          <p:cNvSpPr/>
          <p:nvPr/>
        </p:nvSpPr>
        <p:spPr>
          <a:xfrm>
            <a:off x="5943600" y="5120640"/>
            <a:ext cx="2651760" cy="822960"/>
          </a:xfrm>
          <a:prstGeom prst="roundRect">
            <a:avLst>
              <a:gd name="adj" fmla="val 11111"/>
            </a:avLst>
          </a:prstGeom>
          <a:solidFill>
            <a:srgbClr val="3A3035"/>
          </a:solidFill>
          <a:ln w="12700">
            <a:solidFill>
              <a:srgbClr val="3A3035"/>
            </a:solidFill>
            <a:prstDash val="solid"/>
          </a:ln>
        </p:spPr>
      </p:sp>
      <p:sp>
        <p:nvSpPr>
          <p:cNvPr id="22" name="Text 19"/>
          <p:cNvSpPr/>
          <p:nvPr/>
        </p:nvSpPr>
        <p:spPr>
          <a:xfrm>
            <a:off x="6126480" y="5120640"/>
            <a:ext cx="2286000" cy="822960"/>
          </a:xfrm>
          <a:prstGeom prst="rect">
            <a:avLst/>
          </a:prstGeom>
          <a:noFill/>
          <a:ln/>
        </p:spPr>
        <p:txBody>
          <a:bodyPr wrap="square" rtlCol="0" anchor="ctr"/>
          <a:lstStyle/>
          <a:p>
            <a:pPr indent="0" marL="0">
              <a:buNone/>
            </a:pPr>
            <a:r>
              <a:rPr lang="en-US" sz="1300" dirty="0">
                <a:solidFill>
                  <a:srgbClr val="F5F5F5"/>
                </a:solidFill>
                <a:latin typeface="Arial" pitchFamily="34" charset="0"/>
                <a:ea typeface="Arial" pitchFamily="34" charset="-122"/>
                <a:cs typeface="Arial" pitchFamily="34" charset="-120"/>
              </a:rPr>
              <a:t>✓ Resume Builder</a:t>
            </a:r>
            <a:endParaRPr lang="en-US" sz="1300" dirty="0"/>
          </a:p>
        </p:txBody>
      </p:sp>
      <p:sp>
        <p:nvSpPr>
          <p:cNvPr id="23" name="Shape 20"/>
          <p:cNvSpPr/>
          <p:nvPr/>
        </p:nvSpPr>
        <p:spPr>
          <a:xfrm>
            <a:off x="8869680" y="5120640"/>
            <a:ext cx="2651760" cy="822960"/>
          </a:xfrm>
          <a:prstGeom prst="roundRect">
            <a:avLst>
              <a:gd name="adj" fmla="val 11111"/>
            </a:avLst>
          </a:prstGeom>
          <a:solidFill>
            <a:srgbClr val="3A3035"/>
          </a:solidFill>
          <a:ln w="12700">
            <a:solidFill>
              <a:srgbClr val="3A3035"/>
            </a:solidFill>
            <a:prstDash val="solid"/>
          </a:ln>
        </p:spPr>
      </p:sp>
      <p:sp>
        <p:nvSpPr>
          <p:cNvPr id="24" name="Text 21"/>
          <p:cNvSpPr/>
          <p:nvPr/>
        </p:nvSpPr>
        <p:spPr>
          <a:xfrm>
            <a:off x="9052560" y="5120640"/>
            <a:ext cx="2286000" cy="822960"/>
          </a:xfrm>
          <a:prstGeom prst="rect">
            <a:avLst/>
          </a:prstGeom>
          <a:noFill/>
          <a:ln/>
        </p:spPr>
        <p:txBody>
          <a:bodyPr wrap="square" rtlCol="0" anchor="ctr"/>
          <a:lstStyle/>
          <a:p>
            <a:pPr indent="0" marL="0">
              <a:buNone/>
            </a:pPr>
            <a:r>
              <a:rPr lang="en-US" sz="1300" dirty="0">
                <a:solidFill>
                  <a:srgbClr val="F5F5F5"/>
                </a:solidFill>
                <a:latin typeface="Arial" pitchFamily="34" charset="0"/>
                <a:ea typeface="Arial" pitchFamily="34" charset="-122"/>
                <a:cs typeface="Arial" pitchFamily="34" charset="-120"/>
              </a:rPr>
              <a:t>✓ Brainstorm Studio</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5"/>
        </a:solidFill>
      </p:bgPr>
    </p:bg>
    <p:spTree>
      <p:nvGrpSpPr>
        <p:cNvPr id="1" name=""/>
        <p:cNvGrpSpPr/>
        <p:nvPr/>
      </p:nvGrpSpPr>
      <p:grpSpPr>
        <a:xfrm>
          <a:off x="0" y="0"/>
          <a:ext cx="0" cy="0"/>
          <a:chOff x="0" y="0"/>
          <a:chExt cx="0" cy="0"/>
        </a:xfrm>
      </p:grpSpPr>
      <p:sp>
        <p:nvSpPr>
          <p:cNvPr id="3" name="Text 0"/>
          <p:cNvSpPr/>
          <p:nvPr/>
        </p:nvSpPr>
        <p:spPr>
          <a:xfrm>
            <a:off x="731520" y="365760"/>
            <a:ext cx="10058400" cy="457200"/>
          </a:xfrm>
          <a:prstGeom prst="rect">
            <a:avLst/>
          </a:prstGeom>
          <a:noFill/>
          <a:ln/>
        </p:spPr>
        <p:txBody>
          <a:bodyPr wrap="square" rtlCol="0" anchor="ctr"/>
          <a:lstStyle/>
          <a:p>
            <a:pPr indent="0" marL="0">
              <a:buNone/>
            </a:pPr>
            <a:r>
              <a:rPr lang="en-US" sz="1200" b="1" spc="400" kern="0" dirty="0">
                <a:solidFill>
                  <a:srgbClr val="6B1C2A"/>
                </a:solidFill>
                <a:latin typeface="Arial" pitchFamily="34" charset="0"/>
                <a:ea typeface="Arial" pitchFamily="34" charset="-122"/>
                <a:cs typeface="Arial" pitchFamily="34" charset="-120"/>
              </a:rPr>
              <a:t>AI COMPANIONS</a:t>
            </a:r>
            <a:endParaRPr lang="en-US" sz="1200" dirty="0"/>
          </a:p>
        </p:txBody>
      </p:sp>
      <p:sp>
        <p:nvSpPr>
          <p:cNvPr id="4" name="Text 1"/>
          <p:cNvSpPr/>
          <p:nvPr/>
        </p:nvSpPr>
        <p:spPr>
          <a:xfrm>
            <a:off x="731520" y="822960"/>
            <a:ext cx="10058400" cy="731520"/>
          </a:xfrm>
          <a:prstGeom prst="rect">
            <a:avLst/>
          </a:prstGeom>
          <a:noFill/>
          <a:ln/>
        </p:spPr>
        <p:txBody>
          <a:bodyPr wrap="square" rtlCol="0" anchor="ctr"/>
          <a:lstStyle/>
          <a:p>
            <a:pPr indent="0" marL="0">
              <a:buNone/>
            </a:pPr>
            <a:r>
              <a:rPr lang="en-US" sz="3000" b="1" dirty="0">
                <a:solidFill>
                  <a:srgbClr val="2A1015"/>
                </a:solidFill>
                <a:latin typeface="Arial" pitchFamily="34" charset="0"/>
                <a:ea typeface="Arial" pitchFamily="34" charset="-122"/>
                <a:cs typeface="Arial" pitchFamily="34" charset="-120"/>
              </a:rPr>
              <a:t>Meet Spark &amp; Sparky</a:t>
            </a:r>
            <a:endParaRPr lang="en-US" sz="3000" dirty="0"/>
          </a:p>
        </p:txBody>
      </p:sp>
      <p:sp>
        <p:nvSpPr>
          <p:cNvPr id="5" name="Shape 2"/>
          <p:cNvSpPr/>
          <p:nvPr/>
        </p:nvSpPr>
        <p:spPr>
          <a:xfrm>
            <a:off x="731520" y="2011680"/>
            <a:ext cx="5029200" cy="3200400"/>
          </a:xfrm>
          <a:prstGeom prst="roundRect">
            <a:avLst>
              <a:gd name="adj" fmla="val 4286"/>
            </a:avLst>
          </a:prstGeom>
          <a:solidFill>
            <a:srgbClr val="FFFFFF"/>
          </a:solidFill>
          <a:ln w="12700">
            <a:solidFill>
              <a:srgbClr val="E8E0D8"/>
            </a:solidFill>
            <a:prstDash val="solid"/>
          </a:ln>
        </p:spPr>
      </p:sp>
      <p:sp>
        <p:nvSpPr>
          <p:cNvPr id="6" name="Text 3"/>
          <p:cNvSpPr/>
          <p:nvPr/>
        </p:nvSpPr>
        <p:spPr>
          <a:xfrm>
            <a:off x="1005840" y="2194560"/>
            <a:ext cx="4572000" cy="548640"/>
          </a:xfrm>
          <a:prstGeom prst="rect">
            <a:avLst/>
          </a:prstGeom>
          <a:noFill/>
          <a:ln/>
        </p:spPr>
        <p:txBody>
          <a:bodyPr wrap="square" rtlCol="0" anchor="ctr"/>
          <a:lstStyle/>
          <a:p>
            <a:pPr indent="0" marL="0">
              <a:buNone/>
            </a:pPr>
            <a:r>
              <a:rPr lang="en-US" sz="2000" b="1" dirty="0">
                <a:solidFill>
                  <a:srgbClr val="6B1C2A"/>
                </a:solidFill>
                <a:latin typeface="Arial" pitchFamily="34" charset="0"/>
                <a:ea typeface="Arial" pitchFamily="34" charset="-122"/>
                <a:cs typeface="Arial" pitchFamily="34" charset="-120"/>
              </a:rPr>
              <a:t>Spark  —  For Students</a:t>
            </a:r>
            <a:endParaRPr lang="en-US" sz="2000" dirty="0"/>
          </a:p>
        </p:txBody>
      </p:sp>
      <p:sp>
        <p:nvSpPr>
          <p:cNvPr id="7" name="Text 4"/>
          <p:cNvSpPr/>
          <p:nvPr/>
        </p:nvSpPr>
        <p:spPr>
          <a:xfrm>
            <a:off x="1005840" y="2834640"/>
            <a:ext cx="4572000" cy="1371600"/>
          </a:xfrm>
          <a:prstGeom prst="rect">
            <a:avLst/>
          </a:prstGeom>
          <a:noFill/>
          <a:ln/>
        </p:spPr>
        <p:txBody>
          <a:bodyPr wrap="square" rtlCol="0" anchor="ctr"/>
          <a:lstStyle/>
          <a:p>
            <a:pPr indent="0" marL="0">
              <a:buNone/>
            </a:pPr>
            <a:r>
              <a:rPr lang="en-US" sz="1400" dirty="0">
                <a:solidFill>
                  <a:srgbClr val="6B5050"/>
                </a:solidFill>
                <a:latin typeface="Arial" pitchFamily="34" charset="0"/>
                <a:ea typeface="Arial" pitchFamily="34" charset="-122"/>
                <a:cs typeface="Arial" pitchFamily="34" charset="-120"/>
              </a:rPr>
              <a:t>Grade-band AI companion with Socratic questioning, emotional intelligence, bilingual support, and safety guardrails</a:t>
            </a:r>
            <a:endParaRPr lang="en-US" sz="1400" dirty="0"/>
          </a:p>
        </p:txBody>
      </p:sp>
      <p:sp>
        <p:nvSpPr>
          <p:cNvPr id="8" name="Shape 5"/>
          <p:cNvSpPr/>
          <p:nvPr/>
        </p:nvSpPr>
        <p:spPr>
          <a:xfrm>
            <a:off x="6217920" y="2011680"/>
            <a:ext cx="5029200" cy="3200400"/>
          </a:xfrm>
          <a:prstGeom prst="roundRect">
            <a:avLst>
              <a:gd name="adj" fmla="val 4286"/>
            </a:avLst>
          </a:prstGeom>
          <a:solidFill>
            <a:srgbClr val="FFFFFF"/>
          </a:solidFill>
          <a:ln w="12700">
            <a:solidFill>
              <a:srgbClr val="E8E0D8"/>
            </a:solidFill>
            <a:prstDash val="solid"/>
          </a:ln>
        </p:spPr>
      </p:sp>
      <p:sp>
        <p:nvSpPr>
          <p:cNvPr id="9" name="Text 6"/>
          <p:cNvSpPr/>
          <p:nvPr/>
        </p:nvSpPr>
        <p:spPr>
          <a:xfrm>
            <a:off x="6492240" y="2194560"/>
            <a:ext cx="4572000" cy="548640"/>
          </a:xfrm>
          <a:prstGeom prst="rect">
            <a:avLst/>
          </a:prstGeom>
          <a:noFill/>
          <a:ln/>
        </p:spPr>
        <p:txBody>
          <a:bodyPr wrap="square" rtlCol="0" anchor="ctr"/>
          <a:lstStyle/>
          <a:p>
            <a:pPr indent="0" marL="0">
              <a:buNone/>
            </a:pPr>
            <a:r>
              <a:rPr lang="en-US" sz="2000" b="1" dirty="0">
                <a:solidFill>
                  <a:srgbClr val="6B1C2A"/>
                </a:solidFill>
                <a:latin typeface="Arial" pitchFamily="34" charset="0"/>
                <a:ea typeface="Arial" pitchFamily="34" charset="-122"/>
                <a:cs typeface="Arial" pitchFamily="34" charset="-120"/>
              </a:rPr>
              <a:t>Sparky  —  For Parents &amp; Teachers</a:t>
            </a:r>
            <a:endParaRPr lang="en-US" sz="2000" dirty="0"/>
          </a:p>
        </p:txBody>
      </p:sp>
      <p:sp>
        <p:nvSpPr>
          <p:cNvPr id="10" name="Text 7"/>
          <p:cNvSpPr/>
          <p:nvPr/>
        </p:nvSpPr>
        <p:spPr>
          <a:xfrm>
            <a:off x="6492240" y="2834640"/>
            <a:ext cx="4572000" cy="1371600"/>
          </a:xfrm>
          <a:prstGeom prst="rect">
            <a:avLst/>
          </a:prstGeom>
          <a:noFill/>
          <a:ln/>
        </p:spPr>
        <p:txBody>
          <a:bodyPr wrap="square" rtlCol="0" anchor="ctr"/>
          <a:lstStyle/>
          <a:p>
            <a:pPr indent="0" marL="0">
              <a:buNone/>
            </a:pPr>
            <a:r>
              <a:rPr lang="en-US" sz="1400" dirty="0">
                <a:solidFill>
                  <a:srgbClr val="6B5050"/>
                </a:solidFill>
                <a:latin typeface="Arial" pitchFamily="34" charset="0"/>
                <a:ea typeface="Arial" pitchFamily="34" charset="-122"/>
                <a:cs typeface="Arial" pitchFamily="34" charset="-120"/>
              </a:rPr>
              <a:t>Compassionate support with evidence-based strategies and context-aware conversations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215"/>
        </a:solidFill>
      </p:bgPr>
    </p:bg>
    <p:spTree>
      <p:nvGrpSpPr>
        <p:cNvPr id="1" name=""/>
        <p:cNvGrpSpPr/>
        <p:nvPr/>
      </p:nvGrpSpPr>
      <p:grpSpPr>
        <a:xfrm>
          <a:off x="0" y="0"/>
          <a:ext cx="0" cy="0"/>
          <a:chOff x="0" y="0"/>
          <a:chExt cx="0" cy="0"/>
        </a:xfrm>
      </p:grpSpPr>
      <p:sp>
        <p:nvSpPr>
          <p:cNvPr id="3" name="Text 0"/>
          <p:cNvSpPr/>
          <p:nvPr/>
        </p:nvSpPr>
        <p:spPr>
          <a:xfrm>
            <a:off x="731520" y="365760"/>
            <a:ext cx="10058400" cy="457200"/>
          </a:xfrm>
          <a:prstGeom prst="rect">
            <a:avLst/>
          </a:prstGeom>
          <a:noFill/>
          <a:ln/>
        </p:spPr>
        <p:txBody>
          <a:bodyPr wrap="square" rtlCol="0" anchor="ctr"/>
          <a:lstStyle/>
          <a:p>
            <a:pPr indent="0" marL="0">
              <a:buNone/>
            </a:pPr>
            <a:r>
              <a:rPr lang="en-US" sz="1200" b="1" spc="400" kern="0" dirty="0">
                <a:solidFill>
                  <a:srgbClr val="C9A0A0"/>
                </a:solidFill>
                <a:latin typeface="Arial" pitchFamily="34" charset="0"/>
                <a:ea typeface="Arial" pitchFamily="34" charset="-122"/>
                <a:cs typeface="Arial" pitchFamily="34" charset="-120"/>
              </a:rPr>
              <a:t>VIRTUAL CAMPUS</a:t>
            </a:r>
            <a:endParaRPr lang="en-US" sz="1200" dirty="0"/>
          </a:p>
        </p:txBody>
      </p:sp>
      <p:sp>
        <p:nvSpPr>
          <p:cNvPr id="4" name="Text 1"/>
          <p:cNvSpPr/>
          <p:nvPr/>
        </p:nvSpPr>
        <p:spPr>
          <a:xfrm>
            <a:off x="731520" y="914400"/>
            <a:ext cx="10058400" cy="73152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Panther Village Academy</a:t>
            </a:r>
            <a:endParaRPr lang="en-US" sz="3200" dirty="0"/>
          </a:p>
        </p:txBody>
      </p:sp>
      <p:sp>
        <p:nvSpPr>
          <p:cNvPr id="5" name="Shape 2"/>
          <p:cNvSpPr/>
          <p:nvPr/>
        </p:nvSpPr>
        <p:spPr>
          <a:xfrm>
            <a:off x="731520" y="2286000"/>
            <a:ext cx="3291840" cy="2743200"/>
          </a:xfrm>
          <a:prstGeom prst="roundRect">
            <a:avLst>
              <a:gd name="adj" fmla="val 5000"/>
            </a:avLst>
          </a:prstGeom>
          <a:solidFill>
            <a:srgbClr val="2A2025"/>
          </a:solidFill>
          <a:ln w="12700">
            <a:solidFill>
              <a:srgbClr val="3A3035"/>
            </a:solidFill>
            <a:prstDash val="solid"/>
          </a:ln>
        </p:spPr>
      </p:sp>
      <p:sp>
        <p:nvSpPr>
          <p:cNvPr id="6" name="Text 3"/>
          <p:cNvSpPr/>
          <p:nvPr/>
        </p:nvSpPr>
        <p:spPr>
          <a:xfrm>
            <a:off x="1005840" y="2560320"/>
            <a:ext cx="2743200" cy="64008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Interactive Campus</a:t>
            </a:r>
            <a:endParaRPr lang="en-US" sz="1800" dirty="0"/>
          </a:p>
        </p:txBody>
      </p:sp>
      <p:sp>
        <p:nvSpPr>
          <p:cNvPr id="7" name="Text 4"/>
          <p:cNvSpPr/>
          <p:nvPr/>
        </p:nvSpPr>
        <p:spPr>
          <a:xfrm>
            <a:off x="1005840" y="3291840"/>
            <a:ext cx="2743200" cy="731520"/>
          </a:xfrm>
          <a:prstGeom prst="rect">
            <a:avLst/>
          </a:prstGeom>
          <a:noFill/>
          <a:ln/>
        </p:spPr>
        <p:txBody>
          <a:bodyPr wrap="square" rtlCol="0" anchor="ctr"/>
          <a:lstStyle/>
          <a:p>
            <a:pPr indent="0" marL="0">
              <a:buNone/>
            </a:pPr>
            <a:r>
              <a:rPr lang="en-US" sz="1400" dirty="0">
                <a:solidFill>
                  <a:srgbClr val="D0D0D0"/>
                </a:solidFill>
                <a:latin typeface="Arial" pitchFamily="34" charset="0"/>
                <a:ea typeface="Arial" pitchFamily="34" charset="-122"/>
                <a:cs typeface="Arial" pitchFamily="34" charset="-120"/>
              </a:rPr>
              <a:t>Buildings, avatars, and exploration</a:t>
            </a:r>
            <a:endParaRPr lang="en-US" sz="1400" dirty="0"/>
          </a:p>
        </p:txBody>
      </p:sp>
      <p:sp>
        <p:nvSpPr>
          <p:cNvPr id="8" name="Shape 5"/>
          <p:cNvSpPr/>
          <p:nvPr/>
        </p:nvSpPr>
        <p:spPr>
          <a:xfrm>
            <a:off x="4389120" y="2286000"/>
            <a:ext cx="3291840" cy="2743200"/>
          </a:xfrm>
          <a:prstGeom prst="roundRect">
            <a:avLst>
              <a:gd name="adj" fmla="val 5000"/>
            </a:avLst>
          </a:prstGeom>
          <a:solidFill>
            <a:srgbClr val="2A2025"/>
          </a:solidFill>
          <a:ln w="12700">
            <a:solidFill>
              <a:srgbClr val="3A3035"/>
            </a:solidFill>
            <a:prstDash val="solid"/>
          </a:ln>
        </p:spPr>
      </p:sp>
      <p:sp>
        <p:nvSpPr>
          <p:cNvPr id="9" name="Text 6"/>
          <p:cNvSpPr/>
          <p:nvPr/>
        </p:nvSpPr>
        <p:spPr>
          <a:xfrm>
            <a:off x="4663440" y="2560320"/>
            <a:ext cx="2743200" cy="64008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Stock Market Simulation</a:t>
            </a:r>
            <a:endParaRPr lang="en-US" sz="1800" dirty="0"/>
          </a:p>
        </p:txBody>
      </p:sp>
      <p:sp>
        <p:nvSpPr>
          <p:cNvPr id="10" name="Text 7"/>
          <p:cNvSpPr/>
          <p:nvPr/>
        </p:nvSpPr>
        <p:spPr>
          <a:xfrm>
            <a:off x="4663440" y="3291840"/>
            <a:ext cx="2743200" cy="731520"/>
          </a:xfrm>
          <a:prstGeom prst="rect">
            <a:avLst/>
          </a:prstGeom>
          <a:noFill/>
          <a:ln/>
        </p:spPr>
        <p:txBody>
          <a:bodyPr wrap="square" rtlCol="0" anchor="ctr"/>
          <a:lstStyle/>
          <a:p>
            <a:pPr indent="0" marL="0">
              <a:buNone/>
            </a:pPr>
            <a:r>
              <a:rPr lang="en-US" sz="1400" dirty="0">
                <a:solidFill>
                  <a:srgbClr val="D0D0D0"/>
                </a:solidFill>
                <a:latin typeface="Arial" pitchFamily="34" charset="0"/>
                <a:ea typeface="Arial" pitchFamily="34" charset="-122"/>
                <a:cs typeface="Arial" pitchFamily="34" charset="-120"/>
              </a:rPr>
              <a:t>Financial literacy through practice</a:t>
            </a:r>
            <a:endParaRPr lang="en-US" sz="1400" dirty="0"/>
          </a:p>
        </p:txBody>
      </p:sp>
      <p:sp>
        <p:nvSpPr>
          <p:cNvPr id="11" name="Shape 8"/>
          <p:cNvSpPr/>
          <p:nvPr/>
        </p:nvSpPr>
        <p:spPr>
          <a:xfrm>
            <a:off x="8046720" y="2286000"/>
            <a:ext cx="3291840" cy="2743200"/>
          </a:xfrm>
          <a:prstGeom prst="roundRect">
            <a:avLst>
              <a:gd name="adj" fmla="val 5000"/>
            </a:avLst>
          </a:prstGeom>
          <a:solidFill>
            <a:srgbClr val="2A2025"/>
          </a:solidFill>
          <a:ln w="12700">
            <a:solidFill>
              <a:srgbClr val="3A3035"/>
            </a:solidFill>
            <a:prstDash val="solid"/>
          </a:ln>
        </p:spPr>
      </p:sp>
      <p:sp>
        <p:nvSpPr>
          <p:cNvPr id="12" name="Text 9"/>
          <p:cNvSpPr/>
          <p:nvPr/>
        </p:nvSpPr>
        <p:spPr>
          <a:xfrm>
            <a:off x="8321040" y="2560320"/>
            <a:ext cx="2743200" cy="64008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Academic Competitions</a:t>
            </a:r>
            <a:endParaRPr lang="en-US" sz="1800" dirty="0"/>
          </a:p>
        </p:txBody>
      </p:sp>
      <p:sp>
        <p:nvSpPr>
          <p:cNvPr id="13" name="Text 10"/>
          <p:cNvSpPr/>
          <p:nvPr/>
        </p:nvSpPr>
        <p:spPr>
          <a:xfrm>
            <a:off x="8321040" y="3291840"/>
            <a:ext cx="2743200" cy="731520"/>
          </a:xfrm>
          <a:prstGeom prst="rect">
            <a:avLst/>
          </a:prstGeom>
          <a:noFill/>
          <a:ln/>
        </p:spPr>
        <p:txBody>
          <a:bodyPr wrap="square" rtlCol="0" anchor="ctr"/>
          <a:lstStyle/>
          <a:p>
            <a:pPr indent="0" marL="0">
              <a:buNone/>
            </a:pPr>
            <a:r>
              <a:rPr lang="en-US" sz="1400" dirty="0">
                <a:solidFill>
                  <a:srgbClr val="D0D0D0"/>
                </a:solidFill>
                <a:latin typeface="Arial" pitchFamily="34" charset="0"/>
                <a:ea typeface="Arial" pitchFamily="34" charset="-122"/>
                <a:cs typeface="Arial" pitchFamily="34" charset="-120"/>
              </a:rPr>
              <a:t>Houses, quests, and leaderboards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5"/>
        </a:solidFill>
      </p:bgPr>
    </p:bg>
    <p:spTree>
      <p:nvGrpSpPr>
        <p:cNvPr id="1" name=""/>
        <p:cNvGrpSpPr/>
        <p:nvPr/>
      </p:nvGrpSpPr>
      <p:grpSpPr>
        <a:xfrm>
          <a:off x="0" y="0"/>
          <a:ext cx="0" cy="0"/>
          <a:chOff x="0" y="0"/>
          <a:chExt cx="0" cy="0"/>
        </a:xfrm>
      </p:grpSpPr>
      <p:sp>
        <p:nvSpPr>
          <p:cNvPr id="3" name="Text 0"/>
          <p:cNvSpPr/>
          <p:nvPr/>
        </p:nvSpPr>
        <p:spPr>
          <a:xfrm>
            <a:off x="731520" y="365760"/>
            <a:ext cx="10058400" cy="457200"/>
          </a:xfrm>
          <a:prstGeom prst="rect">
            <a:avLst/>
          </a:prstGeom>
          <a:noFill/>
          <a:ln/>
        </p:spPr>
        <p:txBody>
          <a:bodyPr wrap="square" rtlCol="0" anchor="ctr"/>
          <a:lstStyle/>
          <a:p>
            <a:pPr indent="0" marL="0">
              <a:buNone/>
            </a:pPr>
            <a:r>
              <a:rPr lang="en-US" sz="1200" b="1" spc="400" kern="0" dirty="0">
                <a:solidFill>
                  <a:srgbClr val="6B1C2A"/>
                </a:solidFill>
                <a:latin typeface="Arial" pitchFamily="34" charset="0"/>
                <a:ea typeface="Arial" pitchFamily="34" charset="-122"/>
                <a:cs typeface="Arial" pitchFamily="34" charset="-120"/>
              </a:rPr>
              <a:t>LIVE PLATFORM DATA</a:t>
            </a:r>
            <a:endParaRPr lang="en-US" sz="1200" dirty="0"/>
          </a:p>
        </p:txBody>
      </p:sp>
      <p:sp>
        <p:nvSpPr>
          <p:cNvPr id="4" name="Text 1"/>
          <p:cNvSpPr/>
          <p:nvPr/>
        </p:nvSpPr>
        <p:spPr>
          <a:xfrm>
            <a:off x="731520" y="822960"/>
            <a:ext cx="10058400" cy="731520"/>
          </a:xfrm>
          <a:prstGeom prst="rect">
            <a:avLst/>
          </a:prstGeom>
          <a:noFill/>
          <a:ln/>
        </p:spPr>
        <p:txBody>
          <a:bodyPr wrap="square" rtlCol="0" anchor="ctr"/>
          <a:lstStyle/>
          <a:p>
            <a:pPr indent="0" marL="0">
              <a:buNone/>
            </a:pPr>
            <a:r>
              <a:rPr lang="en-US" sz="3000" b="1" dirty="0">
                <a:solidFill>
                  <a:srgbClr val="2A1015"/>
                </a:solidFill>
                <a:latin typeface="Arial" pitchFamily="34" charset="0"/>
                <a:ea typeface="Arial" pitchFamily="34" charset="-122"/>
                <a:cs typeface="Arial" pitchFamily="34" charset="-120"/>
              </a:rPr>
              <a:t>Impact at a Glance</a:t>
            </a:r>
            <a:endParaRPr lang="en-US" sz="3000" dirty="0"/>
          </a:p>
        </p:txBody>
      </p:sp>
      <p:sp>
        <p:nvSpPr>
          <p:cNvPr id="5" name="Shape 2"/>
          <p:cNvSpPr/>
          <p:nvPr/>
        </p:nvSpPr>
        <p:spPr>
          <a:xfrm>
            <a:off x="731520" y="2011680"/>
            <a:ext cx="3291840" cy="1828800"/>
          </a:xfrm>
          <a:prstGeom prst="roundRect">
            <a:avLst>
              <a:gd name="adj" fmla="val 7500"/>
            </a:avLst>
          </a:prstGeom>
          <a:solidFill>
            <a:srgbClr val="FFFFFF"/>
          </a:solidFill>
          <a:ln w="12700">
            <a:solidFill>
              <a:srgbClr val="E8E0D8"/>
            </a:solidFill>
            <a:prstDash val="solid"/>
          </a:ln>
        </p:spPr>
      </p:sp>
      <p:sp>
        <p:nvSpPr>
          <p:cNvPr id="6" name="Text 3"/>
          <p:cNvSpPr/>
          <p:nvPr/>
        </p:nvSpPr>
        <p:spPr>
          <a:xfrm>
            <a:off x="731520" y="2103120"/>
            <a:ext cx="3291840" cy="1097280"/>
          </a:xfrm>
          <a:prstGeom prst="rect">
            <a:avLst/>
          </a:prstGeom>
          <a:noFill/>
          <a:ln/>
        </p:spPr>
        <p:txBody>
          <a:bodyPr wrap="square" rtlCol="0" anchor="ctr"/>
          <a:lstStyle/>
          <a:p>
            <a:pPr algn="ctr" indent="0" marL="0">
              <a:buNone/>
            </a:pPr>
            <a:r>
              <a:rPr lang="en-US" sz="4400" b="1" dirty="0">
                <a:solidFill>
                  <a:srgbClr val="6B1C2A"/>
                </a:solidFill>
                <a:latin typeface="Arial" pitchFamily="34" charset="0"/>
                <a:ea typeface="Arial" pitchFamily="34" charset="-122"/>
                <a:cs typeface="Arial" pitchFamily="34" charset="-120"/>
              </a:rPr>
              <a:t>14</a:t>
            </a:r>
            <a:endParaRPr lang="en-US" sz="4400" dirty="0"/>
          </a:p>
        </p:txBody>
      </p:sp>
      <p:sp>
        <p:nvSpPr>
          <p:cNvPr id="7" name="Text 4"/>
          <p:cNvSpPr/>
          <p:nvPr/>
        </p:nvSpPr>
        <p:spPr>
          <a:xfrm>
            <a:off x="731520" y="3108960"/>
            <a:ext cx="3291840" cy="457200"/>
          </a:xfrm>
          <a:prstGeom prst="rect">
            <a:avLst/>
          </a:prstGeom>
          <a:noFill/>
          <a:ln/>
        </p:spPr>
        <p:txBody>
          <a:bodyPr wrap="square" rtlCol="0" anchor="ctr"/>
          <a:lstStyle/>
          <a:p>
            <a:pPr algn="ctr" indent="0" marL="0">
              <a:buNone/>
            </a:pPr>
            <a:r>
              <a:rPr lang="en-US" sz="1400" dirty="0">
                <a:solidFill>
                  <a:srgbClr val="6B5050"/>
                </a:solidFill>
                <a:latin typeface="Arial" pitchFamily="34" charset="0"/>
                <a:ea typeface="Arial" pitchFamily="34" charset="-122"/>
                <a:cs typeface="Arial" pitchFamily="34" charset="-120"/>
              </a:rPr>
              <a:t>Youth Served</a:t>
            </a:r>
            <a:endParaRPr lang="en-US" sz="1400" dirty="0"/>
          </a:p>
        </p:txBody>
      </p:sp>
      <p:sp>
        <p:nvSpPr>
          <p:cNvPr id="8" name="Shape 5"/>
          <p:cNvSpPr/>
          <p:nvPr/>
        </p:nvSpPr>
        <p:spPr>
          <a:xfrm>
            <a:off x="4389120" y="2011680"/>
            <a:ext cx="3291840" cy="1828800"/>
          </a:xfrm>
          <a:prstGeom prst="roundRect">
            <a:avLst>
              <a:gd name="adj" fmla="val 7500"/>
            </a:avLst>
          </a:prstGeom>
          <a:solidFill>
            <a:srgbClr val="FFFFFF"/>
          </a:solidFill>
          <a:ln w="12700">
            <a:solidFill>
              <a:srgbClr val="E8E0D8"/>
            </a:solidFill>
            <a:prstDash val="solid"/>
          </a:ln>
        </p:spPr>
      </p:sp>
      <p:sp>
        <p:nvSpPr>
          <p:cNvPr id="9" name="Text 6"/>
          <p:cNvSpPr/>
          <p:nvPr/>
        </p:nvSpPr>
        <p:spPr>
          <a:xfrm>
            <a:off x="4389120" y="2103120"/>
            <a:ext cx="3291840" cy="1097280"/>
          </a:xfrm>
          <a:prstGeom prst="rect">
            <a:avLst/>
          </a:prstGeom>
          <a:noFill/>
          <a:ln/>
        </p:spPr>
        <p:txBody>
          <a:bodyPr wrap="square" rtlCol="0" anchor="ctr"/>
          <a:lstStyle/>
          <a:p>
            <a:pPr algn="ctr" indent="0" marL="0">
              <a:buNone/>
            </a:pPr>
            <a:r>
              <a:rPr lang="en-US" sz="4400" b="1" dirty="0">
                <a:solidFill>
                  <a:srgbClr val="6B1C2A"/>
                </a:solidFill>
                <a:latin typeface="Arial" pitchFamily="34" charset="0"/>
                <a:ea typeface="Arial" pitchFamily="34" charset="-122"/>
                <a:cs typeface="Arial" pitchFamily="34" charset="-120"/>
              </a:rPr>
              <a:t>55</a:t>
            </a:r>
            <a:endParaRPr lang="en-US" sz="4400" dirty="0"/>
          </a:p>
        </p:txBody>
      </p:sp>
      <p:sp>
        <p:nvSpPr>
          <p:cNvPr id="10" name="Text 7"/>
          <p:cNvSpPr/>
          <p:nvPr/>
        </p:nvSpPr>
        <p:spPr>
          <a:xfrm>
            <a:off x="4389120" y="3108960"/>
            <a:ext cx="3291840" cy="457200"/>
          </a:xfrm>
          <a:prstGeom prst="rect">
            <a:avLst/>
          </a:prstGeom>
          <a:noFill/>
          <a:ln/>
        </p:spPr>
        <p:txBody>
          <a:bodyPr wrap="square" rtlCol="0" anchor="ctr"/>
          <a:lstStyle/>
          <a:p>
            <a:pPr algn="ctr" indent="0" marL="0">
              <a:buNone/>
            </a:pPr>
            <a:r>
              <a:rPr lang="en-US" sz="1400" dirty="0">
                <a:solidFill>
                  <a:srgbClr val="6B5050"/>
                </a:solidFill>
                <a:latin typeface="Arial" pitchFamily="34" charset="0"/>
                <a:ea typeface="Arial" pitchFamily="34" charset="-122"/>
                <a:cs typeface="Arial" pitchFamily="34" charset="-120"/>
              </a:rPr>
              <a:t>Career Pathways</a:t>
            </a:r>
            <a:endParaRPr lang="en-US" sz="1400" dirty="0"/>
          </a:p>
        </p:txBody>
      </p:sp>
      <p:sp>
        <p:nvSpPr>
          <p:cNvPr id="11" name="Shape 8"/>
          <p:cNvSpPr/>
          <p:nvPr/>
        </p:nvSpPr>
        <p:spPr>
          <a:xfrm>
            <a:off x="8046720" y="2011680"/>
            <a:ext cx="3291840" cy="1828800"/>
          </a:xfrm>
          <a:prstGeom prst="roundRect">
            <a:avLst>
              <a:gd name="adj" fmla="val 7500"/>
            </a:avLst>
          </a:prstGeom>
          <a:solidFill>
            <a:srgbClr val="FFFFFF"/>
          </a:solidFill>
          <a:ln w="12700">
            <a:solidFill>
              <a:srgbClr val="E8E0D8"/>
            </a:solidFill>
            <a:prstDash val="solid"/>
          </a:ln>
        </p:spPr>
      </p:sp>
      <p:sp>
        <p:nvSpPr>
          <p:cNvPr id="12" name="Text 9"/>
          <p:cNvSpPr/>
          <p:nvPr/>
        </p:nvSpPr>
        <p:spPr>
          <a:xfrm>
            <a:off x="8046720" y="2103120"/>
            <a:ext cx="3291840" cy="1097280"/>
          </a:xfrm>
          <a:prstGeom prst="rect">
            <a:avLst/>
          </a:prstGeom>
          <a:noFill/>
          <a:ln/>
        </p:spPr>
        <p:txBody>
          <a:bodyPr wrap="square" rtlCol="0" anchor="ctr"/>
          <a:lstStyle/>
          <a:p>
            <a:pPr algn="ctr" indent="0" marL="0">
              <a:buNone/>
            </a:pPr>
            <a:r>
              <a:rPr lang="en-US" sz="4400" b="1" dirty="0">
                <a:solidFill>
                  <a:srgbClr val="6B1C2A"/>
                </a:solidFill>
                <a:latin typeface="Arial" pitchFamily="34" charset="0"/>
                <a:ea typeface="Arial" pitchFamily="34" charset="-122"/>
                <a:cs typeface="Arial" pitchFamily="34" charset="-120"/>
              </a:rPr>
              <a:t>8</a:t>
            </a:r>
            <a:endParaRPr lang="en-US" sz="4400" dirty="0"/>
          </a:p>
        </p:txBody>
      </p:sp>
      <p:sp>
        <p:nvSpPr>
          <p:cNvPr id="13" name="Text 10"/>
          <p:cNvSpPr/>
          <p:nvPr/>
        </p:nvSpPr>
        <p:spPr>
          <a:xfrm>
            <a:off x="8046720" y="3108960"/>
            <a:ext cx="3291840" cy="457200"/>
          </a:xfrm>
          <a:prstGeom prst="rect">
            <a:avLst/>
          </a:prstGeom>
          <a:noFill/>
          <a:ln/>
        </p:spPr>
        <p:txBody>
          <a:bodyPr wrap="square" rtlCol="0" anchor="ctr"/>
          <a:lstStyle/>
          <a:p>
            <a:pPr algn="ctr" indent="0" marL="0">
              <a:buNone/>
            </a:pPr>
            <a:r>
              <a:rPr lang="en-US" sz="1400" dirty="0">
                <a:solidFill>
                  <a:srgbClr val="6B5050"/>
                </a:solidFill>
                <a:latin typeface="Arial" pitchFamily="34" charset="0"/>
                <a:ea typeface="Arial" pitchFamily="34" charset="-122"/>
                <a:cs typeface="Arial" pitchFamily="34" charset="-120"/>
              </a:rPr>
              <a:t>Professional Mentors</a:t>
            </a:r>
            <a:endParaRPr lang="en-US" sz="1400" dirty="0"/>
          </a:p>
        </p:txBody>
      </p:sp>
      <p:sp>
        <p:nvSpPr>
          <p:cNvPr id="14" name="Shape 11"/>
          <p:cNvSpPr/>
          <p:nvPr/>
        </p:nvSpPr>
        <p:spPr>
          <a:xfrm>
            <a:off x="731520" y="4206240"/>
            <a:ext cx="3291840" cy="1828800"/>
          </a:xfrm>
          <a:prstGeom prst="roundRect">
            <a:avLst>
              <a:gd name="adj" fmla="val 7500"/>
            </a:avLst>
          </a:prstGeom>
          <a:solidFill>
            <a:srgbClr val="FFFFFF"/>
          </a:solidFill>
          <a:ln w="12700">
            <a:solidFill>
              <a:srgbClr val="E8E0D8"/>
            </a:solidFill>
            <a:prstDash val="solid"/>
          </a:ln>
        </p:spPr>
      </p:sp>
      <p:sp>
        <p:nvSpPr>
          <p:cNvPr id="15" name="Text 12"/>
          <p:cNvSpPr/>
          <p:nvPr/>
        </p:nvSpPr>
        <p:spPr>
          <a:xfrm>
            <a:off x="731520" y="4297680"/>
            <a:ext cx="3291840" cy="1097280"/>
          </a:xfrm>
          <a:prstGeom prst="rect">
            <a:avLst/>
          </a:prstGeom>
          <a:noFill/>
          <a:ln/>
        </p:spPr>
        <p:txBody>
          <a:bodyPr wrap="square" rtlCol="0" anchor="ctr"/>
          <a:lstStyle/>
          <a:p>
            <a:pPr algn="ctr" indent="0" marL="0">
              <a:buNone/>
            </a:pPr>
            <a:r>
              <a:rPr lang="en-US" sz="4400" b="1" dirty="0">
                <a:solidFill>
                  <a:srgbClr val="6B1C2A"/>
                </a:solidFill>
                <a:latin typeface="Arial" pitchFamily="34" charset="0"/>
                <a:ea typeface="Arial" pitchFamily="34" charset="-122"/>
                <a:cs typeface="Arial" pitchFamily="34" charset="-120"/>
              </a:rPr>
              <a:t>5</a:t>
            </a:r>
            <a:endParaRPr lang="en-US" sz="4400" dirty="0"/>
          </a:p>
        </p:txBody>
      </p:sp>
      <p:sp>
        <p:nvSpPr>
          <p:cNvPr id="16" name="Text 13"/>
          <p:cNvSpPr/>
          <p:nvPr/>
        </p:nvSpPr>
        <p:spPr>
          <a:xfrm>
            <a:off x="731520" y="5303520"/>
            <a:ext cx="3291840" cy="457200"/>
          </a:xfrm>
          <a:prstGeom prst="rect">
            <a:avLst/>
          </a:prstGeom>
          <a:noFill/>
          <a:ln/>
        </p:spPr>
        <p:txBody>
          <a:bodyPr wrap="square" rtlCol="0" anchor="ctr"/>
          <a:lstStyle/>
          <a:p>
            <a:pPr algn="ctr" indent="0" marL="0">
              <a:buNone/>
            </a:pPr>
            <a:r>
              <a:rPr lang="en-US" sz="1400" dirty="0">
                <a:solidFill>
                  <a:srgbClr val="6B5050"/>
                </a:solidFill>
                <a:latin typeface="Arial" pitchFamily="34" charset="0"/>
                <a:ea typeface="Arial" pitchFamily="34" charset="-122"/>
                <a:cs typeface="Arial" pitchFamily="34" charset="-120"/>
              </a:rPr>
              <a:t>Mastery Levels</a:t>
            </a:r>
            <a:endParaRPr lang="en-US" sz="1400" dirty="0"/>
          </a:p>
        </p:txBody>
      </p:sp>
      <p:sp>
        <p:nvSpPr>
          <p:cNvPr id="17" name="Shape 14"/>
          <p:cNvSpPr/>
          <p:nvPr/>
        </p:nvSpPr>
        <p:spPr>
          <a:xfrm>
            <a:off x="4389120" y="4206240"/>
            <a:ext cx="3291840" cy="1828800"/>
          </a:xfrm>
          <a:prstGeom prst="roundRect">
            <a:avLst>
              <a:gd name="adj" fmla="val 7500"/>
            </a:avLst>
          </a:prstGeom>
          <a:solidFill>
            <a:srgbClr val="FFFFFF"/>
          </a:solidFill>
          <a:ln w="12700">
            <a:solidFill>
              <a:srgbClr val="E8E0D8"/>
            </a:solidFill>
            <a:prstDash val="solid"/>
          </a:ln>
        </p:spPr>
      </p:sp>
      <p:sp>
        <p:nvSpPr>
          <p:cNvPr id="18" name="Text 15"/>
          <p:cNvSpPr/>
          <p:nvPr/>
        </p:nvSpPr>
        <p:spPr>
          <a:xfrm>
            <a:off x="4389120" y="4297680"/>
            <a:ext cx="3291840" cy="1097280"/>
          </a:xfrm>
          <a:prstGeom prst="rect">
            <a:avLst/>
          </a:prstGeom>
          <a:noFill/>
          <a:ln/>
        </p:spPr>
        <p:txBody>
          <a:bodyPr wrap="square" rtlCol="0" anchor="ctr"/>
          <a:lstStyle/>
          <a:p>
            <a:pPr algn="ctr" indent="0" marL="0">
              <a:buNone/>
            </a:pPr>
            <a:r>
              <a:rPr lang="en-US" sz="4400" b="1" dirty="0">
                <a:solidFill>
                  <a:srgbClr val="6B1C2A"/>
                </a:solidFill>
                <a:latin typeface="Arial" pitchFamily="34" charset="0"/>
                <a:ea typeface="Arial" pitchFamily="34" charset="-122"/>
                <a:cs typeface="Arial" pitchFamily="34" charset="-120"/>
              </a:rPr>
              <a:t>31</a:t>
            </a:r>
            <a:endParaRPr lang="en-US" sz="4400" dirty="0"/>
          </a:p>
        </p:txBody>
      </p:sp>
      <p:sp>
        <p:nvSpPr>
          <p:cNvPr id="19" name="Text 16"/>
          <p:cNvSpPr/>
          <p:nvPr/>
        </p:nvSpPr>
        <p:spPr>
          <a:xfrm>
            <a:off x="4389120" y="5303520"/>
            <a:ext cx="3291840" cy="457200"/>
          </a:xfrm>
          <a:prstGeom prst="rect">
            <a:avLst/>
          </a:prstGeom>
          <a:noFill/>
          <a:ln/>
        </p:spPr>
        <p:txBody>
          <a:bodyPr wrap="square" rtlCol="0" anchor="ctr"/>
          <a:lstStyle/>
          <a:p>
            <a:pPr algn="ctr" indent="0" marL="0">
              <a:buNone/>
            </a:pPr>
            <a:r>
              <a:rPr lang="en-US" sz="1400" dirty="0">
                <a:solidFill>
                  <a:srgbClr val="6B5050"/>
                </a:solidFill>
                <a:latin typeface="Arial" pitchFamily="34" charset="0"/>
                <a:ea typeface="Arial" pitchFamily="34" charset="-122"/>
                <a:cs typeface="Arial" pitchFamily="34" charset="-120"/>
              </a:rPr>
              <a:t>Learning Modules</a:t>
            </a:r>
            <a:endParaRPr lang="en-US" sz="1400" dirty="0"/>
          </a:p>
        </p:txBody>
      </p:sp>
      <p:sp>
        <p:nvSpPr>
          <p:cNvPr id="20" name="Shape 17"/>
          <p:cNvSpPr/>
          <p:nvPr/>
        </p:nvSpPr>
        <p:spPr>
          <a:xfrm>
            <a:off x="8046720" y="4206240"/>
            <a:ext cx="3291840" cy="1828800"/>
          </a:xfrm>
          <a:prstGeom prst="roundRect">
            <a:avLst>
              <a:gd name="adj" fmla="val 7500"/>
            </a:avLst>
          </a:prstGeom>
          <a:solidFill>
            <a:srgbClr val="FFFFFF"/>
          </a:solidFill>
          <a:ln w="12700">
            <a:solidFill>
              <a:srgbClr val="E8E0D8"/>
            </a:solidFill>
            <a:prstDash val="solid"/>
          </a:ln>
        </p:spPr>
      </p:sp>
      <p:sp>
        <p:nvSpPr>
          <p:cNvPr id="21" name="Text 18"/>
          <p:cNvSpPr/>
          <p:nvPr/>
        </p:nvSpPr>
        <p:spPr>
          <a:xfrm>
            <a:off x="8046720" y="4297680"/>
            <a:ext cx="3291840" cy="1097280"/>
          </a:xfrm>
          <a:prstGeom prst="rect">
            <a:avLst/>
          </a:prstGeom>
          <a:noFill/>
          <a:ln/>
        </p:spPr>
        <p:txBody>
          <a:bodyPr wrap="square" rtlCol="0" anchor="ctr"/>
          <a:lstStyle/>
          <a:p>
            <a:pPr algn="ctr" indent="0" marL="0">
              <a:buNone/>
            </a:pPr>
            <a:r>
              <a:rPr lang="en-US" sz="4400" b="1" dirty="0">
                <a:solidFill>
                  <a:srgbClr val="6B1C2A"/>
                </a:solidFill>
                <a:latin typeface="Arial" pitchFamily="34" charset="0"/>
                <a:ea typeface="Arial" pitchFamily="34" charset="-122"/>
                <a:cs typeface="Arial" pitchFamily="34" charset="-120"/>
              </a:rPr>
              <a:t>24</a:t>
            </a:r>
            <a:endParaRPr lang="en-US" sz="4400" dirty="0"/>
          </a:p>
        </p:txBody>
      </p:sp>
      <p:sp>
        <p:nvSpPr>
          <p:cNvPr id="22" name="Text 19"/>
          <p:cNvSpPr/>
          <p:nvPr/>
        </p:nvSpPr>
        <p:spPr>
          <a:xfrm>
            <a:off x="8046720" y="5303520"/>
            <a:ext cx="3291840" cy="457200"/>
          </a:xfrm>
          <a:prstGeom prst="rect">
            <a:avLst/>
          </a:prstGeom>
          <a:noFill/>
          <a:ln/>
        </p:spPr>
        <p:txBody>
          <a:bodyPr wrap="square" rtlCol="0" anchor="ctr"/>
          <a:lstStyle/>
          <a:p>
            <a:pPr algn="ctr" indent="0" marL="0">
              <a:buNone/>
            </a:pPr>
            <a:r>
              <a:rPr lang="en-US" sz="1400" dirty="0">
                <a:solidFill>
                  <a:srgbClr val="6B5050"/>
                </a:solidFill>
                <a:latin typeface="Arial" pitchFamily="34" charset="0"/>
                <a:ea typeface="Arial" pitchFamily="34" charset="-122"/>
                <a:cs typeface="Arial" pitchFamily="34" charset="-120"/>
              </a:rPr>
              <a:t>Career Milestones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215"/>
        </a:solidFill>
      </p:bgPr>
    </p:bg>
    <p:spTree>
      <p:nvGrpSpPr>
        <p:cNvPr id="1" name=""/>
        <p:cNvGrpSpPr/>
        <p:nvPr/>
      </p:nvGrpSpPr>
      <p:grpSpPr>
        <a:xfrm>
          <a:off x="0" y="0"/>
          <a:ext cx="0" cy="0"/>
          <a:chOff x="0" y="0"/>
          <a:chExt cx="0" cy="0"/>
        </a:xfrm>
      </p:grpSpPr>
      <p:sp>
        <p:nvSpPr>
          <p:cNvPr id="3" name="Text 0"/>
          <p:cNvSpPr/>
          <p:nvPr/>
        </p:nvSpPr>
        <p:spPr>
          <a:xfrm>
            <a:off x="731520" y="731520"/>
            <a:ext cx="4572000" cy="914400"/>
          </a:xfrm>
          <a:prstGeom prst="rect">
            <a:avLst/>
          </a:prstGeom>
          <a:noFill/>
          <a:ln/>
        </p:spPr>
        <p:txBody>
          <a:bodyPr wrap="square" rtlCol="0" anchor="ctr"/>
          <a:lstStyle/>
          <a:p>
            <a:pPr indent="0" marL="0">
              <a:buNone/>
            </a:pPr>
            <a:r>
              <a:rPr lang="en-US" sz="3400" b="1" dirty="0">
                <a:solidFill>
                  <a:srgbClr val="FFFFFF"/>
                </a:solidFill>
                <a:latin typeface="Arial" pitchFamily="34" charset="0"/>
                <a:ea typeface="Arial" pitchFamily="34" charset="-122"/>
                <a:cs typeface="Arial" pitchFamily="34" charset="-120"/>
              </a:rPr>
              <a:t>Grant Aligned</a:t>
            </a:r>
            <a:endParaRPr lang="en-US" sz="3400" dirty="0"/>
          </a:p>
        </p:txBody>
      </p:sp>
      <p:sp>
        <p:nvSpPr>
          <p:cNvPr id="4" name="Text 1"/>
          <p:cNvSpPr/>
          <p:nvPr/>
        </p:nvSpPr>
        <p:spPr>
          <a:xfrm>
            <a:off x="731520" y="1828800"/>
            <a:ext cx="4572000" cy="731520"/>
          </a:xfrm>
          <a:prstGeom prst="rect">
            <a:avLst/>
          </a:prstGeom>
          <a:noFill/>
          <a:ln/>
        </p:spPr>
        <p:txBody>
          <a:bodyPr wrap="square" rtlCol="0" anchor="ctr"/>
          <a:lstStyle/>
          <a:p>
            <a:pPr indent="0" marL="0">
              <a:buNone/>
            </a:pPr>
            <a:r>
              <a:rPr lang="en-US" sz="1600" dirty="0">
                <a:solidFill>
                  <a:srgbClr val="D0D0D0"/>
                </a:solidFill>
                <a:latin typeface="Arial" pitchFamily="34" charset="0"/>
                <a:ea typeface="Arial" pitchFamily="34" charset="-122"/>
                <a:cs typeface="Arial" pitchFamily="34" charset="-120"/>
              </a:rPr>
              <a:t>Every criterion met for workforce development grant eligibility</a:t>
            </a:r>
            <a:endParaRPr lang="en-US" sz="1600" dirty="0"/>
          </a:p>
        </p:txBody>
      </p:sp>
      <p:sp>
        <p:nvSpPr>
          <p:cNvPr id="5" name="Shape 2"/>
          <p:cNvSpPr/>
          <p:nvPr/>
        </p:nvSpPr>
        <p:spPr>
          <a:xfrm>
            <a:off x="5669280" y="731520"/>
            <a:ext cx="5760720" cy="548640"/>
          </a:xfrm>
          <a:prstGeom prst="roundRect">
            <a:avLst>
              <a:gd name="adj" fmla="val 13333"/>
            </a:avLst>
          </a:prstGeom>
          <a:solidFill>
            <a:srgbClr val="2A2025"/>
          </a:solidFill>
          <a:ln w="12700">
            <a:solidFill>
              <a:srgbClr val="3A3035"/>
            </a:solidFill>
            <a:prstDash val="solid"/>
          </a:ln>
        </p:spPr>
      </p:sp>
      <p:sp>
        <p:nvSpPr>
          <p:cNvPr id="6" name="Text 3"/>
          <p:cNvSpPr/>
          <p:nvPr/>
        </p:nvSpPr>
        <p:spPr>
          <a:xfrm>
            <a:off x="5852160" y="731520"/>
            <a:ext cx="5486400" cy="548640"/>
          </a:xfrm>
          <a:prstGeom prst="rect">
            <a:avLst/>
          </a:prstGeom>
          <a:noFill/>
          <a:ln/>
        </p:spPr>
        <p:txBody>
          <a:bodyPr wrap="square" rtlCol="0" anchor="ctr"/>
          <a:lstStyle/>
          <a:p>
            <a:pPr indent="0" marL="0">
              <a:buNone/>
            </a:pPr>
            <a:r>
              <a:rPr lang="en-US" sz="1300" dirty="0">
                <a:solidFill>
                  <a:srgbClr val="E8E8E8"/>
                </a:solidFill>
                <a:latin typeface="Arial" pitchFamily="34" charset="0"/>
                <a:ea typeface="Arial" pitchFamily="34" charset="-122"/>
                <a:cs typeface="Arial" pitchFamily="34" charset="-120"/>
              </a:rPr>
              <a:t>✓  School-to-career employment pipelines</a:t>
            </a:r>
            <a:endParaRPr lang="en-US" sz="1300" dirty="0"/>
          </a:p>
        </p:txBody>
      </p:sp>
      <p:sp>
        <p:nvSpPr>
          <p:cNvPr id="7" name="Shape 4"/>
          <p:cNvSpPr/>
          <p:nvPr/>
        </p:nvSpPr>
        <p:spPr>
          <a:xfrm>
            <a:off x="5669280" y="1444752"/>
            <a:ext cx="5760720" cy="548640"/>
          </a:xfrm>
          <a:prstGeom prst="roundRect">
            <a:avLst>
              <a:gd name="adj" fmla="val 13333"/>
            </a:avLst>
          </a:prstGeom>
          <a:solidFill>
            <a:srgbClr val="2A2025"/>
          </a:solidFill>
          <a:ln w="12700">
            <a:solidFill>
              <a:srgbClr val="3A3035"/>
            </a:solidFill>
            <a:prstDash val="solid"/>
          </a:ln>
        </p:spPr>
      </p:sp>
      <p:sp>
        <p:nvSpPr>
          <p:cNvPr id="8" name="Text 5"/>
          <p:cNvSpPr/>
          <p:nvPr/>
        </p:nvSpPr>
        <p:spPr>
          <a:xfrm>
            <a:off x="5852160" y="1444752"/>
            <a:ext cx="5486400" cy="548640"/>
          </a:xfrm>
          <a:prstGeom prst="rect">
            <a:avLst/>
          </a:prstGeom>
          <a:noFill/>
          <a:ln/>
        </p:spPr>
        <p:txBody>
          <a:bodyPr wrap="square" rtlCol="0" anchor="ctr"/>
          <a:lstStyle/>
          <a:p>
            <a:pPr indent="0" marL="0">
              <a:buNone/>
            </a:pPr>
            <a:r>
              <a:rPr lang="en-US" sz="1300" dirty="0">
                <a:solidFill>
                  <a:srgbClr val="E8E8E8"/>
                </a:solidFill>
                <a:latin typeface="Arial" pitchFamily="34" charset="0"/>
                <a:ea typeface="Arial" pitchFamily="34" charset="-122"/>
                <a:cs typeface="Arial" pitchFamily="34" charset="-120"/>
              </a:rPr>
              <a:t>✓  Workforce development programming</a:t>
            </a:r>
            <a:endParaRPr lang="en-US" sz="1300" dirty="0"/>
          </a:p>
        </p:txBody>
      </p:sp>
      <p:sp>
        <p:nvSpPr>
          <p:cNvPr id="9" name="Shape 6"/>
          <p:cNvSpPr/>
          <p:nvPr/>
        </p:nvSpPr>
        <p:spPr>
          <a:xfrm>
            <a:off x="5669280" y="2157984"/>
            <a:ext cx="5760720" cy="548640"/>
          </a:xfrm>
          <a:prstGeom prst="roundRect">
            <a:avLst>
              <a:gd name="adj" fmla="val 13333"/>
            </a:avLst>
          </a:prstGeom>
          <a:solidFill>
            <a:srgbClr val="2A2025"/>
          </a:solidFill>
          <a:ln w="12700">
            <a:solidFill>
              <a:srgbClr val="3A3035"/>
            </a:solidFill>
            <a:prstDash val="solid"/>
          </a:ln>
        </p:spPr>
      </p:sp>
      <p:sp>
        <p:nvSpPr>
          <p:cNvPr id="10" name="Text 7"/>
          <p:cNvSpPr/>
          <p:nvPr/>
        </p:nvSpPr>
        <p:spPr>
          <a:xfrm>
            <a:off x="5852160" y="2157984"/>
            <a:ext cx="5486400" cy="548640"/>
          </a:xfrm>
          <a:prstGeom prst="rect">
            <a:avLst/>
          </a:prstGeom>
          <a:noFill/>
          <a:ln/>
        </p:spPr>
        <p:txBody>
          <a:bodyPr wrap="square" rtlCol="0" anchor="ctr"/>
          <a:lstStyle/>
          <a:p>
            <a:pPr indent="0" marL="0">
              <a:buNone/>
            </a:pPr>
            <a:r>
              <a:rPr lang="en-US" sz="1300" dirty="0">
                <a:solidFill>
                  <a:srgbClr val="E8E8E8"/>
                </a:solidFill>
                <a:latin typeface="Arial" pitchFamily="34" charset="0"/>
                <a:ea typeface="Arial" pitchFamily="34" charset="-122"/>
                <a:cs typeface="Arial" pitchFamily="34" charset="-120"/>
              </a:rPr>
              <a:t>✓  Job readiness training</a:t>
            </a:r>
            <a:endParaRPr lang="en-US" sz="1300" dirty="0"/>
          </a:p>
        </p:txBody>
      </p:sp>
      <p:sp>
        <p:nvSpPr>
          <p:cNvPr id="11" name="Shape 8"/>
          <p:cNvSpPr/>
          <p:nvPr/>
        </p:nvSpPr>
        <p:spPr>
          <a:xfrm>
            <a:off x="5669280" y="2871216"/>
            <a:ext cx="5760720" cy="548640"/>
          </a:xfrm>
          <a:prstGeom prst="roundRect">
            <a:avLst>
              <a:gd name="adj" fmla="val 13333"/>
            </a:avLst>
          </a:prstGeom>
          <a:solidFill>
            <a:srgbClr val="2A2025"/>
          </a:solidFill>
          <a:ln w="12700">
            <a:solidFill>
              <a:srgbClr val="3A3035"/>
            </a:solidFill>
            <a:prstDash val="solid"/>
          </a:ln>
        </p:spPr>
      </p:sp>
      <p:sp>
        <p:nvSpPr>
          <p:cNvPr id="12" name="Text 9"/>
          <p:cNvSpPr/>
          <p:nvPr/>
        </p:nvSpPr>
        <p:spPr>
          <a:xfrm>
            <a:off x="5852160" y="2871216"/>
            <a:ext cx="5486400" cy="548640"/>
          </a:xfrm>
          <a:prstGeom prst="rect">
            <a:avLst/>
          </a:prstGeom>
          <a:noFill/>
          <a:ln/>
        </p:spPr>
        <p:txBody>
          <a:bodyPr wrap="square" rtlCol="0" anchor="ctr"/>
          <a:lstStyle/>
          <a:p>
            <a:pPr indent="0" marL="0">
              <a:buNone/>
            </a:pPr>
            <a:r>
              <a:rPr lang="en-US" sz="1300" dirty="0">
                <a:solidFill>
                  <a:srgbClr val="E8E8E8"/>
                </a:solidFill>
                <a:latin typeface="Arial" pitchFamily="34" charset="0"/>
                <a:ea typeface="Arial" pitchFamily="34" charset="-122"/>
                <a:cs typeface="Arial" pitchFamily="34" charset="-120"/>
              </a:rPr>
              <a:t>✓  Skill training and certification</a:t>
            </a:r>
            <a:endParaRPr lang="en-US" sz="1300" dirty="0"/>
          </a:p>
        </p:txBody>
      </p:sp>
      <p:sp>
        <p:nvSpPr>
          <p:cNvPr id="13" name="Shape 10"/>
          <p:cNvSpPr/>
          <p:nvPr/>
        </p:nvSpPr>
        <p:spPr>
          <a:xfrm>
            <a:off x="5669280" y="3584448"/>
            <a:ext cx="5760720" cy="548640"/>
          </a:xfrm>
          <a:prstGeom prst="roundRect">
            <a:avLst>
              <a:gd name="adj" fmla="val 13333"/>
            </a:avLst>
          </a:prstGeom>
          <a:solidFill>
            <a:srgbClr val="2A2025"/>
          </a:solidFill>
          <a:ln w="12700">
            <a:solidFill>
              <a:srgbClr val="3A3035"/>
            </a:solidFill>
            <a:prstDash val="solid"/>
          </a:ln>
        </p:spPr>
      </p:sp>
      <p:sp>
        <p:nvSpPr>
          <p:cNvPr id="14" name="Text 11"/>
          <p:cNvSpPr/>
          <p:nvPr/>
        </p:nvSpPr>
        <p:spPr>
          <a:xfrm>
            <a:off x="5852160" y="3584448"/>
            <a:ext cx="5486400" cy="548640"/>
          </a:xfrm>
          <a:prstGeom prst="rect">
            <a:avLst/>
          </a:prstGeom>
          <a:noFill/>
          <a:ln/>
        </p:spPr>
        <p:txBody>
          <a:bodyPr wrap="square" rtlCol="0" anchor="ctr"/>
          <a:lstStyle/>
          <a:p>
            <a:pPr indent="0" marL="0">
              <a:buNone/>
            </a:pPr>
            <a:r>
              <a:rPr lang="en-US" sz="1300" dirty="0">
                <a:solidFill>
                  <a:srgbClr val="E8E8E8"/>
                </a:solidFill>
                <a:latin typeface="Arial" pitchFamily="34" charset="0"/>
                <a:ea typeface="Arial" pitchFamily="34" charset="-122"/>
                <a:cs typeface="Arial" pitchFamily="34" charset="-120"/>
              </a:rPr>
              <a:t>✓  Job placement support</a:t>
            </a:r>
            <a:endParaRPr lang="en-US" sz="1300" dirty="0"/>
          </a:p>
        </p:txBody>
      </p:sp>
      <p:sp>
        <p:nvSpPr>
          <p:cNvPr id="15" name="Shape 12"/>
          <p:cNvSpPr/>
          <p:nvPr/>
        </p:nvSpPr>
        <p:spPr>
          <a:xfrm>
            <a:off x="5669280" y="4297680"/>
            <a:ext cx="5760720" cy="548640"/>
          </a:xfrm>
          <a:prstGeom prst="roundRect">
            <a:avLst>
              <a:gd name="adj" fmla="val 13333"/>
            </a:avLst>
          </a:prstGeom>
          <a:solidFill>
            <a:srgbClr val="2A2025"/>
          </a:solidFill>
          <a:ln w="12700">
            <a:solidFill>
              <a:srgbClr val="3A3035"/>
            </a:solidFill>
            <a:prstDash val="solid"/>
          </a:ln>
        </p:spPr>
      </p:sp>
      <p:sp>
        <p:nvSpPr>
          <p:cNvPr id="16" name="Text 13"/>
          <p:cNvSpPr/>
          <p:nvPr/>
        </p:nvSpPr>
        <p:spPr>
          <a:xfrm>
            <a:off x="5852160" y="4297680"/>
            <a:ext cx="5486400" cy="548640"/>
          </a:xfrm>
          <a:prstGeom prst="rect">
            <a:avLst/>
          </a:prstGeom>
          <a:noFill/>
          <a:ln/>
        </p:spPr>
        <p:txBody>
          <a:bodyPr wrap="square" rtlCol="0" anchor="ctr"/>
          <a:lstStyle/>
          <a:p>
            <a:pPr indent="0" marL="0">
              <a:buNone/>
            </a:pPr>
            <a:r>
              <a:rPr lang="en-US" sz="1300" dirty="0">
                <a:solidFill>
                  <a:srgbClr val="E8E8E8"/>
                </a:solidFill>
                <a:latin typeface="Arial" pitchFamily="34" charset="0"/>
                <a:ea typeface="Arial" pitchFamily="34" charset="-122"/>
                <a:cs typeface="Arial" pitchFamily="34" charset="-120"/>
              </a:rPr>
              <a:t>✓  Career advancement pathways</a:t>
            </a:r>
            <a:endParaRPr lang="en-US" sz="1300" dirty="0"/>
          </a:p>
        </p:txBody>
      </p:sp>
      <p:sp>
        <p:nvSpPr>
          <p:cNvPr id="17" name="Shape 14"/>
          <p:cNvSpPr/>
          <p:nvPr/>
        </p:nvSpPr>
        <p:spPr>
          <a:xfrm>
            <a:off x="5669280" y="5010912"/>
            <a:ext cx="5760720" cy="548640"/>
          </a:xfrm>
          <a:prstGeom prst="roundRect">
            <a:avLst>
              <a:gd name="adj" fmla="val 13333"/>
            </a:avLst>
          </a:prstGeom>
          <a:solidFill>
            <a:srgbClr val="2A2025"/>
          </a:solidFill>
          <a:ln w="12700">
            <a:solidFill>
              <a:srgbClr val="3A3035"/>
            </a:solidFill>
            <a:prstDash val="solid"/>
          </a:ln>
        </p:spPr>
      </p:sp>
      <p:sp>
        <p:nvSpPr>
          <p:cNvPr id="18" name="Text 15"/>
          <p:cNvSpPr/>
          <p:nvPr/>
        </p:nvSpPr>
        <p:spPr>
          <a:xfrm>
            <a:off x="5852160" y="5010912"/>
            <a:ext cx="5486400" cy="548640"/>
          </a:xfrm>
          <a:prstGeom prst="rect">
            <a:avLst/>
          </a:prstGeom>
          <a:noFill/>
          <a:ln/>
        </p:spPr>
        <p:txBody>
          <a:bodyPr wrap="square" rtlCol="0" anchor="ctr"/>
          <a:lstStyle/>
          <a:p>
            <a:pPr indent="0" marL="0">
              <a:buNone/>
            </a:pPr>
            <a:r>
              <a:rPr lang="en-US" sz="1300" dirty="0">
                <a:solidFill>
                  <a:srgbClr val="E8E8E8"/>
                </a:solidFill>
                <a:latin typeface="Arial" pitchFamily="34" charset="0"/>
                <a:ea typeface="Arial" pitchFamily="34" charset="-122"/>
                <a:cs typeface="Arial" pitchFamily="34" charset="-120"/>
              </a:rPr>
              <a:t>✓  Professional mentorship programs</a:t>
            </a:r>
            <a:endParaRPr lang="en-US" sz="1300" dirty="0"/>
          </a:p>
        </p:txBody>
      </p:sp>
      <p:sp>
        <p:nvSpPr>
          <p:cNvPr id="19" name="Shape 16"/>
          <p:cNvSpPr/>
          <p:nvPr/>
        </p:nvSpPr>
        <p:spPr>
          <a:xfrm>
            <a:off x="5669280" y="5724144"/>
            <a:ext cx="5760720" cy="548640"/>
          </a:xfrm>
          <a:prstGeom prst="roundRect">
            <a:avLst>
              <a:gd name="adj" fmla="val 13333"/>
            </a:avLst>
          </a:prstGeom>
          <a:solidFill>
            <a:srgbClr val="2A2025"/>
          </a:solidFill>
          <a:ln w="12700">
            <a:solidFill>
              <a:srgbClr val="3A3035"/>
            </a:solidFill>
            <a:prstDash val="solid"/>
          </a:ln>
        </p:spPr>
      </p:sp>
      <p:sp>
        <p:nvSpPr>
          <p:cNvPr id="20" name="Text 17"/>
          <p:cNvSpPr/>
          <p:nvPr/>
        </p:nvSpPr>
        <p:spPr>
          <a:xfrm>
            <a:off x="5852160" y="5724144"/>
            <a:ext cx="5486400" cy="548640"/>
          </a:xfrm>
          <a:prstGeom prst="rect">
            <a:avLst/>
          </a:prstGeom>
          <a:noFill/>
          <a:ln/>
        </p:spPr>
        <p:txBody>
          <a:bodyPr wrap="square" rtlCol="0" anchor="ctr"/>
          <a:lstStyle/>
          <a:p>
            <a:pPr indent="0" marL="0">
              <a:buNone/>
            </a:pPr>
            <a:r>
              <a:rPr lang="en-US" sz="1300" dirty="0">
                <a:solidFill>
                  <a:srgbClr val="E8E8E8"/>
                </a:solidFill>
                <a:latin typeface="Arial" pitchFamily="34" charset="0"/>
                <a:ea typeface="Arial" pitchFamily="34" charset="-122"/>
                <a:cs typeface="Arial" pitchFamily="34" charset="-120"/>
              </a:rPr>
              <a:t>✓  Community impact for under-resourced youth</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5"/>
        </a:solidFill>
      </p:bgPr>
    </p:bg>
    <p:spTree>
      <p:nvGrpSpPr>
        <p:cNvPr id="1" name=""/>
        <p:cNvGrpSpPr/>
        <p:nvPr/>
      </p:nvGrpSpPr>
      <p:grpSpPr>
        <a:xfrm>
          <a:off x="0" y="0"/>
          <a:ext cx="0" cy="0"/>
          <a:chOff x="0" y="0"/>
          <a:chExt cx="0" cy="0"/>
        </a:xfrm>
      </p:grpSpPr>
      <p:sp>
        <p:nvSpPr>
          <p:cNvPr id="3" name="Text 0"/>
          <p:cNvSpPr/>
          <p:nvPr/>
        </p:nvSpPr>
        <p:spPr>
          <a:xfrm>
            <a:off x="731520" y="365760"/>
            <a:ext cx="10058400" cy="457200"/>
          </a:xfrm>
          <a:prstGeom prst="rect">
            <a:avLst/>
          </a:prstGeom>
          <a:noFill/>
          <a:ln/>
        </p:spPr>
        <p:txBody>
          <a:bodyPr wrap="square" rtlCol="0" anchor="ctr"/>
          <a:lstStyle/>
          <a:p>
            <a:pPr indent="0" marL="0">
              <a:buNone/>
            </a:pPr>
            <a:r>
              <a:rPr lang="en-US" sz="1200" b="1" spc="400" kern="0" dirty="0">
                <a:solidFill>
                  <a:srgbClr val="6B1C2A"/>
                </a:solidFill>
                <a:latin typeface="Arial" pitchFamily="34" charset="0"/>
                <a:ea typeface="Arial" pitchFamily="34" charset="-122"/>
                <a:cs typeface="Arial" pitchFamily="34" charset="-120"/>
              </a:rPr>
              <a:t>MENTOR NETWORK</a:t>
            </a:r>
            <a:endParaRPr lang="en-US" sz="1200" dirty="0"/>
          </a:p>
        </p:txBody>
      </p:sp>
      <p:sp>
        <p:nvSpPr>
          <p:cNvPr id="4" name="Text 1"/>
          <p:cNvSpPr/>
          <p:nvPr/>
        </p:nvSpPr>
        <p:spPr>
          <a:xfrm>
            <a:off x="731520" y="822960"/>
            <a:ext cx="10058400" cy="731520"/>
          </a:xfrm>
          <a:prstGeom prst="rect">
            <a:avLst/>
          </a:prstGeom>
          <a:noFill/>
          <a:ln/>
        </p:spPr>
        <p:txBody>
          <a:bodyPr wrap="square" rtlCol="0" anchor="ctr"/>
          <a:lstStyle/>
          <a:p>
            <a:pPr indent="0" marL="0">
              <a:buNone/>
            </a:pPr>
            <a:r>
              <a:rPr lang="en-US" sz="2800" b="1" dirty="0">
                <a:solidFill>
                  <a:srgbClr val="2A1015"/>
                </a:solidFill>
                <a:latin typeface="Arial" pitchFamily="34" charset="0"/>
                <a:ea typeface="Arial" pitchFamily="34" charset="-122"/>
                <a:cs typeface="Arial" pitchFamily="34" charset="-120"/>
              </a:rPr>
              <a:t>8 professional mentors and growing</a:t>
            </a:r>
            <a:endParaRPr lang="en-US" sz="2800" dirty="0"/>
          </a:p>
        </p:txBody>
      </p:sp>
      <p:sp>
        <p:nvSpPr>
          <p:cNvPr id="5" name="Shape 2"/>
          <p:cNvSpPr/>
          <p:nvPr/>
        </p:nvSpPr>
        <p:spPr>
          <a:xfrm>
            <a:off x="731520" y="2103120"/>
            <a:ext cx="3291840" cy="3200400"/>
          </a:xfrm>
          <a:prstGeom prst="roundRect">
            <a:avLst>
              <a:gd name="adj" fmla="val 4286"/>
            </a:avLst>
          </a:prstGeom>
          <a:solidFill>
            <a:srgbClr val="FFFFFF"/>
          </a:solidFill>
          <a:ln w="12700">
            <a:solidFill>
              <a:srgbClr val="E8E0D8"/>
            </a:solidFill>
            <a:prstDash val="solid"/>
          </a:ln>
        </p:spPr>
      </p:sp>
      <p:sp>
        <p:nvSpPr>
          <p:cNvPr id="6" name="Text 3"/>
          <p:cNvSpPr/>
          <p:nvPr/>
        </p:nvSpPr>
        <p:spPr>
          <a:xfrm>
            <a:off x="1005840" y="2377440"/>
            <a:ext cx="2743200" cy="640080"/>
          </a:xfrm>
          <a:prstGeom prst="rect">
            <a:avLst/>
          </a:prstGeom>
          <a:noFill/>
          <a:ln/>
        </p:spPr>
        <p:txBody>
          <a:bodyPr wrap="square" rtlCol="0" anchor="ctr"/>
          <a:lstStyle/>
          <a:p>
            <a:pPr indent="0" marL="0">
              <a:buNone/>
            </a:pPr>
            <a:r>
              <a:rPr lang="en-US" sz="2000" b="1" dirty="0">
                <a:solidFill>
                  <a:srgbClr val="2A1015"/>
                </a:solidFill>
                <a:latin typeface="Arial" pitchFamily="34" charset="0"/>
                <a:ea typeface="Arial" pitchFamily="34" charset="-122"/>
                <a:cs typeface="Arial" pitchFamily="34" charset="-120"/>
              </a:rPr>
              <a:t>Career Coaching</a:t>
            </a:r>
            <a:endParaRPr lang="en-US" sz="2000" dirty="0"/>
          </a:p>
        </p:txBody>
      </p:sp>
      <p:sp>
        <p:nvSpPr>
          <p:cNvPr id="7" name="Text 4"/>
          <p:cNvSpPr/>
          <p:nvPr/>
        </p:nvSpPr>
        <p:spPr>
          <a:xfrm>
            <a:off x="1005840" y="3108960"/>
            <a:ext cx="2743200" cy="1645920"/>
          </a:xfrm>
          <a:prstGeom prst="rect">
            <a:avLst/>
          </a:prstGeom>
          <a:noFill/>
          <a:ln/>
        </p:spPr>
        <p:txBody>
          <a:bodyPr wrap="square" rtlCol="0" anchor="ctr"/>
          <a:lstStyle/>
          <a:p>
            <a:pPr indent="0" marL="0">
              <a:buNone/>
            </a:pPr>
            <a:r>
              <a:rPr lang="en-US" sz="1400" dirty="0">
                <a:solidFill>
                  <a:srgbClr val="6B5050"/>
                </a:solidFill>
                <a:latin typeface="Arial" pitchFamily="34" charset="0"/>
                <a:ea typeface="Arial" pitchFamily="34" charset="-122"/>
                <a:cs typeface="Arial" pitchFamily="34" charset="-120"/>
              </a:rPr>
              <a:t>One-on-one professional guidance from industry mentors across all 12 career categories</a:t>
            </a:r>
            <a:endParaRPr lang="en-US" sz="1400" dirty="0"/>
          </a:p>
        </p:txBody>
      </p:sp>
      <p:sp>
        <p:nvSpPr>
          <p:cNvPr id="8" name="Shape 5"/>
          <p:cNvSpPr/>
          <p:nvPr/>
        </p:nvSpPr>
        <p:spPr>
          <a:xfrm>
            <a:off x="4389120" y="2103120"/>
            <a:ext cx="3291840" cy="3200400"/>
          </a:xfrm>
          <a:prstGeom prst="roundRect">
            <a:avLst>
              <a:gd name="adj" fmla="val 4286"/>
            </a:avLst>
          </a:prstGeom>
          <a:solidFill>
            <a:srgbClr val="FFFFFF"/>
          </a:solidFill>
          <a:ln w="12700">
            <a:solidFill>
              <a:srgbClr val="E8E0D8"/>
            </a:solidFill>
            <a:prstDash val="solid"/>
          </a:ln>
        </p:spPr>
      </p:sp>
      <p:sp>
        <p:nvSpPr>
          <p:cNvPr id="9" name="Text 6"/>
          <p:cNvSpPr/>
          <p:nvPr/>
        </p:nvSpPr>
        <p:spPr>
          <a:xfrm>
            <a:off x="4663440" y="2377440"/>
            <a:ext cx="2743200" cy="640080"/>
          </a:xfrm>
          <a:prstGeom prst="rect">
            <a:avLst/>
          </a:prstGeom>
          <a:noFill/>
          <a:ln/>
        </p:spPr>
        <p:txBody>
          <a:bodyPr wrap="square" rtlCol="0" anchor="ctr"/>
          <a:lstStyle/>
          <a:p>
            <a:pPr indent="0" marL="0">
              <a:buNone/>
            </a:pPr>
            <a:r>
              <a:rPr lang="en-US" sz="2000" b="1" dirty="0">
                <a:solidFill>
                  <a:srgbClr val="2A1015"/>
                </a:solidFill>
                <a:latin typeface="Arial" pitchFamily="34" charset="0"/>
                <a:ea typeface="Arial" pitchFamily="34" charset="-122"/>
                <a:cs typeface="Arial" pitchFamily="34" charset="-120"/>
              </a:rPr>
              <a:t>Pathway Planning</a:t>
            </a:r>
            <a:endParaRPr lang="en-US" sz="2000" dirty="0"/>
          </a:p>
        </p:txBody>
      </p:sp>
      <p:sp>
        <p:nvSpPr>
          <p:cNvPr id="10" name="Text 7"/>
          <p:cNvSpPr/>
          <p:nvPr/>
        </p:nvSpPr>
        <p:spPr>
          <a:xfrm>
            <a:off x="4663440" y="3108960"/>
            <a:ext cx="2743200" cy="1645920"/>
          </a:xfrm>
          <a:prstGeom prst="rect">
            <a:avLst/>
          </a:prstGeom>
          <a:noFill/>
          <a:ln/>
        </p:spPr>
        <p:txBody>
          <a:bodyPr wrap="square" rtlCol="0" anchor="ctr"/>
          <a:lstStyle/>
          <a:p>
            <a:pPr indent="0" marL="0">
              <a:buNone/>
            </a:pPr>
            <a:r>
              <a:rPr lang="en-US" sz="1400" dirty="0">
                <a:solidFill>
                  <a:srgbClr val="6B5050"/>
                </a:solidFill>
                <a:latin typeface="Arial" pitchFamily="34" charset="0"/>
                <a:ea typeface="Arial" pitchFamily="34" charset="-122"/>
                <a:cs typeface="Arial" pitchFamily="34" charset="-120"/>
              </a:rPr>
              <a:t>Structured career readiness assessments with milestone tracking and revision support</a:t>
            </a:r>
            <a:endParaRPr lang="en-US" sz="1400" dirty="0"/>
          </a:p>
        </p:txBody>
      </p:sp>
      <p:sp>
        <p:nvSpPr>
          <p:cNvPr id="11" name="Shape 8"/>
          <p:cNvSpPr/>
          <p:nvPr/>
        </p:nvSpPr>
        <p:spPr>
          <a:xfrm>
            <a:off x="8046720" y="2103120"/>
            <a:ext cx="3291840" cy="3200400"/>
          </a:xfrm>
          <a:prstGeom prst="roundRect">
            <a:avLst>
              <a:gd name="adj" fmla="val 4286"/>
            </a:avLst>
          </a:prstGeom>
          <a:solidFill>
            <a:srgbClr val="FFFFFF"/>
          </a:solidFill>
          <a:ln w="12700">
            <a:solidFill>
              <a:srgbClr val="E8E0D8"/>
            </a:solidFill>
            <a:prstDash val="solid"/>
          </a:ln>
        </p:spPr>
      </p:sp>
      <p:sp>
        <p:nvSpPr>
          <p:cNvPr id="12" name="Text 9"/>
          <p:cNvSpPr/>
          <p:nvPr/>
        </p:nvSpPr>
        <p:spPr>
          <a:xfrm>
            <a:off x="8321040" y="2377440"/>
            <a:ext cx="2743200" cy="640080"/>
          </a:xfrm>
          <a:prstGeom prst="rect">
            <a:avLst/>
          </a:prstGeom>
          <a:noFill/>
          <a:ln/>
        </p:spPr>
        <p:txBody>
          <a:bodyPr wrap="square" rtlCol="0" anchor="ctr"/>
          <a:lstStyle/>
          <a:p>
            <a:pPr indent="0" marL="0">
              <a:buNone/>
            </a:pPr>
            <a:r>
              <a:rPr lang="en-US" sz="2000" b="1" dirty="0">
                <a:solidFill>
                  <a:srgbClr val="2A1015"/>
                </a:solidFill>
                <a:latin typeface="Arial" pitchFamily="34" charset="0"/>
                <a:ea typeface="Arial" pitchFamily="34" charset="-122"/>
                <a:cs typeface="Arial" pitchFamily="34" charset="-120"/>
              </a:rPr>
              <a:t>Job Placement</a:t>
            </a:r>
            <a:endParaRPr lang="en-US" sz="2000" dirty="0"/>
          </a:p>
        </p:txBody>
      </p:sp>
      <p:sp>
        <p:nvSpPr>
          <p:cNvPr id="13" name="Text 10"/>
          <p:cNvSpPr/>
          <p:nvPr/>
        </p:nvSpPr>
        <p:spPr>
          <a:xfrm>
            <a:off x="8321040" y="3108960"/>
            <a:ext cx="2743200" cy="1645920"/>
          </a:xfrm>
          <a:prstGeom prst="rect">
            <a:avLst/>
          </a:prstGeom>
          <a:noFill/>
          <a:ln/>
        </p:spPr>
        <p:txBody>
          <a:bodyPr wrap="square" rtlCol="0" anchor="ctr"/>
          <a:lstStyle/>
          <a:p>
            <a:pPr indent="0" marL="0">
              <a:buNone/>
            </a:pPr>
            <a:r>
              <a:rPr lang="en-US" sz="1400" dirty="0">
                <a:solidFill>
                  <a:srgbClr val="6B5050"/>
                </a:solidFill>
                <a:latin typeface="Arial" pitchFamily="34" charset="0"/>
                <a:ea typeface="Arial" pitchFamily="34" charset="-122"/>
                <a:cs typeface="Arial" pitchFamily="34" charset="-120"/>
              </a:rPr>
              <a:t>Direct pipelines from skill demonstration to workforce entry and career advancement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6B1C2A"/>
        </a:solidFill>
      </p:bgPr>
    </p:bg>
    <p:spTree>
      <p:nvGrpSpPr>
        <p:cNvPr id="1" name=""/>
        <p:cNvGrpSpPr/>
        <p:nvPr/>
      </p:nvGrpSpPr>
      <p:grpSpPr>
        <a:xfrm>
          <a:off x="0" y="0"/>
          <a:ext cx="0" cy="0"/>
          <a:chOff x="0" y="0"/>
          <a:chExt cx="0" cy="0"/>
        </a:xfrm>
      </p:grpSpPr>
      <p:sp>
        <p:nvSpPr>
          <p:cNvPr id="3" name="Text 0"/>
          <p:cNvSpPr/>
          <p:nvPr/>
        </p:nvSpPr>
        <p:spPr>
          <a:xfrm>
            <a:off x="731520" y="365760"/>
            <a:ext cx="10058400" cy="457200"/>
          </a:xfrm>
          <a:prstGeom prst="rect">
            <a:avLst/>
          </a:prstGeom>
          <a:noFill/>
          <a:ln/>
        </p:spPr>
        <p:txBody>
          <a:bodyPr wrap="square" rtlCol="0" anchor="ctr"/>
          <a:lstStyle/>
          <a:p>
            <a:pPr indent="0" marL="0">
              <a:buNone/>
            </a:pPr>
            <a:r>
              <a:rPr lang="en-US" sz="1200" b="1" spc="400" kern="0" dirty="0">
                <a:solidFill>
                  <a:srgbClr val="D0D0D0"/>
                </a:solidFill>
                <a:latin typeface="Arial" pitchFamily="34" charset="0"/>
                <a:ea typeface="Arial" pitchFamily="34" charset="-122"/>
                <a:cs typeface="Arial" pitchFamily="34" charset="-120"/>
              </a:rPr>
              <a:t>BEYOND ACADEMICS</a:t>
            </a:r>
            <a:endParaRPr lang="en-US" sz="1200" dirty="0"/>
          </a:p>
        </p:txBody>
      </p:sp>
      <p:sp>
        <p:nvSpPr>
          <p:cNvPr id="4" name="Text 1"/>
          <p:cNvSpPr/>
          <p:nvPr/>
        </p:nvSpPr>
        <p:spPr>
          <a:xfrm>
            <a:off x="731520" y="822960"/>
            <a:ext cx="10058400" cy="73152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Whole-child support system</a:t>
            </a:r>
            <a:endParaRPr lang="en-US" sz="3000" dirty="0"/>
          </a:p>
        </p:txBody>
      </p:sp>
      <p:sp>
        <p:nvSpPr>
          <p:cNvPr id="5" name="Shape 2"/>
          <p:cNvSpPr/>
          <p:nvPr/>
        </p:nvSpPr>
        <p:spPr>
          <a:xfrm>
            <a:off x="731520" y="2011680"/>
            <a:ext cx="5029200" cy="1645920"/>
          </a:xfrm>
          <a:prstGeom prst="roundRect">
            <a:avLst>
              <a:gd name="adj" fmla="val 8333"/>
            </a:avLst>
          </a:prstGeom>
          <a:solidFill>
            <a:srgbClr val="3A3035"/>
          </a:solidFill>
          <a:ln w="12700">
            <a:solidFill>
              <a:srgbClr val="4A3540"/>
            </a:solidFill>
            <a:prstDash val="solid"/>
          </a:ln>
        </p:spPr>
      </p:sp>
      <p:sp>
        <p:nvSpPr>
          <p:cNvPr id="6" name="Text 3"/>
          <p:cNvSpPr/>
          <p:nvPr/>
        </p:nvSpPr>
        <p:spPr>
          <a:xfrm>
            <a:off x="1005840" y="2148840"/>
            <a:ext cx="4480560" cy="54864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IGN-Thrive Analytics</a:t>
            </a:r>
            <a:endParaRPr lang="en-US" sz="1800" dirty="0"/>
          </a:p>
        </p:txBody>
      </p:sp>
      <p:sp>
        <p:nvSpPr>
          <p:cNvPr id="7" name="Text 4"/>
          <p:cNvSpPr/>
          <p:nvPr/>
        </p:nvSpPr>
        <p:spPr>
          <a:xfrm>
            <a:off x="1005840" y="2743200"/>
            <a:ext cx="4480560" cy="640080"/>
          </a:xfrm>
          <a:prstGeom prst="rect">
            <a:avLst/>
          </a:prstGeom>
          <a:noFill/>
          <a:ln/>
        </p:spPr>
        <p:txBody>
          <a:bodyPr wrap="square" rtlCol="0" anchor="ctr"/>
          <a:lstStyle/>
          <a:p>
            <a:pPr indent="0" marL="0">
              <a:buNone/>
            </a:pPr>
            <a:r>
              <a:rPr lang="en-US" sz="1300" dirty="0">
                <a:solidFill>
                  <a:srgbClr val="D0D0D0"/>
                </a:solidFill>
                <a:latin typeface="Arial" pitchFamily="34" charset="0"/>
                <a:ea typeface="Arial" pitchFamily="34" charset="-122"/>
                <a:cs typeface="Arial" pitchFamily="34" charset="-120"/>
              </a:rPr>
              <a:t>Six-domain scoring engine with early warning system and intervention playbooks</a:t>
            </a:r>
            <a:endParaRPr lang="en-US" sz="1300" dirty="0"/>
          </a:p>
        </p:txBody>
      </p:sp>
      <p:sp>
        <p:nvSpPr>
          <p:cNvPr id="8" name="Shape 5"/>
          <p:cNvSpPr/>
          <p:nvPr/>
        </p:nvSpPr>
        <p:spPr>
          <a:xfrm>
            <a:off x="6217920" y="2011680"/>
            <a:ext cx="5029200" cy="1645920"/>
          </a:xfrm>
          <a:prstGeom prst="roundRect">
            <a:avLst>
              <a:gd name="adj" fmla="val 8333"/>
            </a:avLst>
          </a:prstGeom>
          <a:solidFill>
            <a:srgbClr val="3A3035"/>
          </a:solidFill>
          <a:ln w="12700">
            <a:solidFill>
              <a:srgbClr val="4A3540"/>
            </a:solidFill>
            <a:prstDash val="solid"/>
          </a:ln>
        </p:spPr>
      </p:sp>
      <p:sp>
        <p:nvSpPr>
          <p:cNvPr id="9" name="Text 6"/>
          <p:cNvSpPr/>
          <p:nvPr/>
        </p:nvSpPr>
        <p:spPr>
          <a:xfrm>
            <a:off x="6492240" y="2148840"/>
            <a:ext cx="4480560" cy="54864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Financial Literacy</a:t>
            </a:r>
            <a:endParaRPr lang="en-US" sz="1800" dirty="0"/>
          </a:p>
        </p:txBody>
      </p:sp>
      <p:sp>
        <p:nvSpPr>
          <p:cNvPr id="10" name="Text 7"/>
          <p:cNvSpPr/>
          <p:nvPr/>
        </p:nvSpPr>
        <p:spPr>
          <a:xfrm>
            <a:off x="6492240" y="2743200"/>
            <a:ext cx="4480560" cy="640080"/>
          </a:xfrm>
          <a:prstGeom prst="rect">
            <a:avLst/>
          </a:prstGeom>
          <a:noFill/>
          <a:ln/>
        </p:spPr>
        <p:txBody>
          <a:bodyPr wrap="square" rtlCol="0" anchor="ctr"/>
          <a:lstStyle/>
          <a:p>
            <a:pPr indent="0" marL="0">
              <a:buNone/>
            </a:pPr>
            <a:r>
              <a:rPr lang="en-US" sz="1300" dirty="0">
                <a:solidFill>
                  <a:srgbClr val="D0D0D0"/>
                </a:solidFill>
                <a:latin typeface="Arial" pitchFamily="34" charset="0"/>
                <a:ea typeface="Arial" pitchFamily="34" charset="-122"/>
                <a:cs typeface="Arial" pitchFamily="34" charset="-120"/>
              </a:rPr>
              <a:t>Stock market simulation, entrepreneurship training, and real fundraising for college tuition</a:t>
            </a:r>
            <a:endParaRPr lang="en-US" sz="1300" dirty="0"/>
          </a:p>
        </p:txBody>
      </p:sp>
      <p:sp>
        <p:nvSpPr>
          <p:cNvPr id="11" name="Shape 8"/>
          <p:cNvSpPr/>
          <p:nvPr/>
        </p:nvSpPr>
        <p:spPr>
          <a:xfrm>
            <a:off x="731520" y="4023360"/>
            <a:ext cx="5029200" cy="1645920"/>
          </a:xfrm>
          <a:prstGeom prst="roundRect">
            <a:avLst>
              <a:gd name="adj" fmla="val 8333"/>
            </a:avLst>
          </a:prstGeom>
          <a:solidFill>
            <a:srgbClr val="3A3035"/>
          </a:solidFill>
          <a:ln w="12700">
            <a:solidFill>
              <a:srgbClr val="4A3540"/>
            </a:solidFill>
            <a:prstDash val="solid"/>
          </a:ln>
        </p:spPr>
      </p:sp>
      <p:sp>
        <p:nvSpPr>
          <p:cNvPr id="12" name="Text 9"/>
          <p:cNvSpPr/>
          <p:nvPr/>
        </p:nvSpPr>
        <p:spPr>
          <a:xfrm>
            <a:off x="1005840" y="4160520"/>
            <a:ext cx="4480560" cy="54864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Community Resources</a:t>
            </a:r>
            <a:endParaRPr lang="en-US" sz="1800" dirty="0"/>
          </a:p>
        </p:txBody>
      </p:sp>
      <p:sp>
        <p:nvSpPr>
          <p:cNvPr id="13" name="Text 10"/>
          <p:cNvSpPr/>
          <p:nvPr/>
        </p:nvSpPr>
        <p:spPr>
          <a:xfrm>
            <a:off x="1005840" y="4754880"/>
            <a:ext cx="4480560" cy="640080"/>
          </a:xfrm>
          <a:prstGeom prst="rect">
            <a:avLst/>
          </a:prstGeom>
          <a:noFill/>
          <a:ln/>
        </p:spPr>
        <p:txBody>
          <a:bodyPr wrap="square" rtlCol="0" anchor="ctr"/>
          <a:lstStyle/>
          <a:p>
            <a:pPr indent="0" marL="0">
              <a:buNone/>
            </a:pPr>
            <a:r>
              <a:rPr lang="en-US" sz="1300" dirty="0">
                <a:solidFill>
                  <a:srgbClr val="D0D0D0"/>
                </a:solidFill>
                <a:latin typeface="Arial" pitchFamily="34" charset="0"/>
                <a:ea typeface="Arial" pitchFamily="34" charset="-122"/>
                <a:cs typeface="Arial" pitchFamily="34" charset="-120"/>
              </a:rPr>
              <a:t>Nationwide resource finder covering 55 U.S. jurisdictions with real-time data</a:t>
            </a:r>
            <a:endParaRPr lang="en-US" sz="1300" dirty="0"/>
          </a:p>
        </p:txBody>
      </p:sp>
      <p:sp>
        <p:nvSpPr>
          <p:cNvPr id="14" name="Shape 11"/>
          <p:cNvSpPr/>
          <p:nvPr/>
        </p:nvSpPr>
        <p:spPr>
          <a:xfrm>
            <a:off x="6217920" y="4023360"/>
            <a:ext cx="5029200" cy="1645920"/>
          </a:xfrm>
          <a:prstGeom prst="roundRect">
            <a:avLst>
              <a:gd name="adj" fmla="val 8333"/>
            </a:avLst>
          </a:prstGeom>
          <a:solidFill>
            <a:srgbClr val="3A3035"/>
          </a:solidFill>
          <a:ln w="12700">
            <a:solidFill>
              <a:srgbClr val="4A3540"/>
            </a:solidFill>
            <a:prstDash val="solid"/>
          </a:ln>
        </p:spPr>
      </p:sp>
      <p:sp>
        <p:nvSpPr>
          <p:cNvPr id="15" name="Text 12"/>
          <p:cNvSpPr/>
          <p:nvPr/>
        </p:nvSpPr>
        <p:spPr>
          <a:xfrm>
            <a:off x="6492240" y="4160520"/>
            <a:ext cx="4480560" cy="54864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STAAR Test Prep</a:t>
            </a:r>
            <a:endParaRPr lang="en-US" sz="1800" dirty="0"/>
          </a:p>
        </p:txBody>
      </p:sp>
      <p:sp>
        <p:nvSpPr>
          <p:cNvPr id="16" name="Text 13"/>
          <p:cNvSpPr/>
          <p:nvPr/>
        </p:nvSpPr>
        <p:spPr>
          <a:xfrm>
            <a:off x="6492240" y="4754880"/>
            <a:ext cx="4480560" cy="640080"/>
          </a:xfrm>
          <a:prstGeom prst="rect">
            <a:avLst/>
          </a:prstGeom>
          <a:noFill/>
          <a:ln/>
        </p:spPr>
        <p:txBody>
          <a:bodyPr wrap="square" rtlCol="0" anchor="ctr"/>
          <a:lstStyle/>
          <a:p>
            <a:pPr indent="0" marL="0">
              <a:buNone/>
            </a:pPr>
            <a:r>
              <a:rPr lang="en-US" sz="1300" dirty="0">
                <a:solidFill>
                  <a:srgbClr val="D0D0D0"/>
                </a:solidFill>
                <a:latin typeface="Arial" pitchFamily="34" charset="0"/>
                <a:ea typeface="Arial" pitchFamily="34" charset="-122"/>
                <a:cs typeface="Arial" pitchFamily="34" charset="-120"/>
              </a:rPr>
              <a:t>Grade-level study guides for Grades 3-11 aligned to Texas TEKS standards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5"/>
        </a:solidFill>
      </p:bgPr>
    </p:bg>
    <p:spTree>
      <p:nvGrpSpPr>
        <p:cNvPr id="1" name=""/>
        <p:cNvGrpSpPr/>
        <p:nvPr/>
      </p:nvGrpSpPr>
      <p:grpSpPr>
        <a:xfrm>
          <a:off x="0" y="0"/>
          <a:ext cx="0" cy="0"/>
          <a:chOff x="0" y="0"/>
          <a:chExt cx="0" cy="0"/>
        </a:xfrm>
      </p:grpSpPr>
      <p:sp>
        <p:nvSpPr>
          <p:cNvPr id="3" name="Text 0"/>
          <p:cNvSpPr/>
          <p:nvPr/>
        </p:nvSpPr>
        <p:spPr>
          <a:xfrm>
            <a:off x="731520" y="1097280"/>
            <a:ext cx="5029200" cy="914400"/>
          </a:xfrm>
          <a:prstGeom prst="rect">
            <a:avLst/>
          </a:prstGeom>
          <a:noFill/>
          <a:ln/>
        </p:spPr>
        <p:txBody>
          <a:bodyPr wrap="square" rtlCol="0" anchor="ctr"/>
          <a:lstStyle/>
          <a:p>
            <a:pPr indent="0" marL="0">
              <a:buNone/>
            </a:pPr>
            <a:r>
              <a:rPr lang="en-US" sz="3000" b="1" dirty="0">
                <a:solidFill>
                  <a:srgbClr val="2A1015"/>
                </a:solidFill>
                <a:latin typeface="Arial" pitchFamily="34" charset="0"/>
                <a:ea typeface="Arial" pitchFamily="34" charset="-122"/>
                <a:cs typeface="Arial" pitchFamily="34" charset="-120"/>
              </a:rPr>
              <a:t>Community Resource Finder</a:t>
            </a:r>
            <a:endParaRPr lang="en-US" sz="3000" dirty="0"/>
          </a:p>
        </p:txBody>
      </p:sp>
      <p:sp>
        <p:nvSpPr>
          <p:cNvPr id="4" name="Text 1"/>
          <p:cNvSpPr/>
          <p:nvPr/>
        </p:nvSpPr>
        <p:spPr>
          <a:xfrm>
            <a:off x="731520" y="2194560"/>
            <a:ext cx="5029200" cy="731520"/>
          </a:xfrm>
          <a:prstGeom prst="rect">
            <a:avLst/>
          </a:prstGeom>
          <a:noFill/>
          <a:ln/>
        </p:spPr>
        <p:txBody>
          <a:bodyPr wrap="square" rtlCol="0" anchor="ctr"/>
          <a:lstStyle/>
          <a:p>
            <a:pPr indent="0" marL="0">
              <a:buNone/>
            </a:pPr>
            <a:r>
              <a:rPr lang="en-US" sz="1600" dirty="0">
                <a:solidFill>
                  <a:srgbClr val="6B5050"/>
                </a:solidFill>
                <a:latin typeface="Arial" pitchFamily="34" charset="0"/>
                <a:ea typeface="Arial" pitchFamily="34" charset="-122"/>
                <a:cs typeface="Arial" pitchFamily="34" charset="-120"/>
              </a:rPr>
              <a:t>Connecting families to local support services across the nation</a:t>
            </a:r>
            <a:endParaRPr lang="en-US" sz="1600" dirty="0"/>
          </a:p>
        </p:txBody>
      </p:sp>
      <p:sp>
        <p:nvSpPr>
          <p:cNvPr id="5" name="Text 2"/>
          <p:cNvSpPr/>
          <p:nvPr/>
        </p:nvSpPr>
        <p:spPr>
          <a:xfrm>
            <a:off x="731520" y="3291840"/>
            <a:ext cx="5029200" cy="457200"/>
          </a:xfrm>
          <a:prstGeom prst="rect">
            <a:avLst/>
          </a:prstGeom>
          <a:noFill/>
          <a:ln/>
        </p:spPr>
        <p:txBody>
          <a:bodyPr wrap="square" rtlCol="0" anchor="ctr"/>
          <a:lstStyle/>
          <a:p>
            <a:pPr indent="0" marL="0">
              <a:buNone/>
            </a:pPr>
            <a:r>
              <a:rPr lang="en-US" sz="1500" dirty="0">
                <a:solidFill>
                  <a:srgbClr val="2A1015"/>
                </a:solidFill>
                <a:latin typeface="Arial" pitchFamily="34" charset="0"/>
                <a:ea typeface="Arial" pitchFamily="34" charset="-122"/>
                <a:cs typeface="Arial" pitchFamily="34" charset="-120"/>
              </a:rPr>
              <a:t>✓  50 states + DC + territories (55 jurisdictions)</a:t>
            </a:r>
            <a:endParaRPr lang="en-US" sz="1500" dirty="0"/>
          </a:p>
        </p:txBody>
      </p:sp>
      <p:sp>
        <p:nvSpPr>
          <p:cNvPr id="6" name="Text 3"/>
          <p:cNvSpPr/>
          <p:nvPr/>
        </p:nvSpPr>
        <p:spPr>
          <a:xfrm>
            <a:off x="731520" y="3931920"/>
            <a:ext cx="5029200" cy="457200"/>
          </a:xfrm>
          <a:prstGeom prst="rect">
            <a:avLst/>
          </a:prstGeom>
          <a:noFill/>
          <a:ln/>
        </p:spPr>
        <p:txBody>
          <a:bodyPr wrap="square" rtlCol="0" anchor="ctr"/>
          <a:lstStyle/>
          <a:p>
            <a:pPr indent="0" marL="0">
              <a:buNone/>
            </a:pPr>
            <a:r>
              <a:rPr lang="en-US" sz="1500" dirty="0">
                <a:solidFill>
                  <a:srgbClr val="2A1015"/>
                </a:solidFill>
                <a:latin typeface="Arial" pitchFamily="34" charset="0"/>
                <a:ea typeface="Arial" pitchFamily="34" charset="-122"/>
                <a:cs typeface="Arial" pitchFamily="34" charset="-120"/>
              </a:rPr>
              <a:t>✓  Healthcare, food, housing, education, employment</a:t>
            </a:r>
            <a:endParaRPr lang="en-US" sz="1500" dirty="0"/>
          </a:p>
        </p:txBody>
      </p:sp>
      <p:sp>
        <p:nvSpPr>
          <p:cNvPr id="7" name="Text 4"/>
          <p:cNvSpPr/>
          <p:nvPr/>
        </p:nvSpPr>
        <p:spPr>
          <a:xfrm>
            <a:off x="731520" y="4572000"/>
            <a:ext cx="5029200" cy="457200"/>
          </a:xfrm>
          <a:prstGeom prst="rect">
            <a:avLst/>
          </a:prstGeom>
          <a:noFill/>
          <a:ln/>
        </p:spPr>
        <p:txBody>
          <a:bodyPr wrap="square" rtlCol="0" anchor="ctr"/>
          <a:lstStyle/>
          <a:p>
            <a:pPr indent="0" marL="0">
              <a:buNone/>
            </a:pPr>
            <a:r>
              <a:rPr lang="en-US" sz="1500" dirty="0">
                <a:solidFill>
                  <a:srgbClr val="2A1015"/>
                </a:solidFill>
                <a:latin typeface="Arial" pitchFamily="34" charset="0"/>
                <a:ea typeface="Arial" pitchFamily="34" charset="-122"/>
                <a:cs typeface="Arial" pitchFamily="34" charset="-120"/>
              </a:rPr>
              <a:t>✓  Real-time GIS data from CDC, FBI, and ATSDR</a:t>
            </a:r>
            <a:endParaRPr lang="en-US" sz="1500" dirty="0"/>
          </a:p>
        </p:txBody>
      </p:sp>
      <p:sp>
        <p:nvSpPr>
          <p:cNvPr id="8" name="Shape 5"/>
          <p:cNvSpPr/>
          <p:nvPr/>
        </p:nvSpPr>
        <p:spPr>
          <a:xfrm>
            <a:off x="6400800" y="1371600"/>
            <a:ext cx="4572000" cy="3657600"/>
          </a:xfrm>
          <a:prstGeom prst="roundRect">
            <a:avLst>
              <a:gd name="adj" fmla="val 5000"/>
            </a:avLst>
          </a:prstGeom>
          <a:solidFill>
            <a:srgbClr val="6B1C2A"/>
          </a:solidFill>
          <a:ln/>
        </p:spPr>
      </p:sp>
      <p:sp>
        <p:nvSpPr>
          <p:cNvPr id="9" name="Text 6"/>
          <p:cNvSpPr/>
          <p:nvPr/>
        </p:nvSpPr>
        <p:spPr>
          <a:xfrm>
            <a:off x="6400800" y="2560320"/>
            <a:ext cx="4572000" cy="64008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Try Resource Finder</a:t>
            </a:r>
            <a:endParaRPr lang="en-US" sz="2200" dirty="0"/>
          </a:p>
        </p:txBody>
      </p:sp>
      <p:sp>
        <p:nvSpPr>
          <p:cNvPr id="10" name="Text 7"/>
          <p:cNvSpPr/>
          <p:nvPr/>
        </p:nvSpPr>
        <p:spPr>
          <a:xfrm>
            <a:off x="6400800" y="3200400"/>
            <a:ext cx="4572000" cy="457200"/>
          </a:xfrm>
          <a:prstGeom prst="rect">
            <a:avLst/>
          </a:prstGeom>
          <a:noFill/>
          <a:ln/>
        </p:spPr>
        <p:txBody>
          <a:bodyPr wrap="square" rtlCol="0" anchor="ctr"/>
          <a:lstStyle/>
          <a:p>
            <a:pPr algn="ctr" indent="0" marL="0">
              <a:buNone/>
            </a:pPr>
            <a:r>
              <a:rPr lang="en-US" sz="1400" dirty="0">
                <a:solidFill>
                  <a:srgbClr val="DDDDDD"/>
                </a:solidFill>
                <a:latin typeface="Arial" pitchFamily="34" charset="0"/>
                <a:ea typeface="Arial" pitchFamily="34" charset="-122"/>
                <a:cs typeface="Arial" pitchFamily="34" charset="-120"/>
              </a:rPr>
              <a:t>Search any U.S. location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215"/>
        </a:solidFill>
      </p:bgPr>
    </p:bg>
    <p:spTree>
      <p:nvGrpSpPr>
        <p:cNvPr id="1" name=""/>
        <p:cNvGrpSpPr/>
        <p:nvPr/>
      </p:nvGrpSpPr>
      <p:grpSpPr>
        <a:xfrm>
          <a:off x="0" y="0"/>
          <a:ext cx="0" cy="0"/>
          <a:chOff x="0" y="0"/>
          <a:chExt cx="0" cy="0"/>
        </a:xfrm>
      </p:grpSpPr>
      <p:sp>
        <p:nvSpPr>
          <p:cNvPr id="3" name="Text 0"/>
          <p:cNvSpPr/>
          <p:nvPr/>
        </p:nvSpPr>
        <p:spPr>
          <a:xfrm>
            <a:off x="731520" y="365760"/>
            <a:ext cx="10058400" cy="457200"/>
          </a:xfrm>
          <a:prstGeom prst="rect">
            <a:avLst/>
          </a:prstGeom>
          <a:noFill/>
          <a:ln/>
        </p:spPr>
        <p:txBody>
          <a:bodyPr wrap="square" rtlCol="0" anchor="ctr"/>
          <a:lstStyle/>
          <a:p>
            <a:pPr indent="0" marL="0">
              <a:buNone/>
            </a:pPr>
            <a:r>
              <a:rPr lang="en-US" sz="1200" b="1" spc="400" kern="0" dirty="0">
                <a:solidFill>
                  <a:srgbClr val="C9A0A0"/>
                </a:solidFill>
                <a:latin typeface="Arial" pitchFamily="34" charset="0"/>
                <a:ea typeface="Arial" pitchFamily="34" charset="-122"/>
                <a:cs typeface="Arial" pitchFamily="34" charset="-120"/>
              </a:rPr>
              <a:t>WHO WE SERVE</a:t>
            </a:r>
            <a:endParaRPr lang="en-US" sz="1200" dirty="0"/>
          </a:p>
        </p:txBody>
      </p:sp>
      <p:sp>
        <p:nvSpPr>
          <p:cNvPr id="4" name="Text 1"/>
          <p:cNvSpPr/>
          <p:nvPr/>
        </p:nvSpPr>
        <p:spPr>
          <a:xfrm>
            <a:off x="731520" y="822960"/>
            <a:ext cx="10058400" cy="73152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Multiple stakeholder value</a:t>
            </a:r>
            <a:endParaRPr lang="en-US" sz="3000" dirty="0"/>
          </a:p>
        </p:txBody>
      </p:sp>
      <p:sp>
        <p:nvSpPr>
          <p:cNvPr id="5" name="Shape 2"/>
          <p:cNvSpPr/>
          <p:nvPr/>
        </p:nvSpPr>
        <p:spPr>
          <a:xfrm>
            <a:off x="731520" y="2011680"/>
            <a:ext cx="3291840" cy="4114800"/>
          </a:xfrm>
          <a:prstGeom prst="roundRect">
            <a:avLst>
              <a:gd name="adj" fmla="val 4167"/>
            </a:avLst>
          </a:prstGeom>
          <a:solidFill>
            <a:srgbClr val="2A2025"/>
          </a:solidFill>
          <a:ln w="12700">
            <a:solidFill>
              <a:srgbClr val="3A3035"/>
            </a:solidFill>
            <a:prstDash val="solid"/>
          </a:ln>
        </p:spPr>
      </p:sp>
      <p:sp>
        <p:nvSpPr>
          <p:cNvPr id="6" name="Text 3"/>
          <p:cNvSpPr/>
          <p:nvPr/>
        </p:nvSpPr>
        <p:spPr>
          <a:xfrm>
            <a:off x="1005840" y="2194560"/>
            <a:ext cx="2743200" cy="64008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Students (14-24)</a:t>
            </a:r>
            <a:endParaRPr lang="en-US" sz="1800" dirty="0"/>
          </a:p>
        </p:txBody>
      </p:sp>
      <p:sp>
        <p:nvSpPr>
          <p:cNvPr id="7" name="Text 4"/>
          <p:cNvSpPr/>
          <p:nvPr/>
        </p:nvSpPr>
        <p:spPr>
          <a:xfrm>
            <a:off x="1005840" y="3017520"/>
            <a:ext cx="274320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AI mastery curriculum</a:t>
            </a:r>
            <a:endParaRPr lang="en-US" sz="1300" dirty="0"/>
          </a:p>
        </p:txBody>
      </p:sp>
      <p:sp>
        <p:nvSpPr>
          <p:cNvPr id="8" name="Text 5"/>
          <p:cNvSpPr/>
          <p:nvPr/>
        </p:nvSpPr>
        <p:spPr>
          <a:xfrm>
            <a:off x="1005840" y="3657600"/>
            <a:ext cx="274320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Career exploration tools</a:t>
            </a:r>
            <a:endParaRPr lang="en-US" sz="1300" dirty="0"/>
          </a:p>
        </p:txBody>
      </p:sp>
      <p:sp>
        <p:nvSpPr>
          <p:cNvPr id="9" name="Text 6"/>
          <p:cNvSpPr/>
          <p:nvPr/>
        </p:nvSpPr>
        <p:spPr>
          <a:xfrm>
            <a:off x="1005840" y="4297680"/>
            <a:ext cx="274320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Professional mentorship</a:t>
            </a:r>
            <a:endParaRPr lang="en-US" sz="1300" dirty="0"/>
          </a:p>
        </p:txBody>
      </p:sp>
      <p:sp>
        <p:nvSpPr>
          <p:cNvPr id="10" name="Text 7"/>
          <p:cNvSpPr/>
          <p:nvPr/>
        </p:nvSpPr>
        <p:spPr>
          <a:xfrm>
            <a:off x="1005840" y="4937760"/>
            <a:ext cx="274320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College tuition fundraising</a:t>
            </a:r>
            <a:endParaRPr lang="en-US" sz="1300" dirty="0"/>
          </a:p>
        </p:txBody>
      </p:sp>
      <p:sp>
        <p:nvSpPr>
          <p:cNvPr id="11" name="Shape 8"/>
          <p:cNvSpPr/>
          <p:nvPr/>
        </p:nvSpPr>
        <p:spPr>
          <a:xfrm>
            <a:off x="4389120" y="2011680"/>
            <a:ext cx="3291840" cy="4114800"/>
          </a:xfrm>
          <a:prstGeom prst="roundRect">
            <a:avLst>
              <a:gd name="adj" fmla="val 4167"/>
            </a:avLst>
          </a:prstGeom>
          <a:solidFill>
            <a:srgbClr val="2A2025"/>
          </a:solidFill>
          <a:ln w="12700">
            <a:solidFill>
              <a:srgbClr val="3A3035"/>
            </a:solidFill>
            <a:prstDash val="solid"/>
          </a:ln>
        </p:spPr>
      </p:sp>
      <p:sp>
        <p:nvSpPr>
          <p:cNvPr id="12" name="Text 9"/>
          <p:cNvSpPr/>
          <p:nvPr/>
        </p:nvSpPr>
        <p:spPr>
          <a:xfrm>
            <a:off x="4663440" y="2194560"/>
            <a:ext cx="2743200" cy="64008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Schools &amp; Districts</a:t>
            </a:r>
            <a:endParaRPr lang="en-US" sz="1800" dirty="0"/>
          </a:p>
        </p:txBody>
      </p:sp>
      <p:sp>
        <p:nvSpPr>
          <p:cNvPr id="13" name="Text 10"/>
          <p:cNvSpPr/>
          <p:nvPr/>
        </p:nvSpPr>
        <p:spPr>
          <a:xfrm>
            <a:off x="4663440" y="3017520"/>
            <a:ext cx="274320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LMS course creator</a:t>
            </a:r>
            <a:endParaRPr lang="en-US" sz="1300" dirty="0"/>
          </a:p>
        </p:txBody>
      </p:sp>
      <p:sp>
        <p:nvSpPr>
          <p:cNvPr id="14" name="Text 11"/>
          <p:cNvSpPr/>
          <p:nvPr/>
        </p:nvSpPr>
        <p:spPr>
          <a:xfrm>
            <a:off x="4663440" y="3657600"/>
            <a:ext cx="274320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Classroom management</a:t>
            </a:r>
            <a:endParaRPr lang="en-US" sz="1300" dirty="0"/>
          </a:p>
        </p:txBody>
      </p:sp>
      <p:sp>
        <p:nvSpPr>
          <p:cNvPr id="15" name="Text 12"/>
          <p:cNvSpPr/>
          <p:nvPr/>
        </p:nvSpPr>
        <p:spPr>
          <a:xfrm>
            <a:off x="4663440" y="4297680"/>
            <a:ext cx="274320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Progress tracking</a:t>
            </a:r>
            <a:endParaRPr lang="en-US" sz="1300" dirty="0"/>
          </a:p>
        </p:txBody>
      </p:sp>
      <p:sp>
        <p:nvSpPr>
          <p:cNvPr id="16" name="Text 13"/>
          <p:cNvSpPr/>
          <p:nvPr/>
        </p:nvSpPr>
        <p:spPr>
          <a:xfrm>
            <a:off x="4663440" y="4937760"/>
            <a:ext cx="274320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STAAR test preparation</a:t>
            </a:r>
            <a:endParaRPr lang="en-US" sz="1300" dirty="0"/>
          </a:p>
        </p:txBody>
      </p:sp>
      <p:sp>
        <p:nvSpPr>
          <p:cNvPr id="17" name="Shape 14"/>
          <p:cNvSpPr/>
          <p:nvPr/>
        </p:nvSpPr>
        <p:spPr>
          <a:xfrm>
            <a:off x="8046720" y="2011680"/>
            <a:ext cx="3291840" cy="4114800"/>
          </a:xfrm>
          <a:prstGeom prst="roundRect">
            <a:avLst>
              <a:gd name="adj" fmla="val 4167"/>
            </a:avLst>
          </a:prstGeom>
          <a:solidFill>
            <a:srgbClr val="2A2025"/>
          </a:solidFill>
          <a:ln w="12700">
            <a:solidFill>
              <a:srgbClr val="3A3035"/>
            </a:solidFill>
            <a:prstDash val="solid"/>
          </a:ln>
        </p:spPr>
      </p:sp>
      <p:sp>
        <p:nvSpPr>
          <p:cNvPr id="18" name="Text 15"/>
          <p:cNvSpPr/>
          <p:nvPr/>
        </p:nvSpPr>
        <p:spPr>
          <a:xfrm>
            <a:off x="8321040" y="2194560"/>
            <a:ext cx="2743200" cy="64008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Funders &amp; Employers</a:t>
            </a:r>
            <a:endParaRPr lang="en-US" sz="1800" dirty="0"/>
          </a:p>
        </p:txBody>
      </p:sp>
      <p:sp>
        <p:nvSpPr>
          <p:cNvPr id="19" name="Text 16"/>
          <p:cNvSpPr/>
          <p:nvPr/>
        </p:nvSpPr>
        <p:spPr>
          <a:xfrm>
            <a:off x="8321040" y="3017520"/>
            <a:ext cx="274320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Grant-aligned metrics</a:t>
            </a:r>
            <a:endParaRPr lang="en-US" sz="1300" dirty="0"/>
          </a:p>
        </p:txBody>
      </p:sp>
      <p:sp>
        <p:nvSpPr>
          <p:cNvPr id="20" name="Text 17"/>
          <p:cNvSpPr/>
          <p:nvPr/>
        </p:nvSpPr>
        <p:spPr>
          <a:xfrm>
            <a:off x="8321040" y="3657600"/>
            <a:ext cx="274320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Impact dashboard</a:t>
            </a:r>
            <a:endParaRPr lang="en-US" sz="1300" dirty="0"/>
          </a:p>
        </p:txBody>
      </p:sp>
      <p:sp>
        <p:nvSpPr>
          <p:cNvPr id="21" name="Text 18"/>
          <p:cNvSpPr/>
          <p:nvPr/>
        </p:nvSpPr>
        <p:spPr>
          <a:xfrm>
            <a:off x="8321040" y="4297680"/>
            <a:ext cx="274320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CSV data export</a:t>
            </a:r>
            <a:endParaRPr lang="en-US" sz="1300" dirty="0"/>
          </a:p>
        </p:txBody>
      </p:sp>
      <p:sp>
        <p:nvSpPr>
          <p:cNvPr id="22" name="Text 19"/>
          <p:cNvSpPr/>
          <p:nvPr/>
        </p:nvSpPr>
        <p:spPr>
          <a:xfrm>
            <a:off x="8321040" y="4937760"/>
            <a:ext cx="274320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API integration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5"/>
        </a:solidFill>
      </p:bgPr>
    </p:bg>
    <p:spTree>
      <p:nvGrpSpPr>
        <p:cNvPr id="1" name=""/>
        <p:cNvGrpSpPr/>
        <p:nvPr/>
      </p:nvGrpSpPr>
      <p:grpSpPr>
        <a:xfrm>
          <a:off x="0" y="0"/>
          <a:ext cx="0" cy="0"/>
          <a:chOff x="0" y="0"/>
          <a:chExt cx="0" cy="0"/>
        </a:xfrm>
      </p:grpSpPr>
      <p:sp>
        <p:nvSpPr>
          <p:cNvPr id="3" name="Text 0"/>
          <p:cNvSpPr/>
          <p:nvPr/>
        </p:nvSpPr>
        <p:spPr>
          <a:xfrm>
            <a:off x="731520" y="365760"/>
            <a:ext cx="10058400" cy="457200"/>
          </a:xfrm>
          <a:prstGeom prst="rect">
            <a:avLst/>
          </a:prstGeom>
          <a:noFill/>
          <a:ln/>
        </p:spPr>
        <p:txBody>
          <a:bodyPr wrap="square" rtlCol="0" anchor="ctr"/>
          <a:lstStyle/>
          <a:p>
            <a:pPr indent="0" marL="0">
              <a:buNone/>
            </a:pPr>
            <a:r>
              <a:rPr lang="en-US" sz="1200" b="1" spc="400" kern="0" dirty="0">
                <a:solidFill>
                  <a:srgbClr val="6B1C2A"/>
                </a:solidFill>
                <a:latin typeface="Arial" pitchFamily="34" charset="0"/>
                <a:ea typeface="Arial" pitchFamily="34" charset="-122"/>
                <a:cs typeface="Arial" pitchFamily="34" charset="-120"/>
              </a:rPr>
              <a:t>COMPETITIVE ADVANTAGE</a:t>
            </a:r>
            <a:endParaRPr lang="en-US" sz="1200" dirty="0"/>
          </a:p>
        </p:txBody>
      </p:sp>
      <p:sp>
        <p:nvSpPr>
          <p:cNvPr id="4" name="Text 1"/>
          <p:cNvSpPr/>
          <p:nvPr/>
        </p:nvSpPr>
        <p:spPr>
          <a:xfrm>
            <a:off x="731520" y="822960"/>
            <a:ext cx="10058400" cy="731520"/>
          </a:xfrm>
          <a:prstGeom prst="rect">
            <a:avLst/>
          </a:prstGeom>
          <a:noFill/>
          <a:ln/>
        </p:spPr>
        <p:txBody>
          <a:bodyPr wrap="square" rtlCol="0" anchor="ctr"/>
          <a:lstStyle/>
          <a:p>
            <a:pPr indent="0" marL="0">
              <a:buNone/>
            </a:pPr>
            <a:r>
              <a:rPr lang="en-US" sz="2800" b="1" dirty="0">
                <a:solidFill>
                  <a:srgbClr val="2A1015"/>
                </a:solidFill>
                <a:latin typeface="Arial" pitchFamily="34" charset="0"/>
                <a:ea typeface="Arial" pitchFamily="34" charset="-122"/>
                <a:cs typeface="Arial" pitchFamily="34" charset="-120"/>
              </a:rPr>
              <a:t>What makes us different</a:t>
            </a:r>
            <a:endParaRPr lang="en-US" sz="2800" dirty="0"/>
          </a:p>
        </p:txBody>
      </p:sp>
      <p:sp>
        <p:nvSpPr>
          <p:cNvPr id="5" name="Text 2"/>
          <p:cNvSpPr/>
          <p:nvPr/>
        </p:nvSpPr>
        <p:spPr>
          <a:xfrm>
            <a:off x="1005840" y="2011680"/>
            <a:ext cx="4572000" cy="548640"/>
          </a:xfrm>
          <a:prstGeom prst="rect">
            <a:avLst/>
          </a:prstGeom>
          <a:noFill/>
          <a:ln/>
        </p:spPr>
        <p:txBody>
          <a:bodyPr wrap="square" rtlCol="0" anchor="ctr"/>
          <a:lstStyle/>
          <a:p>
            <a:pPr indent="0" marL="0">
              <a:buNone/>
            </a:pPr>
            <a:r>
              <a:rPr lang="en-US" sz="1800" b="1" dirty="0">
                <a:solidFill>
                  <a:srgbClr val="2A1015"/>
                </a:solidFill>
                <a:latin typeface="Arial" pitchFamily="34" charset="0"/>
                <a:ea typeface="Arial" pitchFamily="34" charset="-122"/>
                <a:cs typeface="Arial" pitchFamily="34" charset="-120"/>
              </a:rPr>
              <a:t>Earn Through Mastery</a:t>
            </a:r>
            <a:endParaRPr lang="en-US" sz="1800" dirty="0"/>
          </a:p>
        </p:txBody>
      </p:sp>
      <p:sp>
        <p:nvSpPr>
          <p:cNvPr id="6" name="Text 3"/>
          <p:cNvSpPr/>
          <p:nvPr/>
        </p:nvSpPr>
        <p:spPr>
          <a:xfrm>
            <a:off x="1005840" y="2651760"/>
            <a:ext cx="4572000" cy="1097280"/>
          </a:xfrm>
          <a:prstGeom prst="rect">
            <a:avLst/>
          </a:prstGeom>
          <a:noFill/>
          <a:ln/>
        </p:spPr>
        <p:txBody>
          <a:bodyPr wrap="square" rtlCol="0" anchor="ctr"/>
          <a:lstStyle/>
          <a:p>
            <a:pPr indent="0" marL="0">
              <a:buNone/>
            </a:pPr>
            <a:r>
              <a:rPr lang="en-US" sz="1300" dirty="0">
                <a:solidFill>
                  <a:srgbClr val="6B5050"/>
                </a:solidFill>
                <a:latin typeface="Arial" pitchFamily="34" charset="0"/>
                <a:ea typeface="Arial" pitchFamily="34" charset="-122"/>
                <a:cs typeface="Arial" pitchFamily="34" charset="-120"/>
              </a:rPr>
              <a:t>AI tools are unlocked by completing curriculum modules, not purchased. Students prove readiness before accessing professional tools.</a:t>
            </a:r>
            <a:endParaRPr lang="en-US" sz="1300" dirty="0"/>
          </a:p>
        </p:txBody>
      </p:sp>
      <p:sp>
        <p:nvSpPr>
          <p:cNvPr id="7" name="Text 4"/>
          <p:cNvSpPr/>
          <p:nvPr/>
        </p:nvSpPr>
        <p:spPr>
          <a:xfrm>
            <a:off x="6492240" y="2011680"/>
            <a:ext cx="4572000" cy="548640"/>
          </a:xfrm>
          <a:prstGeom prst="rect">
            <a:avLst/>
          </a:prstGeom>
          <a:noFill/>
          <a:ln/>
        </p:spPr>
        <p:txBody>
          <a:bodyPr wrap="square" rtlCol="0" anchor="ctr"/>
          <a:lstStyle/>
          <a:p>
            <a:pPr indent="0" marL="0">
              <a:buNone/>
            </a:pPr>
            <a:r>
              <a:rPr lang="en-US" sz="1800" b="1" dirty="0">
                <a:solidFill>
                  <a:srgbClr val="2A1015"/>
                </a:solidFill>
                <a:latin typeface="Arial" pitchFamily="34" charset="0"/>
                <a:ea typeface="Arial" pitchFamily="34" charset="-122"/>
                <a:cs typeface="Arial" pitchFamily="34" charset="-120"/>
              </a:rPr>
              <a:t>Safety-First AI</a:t>
            </a:r>
            <a:endParaRPr lang="en-US" sz="1800" dirty="0"/>
          </a:p>
        </p:txBody>
      </p:sp>
      <p:sp>
        <p:nvSpPr>
          <p:cNvPr id="8" name="Text 5"/>
          <p:cNvSpPr/>
          <p:nvPr/>
        </p:nvSpPr>
        <p:spPr>
          <a:xfrm>
            <a:off x="6492240" y="2651760"/>
            <a:ext cx="4572000" cy="1097280"/>
          </a:xfrm>
          <a:prstGeom prst="rect">
            <a:avLst/>
          </a:prstGeom>
          <a:noFill/>
          <a:ln/>
        </p:spPr>
        <p:txBody>
          <a:bodyPr wrap="square" rtlCol="0" anchor="ctr"/>
          <a:lstStyle/>
          <a:p>
            <a:pPr indent="0" marL="0">
              <a:buNone/>
            </a:pPr>
            <a:r>
              <a:rPr lang="en-US" sz="1300" dirty="0">
                <a:solidFill>
                  <a:srgbClr val="6B5050"/>
                </a:solidFill>
                <a:latin typeface="Arial" pitchFamily="34" charset="0"/>
                <a:ea typeface="Arial" pitchFamily="34" charset="-122"/>
                <a:cs typeface="Arial" pitchFamily="34" charset="-120"/>
              </a:rPr>
              <a:t>Every AI interaction includes age-appropriate guardrails, Socratic questioning, and cultural awareness. Never just a chatbot.</a:t>
            </a:r>
            <a:endParaRPr lang="en-US" sz="1300" dirty="0"/>
          </a:p>
        </p:txBody>
      </p:sp>
      <p:sp>
        <p:nvSpPr>
          <p:cNvPr id="9" name="Text 6"/>
          <p:cNvSpPr/>
          <p:nvPr/>
        </p:nvSpPr>
        <p:spPr>
          <a:xfrm>
            <a:off x="1005840" y="4206240"/>
            <a:ext cx="4572000" cy="548640"/>
          </a:xfrm>
          <a:prstGeom prst="rect">
            <a:avLst/>
          </a:prstGeom>
          <a:noFill/>
          <a:ln/>
        </p:spPr>
        <p:txBody>
          <a:bodyPr wrap="square" rtlCol="0" anchor="ctr"/>
          <a:lstStyle/>
          <a:p>
            <a:pPr indent="0" marL="0">
              <a:buNone/>
            </a:pPr>
            <a:r>
              <a:rPr lang="en-US" sz="1800" b="1" dirty="0">
                <a:solidFill>
                  <a:srgbClr val="2A1015"/>
                </a:solidFill>
                <a:latin typeface="Arial" pitchFamily="34" charset="0"/>
                <a:ea typeface="Arial" pitchFamily="34" charset="-122"/>
                <a:cs typeface="Arial" pitchFamily="34" charset="-120"/>
              </a:rPr>
              <a:t>Real Impact Data</a:t>
            </a:r>
            <a:endParaRPr lang="en-US" sz="1800" dirty="0"/>
          </a:p>
        </p:txBody>
      </p:sp>
      <p:sp>
        <p:nvSpPr>
          <p:cNvPr id="10" name="Text 7"/>
          <p:cNvSpPr/>
          <p:nvPr/>
        </p:nvSpPr>
        <p:spPr>
          <a:xfrm>
            <a:off x="1005840" y="4846320"/>
            <a:ext cx="4572000" cy="1097280"/>
          </a:xfrm>
          <a:prstGeom prst="rect">
            <a:avLst/>
          </a:prstGeom>
          <a:noFill/>
          <a:ln/>
        </p:spPr>
        <p:txBody>
          <a:bodyPr wrap="square" rtlCol="0" anchor="ctr"/>
          <a:lstStyle/>
          <a:p>
            <a:pPr indent="0" marL="0">
              <a:buNone/>
            </a:pPr>
            <a:r>
              <a:rPr lang="en-US" sz="1300" dirty="0">
                <a:solidFill>
                  <a:srgbClr val="6B5050"/>
                </a:solidFill>
                <a:latin typeface="Arial" pitchFamily="34" charset="0"/>
                <a:ea typeface="Arial" pitchFamily="34" charset="-122"/>
                <a:cs typeface="Arial" pitchFamily="34" charset="-120"/>
              </a:rPr>
              <a:t>Live metrics dashboard with grant-aligned reporting. Funders see real numbers, not projections.</a:t>
            </a:r>
            <a:endParaRPr lang="en-US" sz="1300" dirty="0"/>
          </a:p>
        </p:txBody>
      </p:sp>
      <p:sp>
        <p:nvSpPr>
          <p:cNvPr id="11" name="Text 8"/>
          <p:cNvSpPr/>
          <p:nvPr/>
        </p:nvSpPr>
        <p:spPr>
          <a:xfrm>
            <a:off x="6492240" y="4206240"/>
            <a:ext cx="4572000" cy="548640"/>
          </a:xfrm>
          <a:prstGeom prst="rect">
            <a:avLst/>
          </a:prstGeom>
          <a:noFill/>
          <a:ln/>
        </p:spPr>
        <p:txBody>
          <a:bodyPr wrap="square" rtlCol="0" anchor="ctr"/>
          <a:lstStyle/>
          <a:p>
            <a:pPr indent="0" marL="0">
              <a:buNone/>
            </a:pPr>
            <a:r>
              <a:rPr lang="en-US" sz="1800" b="1" dirty="0">
                <a:solidFill>
                  <a:srgbClr val="2A1015"/>
                </a:solidFill>
                <a:latin typeface="Arial" pitchFamily="34" charset="0"/>
                <a:ea typeface="Arial" pitchFamily="34" charset="-122"/>
                <a:cs typeface="Arial" pitchFamily="34" charset="-120"/>
              </a:rPr>
              <a:t>Community-Embedded</a:t>
            </a:r>
            <a:endParaRPr lang="en-US" sz="1800" dirty="0"/>
          </a:p>
        </p:txBody>
      </p:sp>
      <p:sp>
        <p:nvSpPr>
          <p:cNvPr id="12" name="Text 9"/>
          <p:cNvSpPr/>
          <p:nvPr/>
        </p:nvSpPr>
        <p:spPr>
          <a:xfrm>
            <a:off x="6492240" y="4846320"/>
            <a:ext cx="4572000" cy="1097280"/>
          </a:xfrm>
          <a:prstGeom prst="rect">
            <a:avLst/>
          </a:prstGeom>
          <a:noFill/>
          <a:ln/>
        </p:spPr>
        <p:txBody>
          <a:bodyPr wrap="square" rtlCol="0" anchor="ctr"/>
          <a:lstStyle/>
          <a:p>
            <a:pPr indent="0" marL="0">
              <a:buNone/>
            </a:pPr>
            <a:r>
              <a:rPr lang="en-US" sz="1300" dirty="0">
                <a:solidFill>
                  <a:srgbClr val="6B5050"/>
                </a:solidFill>
                <a:latin typeface="Arial" pitchFamily="34" charset="0"/>
                <a:ea typeface="Arial" pitchFamily="34" charset="-122"/>
                <a:cs typeface="Arial" pitchFamily="34" charset="-120"/>
              </a:rPr>
              <a:t>Nationwide resource finder, GIS context engine, and early warning system connecting youth to local support.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5"/>
        </a:solidFill>
      </p:bgPr>
    </p:bg>
    <p:spTree>
      <p:nvGrpSpPr>
        <p:cNvPr id="1" name=""/>
        <p:cNvGrpSpPr/>
        <p:nvPr/>
      </p:nvGrpSpPr>
      <p:grpSpPr>
        <a:xfrm>
          <a:off x="0" y="0"/>
          <a:ext cx="0" cy="0"/>
          <a:chOff x="0" y="0"/>
          <a:chExt cx="0" cy="0"/>
        </a:xfrm>
      </p:grpSpPr>
      <p:sp>
        <p:nvSpPr>
          <p:cNvPr id="3" name="Text 0"/>
          <p:cNvSpPr/>
          <p:nvPr/>
        </p:nvSpPr>
        <p:spPr>
          <a:xfrm>
            <a:off x="731520" y="365760"/>
            <a:ext cx="10058400" cy="457200"/>
          </a:xfrm>
          <a:prstGeom prst="rect">
            <a:avLst/>
          </a:prstGeom>
          <a:noFill/>
          <a:ln/>
        </p:spPr>
        <p:txBody>
          <a:bodyPr wrap="square" rtlCol="0" anchor="ctr"/>
          <a:lstStyle/>
          <a:p>
            <a:pPr indent="0" marL="0">
              <a:buNone/>
            </a:pPr>
            <a:r>
              <a:rPr lang="en-US" sz="1200" b="1" spc="400" kern="0" dirty="0">
                <a:solidFill>
                  <a:srgbClr val="6B1C2A"/>
                </a:solidFill>
                <a:latin typeface="Arial" pitchFamily="34" charset="0"/>
                <a:ea typeface="Arial" pitchFamily="34" charset="-122"/>
                <a:cs typeface="Arial" pitchFamily="34" charset="-120"/>
              </a:rPr>
              <a:t>BUILT FOR EVERYONE</a:t>
            </a:r>
            <a:endParaRPr lang="en-US" sz="1200" dirty="0"/>
          </a:p>
        </p:txBody>
      </p:sp>
      <p:sp>
        <p:nvSpPr>
          <p:cNvPr id="4" name="Text 1"/>
          <p:cNvSpPr/>
          <p:nvPr/>
        </p:nvSpPr>
        <p:spPr>
          <a:xfrm>
            <a:off x="731520" y="822960"/>
            <a:ext cx="10058400" cy="731520"/>
          </a:xfrm>
          <a:prstGeom prst="rect">
            <a:avLst/>
          </a:prstGeom>
          <a:noFill/>
          <a:ln/>
        </p:spPr>
        <p:txBody>
          <a:bodyPr wrap="square" rtlCol="0" anchor="ctr"/>
          <a:lstStyle/>
          <a:p>
            <a:pPr indent="0" marL="0">
              <a:buNone/>
            </a:pPr>
            <a:r>
              <a:rPr lang="en-US" sz="2800" b="1" dirty="0">
                <a:solidFill>
                  <a:srgbClr val="2A1015"/>
                </a:solidFill>
                <a:latin typeface="Arial" pitchFamily="34" charset="0"/>
                <a:ea typeface="Arial" pitchFamily="34" charset="-122"/>
                <a:cs typeface="Arial" pitchFamily="34" charset="-120"/>
              </a:rPr>
              <a:t>Accessibility &amp; Inclusion</a:t>
            </a:r>
            <a:endParaRPr lang="en-US" sz="2800" dirty="0"/>
          </a:p>
        </p:txBody>
      </p:sp>
      <p:sp>
        <p:nvSpPr>
          <p:cNvPr id="5" name="Shape 2"/>
          <p:cNvSpPr/>
          <p:nvPr/>
        </p:nvSpPr>
        <p:spPr>
          <a:xfrm>
            <a:off x="731520" y="2011680"/>
            <a:ext cx="3291840" cy="3840480"/>
          </a:xfrm>
          <a:prstGeom prst="roundRect">
            <a:avLst>
              <a:gd name="adj" fmla="val 4167"/>
            </a:avLst>
          </a:prstGeom>
          <a:solidFill>
            <a:srgbClr val="FFFFFF"/>
          </a:solidFill>
          <a:ln w="12700">
            <a:solidFill>
              <a:srgbClr val="E8E0D8"/>
            </a:solidFill>
            <a:prstDash val="solid"/>
          </a:ln>
        </p:spPr>
      </p:sp>
      <p:sp>
        <p:nvSpPr>
          <p:cNvPr id="6" name="Text 3"/>
          <p:cNvSpPr/>
          <p:nvPr/>
        </p:nvSpPr>
        <p:spPr>
          <a:xfrm>
            <a:off x="1005840" y="2194560"/>
            <a:ext cx="2743200" cy="548640"/>
          </a:xfrm>
          <a:prstGeom prst="rect">
            <a:avLst/>
          </a:prstGeom>
          <a:noFill/>
          <a:ln/>
        </p:spPr>
        <p:txBody>
          <a:bodyPr wrap="square" rtlCol="0" anchor="ctr"/>
          <a:lstStyle/>
          <a:p>
            <a:pPr indent="0" marL="0">
              <a:buNone/>
            </a:pPr>
            <a:r>
              <a:rPr lang="en-US" sz="1800" b="1" dirty="0">
                <a:solidFill>
                  <a:srgbClr val="6B1C2A"/>
                </a:solidFill>
                <a:latin typeface="Arial" pitchFamily="34" charset="0"/>
                <a:ea typeface="Arial" pitchFamily="34" charset="-122"/>
                <a:cs typeface="Arial" pitchFamily="34" charset="-120"/>
              </a:rPr>
              <a:t>WCAG 2.1 AA</a:t>
            </a:r>
            <a:endParaRPr lang="en-US" sz="1800" dirty="0"/>
          </a:p>
        </p:txBody>
      </p:sp>
      <p:sp>
        <p:nvSpPr>
          <p:cNvPr id="7" name="Text 4"/>
          <p:cNvSpPr/>
          <p:nvPr/>
        </p:nvSpPr>
        <p:spPr>
          <a:xfrm>
            <a:off x="1005840" y="2926080"/>
            <a:ext cx="2743200" cy="457200"/>
          </a:xfrm>
          <a:prstGeom prst="rect">
            <a:avLst/>
          </a:prstGeom>
          <a:noFill/>
          <a:ln/>
        </p:spPr>
        <p:txBody>
          <a:bodyPr wrap="square" rtlCol="0" anchor="ctr"/>
          <a:lstStyle/>
          <a:p>
            <a:pPr indent="0" marL="0">
              <a:buNone/>
            </a:pPr>
            <a:r>
              <a:rPr lang="en-US" sz="1300" dirty="0">
                <a:solidFill>
                  <a:srgbClr val="2A1015"/>
                </a:solidFill>
                <a:latin typeface="Arial" pitchFamily="34" charset="0"/>
                <a:ea typeface="Arial" pitchFamily="34" charset="-122"/>
                <a:cs typeface="Arial" pitchFamily="34" charset="-120"/>
              </a:rPr>
              <a:t>✓  2,415+ test identifiers</a:t>
            </a:r>
            <a:endParaRPr lang="en-US" sz="1300" dirty="0"/>
          </a:p>
        </p:txBody>
      </p:sp>
      <p:sp>
        <p:nvSpPr>
          <p:cNvPr id="8" name="Text 5"/>
          <p:cNvSpPr/>
          <p:nvPr/>
        </p:nvSpPr>
        <p:spPr>
          <a:xfrm>
            <a:off x="1005840" y="3566160"/>
            <a:ext cx="2743200" cy="457200"/>
          </a:xfrm>
          <a:prstGeom prst="rect">
            <a:avLst/>
          </a:prstGeom>
          <a:noFill/>
          <a:ln/>
        </p:spPr>
        <p:txBody>
          <a:bodyPr wrap="square" rtlCol="0" anchor="ctr"/>
          <a:lstStyle/>
          <a:p>
            <a:pPr indent="0" marL="0">
              <a:buNone/>
            </a:pPr>
            <a:r>
              <a:rPr lang="en-US" sz="1300" dirty="0">
                <a:solidFill>
                  <a:srgbClr val="2A1015"/>
                </a:solidFill>
                <a:latin typeface="Arial" pitchFamily="34" charset="0"/>
                <a:ea typeface="Arial" pitchFamily="34" charset="-122"/>
                <a:cs typeface="Arial" pitchFamily="34" charset="-120"/>
              </a:rPr>
              <a:t>✓  95+ accessibility labels</a:t>
            </a:r>
            <a:endParaRPr lang="en-US" sz="1300" dirty="0"/>
          </a:p>
        </p:txBody>
      </p:sp>
      <p:sp>
        <p:nvSpPr>
          <p:cNvPr id="9" name="Text 6"/>
          <p:cNvSpPr/>
          <p:nvPr/>
        </p:nvSpPr>
        <p:spPr>
          <a:xfrm>
            <a:off x="1005840" y="4206240"/>
            <a:ext cx="2743200" cy="457200"/>
          </a:xfrm>
          <a:prstGeom prst="rect">
            <a:avLst/>
          </a:prstGeom>
          <a:noFill/>
          <a:ln/>
        </p:spPr>
        <p:txBody>
          <a:bodyPr wrap="square" rtlCol="0" anchor="ctr"/>
          <a:lstStyle/>
          <a:p>
            <a:pPr indent="0" marL="0">
              <a:buNone/>
            </a:pPr>
            <a:r>
              <a:rPr lang="en-US" sz="1300" dirty="0">
                <a:solidFill>
                  <a:srgbClr val="2A1015"/>
                </a:solidFill>
                <a:latin typeface="Arial" pitchFamily="34" charset="0"/>
                <a:ea typeface="Arial" pitchFamily="34" charset="-122"/>
                <a:cs typeface="Arial" pitchFamily="34" charset="-120"/>
              </a:rPr>
              <a:t>✓  Skip-to-content navigation</a:t>
            </a:r>
            <a:endParaRPr lang="en-US" sz="1300" dirty="0"/>
          </a:p>
        </p:txBody>
      </p:sp>
      <p:sp>
        <p:nvSpPr>
          <p:cNvPr id="10" name="Text 7"/>
          <p:cNvSpPr/>
          <p:nvPr/>
        </p:nvSpPr>
        <p:spPr>
          <a:xfrm>
            <a:off x="1005840" y="4846320"/>
            <a:ext cx="2743200" cy="457200"/>
          </a:xfrm>
          <a:prstGeom prst="rect">
            <a:avLst/>
          </a:prstGeom>
          <a:noFill/>
          <a:ln/>
        </p:spPr>
        <p:txBody>
          <a:bodyPr wrap="square" rtlCol="0" anchor="ctr"/>
          <a:lstStyle/>
          <a:p>
            <a:pPr indent="0" marL="0">
              <a:buNone/>
            </a:pPr>
            <a:r>
              <a:rPr lang="en-US" sz="1300" dirty="0">
                <a:solidFill>
                  <a:srgbClr val="2A1015"/>
                </a:solidFill>
                <a:latin typeface="Arial" pitchFamily="34" charset="0"/>
                <a:ea typeface="Arial" pitchFamily="34" charset="-122"/>
                <a:cs typeface="Arial" pitchFamily="34" charset="-120"/>
              </a:rPr>
              <a:t>✓  Focus-visible indicators</a:t>
            </a:r>
            <a:endParaRPr lang="en-US" sz="1300" dirty="0"/>
          </a:p>
        </p:txBody>
      </p:sp>
      <p:sp>
        <p:nvSpPr>
          <p:cNvPr id="11" name="Shape 8"/>
          <p:cNvSpPr/>
          <p:nvPr/>
        </p:nvSpPr>
        <p:spPr>
          <a:xfrm>
            <a:off x="4389120" y="2011680"/>
            <a:ext cx="3291840" cy="3840480"/>
          </a:xfrm>
          <a:prstGeom prst="roundRect">
            <a:avLst>
              <a:gd name="adj" fmla="val 4167"/>
            </a:avLst>
          </a:prstGeom>
          <a:solidFill>
            <a:srgbClr val="FFFFFF"/>
          </a:solidFill>
          <a:ln w="12700">
            <a:solidFill>
              <a:srgbClr val="E8E0D8"/>
            </a:solidFill>
            <a:prstDash val="solid"/>
          </a:ln>
        </p:spPr>
      </p:sp>
      <p:sp>
        <p:nvSpPr>
          <p:cNvPr id="12" name="Text 9"/>
          <p:cNvSpPr/>
          <p:nvPr/>
        </p:nvSpPr>
        <p:spPr>
          <a:xfrm>
            <a:off x="4663440" y="2194560"/>
            <a:ext cx="2743200" cy="548640"/>
          </a:xfrm>
          <a:prstGeom prst="rect">
            <a:avLst/>
          </a:prstGeom>
          <a:noFill/>
          <a:ln/>
        </p:spPr>
        <p:txBody>
          <a:bodyPr wrap="square" rtlCol="0" anchor="ctr"/>
          <a:lstStyle/>
          <a:p>
            <a:pPr indent="0" marL="0">
              <a:buNone/>
            </a:pPr>
            <a:r>
              <a:rPr lang="en-US" sz="1800" b="1" dirty="0">
                <a:solidFill>
                  <a:srgbClr val="6B1C2A"/>
                </a:solidFill>
                <a:latin typeface="Arial" pitchFamily="34" charset="0"/>
                <a:ea typeface="Arial" pitchFamily="34" charset="-122"/>
                <a:cs typeface="Arial" pitchFamily="34" charset="-120"/>
              </a:rPr>
              <a:t>Adaptive Learning</a:t>
            </a:r>
            <a:endParaRPr lang="en-US" sz="1800" dirty="0"/>
          </a:p>
        </p:txBody>
      </p:sp>
      <p:sp>
        <p:nvSpPr>
          <p:cNvPr id="13" name="Text 10"/>
          <p:cNvSpPr/>
          <p:nvPr/>
        </p:nvSpPr>
        <p:spPr>
          <a:xfrm>
            <a:off x="4663440" y="2926080"/>
            <a:ext cx="2743200" cy="457200"/>
          </a:xfrm>
          <a:prstGeom prst="rect">
            <a:avLst/>
          </a:prstGeom>
          <a:noFill/>
          <a:ln/>
        </p:spPr>
        <p:txBody>
          <a:bodyPr wrap="square" rtlCol="0" anchor="ctr"/>
          <a:lstStyle/>
          <a:p>
            <a:pPr indent="0" marL="0">
              <a:buNone/>
            </a:pPr>
            <a:r>
              <a:rPr lang="en-US" sz="1300" dirty="0">
                <a:solidFill>
                  <a:srgbClr val="2A1015"/>
                </a:solidFill>
                <a:latin typeface="Arial" pitchFamily="34" charset="0"/>
                <a:ea typeface="Arial" pitchFamily="34" charset="-122"/>
                <a:cs typeface="Arial" pitchFamily="34" charset="-120"/>
              </a:rPr>
              <a:t>✓  Dyslexia-friendly fonts</a:t>
            </a:r>
            <a:endParaRPr lang="en-US" sz="1300" dirty="0"/>
          </a:p>
        </p:txBody>
      </p:sp>
      <p:sp>
        <p:nvSpPr>
          <p:cNvPr id="14" name="Text 11"/>
          <p:cNvSpPr/>
          <p:nvPr/>
        </p:nvSpPr>
        <p:spPr>
          <a:xfrm>
            <a:off x="4663440" y="3566160"/>
            <a:ext cx="2743200" cy="457200"/>
          </a:xfrm>
          <a:prstGeom prst="rect">
            <a:avLst/>
          </a:prstGeom>
          <a:noFill/>
          <a:ln/>
        </p:spPr>
        <p:txBody>
          <a:bodyPr wrap="square" rtlCol="0" anchor="ctr"/>
          <a:lstStyle/>
          <a:p>
            <a:pPr indent="0" marL="0">
              <a:buNone/>
            </a:pPr>
            <a:r>
              <a:rPr lang="en-US" sz="1300" dirty="0">
                <a:solidFill>
                  <a:srgbClr val="2A1015"/>
                </a:solidFill>
                <a:latin typeface="Arial" pitchFamily="34" charset="0"/>
                <a:ea typeface="Arial" pitchFamily="34" charset="-122"/>
                <a:cs typeface="Arial" pitchFamily="34" charset="-120"/>
              </a:rPr>
              <a:t>✓  Large text mode</a:t>
            </a:r>
            <a:endParaRPr lang="en-US" sz="1300" dirty="0"/>
          </a:p>
        </p:txBody>
      </p:sp>
      <p:sp>
        <p:nvSpPr>
          <p:cNvPr id="15" name="Text 12"/>
          <p:cNvSpPr/>
          <p:nvPr/>
        </p:nvSpPr>
        <p:spPr>
          <a:xfrm>
            <a:off x="4663440" y="4206240"/>
            <a:ext cx="2743200" cy="457200"/>
          </a:xfrm>
          <a:prstGeom prst="rect">
            <a:avLst/>
          </a:prstGeom>
          <a:noFill/>
          <a:ln/>
        </p:spPr>
        <p:txBody>
          <a:bodyPr wrap="square" rtlCol="0" anchor="ctr"/>
          <a:lstStyle/>
          <a:p>
            <a:pPr indent="0" marL="0">
              <a:buNone/>
            </a:pPr>
            <a:r>
              <a:rPr lang="en-US" sz="1300" dirty="0">
                <a:solidFill>
                  <a:srgbClr val="2A1015"/>
                </a:solidFill>
                <a:latin typeface="Arial" pitchFamily="34" charset="0"/>
                <a:ea typeface="Arial" pitchFamily="34" charset="-122"/>
                <a:cs typeface="Arial" pitchFamily="34" charset="-120"/>
              </a:rPr>
              <a:t>✓  High contrast mode</a:t>
            </a:r>
            <a:endParaRPr lang="en-US" sz="1300" dirty="0"/>
          </a:p>
        </p:txBody>
      </p:sp>
      <p:sp>
        <p:nvSpPr>
          <p:cNvPr id="16" name="Text 13"/>
          <p:cNvSpPr/>
          <p:nvPr/>
        </p:nvSpPr>
        <p:spPr>
          <a:xfrm>
            <a:off x="4663440" y="4846320"/>
            <a:ext cx="2743200" cy="457200"/>
          </a:xfrm>
          <a:prstGeom prst="rect">
            <a:avLst/>
          </a:prstGeom>
          <a:noFill/>
          <a:ln/>
        </p:spPr>
        <p:txBody>
          <a:bodyPr wrap="square" rtlCol="0" anchor="ctr"/>
          <a:lstStyle/>
          <a:p>
            <a:pPr indent="0" marL="0">
              <a:buNone/>
            </a:pPr>
            <a:r>
              <a:rPr lang="en-US" sz="1300" dirty="0">
                <a:solidFill>
                  <a:srgbClr val="2A1015"/>
                </a:solidFill>
                <a:latin typeface="Arial" pitchFamily="34" charset="0"/>
                <a:ea typeface="Arial" pitchFamily="34" charset="-122"/>
                <a:cs typeface="Arial" pitchFamily="34" charset="-120"/>
              </a:rPr>
              <a:t>✓  Reduced motion support</a:t>
            </a:r>
            <a:endParaRPr lang="en-US" sz="1300" dirty="0"/>
          </a:p>
        </p:txBody>
      </p:sp>
      <p:sp>
        <p:nvSpPr>
          <p:cNvPr id="17" name="Shape 14"/>
          <p:cNvSpPr/>
          <p:nvPr/>
        </p:nvSpPr>
        <p:spPr>
          <a:xfrm>
            <a:off x="8046720" y="2011680"/>
            <a:ext cx="3291840" cy="3840480"/>
          </a:xfrm>
          <a:prstGeom prst="roundRect">
            <a:avLst>
              <a:gd name="adj" fmla="val 4167"/>
            </a:avLst>
          </a:prstGeom>
          <a:solidFill>
            <a:srgbClr val="FFFFFF"/>
          </a:solidFill>
          <a:ln w="12700">
            <a:solidFill>
              <a:srgbClr val="E8E0D8"/>
            </a:solidFill>
            <a:prstDash val="solid"/>
          </a:ln>
        </p:spPr>
      </p:sp>
      <p:sp>
        <p:nvSpPr>
          <p:cNvPr id="18" name="Text 15"/>
          <p:cNvSpPr/>
          <p:nvPr/>
        </p:nvSpPr>
        <p:spPr>
          <a:xfrm>
            <a:off x="8321040" y="2194560"/>
            <a:ext cx="2743200" cy="548640"/>
          </a:xfrm>
          <a:prstGeom prst="rect">
            <a:avLst/>
          </a:prstGeom>
          <a:noFill/>
          <a:ln/>
        </p:spPr>
        <p:txBody>
          <a:bodyPr wrap="square" rtlCol="0" anchor="ctr"/>
          <a:lstStyle/>
          <a:p>
            <a:pPr indent="0" marL="0">
              <a:buNone/>
            </a:pPr>
            <a:r>
              <a:rPr lang="en-US" sz="1800" b="1" dirty="0">
                <a:solidFill>
                  <a:srgbClr val="6B1C2A"/>
                </a:solidFill>
                <a:latin typeface="Arial" pitchFamily="34" charset="0"/>
                <a:ea typeface="Arial" pitchFamily="34" charset="-122"/>
                <a:cs typeface="Arial" pitchFamily="34" charset="-120"/>
              </a:rPr>
              <a:t>Inclusive Design</a:t>
            </a:r>
            <a:endParaRPr lang="en-US" sz="1800" dirty="0"/>
          </a:p>
        </p:txBody>
      </p:sp>
      <p:sp>
        <p:nvSpPr>
          <p:cNvPr id="19" name="Text 16"/>
          <p:cNvSpPr/>
          <p:nvPr/>
        </p:nvSpPr>
        <p:spPr>
          <a:xfrm>
            <a:off x="8321040" y="2926080"/>
            <a:ext cx="2743200" cy="457200"/>
          </a:xfrm>
          <a:prstGeom prst="rect">
            <a:avLst/>
          </a:prstGeom>
          <a:noFill/>
          <a:ln/>
        </p:spPr>
        <p:txBody>
          <a:bodyPr wrap="square" rtlCol="0" anchor="ctr"/>
          <a:lstStyle/>
          <a:p>
            <a:pPr indent="0" marL="0">
              <a:buNone/>
            </a:pPr>
            <a:r>
              <a:rPr lang="en-US" sz="1300" dirty="0">
                <a:solidFill>
                  <a:srgbClr val="2A1015"/>
                </a:solidFill>
                <a:latin typeface="Arial" pitchFamily="34" charset="0"/>
                <a:ea typeface="Arial" pitchFamily="34" charset="-122"/>
                <a:cs typeface="Arial" pitchFamily="34" charset="-120"/>
              </a:rPr>
              <a:t>✓  English &amp; Spanish support</a:t>
            </a:r>
            <a:endParaRPr lang="en-US" sz="1300" dirty="0"/>
          </a:p>
        </p:txBody>
      </p:sp>
      <p:sp>
        <p:nvSpPr>
          <p:cNvPr id="20" name="Text 17"/>
          <p:cNvSpPr/>
          <p:nvPr/>
        </p:nvSpPr>
        <p:spPr>
          <a:xfrm>
            <a:off x="8321040" y="3566160"/>
            <a:ext cx="2743200" cy="457200"/>
          </a:xfrm>
          <a:prstGeom prst="rect">
            <a:avLst/>
          </a:prstGeom>
          <a:noFill/>
          <a:ln/>
        </p:spPr>
        <p:txBody>
          <a:bodyPr wrap="square" rtlCol="0" anchor="ctr"/>
          <a:lstStyle/>
          <a:p>
            <a:pPr indent="0" marL="0">
              <a:buNone/>
            </a:pPr>
            <a:r>
              <a:rPr lang="en-US" sz="1300" dirty="0">
                <a:solidFill>
                  <a:srgbClr val="2A1015"/>
                </a:solidFill>
                <a:latin typeface="Arial" pitchFamily="34" charset="0"/>
                <a:ea typeface="Arial" pitchFamily="34" charset="-122"/>
                <a:cs typeface="Arial" pitchFamily="34" charset="-120"/>
              </a:rPr>
              <a:t>✓  Low-bandwidth mode</a:t>
            </a:r>
            <a:endParaRPr lang="en-US" sz="1300" dirty="0"/>
          </a:p>
        </p:txBody>
      </p:sp>
      <p:sp>
        <p:nvSpPr>
          <p:cNvPr id="21" name="Text 18"/>
          <p:cNvSpPr/>
          <p:nvPr/>
        </p:nvSpPr>
        <p:spPr>
          <a:xfrm>
            <a:off x="8321040" y="4206240"/>
            <a:ext cx="2743200" cy="457200"/>
          </a:xfrm>
          <a:prstGeom prst="rect">
            <a:avLst/>
          </a:prstGeom>
          <a:noFill/>
          <a:ln/>
        </p:spPr>
        <p:txBody>
          <a:bodyPr wrap="square" rtlCol="0" anchor="ctr"/>
          <a:lstStyle/>
          <a:p>
            <a:pPr indent="0" marL="0">
              <a:buNone/>
            </a:pPr>
            <a:r>
              <a:rPr lang="en-US" sz="1300" dirty="0">
                <a:solidFill>
                  <a:srgbClr val="2A1015"/>
                </a:solidFill>
                <a:latin typeface="Arial" pitchFamily="34" charset="0"/>
                <a:ea typeface="Arial" pitchFamily="34" charset="-122"/>
                <a:cs typeface="Arial" pitchFamily="34" charset="-120"/>
              </a:rPr>
              <a:t>✓  Mobile responsive</a:t>
            </a:r>
            <a:endParaRPr lang="en-US" sz="1300" dirty="0"/>
          </a:p>
        </p:txBody>
      </p:sp>
      <p:sp>
        <p:nvSpPr>
          <p:cNvPr id="22" name="Text 19"/>
          <p:cNvSpPr/>
          <p:nvPr/>
        </p:nvSpPr>
        <p:spPr>
          <a:xfrm>
            <a:off x="8321040" y="4846320"/>
            <a:ext cx="2743200" cy="457200"/>
          </a:xfrm>
          <a:prstGeom prst="rect">
            <a:avLst/>
          </a:prstGeom>
          <a:noFill/>
          <a:ln/>
        </p:spPr>
        <p:txBody>
          <a:bodyPr wrap="square" rtlCol="0" anchor="ctr"/>
          <a:lstStyle/>
          <a:p>
            <a:pPr indent="0" marL="0">
              <a:buNone/>
            </a:pPr>
            <a:r>
              <a:rPr lang="en-US" sz="1300" dirty="0">
                <a:solidFill>
                  <a:srgbClr val="2A1015"/>
                </a:solidFill>
                <a:latin typeface="Arial" pitchFamily="34" charset="0"/>
                <a:ea typeface="Arial" pitchFamily="34" charset="-122"/>
                <a:cs typeface="Arial" pitchFamily="34" charset="-120"/>
              </a:rPr>
              <a:t>✓  Screen reader optimized</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215"/>
        </a:solidFill>
      </p:bgPr>
    </p:bg>
    <p:spTree>
      <p:nvGrpSpPr>
        <p:cNvPr id="1" name=""/>
        <p:cNvGrpSpPr/>
        <p:nvPr/>
      </p:nvGrpSpPr>
      <p:grpSpPr>
        <a:xfrm>
          <a:off x="0" y="0"/>
          <a:ext cx="0" cy="0"/>
          <a:chOff x="0" y="0"/>
          <a:chExt cx="0" cy="0"/>
        </a:xfrm>
      </p:grpSpPr>
      <p:sp>
        <p:nvSpPr>
          <p:cNvPr id="3" name="Text 0"/>
          <p:cNvSpPr/>
          <p:nvPr/>
        </p:nvSpPr>
        <p:spPr>
          <a:xfrm>
            <a:off x="731520" y="365760"/>
            <a:ext cx="10058400" cy="457200"/>
          </a:xfrm>
          <a:prstGeom prst="rect">
            <a:avLst/>
          </a:prstGeom>
          <a:noFill/>
          <a:ln/>
        </p:spPr>
        <p:txBody>
          <a:bodyPr wrap="square" rtlCol="0" anchor="ctr"/>
          <a:lstStyle/>
          <a:p>
            <a:pPr indent="0" marL="0">
              <a:buNone/>
            </a:pPr>
            <a:r>
              <a:rPr lang="en-US" sz="1200" b="1" spc="400" kern="0" dirty="0">
                <a:solidFill>
                  <a:srgbClr val="C9A0A0"/>
                </a:solidFill>
                <a:latin typeface="Arial" pitchFamily="34" charset="0"/>
                <a:ea typeface="Arial" pitchFamily="34" charset="-122"/>
                <a:cs typeface="Arial" pitchFamily="34" charset="-120"/>
              </a:rPr>
              <a:t>ENTERPRISE STANDARDS</a:t>
            </a:r>
            <a:endParaRPr lang="en-US" sz="1200" dirty="0"/>
          </a:p>
        </p:txBody>
      </p:sp>
      <p:sp>
        <p:nvSpPr>
          <p:cNvPr id="4" name="Text 1"/>
          <p:cNvSpPr/>
          <p:nvPr/>
        </p:nvSpPr>
        <p:spPr>
          <a:xfrm>
            <a:off x="731520" y="822960"/>
            <a:ext cx="10058400" cy="73152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Security &amp; Compliance</a:t>
            </a:r>
            <a:endParaRPr lang="en-US" sz="3000" dirty="0"/>
          </a:p>
        </p:txBody>
      </p:sp>
      <p:sp>
        <p:nvSpPr>
          <p:cNvPr id="5" name="Shape 2"/>
          <p:cNvSpPr/>
          <p:nvPr/>
        </p:nvSpPr>
        <p:spPr>
          <a:xfrm>
            <a:off x="731520" y="2011680"/>
            <a:ext cx="5029200" cy="1828800"/>
          </a:xfrm>
          <a:prstGeom prst="roundRect">
            <a:avLst>
              <a:gd name="adj" fmla="val 7500"/>
            </a:avLst>
          </a:prstGeom>
          <a:solidFill>
            <a:srgbClr val="2A2025"/>
          </a:solidFill>
          <a:ln w="12700">
            <a:solidFill>
              <a:srgbClr val="3A3035"/>
            </a:solidFill>
            <a:prstDash val="solid"/>
          </a:ln>
        </p:spPr>
      </p:sp>
      <p:sp>
        <p:nvSpPr>
          <p:cNvPr id="6" name="Text 3"/>
          <p:cNvSpPr/>
          <p:nvPr/>
        </p:nvSpPr>
        <p:spPr>
          <a:xfrm>
            <a:off x="1005840" y="2194560"/>
            <a:ext cx="4480560" cy="54864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COPPA Compliant</a:t>
            </a:r>
            <a:endParaRPr lang="en-US" sz="1800" dirty="0"/>
          </a:p>
        </p:txBody>
      </p:sp>
      <p:sp>
        <p:nvSpPr>
          <p:cNvPr id="7" name="Text 4"/>
          <p:cNvSpPr/>
          <p:nvPr/>
        </p:nvSpPr>
        <p:spPr>
          <a:xfrm>
            <a:off x="1005840" y="2834640"/>
            <a:ext cx="4480560" cy="731520"/>
          </a:xfrm>
          <a:prstGeom prst="rect">
            <a:avLst/>
          </a:prstGeom>
          <a:noFill/>
          <a:ln/>
        </p:spPr>
        <p:txBody>
          <a:bodyPr wrap="square" rtlCol="0" anchor="ctr"/>
          <a:lstStyle/>
          <a:p>
            <a:pPr indent="0" marL="0">
              <a:buNone/>
            </a:pPr>
            <a:r>
              <a:rPr lang="en-US" sz="1400" dirty="0">
                <a:solidFill>
                  <a:srgbClr val="D0D0D0"/>
                </a:solidFill>
                <a:latin typeface="Arial" pitchFamily="34" charset="0"/>
                <a:ea typeface="Arial" pitchFamily="34" charset="-122"/>
                <a:cs typeface="Arial" pitchFamily="34" charset="-120"/>
              </a:rPr>
              <a:t>Parental consent, data retention policies, age-appropriate content safeguards</a:t>
            </a:r>
            <a:endParaRPr lang="en-US" sz="1400" dirty="0"/>
          </a:p>
        </p:txBody>
      </p:sp>
      <p:sp>
        <p:nvSpPr>
          <p:cNvPr id="8" name="Shape 5"/>
          <p:cNvSpPr/>
          <p:nvPr/>
        </p:nvSpPr>
        <p:spPr>
          <a:xfrm>
            <a:off x="6217920" y="2011680"/>
            <a:ext cx="5029200" cy="1828800"/>
          </a:xfrm>
          <a:prstGeom prst="roundRect">
            <a:avLst>
              <a:gd name="adj" fmla="val 7500"/>
            </a:avLst>
          </a:prstGeom>
          <a:solidFill>
            <a:srgbClr val="2A2025"/>
          </a:solidFill>
          <a:ln w="12700">
            <a:solidFill>
              <a:srgbClr val="3A3035"/>
            </a:solidFill>
            <a:prstDash val="solid"/>
          </a:ln>
        </p:spPr>
      </p:sp>
      <p:sp>
        <p:nvSpPr>
          <p:cNvPr id="9" name="Text 6"/>
          <p:cNvSpPr/>
          <p:nvPr/>
        </p:nvSpPr>
        <p:spPr>
          <a:xfrm>
            <a:off x="6492240" y="2194560"/>
            <a:ext cx="4480560" cy="54864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FERPA Aligned</a:t>
            </a:r>
            <a:endParaRPr lang="en-US" sz="1800" dirty="0"/>
          </a:p>
        </p:txBody>
      </p:sp>
      <p:sp>
        <p:nvSpPr>
          <p:cNvPr id="10" name="Text 7"/>
          <p:cNvSpPr/>
          <p:nvPr/>
        </p:nvSpPr>
        <p:spPr>
          <a:xfrm>
            <a:off x="6492240" y="2834640"/>
            <a:ext cx="4480560" cy="731520"/>
          </a:xfrm>
          <a:prstGeom prst="rect">
            <a:avLst/>
          </a:prstGeom>
          <a:noFill/>
          <a:ln/>
        </p:spPr>
        <p:txBody>
          <a:bodyPr wrap="square" rtlCol="0" anchor="ctr"/>
          <a:lstStyle/>
          <a:p>
            <a:pPr indent="0" marL="0">
              <a:buNone/>
            </a:pPr>
            <a:r>
              <a:rPr lang="en-US" sz="1400" dirty="0">
                <a:solidFill>
                  <a:srgbClr val="D0D0D0"/>
                </a:solidFill>
                <a:latin typeface="Arial" pitchFamily="34" charset="0"/>
                <a:ea typeface="Arial" pitchFamily="34" charset="-122"/>
                <a:cs typeface="Arial" pitchFamily="34" charset="-120"/>
              </a:rPr>
              <a:t>Student data protection, role-based access control, secure session management</a:t>
            </a:r>
            <a:endParaRPr lang="en-US" sz="1400" dirty="0"/>
          </a:p>
        </p:txBody>
      </p:sp>
      <p:sp>
        <p:nvSpPr>
          <p:cNvPr id="11" name="Shape 8"/>
          <p:cNvSpPr/>
          <p:nvPr/>
        </p:nvSpPr>
        <p:spPr>
          <a:xfrm>
            <a:off x="731520" y="4206240"/>
            <a:ext cx="5029200" cy="1828800"/>
          </a:xfrm>
          <a:prstGeom prst="roundRect">
            <a:avLst>
              <a:gd name="adj" fmla="val 7500"/>
            </a:avLst>
          </a:prstGeom>
          <a:solidFill>
            <a:srgbClr val="2A2025"/>
          </a:solidFill>
          <a:ln w="12700">
            <a:solidFill>
              <a:srgbClr val="3A3035"/>
            </a:solidFill>
            <a:prstDash val="solid"/>
          </a:ln>
        </p:spPr>
      </p:sp>
      <p:sp>
        <p:nvSpPr>
          <p:cNvPr id="12" name="Text 9"/>
          <p:cNvSpPr/>
          <p:nvPr/>
        </p:nvSpPr>
        <p:spPr>
          <a:xfrm>
            <a:off x="1005840" y="4389120"/>
            <a:ext cx="4480560" cy="54864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Authentication</a:t>
            </a:r>
            <a:endParaRPr lang="en-US" sz="1800" dirty="0"/>
          </a:p>
        </p:txBody>
      </p:sp>
      <p:sp>
        <p:nvSpPr>
          <p:cNvPr id="13" name="Text 10"/>
          <p:cNvSpPr/>
          <p:nvPr/>
        </p:nvSpPr>
        <p:spPr>
          <a:xfrm>
            <a:off x="1005840" y="5029200"/>
            <a:ext cx="4480560" cy="731520"/>
          </a:xfrm>
          <a:prstGeom prst="rect">
            <a:avLst/>
          </a:prstGeom>
          <a:noFill/>
          <a:ln/>
        </p:spPr>
        <p:txBody>
          <a:bodyPr wrap="square" rtlCol="0" anchor="ctr"/>
          <a:lstStyle/>
          <a:p>
            <a:pPr indent="0" marL="0">
              <a:buNone/>
            </a:pPr>
            <a:r>
              <a:rPr lang="en-US" sz="1400" dirty="0">
                <a:solidFill>
                  <a:srgbClr val="D0D0D0"/>
                </a:solidFill>
                <a:latin typeface="Arial" pitchFamily="34" charset="0"/>
                <a:ea typeface="Arial" pitchFamily="34" charset="-122"/>
                <a:cs typeface="Arial" pitchFamily="34" charset="-120"/>
              </a:rPr>
              <a:t>OIDC authentication via magic link, Google, and GitHub with encrypted sessions</a:t>
            </a:r>
            <a:endParaRPr lang="en-US" sz="1400" dirty="0"/>
          </a:p>
        </p:txBody>
      </p:sp>
      <p:sp>
        <p:nvSpPr>
          <p:cNvPr id="14" name="Shape 11"/>
          <p:cNvSpPr/>
          <p:nvPr/>
        </p:nvSpPr>
        <p:spPr>
          <a:xfrm>
            <a:off x="6217920" y="4206240"/>
            <a:ext cx="5029200" cy="1828800"/>
          </a:xfrm>
          <a:prstGeom prst="roundRect">
            <a:avLst>
              <a:gd name="adj" fmla="val 7500"/>
            </a:avLst>
          </a:prstGeom>
          <a:solidFill>
            <a:srgbClr val="2A2025"/>
          </a:solidFill>
          <a:ln w="12700">
            <a:solidFill>
              <a:srgbClr val="3A3035"/>
            </a:solidFill>
            <a:prstDash val="solid"/>
          </a:ln>
        </p:spPr>
      </p:sp>
      <p:sp>
        <p:nvSpPr>
          <p:cNvPr id="15" name="Text 12"/>
          <p:cNvSpPr/>
          <p:nvPr/>
        </p:nvSpPr>
        <p:spPr>
          <a:xfrm>
            <a:off x="6492240" y="4389120"/>
            <a:ext cx="4480560" cy="54864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Rate Limited</a:t>
            </a:r>
            <a:endParaRPr lang="en-US" sz="1800" dirty="0"/>
          </a:p>
        </p:txBody>
      </p:sp>
      <p:sp>
        <p:nvSpPr>
          <p:cNvPr id="16" name="Text 13"/>
          <p:cNvSpPr/>
          <p:nvPr/>
        </p:nvSpPr>
        <p:spPr>
          <a:xfrm>
            <a:off x="6492240" y="5029200"/>
            <a:ext cx="4480560" cy="731520"/>
          </a:xfrm>
          <a:prstGeom prst="rect">
            <a:avLst/>
          </a:prstGeom>
          <a:noFill/>
          <a:ln/>
        </p:spPr>
        <p:txBody>
          <a:bodyPr wrap="square" rtlCol="0" anchor="ctr"/>
          <a:lstStyle/>
          <a:p>
            <a:pPr indent="0" marL="0">
              <a:buNone/>
            </a:pPr>
            <a:r>
              <a:rPr lang="en-US" sz="1400" dirty="0">
                <a:solidFill>
                  <a:srgbClr val="D0D0D0"/>
                </a:solidFill>
                <a:latin typeface="Arial" pitchFamily="34" charset="0"/>
                <a:ea typeface="Arial" pitchFamily="34" charset="-122"/>
                <a:cs typeface="Arial" pitchFamily="34" charset="-120"/>
              </a:rPr>
              <a:t>AI chat rate-limited at 20 req/min, all routes with error handling, input validation</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8F5"/>
        </a:solidFill>
      </p:bgPr>
    </p:bg>
    <p:spTree>
      <p:nvGrpSpPr>
        <p:cNvPr id="1" name=""/>
        <p:cNvGrpSpPr/>
        <p:nvPr/>
      </p:nvGrpSpPr>
      <p:grpSpPr>
        <a:xfrm>
          <a:off x="0" y="0"/>
          <a:ext cx="0" cy="0"/>
          <a:chOff x="0" y="0"/>
          <a:chExt cx="0" cy="0"/>
        </a:xfrm>
      </p:grpSpPr>
      <p:sp>
        <p:nvSpPr>
          <p:cNvPr id="3" name="Text 0"/>
          <p:cNvSpPr/>
          <p:nvPr/>
        </p:nvSpPr>
        <p:spPr>
          <a:xfrm>
            <a:off x="731520" y="365760"/>
            <a:ext cx="10058400" cy="457200"/>
          </a:xfrm>
          <a:prstGeom prst="rect">
            <a:avLst/>
          </a:prstGeom>
          <a:noFill/>
          <a:ln/>
        </p:spPr>
        <p:txBody>
          <a:bodyPr wrap="square" rtlCol="0" anchor="ctr"/>
          <a:lstStyle/>
          <a:p>
            <a:pPr indent="0" marL="0">
              <a:buNone/>
            </a:pPr>
            <a:r>
              <a:rPr lang="en-US" sz="1200" b="1" spc="400" kern="0" dirty="0">
                <a:solidFill>
                  <a:srgbClr val="6B1C2A"/>
                </a:solidFill>
                <a:latin typeface="Arial" pitchFamily="34" charset="0"/>
                <a:ea typeface="Arial" pitchFamily="34" charset="-122"/>
                <a:cs typeface="Arial" pitchFamily="34" charset="-120"/>
              </a:rPr>
              <a:t>TECHNICAL FOUNDATION</a:t>
            </a:r>
            <a:endParaRPr lang="en-US" sz="1200" dirty="0"/>
          </a:p>
        </p:txBody>
      </p:sp>
      <p:sp>
        <p:nvSpPr>
          <p:cNvPr id="4" name="Text 1"/>
          <p:cNvSpPr/>
          <p:nvPr/>
        </p:nvSpPr>
        <p:spPr>
          <a:xfrm>
            <a:off x="731520" y="822960"/>
            <a:ext cx="10058400" cy="731520"/>
          </a:xfrm>
          <a:prstGeom prst="rect">
            <a:avLst/>
          </a:prstGeom>
          <a:noFill/>
          <a:ln/>
        </p:spPr>
        <p:txBody>
          <a:bodyPr wrap="square" rtlCol="0" anchor="ctr"/>
          <a:lstStyle/>
          <a:p>
            <a:pPr indent="0" marL="0">
              <a:buNone/>
            </a:pPr>
            <a:r>
              <a:rPr lang="en-US" sz="2800" b="1" dirty="0">
                <a:solidFill>
                  <a:srgbClr val="2A1015"/>
                </a:solidFill>
                <a:latin typeface="Arial" pitchFamily="34" charset="0"/>
                <a:ea typeface="Arial" pitchFamily="34" charset="-122"/>
                <a:cs typeface="Arial" pitchFamily="34" charset="-120"/>
              </a:rPr>
              <a:t>Production-Ready Architecture</a:t>
            </a:r>
            <a:endParaRPr lang="en-US" sz="2800" dirty="0"/>
          </a:p>
        </p:txBody>
      </p:sp>
      <p:sp>
        <p:nvSpPr>
          <p:cNvPr id="5" name="Shape 2"/>
          <p:cNvSpPr/>
          <p:nvPr/>
        </p:nvSpPr>
        <p:spPr>
          <a:xfrm>
            <a:off x="731520" y="2011680"/>
            <a:ext cx="2468880" cy="1828800"/>
          </a:xfrm>
          <a:prstGeom prst="roundRect">
            <a:avLst>
              <a:gd name="adj" fmla="val 7500"/>
            </a:avLst>
          </a:prstGeom>
          <a:solidFill>
            <a:srgbClr val="FFFFFF"/>
          </a:solidFill>
          <a:ln w="12700">
            <a:solidFill>
              <a:srgbClr val="E8E0D8"/>
            </a:solidFill>
            <a:prstDash val="solid"/>
          </a:ln>
        </p:spPr>
      </p:sp>
      <p:sp>
        <p:nvSpPr>
          <p:cNvPr id="6" name="Text 3"/>
          <p:cNvSpPr/>
          <p:nvPr/>
        </p:nvSpPr>
        <p:spPr>
          <a:xfrm>
            <a:off x="731520" y="2103120"/>
            <a:ext cx="2468880" cy="1097280"/>
          </a:xfrm>
          <a:prstGeom prst="rect">
            <a:avLst/>
          </a:prstGeom>
          <a:noFill/>
          <a:ln/>
        </p:spPr>
        <p:txBody>
          <a:bodyPr wrap="square" rtlCol="0" anchor="ctr"/>
          <a:lstStyle/>
          <a:p>
            <a:pPr algn="ctr" indent="0" marL="0">
              <a:buNone/>
            </a:pPr>
            <a:r>
              <a:rPr lang="en-US" sz="3600" b="1" dirty="0">
                <a:solidFill>
                  <a:srgbClr val="6B1C2A"/>
                </a:solidFill>
                <a:latin typeface="Arial" pitchFamily="34" charset="0"/>
                <a:ea typeface="Arial" pitchFamily="34" charset="-122"/>
                <a:cs typeface="Arial" pitchFamily="34" charset="-120"/>
              </a:rPr>
              <a:t>70+</a:t>
            </a:r>
            <a:endParaRPr lang="en-US" sz="3600" dirty="0"/>
          </a:p>
        </p:txBody>
      </p:sp>
      <p:sp>
        <p:nvSpPr>
          <p:cNvPr id="7" name="Text 4"/>
          <p:cNvSpPr/>
          <p:nvPr/>
        </p:nvSpPr>
        <p:spPr>
          <a:xfrm>
            <a:off x="731520" y="3108960"/>
            <a:ext cx="2468880" cy="457200"/>
          </a:xfrm>
          <a:prstGeom prst="rect">
            <a:avLst/>
          </a:prstGeom>
          <a:noFill/>
          <a:ln/>
        </p:spPr>
        <p:txBody>
          <a:bodyPr wrap="square" rtlCol="0" anchor="ctr"/>
          <a:lstStyle/>
          <a:p>
            <a:pPr algn="ctr" indent="0" marL="0">
              <a:buNone/>
            </a:pPr>
            <a:r>
              <a:rPr lang="en-US" sz="1300" dirty="0">
                <a:solidFill>
                  <a:srgbClr val="6B5050"/>
                </a:solidFill>
                <a:latin typeface="Arial" pitchFamily="34" charset="0"/>
                <a:ea typeface="Arial" pitchFamily="34" charset="-122"/>
                <a:cs typeface="Arial" pitchFamily="34" charset="-120"/>
              </a:rPr>
              <a:t>Pages</a:t>
            </a:r>
            <a:endParaRPr lang="en-US" sz="1300" dirty="0"/>
          </a:p>
        </p:txBody>
      </p:sp>
      <p:sp>
        <p:nvSpPr>
          <p:cNvPr id="8" name="Shape 5"/>
          <p:cNvSpPr/>
          <p:nvPr/>
        </p:nvSpPr>
        <p:spPr>
          <a:xfrm>
            <a:off x="3474720" y="2011680"/>
            <a:ext cx="2468880" cy="1828800"/>
          </a:xfrm>
          <a:prstGeom prst="roundRect">
            <a:avLst>
              <a:gd name="adj" fmla="val 7500"/>
            </a:avLst>
          </a:prstGeom>
          <a:solidFill>
            <a:srgbClr val="FFFFFF"/>
          </a:solidFill>
          <a:ln w="12700">
            <a:solidFill>
              <a:srgbClr val="E8E0D8"/>
            </a:solidFill>
            <a:prstDash val="solid"/>
          </a:ln>
        </p:spPr>
      </p:sp>
      <p:sp>
        <p:nvSpPr>
          <p:cNvPr id="9" name="Text 6"/>
          <p:cNvSpPr/>
          <p:nvPr/>
        </p:nvSpPr>
        <p:spPr>
          <a:xfrm>
            <a:off x="3474720" y="2103120"/>
            <a:ext cx="2468880" cy="1097280"/>
          </a:xfrm>
          <a:prstGeom prst="rect">
            <a:avLst/>
          </a:prstGeom>
          <a:noFill/>
          <a:ln/>
        </p:spPr>
        <p:txBody>
          <a:bodyPr wrap="square" rtlCol="0" anchor="ctr"/>
          <a:lstStyle/>
          <a:p>
            <a:pPr algn="ctr" indent="0" marL="0">
              <a:buNone/>
            </a:pPr>
            <a:r>
              <a:rPr lang="en-US" sz="3600" b="1" dirty="0">
                <a:solidFill>
                  <a:srgbClr val="6B1C2A"/>
                </a:solidFill>
                <a:latin typeface="Arial" pitchFamily="34" charset="0"/>
                <a:ea typeface="Arial" pitchFamily="34" charset="-122"/>
                <a:cs typeface="Arial" pitchFamily="34" charset="-120"/>
              </a:rPr>
              <a:t>124</a:t>
            </a:r>
            <a:endParaRPr lang="en-US" sz="3600" dirty="0"/>
          </a:p>
        </p:txBody>
      </p:sp>
      <p:sp>
        <p:nvSpPr>
          <p:cNvPr id="10" name="Text 7"/>
          <p:cNvSpPr/>
          <p:nvPr/>
        </p:nvSpPr>
        <p:spPr>
          <a:xfrm>
            <a:off x="3474720" y="3108960"/>
            <a:ext cx="2468880" cy="457200"/>
          </a:xfrm>
          <a:prstGeom prst="rect">
            <a:avLst/>
          </a:prstGeom>
          <a:noFill/>
          <a:ln/>
        </p:spPr>
        <p:txBody>
          <a:bodyPr wrap="square" rtlCol="0" anchor="ctr"/>
          <a:lstStyle/>
          <a:p>
            <a:pPr algn="ctr" indent="0" marL="0">
              <a:buNone/>
            </a:pPr>
            <a:r>
              <a:rPr lang="en-US" sz="1300" dirty="0">
                <a:solidFill>
                  <a:srgbClr val="6B5050"/>
                </a:solidFill>
                <a:latin typeface="Arial" pitchFamily="34" charset="0"/>
                <a:ea typeface="Arial" pitchFamily="34" charset="-122"/>
                <a:cs typeface="Arial" pitchFamily="34" charset="-120"/>
              </a:rPr>
              <a:t>API Routes</a:t>
            </a:r>
            <a:endParaRPr lang="en-US" sz="1300" dirty="0"/>
          </a:p>
        </p:txBody>
      </p:sp>
      <p:sp>
        <p:nvSpPr>
          <p:cNvPr id="11" name="Shape 8"/>
          <p:cNvSpPr/>
          <p:nvPr/>
        </p:nvSpPr>
        <p:spPr>
          <a:xfrm>
            <a:off x="6217920" y="2011680"/>
            <a:ext cx="2468880" cy="1828800"/>
          </a:xfrm>
          <a:prstGeom prst="roundRect">
            <a:avLst>
              <a:gd name="adj" fmla="val 7500"/>
            </a:avLst>
          </a:prstGeom>
          <a:solidFill>
            <a:srgbClr val="FFFFFF"/>
          </a:solidFill>
          <a:ln w="12700">
            <a:solidFill>
              <a:srgbClr val="E8E0D8"/>
            </a:solidFill>
            <a:prstDash val="solid"/>
          </a:ln>
        </p:spPr>
      </p:sp>
      <p:sp>
        <p:nvSpPr>
          <p:cNvPr id="12" name="Text 9"/>
          <p:cNvSpPr/>
          <p:nvPr/>
        </p:nvSpPr>
        <p:spPr>
          <a:xfrm>
            <a:off x="6217920" y="2103120"/>
            <a:ext cx="2468880" cy="1097280"/>
          </a:xfrm>
          <a:prstGeom prst="rect">
            <a:avLst/>
          </a:prstGeom>
          <a:noFill/>
          <a:ln/>
        </p:spPr>
        <p:txBody>
          <a:bodyPr wrap="square" rtlCol="0" anchor="ctr"/>
          <a:lstStyle/>
          <a:p>
            <a:pPr algn="ctr" indent="0" marL="0">
              <a:buNone/>
            </a:pPr>
            <a:r>
              <a:rPr lang="en-US" sz="3600" b="1" dirty="0">
                <a:solidFill>
                  <a:srgbClr val="6B1C2A"/>
                </a:solidFill>
                <a:latin typeface="Arial" pitchFamily="34" charset="0"/>
                <a:ea typeface="Arial" pitchFamily="34" charset="-122"/>
                <a:cs typeface="Arial" pitchFamily="34" charset="-120"/>
              </a:rPr>
              <a:t>100%</a:t>
            </a:r>
            <a:endParaRPr lang="en-US" sz="3600" dirty="0"/>
          </a:p>
        </p:txBody>
      </p:sp>
      <p:sp>
        <p:nvSpPr>
          <p:cNvPr id="13" name="Text 10"/>
          <p:cNvSpPr/>
          <p:nvPr/>
        </p:nvSpPr>
        <p:spPr>
          <a:xfrm>
            <a:off x="6217920" y="3108960"/>
            <a:ext cx="2468880" cy="457200"/>
          </a:xfrm>
          <a:prstGeom prst="rect">
            <a:avLst/>
          </a:prstGeom>
          <a:noFill/>
          <a:ln/>
        </p:spPr>
        <p:txBody>
          <a:bodyPr wrap="square" rtlCol="0" anchor="ctr"/>
          <a:lstStyle/>
          <a:p>
            <a:pPr algn="ctr" indent="0" marL="0">
              <a:buNone/>
            </a:pPr>
            <a:r>
              <a:rPr lang="en-US" sz="1300" dirty="0">
                <a:solidFill>
                  <a:srgbClr val="6B5050"/>
                </a:solidFill>
                <a:latin typeface="Arial" pitchFamily="34" charset="0"/>
                <a:ea typeface="Arial" pitchFamily="34" charset="-122"/>
                <a:cs typeface="Arial" pitchFamily="34" charset="-120"/>
              </a:rPr>
              <a:t>Error Handling</a:t>
            </a:r>
            <a:endParaRPr lang="en-US" sz="1300" dirty="0"/>
          </a:p>
        </p:txBody>
      </p:sp>
      <p:sp>
        <p:nvSpPr>
          <p:cNvPr id="14" name="Shape 11"/>
          <p:cNvSpPr/>
          <p:nvPr/>
        </p:nvSpPr>
        <p:spPr>
          <a:xfrm>
            <a:off x="8961120" y="2011680"/>
            <a:ext cx="2468880" cy="1828800"/>
          </a:xfrm>
          <a:prstGeom prst="roundRect">
            <a:avLst>
              <a:gd name="adj" fmla="val 7500"/>
            </a:avLst>
          </a:prstGeom>
          <a:solidFill>
            <a:srgbClr val="FFFFFF"/>
          </a:solidFill>
          <a:ln w="12700">
            <a:solidFill>
              <a:srgbClr val="E8E0D8"/>
            </a:solidFill>
            <a:prstDash val="solid"/>
          </a:ln>
        </p:spPr>
      </p:sp>
      <p:sp>
        <p:nvSpPr>
          <p:cNvPr id="15" name="Text 12"/>
          <p:cNvSpPr/>
          <p:nvPr/>
        </p:nvSpPr>
        <p:spPr>
          <a:xfrm>
            <a:off x="8961120" y="2103120"/>
            <a:ext cx="2468880" cy="1097280"/>
          </a:xfrm>
          <a:prstGeom prst="rect">
            <a:avLst/>
          </a:prstGeom>
          <a:noFill/>
          <a:ln/>
        </p:spPr>
        <p:txBody>
          <a:bodyPr wrap="square" rtlCol="0" anchor="ctr"/>
          <a:lstStyle/>
          <a:p>
            <a:pPr algn="ctr" indent="0" marL="0">
              <a:buNone/>
            </a:pPr>
            <a:r>
              <a:rPr lang="en-US" sz="3600" b="1" dirty="0">
                <a:solidFill>
                  <a:srgbClr val="6B1C2A"/>
                </a:solidFill>
                <a:latin typeface="Arial" pitchFamily="34" charset="0"/>
                <a:ea typeface="Arial" pitchFamily="34" charset="-122"/>
                <a:cs typeface="Arial" pitchFamily="34" charset="-120"/>
              </a:rPr>
              <a:t>60+</a:t>
            </a:r>
            <a:endParaRPr lang="en-US" sz="3600" dirty="0"/>
          </a:p>
        </p:txBody>
      </p:sp>
      <p:sp>
        <p:nvSpPr>
          <p:cNvPr id="16" name="Text 13"/>
          <p:cNvSpPr/>
          <p:nvPr/>
        </p:nvSpPr>
        <p:spPr>
          <a:xfrm>
            <a:off x="8961120" y="3108960"/>
            <a:ext cx="2468880" cy="457200"/>
          </a:xfrm>
          <a:prstGeom prst="rect">
            <a:avLst/>
          </a:prstGeom>
          <a:noFill/>
          <a:ln/>
        </p:spPr>
        <p:txBody>
          <a:bodyPr wrap="square" rtlCol="0" anchor="ctr"/>
          <a:lstStyle/>
          <a:p>
            <a:pPr algn="ctr" indent="0" marL="0">
              <a:buNone/>
            </a:pPr>
            <a:r>
              <a:rPr lang="en-US" sz="1300" dirty="0">
                <a:solidFill>
                  <a:srgbClr val="6B5050"/>
                </a:solidFill>
                <a:latin typeface="Arial" pitchFamily="34" charset="0"/>
                <a:ea typeface="Arial" pitchFamily="34" charset="-122"/>
                <a:cs typeface="Arial" pitchFamily="34" charset="-120"/>
              </a:rPr>
              <a:t>Code Split</a:t>
            </a:r>
            <a:endParaRPr lang="en-US" sz="1300" dirty="0"/>
          </a:p>
        </p:txBody>
      </p:sp>
      <p:sp>
        <p:nvSpPr>
          <p:cNvPr id="17" name="Shape 14"/>
          <p:cNvSpPr/>
          <p:nvPr/>
        </p:nvSpPr>
        <p:spPr>
          <a:xfrm>
            <a:off x="731520" y="4389120"/>
            <a:ext cx="5029200" cy="1645920"/>
          </a:xfrm>
          <a:prstGeom prst="roundRect">
            <a:avLst>
              <a:gd name="adj" fmla="val 8333"/>
            </a:avLst>
          </a:prstGeom>
          <a:solidFill>
            <a:srgbClr val="FFFFFF"/>
          </a:solidFill>
          <a:ln w="12700">
            <a:solidFill>
              <a:srgbClr val="E8E0D8"/>
            </a:solidFill>
            <a:prstDash val="solid"/>
          </a:ln>
        </p:spPr>
      </p:sp>
      <p:sp>
        <p:nvSpPr>
          <p:cNvPr id="18" name="Text 15"/>
          <p:cNvSpPr/>
          <p:nvPr/>
        </p:nvSpPr>
        <p:spPr>
          <a:xfrm>
            <a:off x="1005840" y="4480560"/>
            <a:ext cx="4572000" cy="457200"/>
          </a:xfrm>
          <a:prstGeom prst="rect">
            <a:avLst/>
          </a:prstGeom>
          <a:noFill/>
          <a:ln/>
        </p:spPr>
        <p:txBody>
          <a:bodyPr wrap="square" rtlCol="0" anchor="ctr"/>
          <a:lstStyle/>
          <a:p>
            <a:pPr indent="0" marL="0">
              <a:buNone/>
            </a:pPr>
            <a:r>
              <a:rPr lang="en-US" sz="1600" b="1" dirty="0">
                <a:solidFill>
                  <a:srgbClr val="2A1015"/>
                </a:solidFill>
                <a:latin typeface="Arial" pitchFamily="34" charset="0"/>
                <a:ea typeface="Arial" pitchFamily="34" charset="-122"/>
                <a:cs typeface="Arial" pitchFamily="34" charset="-120"/>
              </a:rPr>
              <a:t>Frontend Stack</a:t>
            </a:r>
            <a:endParaRPr lang="en-US" sz="1600" dirty="0"/>
          </a:p>
        </p:txBody>
      </p:sp>
      <p:sp>
        <p:nvSpPr>
          <p:cNvPr id="19" name="Text 16"/>
          <p:cNvSpPr/>
          <p:nvPr/>
        </p:nvSpPr>
        <p:spPr>
          <a:xfrm>
            <a:off x="1005840" y="5029200"/>
            <a:ext cx="4572000" cy="457200"/>
          </a:xfrm>
          <a:prstGeom prst="rect">
            <a:avLst/>
          </a:prstGeom>
          <a:noFill/>
          <a:ln/>
        </p:spPr>
        <p:txBody>
          <a:bodyPr wrap="square" rtlCol="0" anchor="ctr"/>
          <a:lstStyle/>
          <a:p>
            <a:pPr indent="0" marL="0">
              <a:buNone/>
            </a:pPr>
            <a:r>
              <a:rPr lang="en-US" sz="1300" dirty="0">
                <a:solidFill>
                  <a:srgbClr val="6B5050"/>
                </a:solidFill>
                <a:latin typeface="Arial" pitchFamily="34" charset="0"/>
                <a:ea typeface="Arial" pitchFamily="34" charset="-122"/>
                <a:cs typeface="Arial" pitchFamily="34" charset="-120"/>
              </a:rPr>
              <a:t>React, Vite, TanStack Query, Tailwind CSS, shadcn/ui, wouter</a:t>
            </a:r>
            <a:endParaRPr lang="en-US" sz="1300" dirty="0"/>
          </a:p>
        </p:txBody>
      </p:sp>
      <p:sp>
        <p:nvSpPr>
          <p:cNvPr id="20" name="Shape 17"/>
          <p:cNvSpPr/>
          <p:nvPr/>
        </p:nvSpPr>
        <p:spPr>
          <a:xfrm>
            <a:off x="6217920" y="4389120"/>
            <a:ext cx="5029200" cy="1645920"/>
          </a:xfrm>
          <a:prstGeom prst="roundRect">
            <a:avLst>
              <a:gd name="adj" fmla="val 8333"/>
            </a:avLst>
          </a:prstGeom>
          <a:solidFill>
            <a:srgbClr val="FFFFFF"/>
          </a:solidFill>
          <a:ln w="12700">
            <a:solidFill>
              <a:srgbClr val="E8E0D8"/>
            </a:solidFill>
            <a:prstDash val="solid"/>
          </a:ln>
        </p:spPr>
      </p:sp>
      <p:sp>
        <p:nvSpPr>
          <p:cNvPr id="21" name="Text 18"/>
          <p:cNvSpPr/>
          <p:nvPr/>
        </p:nvSpPr>
        <p:spPr>
          <a:xfrm>
            <a:off x="6492240" y="4480560"/>
            <a:ext cx="4572000" cy="457200"/>
          </a:xfrm>
          <a:prstGeom prst="rect">
            <a:avLst/>
          </a:prstGeom>
          <a:noFill/>
          <a:ln/>
        </p:spPr>
        <p:txBody>
          <a:bodyPr wrap="square" rtlCol="0" anchor="ctr"/>
          <a:lstStyle/>
          <a:p>
            <a:pPr indent="0" marL="0">
              <a:buNone/>
            </a:pPr>
            <a:r>
              <a:rPr lang="en-US" sz="1600" b="1" dirty="0">
                <a:solidFill>
                  <a:srgbClr val="2A1015"/>
                </a:solidFill>
                <a:latin typeface="Arial" pitchFamily="34" charset="0"/>
                <a:ea typeface="Arial" pitchFamily="34" charset="-122"/>
                <a:cs typeface="Arial" pitchFamily="34" charset="-120"/>
              </a:rPr>
              <a:t>Backend Stack</a:t>
            </a:r>
            <a:endParaRPr lang="en-US" sz="1600" dirty="0"/>
          </a:p>
        </p:txBody>
      </p:sp>
      <p:sp>
        <p:nvSpPr>
          <p:cNvPr id="22" name="Text 19"/>
          <p:cNvSpPr/>
          <p:nvPr/>
        </p:nvSpPr>
        <p:spPr>
          <a:xfrm>
            <a:off x="6492240" y="5029200"/>
            <a:ext cx="4572000" cy="457200"/>
          </a:xfrm>
          <a:prstGeom prst="rect">
            <a:avLst/>
          </a:prstGeom>
          <a:noFill/>
          <a:ln/>
        </p:spPr>
        <p:txBody>
          <a:bodyPr wrap="square" rtlCol="0" anchor="ctr"/>
          <a:lstStyle/>
          <a:p>
            <a:pPr indent="0" marL="0">
              <a:buNone/>
            </a:pPr>
            <a:r>
              <a:rPr lang="en-US" sz="1300" dirty="0">
                <a:solidFill>
                  <a:srgbClr val="6B5050"/>
                </a:solidFill>
                <a:latin typeface="Arial" pitchFamily="34" charset="0"/>
                <a:ea typeface="Arial" pitchFamily="34" charset="-122"/>
                <a:cs typeface="Arial" pitchFamily="34" charset="-120"/>
              </a:rPr>
              <a:t>Node.js, Express, PostgreSQL, Drizzle ORM, Gemini AI</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1215"/>
        </a:solidFill>
      </p:bgPr>
    </p:bg>
    <p:spTree>
      <p:nvGrpSpPr>
        <p:cNvPr id="1" name=""/>
        <p:cNvGrpSpPr/>
        <p:nvPr/>
      </p:nvGrpSpPr>
      <p:grpSpPr>
        <a:xfrm>
          <a:off x="0" y="0"/>
          <a:ext cx="0" cy="0"/>
          <a:chOff x="0" y="0"/>
          <a:chExt cx="0" cy="0"/>
        </a:xfrm>
      </p:grpSpPr>
      <p:sp>
        <p:nvSpPr>
          <p:cNvPr id="3" name="Text 0"/>
          <p:cNvSpPr/>
          <p:nvPr/>
        </p:nvSpPr>
        <p:spPr>
          <a:xfrm>
            <a:off x="731520" y="365760"/>
            <a:ext cx="10058400" cy="457200"/>
          </a:xfrm>
          <a:prstGeom prst="rect">
            <a:avLst/>
          </a:prstGeom>
          <a:noFill/>
          <a:ln/>
        </p:spPr>
        <p:txBody>
          <a:bodyPr wrap="square" rtlCol="0" anchor="ctr"/>
          <a:lstStyle/>
          <a:p>
            <a:pPr indent="0" marL="0">
              <a:buNone/>
            </a:pPr>
            <a:r>
              <a:rPr lang="en-US" sz="1200" b="1" spc="400" kern="0" dirty="0">
                <a:solidFill>
                  <a:srgbClr val="C9A0A0"/>
                </a:solidFill>
                <a:latin typeface="Arial" pitchFamily="34" charset="0"/>
                <a:ea typeface="Arial" pitchFamily="34" charset="-122"/>
                <a:cs typeface="Arial" pitchFamily="34" charset="-120"/>
              </a:rPr>
              <a:t>DEPLOYMENT STRATEGY</a:t>
            </a:r>
            <a:endParaRPr lang="en-US" sz="1200" dirty="0"/>
          </a:p>
        </p:txBody>
      </p:sp>
      <p:sp>
        <p:nvSpPr>
          <p:cNvPr id="4" name="Text 1"/>
          <p:cNvSpPr/>
          <p:nvPr/>
        </p:nvSpPr>
        <p:spPr>
          <a:xfrm>
            <a:off x="731520" y="822960"/>
            <a:ext cx="10058400" cy="73152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Phased Implementation</a:t>
            </a:r>
            <a:endParaRPr lang="en-US" sz="3000" dirty="0"/>
          </a:p>
        </p:txBody>
      </p:sp>
      <p:sp>
        <p:nvSpPr>
          <p:cNvPr id="5" name="Shape 2"/>
          <p:cNvSpPr/>
          <p:nvPr/>
        </p:nvSpPr>
        <p:spPr>
          <a:xfrm>
            <a:off x="731520" y="2011680"/>
            <a:ext cx="3291840" cy="4114800"/>
          </a:xfrm>
          <a:prstGeom prst="roundRect">
            <a:avLst>
              <a:gd name="adj" fmla="val 4167"/>
            </a:avLst>
          </a:prstGeom>
          <a:solidFill>
            <a:srgbClr val="2A2025"/>
          </a:solidFill>
          <a:ln w="12700">
            <a:solidFill>
              <a:srgbClr val="3A3035"/>
            </a:solidFill>
            <a:prstDash val="solid"/>
          </a:ln>
        </p:spPr>
      </p:sp>
      <p:sp>
        <p:nvSpPr>
          <p:cNvPr id="6" name="Shape 3"/>
          <p:cNvSpPr/>
          <p:nvPr/>
        </p:nvSpPr>
        <p:spPr>
          <a:xfrm>
            <a:off x="731520" y="2011680"/>
            <a:ext cx="3291840" cy="73152"/>
          </a:xfrm>
          <a:prstGeom prst="rect">
            <a:avLst/>
          </a:prstGeom>
          <a:solidFill>
            <a:srgbClr val="6B1C2A"/>
          </a:solidFill>
          <a:ln/>
        </p:spPr>
      </p:sp>
      <p:sp>
        <p:nvSpPr>
          <p:cNvPr id="7" name="Shape 4"/>
          <p:cNvSpPr/>
          <p:nvPr/>
        </p:nvSpPr>
        <p:spPr>
          <a:xfrm>
            <a:off x="1005840" y="2286000"/>
            <a:ext cx="548640" cy="548640"/>
          </a:xfrm>
          <a:prstGeom prst="ellipse">
            <a:avLst/>
          </a:prstGeom>
          <a:solidFill>
            <a:srgbClr val="6B1C2A"/>
          </a:solidFill>
          <a:ln/>
        </p:spPr>
      </p:sp>
      <p:sp>
        <p:nvSpPr>
          <p:cNvPr id="8" name="Text 5"/>
          <p:cNvSpPr/>
          <p:nvPr/>
        </p:nvSpPr>
        <p:spPr>
          <a:xfrm>
            <a:off x="1005840" y="2286000"/>
            <a:ext cx="548640" cy="5486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6"/>
          <p:cNvSpPr/>
          <p:nvPr/>
        </p:nvSpPr>
        <p:spPr>
          <a:xfrm>
            <a:off x="1737360" y="2286000"/>
            <a:ext cx="2011680" cy="54864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Foundation</a:t>
            </a:r>
            <a:endParaRPr lang="en-US" sz="1800" dirty="0"/>
          </a:p>
        </p:txBody>
      </p:sp>
      <p:sp>
        <p:nvSpPr>
          <p:cNvPr id="10" name="Text 7"/>
          <p:cNvSpPr/>
          <p:nvPr/>
        </p:nvSpPr>
        <p:spPr>
          <a:xfrm>
            <a:off x="1005840" y="3200400"/>
            <a:ext cx="274320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Platform deployment</a:t>
            </a:r>
            <a:endParaRPr lang="en-US" sz="1300" dirty="0"/>
          </a:p>
        </p:txBody>
      </p:sp>
      <p:sp>
        <p:nvSpPr>
          <p:cNvPr id="11" name="Text 8"/>
          <p:cNvSpPr/>
          <p:nvPr/>
        </p:nvSpPr>
        <p:spPr>
          <a:xfrm>
            <a:off x="1005840" y="3840480"/>
            <a:ext cx="274320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Initial school partnerships</a:t>
            </a:r>
            <a:endParaRPr lang="en-US" sz="1300" dirty="0"/>
          </a:p>
        </p:txBody>
      </p:sp>
      <p:sp>
        <p:nvSpPr>
          <p:cNvPr id="12" name="Text 9"/>
          <p:cNvSpPr/>
          <p:nvPr/>
        </p:nvSpPr>
        <p:spPr>
          <a:xfrm>
            <a:off x="1005840" y="4480560"/>
            <a:ext cx="274320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Core curriculum launch</a:t>
            </a:r>
            <a:endParaRPr lang="en-US" sz="1300" dirty="0"/>
          </a:p>
        </p:txBody>
      </p:sp>
      <p:sp>
        <p:nvSpPr>
          <p:cNvPr id="13" name="Text 10"/>
          <p:cNvSpPr/>
          <p:nvPr/>
        </p:nvSpPr>
        <p:spPr>
          <a:xfrm>
            <a:off x="1005840" y="5303520"/>
            <a:ext cx="2743200" cy="457200"/>
          </a:xfrm>
          <a:prstGeom prst="rect">
            <a:avLst/>
          </a:prstGeom>
          <a:noFill/>
          <a:ln/>
        </p:spPr>
        <p:txBody>
          <a:bodyPr wrap="square" rtlCol="0" anchor="ctr"/>
          <a:lstStyle/>
          <a:p>
            <a:pPr indent="0" marL="0">
              <a:buNone/>
            </a:pPr>
            <a:r>
              <a:rPr lang="en-US" sz="1200" dirty="0">
                <a:solidFill>
                  <a:srgbClr val="C9A0A0"/>
                </a:solidFill>
                <a:latin typeface="Arial" pitchFamily="34" charset="0"/>
                <a:ea typeface="Arial" pitchFamily="34" charset="-122"/>
                <a:cs typeface="Arial" pitchFamily="34" charset="-120"/>
              </a:rPr>
              <a:t>Months 1-3</a:t>
            </a:r>
            <a:endParaRPr lang="en-US" sz="1200" dirty="0"/>
          </a:p>
        </p:txBody>
      </p:sp>
      <p:sp>
        <p:nvSpPr>
          <p:cNvPr id="14" name="Shape 11"/>
          <p:cNvSpPr/>
          <p:nvPr/>
        </p:nvSpPr>
        <p:spPr>
          <a:xfrm>
            <a:off x="4389120" y="2011680"/>
            <a:ext cx="3291840" cy="4114800"/>
          </a:xfrm>
          <a:prstGeom prst="roundRect">
            <a:avLst>
              <a:gd name="adj" fmla="val 4167"/>
            </a:avLst>
          </a:prstGeom>
          <a:solidFill>
            <a:srgbClr val="2A2025"/>
          </a:solidFill>
          <a:ln w="12700">
            <a:solidFill>
              <a:srgbClr val="3A3035"/>
            </a:solidFill>
            <a:prstDash val="solid"/>
          </a:ln>
        </p:spPr>
      </p:sp>
      <p:sp>
        <p:nvSpPr>
          <p:cNvPr id="15" name="Shape 12"/>
          <p:cNvSpPr/>
          <p:nvPr/>
        </p:nvSpPr>
        <p:spPr>
          <a:xfrm>
            <a:off x="4389120" y="2011680"/>
            <a:ext cx="3291840" cy="73152"/>
          </a:xfrm>
          <a:prstGeom prst="rect">
            <a:avLst/>
          </a:prstGeom>
          <a:solidFill>
            <a:srgbClr val="6B1C2A"/>
          </a:solidFill>
          <a:ln/>
        </p:spPr>
      </p:sp>
      <p:sp>
        <p:nvSpPr>
          <p:cNvPr id="16" name="Shape 13"/>
          <p:cNvSpPr/>
          <p:nvPr/>
        </p:nvSpPr>
        <p:spPr>
          <a:xfrm>
            <a:off x="4663440" y="2286000"/>
            <a:ext cx="548640" cy="548640"/>
          </a:xfrm>
          <a:prstGeom prst="ellipse">
            <a:avLst/>
          </a:prstGeom>
          <a:solidFill>
            <a:srgbClr val="6B1C2A"/>
          </a:solidFill>
          <a:ln/>
        </p:spPr>
      </p:sp>
      <p:sp>
        <p:nvSpPr>
          <p:cNvPr id="17" name="Text 14"/>
          <p:cNvSpPr/>
          <p:nvPr/>
        </p:nvSpPr>
        <p:spPr>
          <a:xfrm>
            <a:off x="4663440" y="2286000"/>
            <a:ext cx="548640" cy="5486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8" name="Text 15"/>
          <p:cNvSpPr/>
          <p:nvPr/>
        </p:nvSpPr>
        <p:spPr>
          <a:xfrm>
            <a:off x="5394960" y="2286000"/>
            <a:ext cx="2011680" cy="54864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Growth</a:t>
            </a:r>
            <a:endParaRPr lang="en-US" sz="1800" dirty="0"/>
          </a:p>
        </p:txBody>
      </p:sp>
      <p:sp>
        <p:nvSpPr>
          <p:cNvPr id="19" name="Text 16"/>
          <p:cNvSpPr/>
          <p:nvPr/>
        </p:nvSpPr>
        <p:spPr>
          <a:xfrm>
            <a:off x="4663440" y="3200400"/>
            <a:ext cx="274320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Mentor network expansion</a:t>
            </a:r>
            <a:endParaRPr lang="en-US" sz="1300" dirty="0"/>
          </a:p>
        </p:txBody>
      </p:sp>
      <p:sp>
        <p:nvSpPr>
          <p:cNvPr id="20" name="Text 17"/>
          <p:cNvSpPr/>
          <p:nvPr/>
        </p:nvSpPr>
        <p:spPr>
          <a:xfrm>
            <a:off x="4663440" y="3840480"/>
            <a:ext cx="274320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Career pipeline activation</a:t>
            </a:r>
            <a:endParaRPr lang="en-US" sz="1300" dirty="0"/>
          </a:p>
        </p:txBody>
      </p:sp>
      <p:sp>
        <p:nvSpPr>
          <p:cNvPr id="21" name="Text 18"/>
          <p:cNvSpPr/>
          <p:nvPr/>
        </p:nvSpPr>
        <p:spPr>
          <a:xfrm>
            <a:off x="4663440" y="4480560"/>
            <a:ext cx="274320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Student onboarding at scale</a:t>
            </a:r>
            <a:endParaRPr lang="en-US" sz="1300" dirty="0"/>
          </a:p>
        </p:txBody>
      </p:sp>
      <p:sp>
        <p:nvSpPr>
          <p:cNvPr id="22" name="Text 19"/>
          <p:cNvSpPr/>
          <p:nvPr/>
        </p:nvSpPr>
        <p:spPr>
          <a:xfrm>
            <a:off x="4663440" y="5303520"/>
            <a:ext cx="2743200" cy="457200"/>
          </a:xfrm>
          <a:prstGeom prst="rect">
            <a:avLst/>
          </a:prstGeom>
          <a:noFill/>
          <a:ln/>
        </p:spPr>
        <p:txBody>
          <a:bodyPr wrap="square" rtlCol="0" anchor="ctr"/>
          <a:lstStyle/>
          <a:p>
            <a:pPr indent="0" marL="0">
              <a:buNone/>
            </a:pPr>
            <a:r>
              <a:rPr lang="en-US" sz="1200" dirty="0">
                <a:solidFill>
                  <a:srgbClr val="C9A0A0"/>
                </a:solidFill>
                <a:latin typeface="Arial" pitchFamily="34" charset="0"/>
                <a:ea typeface="Arial" pitchFamily="34" charset="-122"/>
                <a:cs typeface="Arial" pitchFamily="34" charset="-120"/>
              </a:rPr>
              <a:t>Months 4-6</a:t>
            </a:r>
            <a:endParaRPr lang="en-US" sz="1200" dirty="0"/>
          </a:p>
        </p:txBody>
      </p:sp>
      <p:sp>
        <p:nvSpPr>
          <p:cNvPr id="23" name="Shape 20"/>
          <p:cNvSpPr/>
          <p:nvPr/>
        </p:nvSpPr>
        <p:spPr>
          <a:xfrm>
            <a:off x="8046720" y="2011680"/>
            <a:ext cx="3291840" cy="4114800"/>
          </a:xfrm>
          <a:prstGeom prst="roundRect">
            <a:avLst>
              <a:gd name="adj" fmla="val 4167"/>
            </a:avLst>
          </a:prstGeom>
          <a:solidFill>
            <a:srgbClr val="2A2025"/>
          </a:solidFill>
          <a:ln w="12700">
            <a:solidFill>
              <a:srgbClr val="3A3035"/>
            </a:solidFill>
            <a:prstDash val="solid"/>
          </a:ln>
        </p:spPr>
      </p:sp>
      <p:sp>
        <p:nvSpPr>
          <p:cNvPr id="24" name="Shape 21"/>
          <p:cNvSpPr/>
          <p:nvPr/>
        </p:nvSpPr>
        <p:spPr>
          <a:xfrm>
            <a:off x="8046720" y="2011680"/>
            <a:ext cx="3291840" cy="73152"/>
          </a:xfrm>
          <a:prstGeom prst="rect">
            <a:avLst/>
          </a:prstGeom>
          <a:solidFill>
            <a:srgbClr val="6B1C2A"/>
          </a:solidFill>
          <a:ln/>
        </p:spPr>
      </p:sp>
      <p:sp>
        <p:nvSpPr>
          <p:cNvPr id="25" name="Shape 22"/>
          <p:cNvSpPr/>
          <p:nvPr/>
        </p:nvSpPr>
        <p:spPr>
          <a:xfrm>
            <a:off x="8321040" y="2286000"/>
            <a:ext cx="548640" cy="548640"/>
          </a:xfrm>
          <a:prstGeom prst="ellipse">
            <a:avLst/>
          </a:prstGeom>
          <a:solidFill>
            <a:srgbClr val="6B1C2A"/>
          </a:solidFill>
          <a:ln/>
        </p:spPr>
      </p:sp>
      <p:sp>
        <p:nvSpPr>
          <p:cNvPr id="26" name="Text 23"/>
          <p:cNvSpPr/>
          <p:nvPr/>
        </p:nvSpPr>
        <p:spPr>
          <a:xfrm>
            <a:off x="8321040" y="2286000"/>
            <a:ext cx="548640" cy="5486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7" name="Text 24"/>
          <p:cNvSpPr/>
          <p:nvPr/>
        </p:nvSpPr>
        <p:spPr>
          <a:xfrm>
            <a:off x="9052560" y="2286000"/>
            <a:ext cx="2011680" cy="54864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Scale</a:t>
            </a:r>
            <a:endParaRPr lang="en-US" sz="1800" dirty="0"/>
          </a:p>
        </p:txBody>
      </p:sp>
      <p:sp>
        <p:nvSpPr>
          <p:cNvPr id="28" name="Text 25"/>
          <p:cNvSpPr/>
          <p:nvPr/>
        </p:nvSpPr>
        <p:spPr>
          <a:xfrm>
            <a:off x="8321040" y="3200400"/>
            <a:ext cx="274320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Multi-district rollout</a:t>
            </a:r>
            <a:endParaRPr lang="en-US" sz="1300" dirty="0"/>
          </a:p>
        </p:txBody>
      </p:sp>
      <p:sp>
        <p:nvSpPr>
          <p:cNvPr id="29" name="Text 26"/>
          <p:cNvSpPr/>
          <p:nvPr/>
        </p:nvSpPr>
        <p:spPr>
          <a:xfrm>
            <a:off x="8321040" y="3840480"/>
            <a:ext cx="274320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Employer partnerships</a:t>
            </a:r>
            <a:endParaRPr lang="en-US" sz="1300" dirty="0"/>
          </a:p>
        </p:txBody>
      </p:sp>
      <p:sp>
        <p:nvSpPr>
          <p:cNvPr id="30" name="Text 27"/>
          <p:cNvSpPr/>
          <p:nvPr/>
        </p:nvSpPr>
        <p:spPr>
          <a:xfrm>
            <a:off x="8321040" y="4480560"/>
            <a:ext cx="274320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National expansion planning</a:t>
            </a:r>
            <a:endParaRPr lang="en-US" sz="1300" dirty="0"/>
          </a:p>
        </p:txBody>
      </p:sp>
      <p:sp>
        <p:nvSpPr>
          <p:cNvPr id="31" name="Text 28"/>
          <p:cNvSpPr/>
          <p:nvPr/>
        </p:nvSpPr>
        <p:spPr>
          <a:xfrm>
            <a:off x="8321040" y="5303520"/>
            <a:ext cx="2743200" cy="457200"/>
          </a:xfrm>
          <a:prstGeom prst="rect">
            <a:avLst/>
          </a:prstGeom>
          <a:noFill/>
          <a:ln/>
        </p:spPr>
        <p:txBody>
          <a:bodyPr wrap="square" rtlCol="0" anchor="ctr"/>
          <a:lstStyle/>
          <a:p>
            <a:pPr indent="0" marL="0">
              <a:buNone/>
            </a:pPr>
            <a:r>
              <a:rPr lang="en-US" sz="1200" dirty="0">
                <a:solidFill>
                  <a:srgbClr val="C9A0A0"/>
                </a:solidFill>
                <a:latin typeface="Arial" pitchFamily="34" charset="0"/>
                <a:ea typeface="Arial" pitchFamily="34" charset="-122"/>
                <a:cs typeface="Arial" pitchFamily="34" charset="-120"/>
              </a:rPr>
              <a:t>Months 7-12</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6B1C2A"/>
        </a:solidFill>
      </p:bgPr>
    </p:bg>
    <p:spTree>
      <p:nvGrpSpPr>
        <p:cNvPr id="1" name=""/>
        <p:cNvGrpSpPr/>
        <p:nvPr/>
      </p:nvGrpSpPr>
      <p:grpSpPr>
        <a:xfrm>
          <a:off x="0" y="0"/>
          <a:ext cx="0" cy="0"/>
          <a:chOff x="0" y="0"/>
          <a:chExt cx="0" cy="0"/>
        </a:xfrm>
      </p:grpSpPr>
      <p:sp>
        <p:nvSpPr>
          <p:cNvPr id="3" name="Text 0"/>
          <p:cNvSpPr/>
          <p:nvPr/>
        </p:nvSpPr>
        <p:spPr>
          <a:xfrm>
            <a:off x="731520" y="1371600"/>
            <a:ext cx="10515600" cy="1097280"/>
          </a:xfrm>
          <a:prstGeom prst="rect">
            <a:avLst/>
          </a:prstGeom>
          <a:noFill/>
          <a:ln/>
        </p:spPr>
        <p:txBody>
          <a:bodyPr wrap="square"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Ready to transform futures?</a:t>
            </a:r>
            <a:endParaRPr lang="en-US" sz="4000" dirty="0"/>
          </a:p>
        </p:txBody>
      </p:sp>
      <p:sp>
        <p:nvSpPr>
          <p:cNvPr id="4" name="Text 1"/>
          <p:cNvSpPr/>
          <p:nvPr/>
        </p:nvSpPr>
        <p:spPr>
          <a:xfrm>
            <a:off x="1371600" y="2743200"/>
            <a:ext cx="9144000" cy="731520"/>
          </a:xfrm>
          <a:prstGeom prst="rect">
            <a:avLst/>
          </a:prstGeom>
          <a:noFill/>
          <a:ln/>
        </p:spPr>
        <p:txBody>
          <a:bodyPr wrap="square" rtlCol="0" anchor="ctr"/>
          <a:lstStyle/>
          <a:p>
            <a:pPr algn="ctr" indent="0" marL="0">
              <a:buNone/>
            </a:pPr>
            <a:r>
              <a:rPr lang="en-US" sz="1800" dirty="0">
                <a:solidFill>
                  <a:srgbClr val="DDDDDD"/>
                </a:solidFill>
                <a:latin typeface="Arial" pitchFamily="34" charset="0"/>
                <a:ea typeface="Arial" pitchFamily="34" charset="-122"/>
                <a:cs typeface="Arial" pitchFamily="34" charset="-120"/>
              </a:rPr>
              <a:t>The students who learn to think with AI today will lead tomorrow.</a:t>
            </a:r>
            <a:endParaRPr lang="en-US" sz="1800" dirty="0"/>
          </a:p>
        </p:txBody>
      </p:sp>
      <p:sp>
        <p:nvSpPr>
          <p:cNvPr id="5" name="Text 2"/>
          <p:cNvSpPr/>
          <p:nvPr/>
        </p:nvSpPr>
        <p:spPr>
          <a:xfrm>
            <a:off x="731520" y="3840480"/>
            <a:ext cx="10515600" cy="548640"/>
          </a:xfrm>
          <a:prstGeom prst="rect">
            <a:avLst/>
          </a:prstGeom>
          <a:noFill/>
          <a:ln/>
        </p:spPr>
        <p:txBody>
          <a:bodyPr wrap="square" rtlCol="0" anchor="ctr"/>
          <a:lstStyle/>
          <a:p>
            <a:pPr algn="ctr" indent="0" marL="0">
              <a:buNone/>
            </a:pPr>
            <a:r>
              <a:rPr lang="en-US" sz="1800" dirty="0">
                <a:solidFill>
                  <a:srgbClr val="F5F5F5"/>
                </a:solidFill>
                <a:latin typeface="Arial" pitchFamily="34" charset="0"/>
                <a:ea typeface="Arial" pitchFamily="34" charset="-122"/>
                <a:cs typeface="Arial" pitchFamily="34" charset="-120"/>
              </a:rPr>
              <a:t>Contact Us</a:t>
            </a:r>
            <a:endParaRPr lang="en-US" sz="1800" dirty="0"/>
          </a:p>
        </p:txBody>
      </p:sp>
      <p:sp>
        <p:nvSpPr>
          <p:cNvPr id="6" name="Text 3"/>
          <p:cNvSpPr/>
          <p:nvPr/>
        </p:nvSpPr>
        <p:spPr>
          <a:xfrm>
            <a:off x="731520" y="4389120"/>
            <a:ext cx="10515600" cy="548640"/>
          </a:xfrm>
          <a:prstGeom prst="rect">
            <a:avLst/>
          </a:prstGeom>
          <a:noFill/>
          <a:ln/>
        </p:spPr>
        <p:txBody>
          <a:bodyPr wrap="square" rtlCol="0" anchor="ctr"/>
          <a:lstStyle/>
          <a:p>
            <a:pPr algn="ctr" indent="0" marL="0">
              <a:buNone/>
            </a:pPr>
            <a:r>
              <a:rPr lang="en-US" sz="1600" dirty="0">
                <a:solidFill>
                  <a:srgbClr val="E8E8E8"/>
                </a:solidFill>
                <a:latin typeface="Arial" pitchFamily="34" charset="0"/>
                <a:ea typeface="Arial" pitchFamily="34" charset="-122"/>
                <a:cs typeface="Arial" pitchFamily="34" charset="-120"/>
              </a:rPr>
              <a:t>sisnett.meredith@gmail.com    |    mr.terryflood@gmail.com</a:t>
            </a:r>
            <a:endParaRPr lang="en-US" sz="1600" dirty="0"/>
          </a:p>
        </p:txBody>
      </p:sp>
      <p:sp>
        <p:nvSpPr>
          <p:cNvPr id="7" name="Shape 4"/>
          <p:cNvSpPr/>
          <p:nvPr/>
        </p:nvSpPr>
        <p:spPr>
          <a:xfrm>
            <a:off x="3200400" y="5303520"/>
            <a:ext cx="2743200" cy="640080"/>
          </a:xfrm>
          <a:prstGeom prst="roundRect">
            <a:avLst>
              <a:gd name="adj" fmla="val 14286"/>
            </a:avLst>
          </a:prstGeom>
          <a:solidFill>
            <a:srgbClr val="FFFFFF"/>
          </a:solidFill>
          <a:ln/>
        </p:spPr>
      </p:sp>
      <p:sp>
        <p:nvSpPr>
          <p:cNvPr id="8" name="Text 5"/>
          <p:cNvSpPr/>
          <p:nvPr/>
        </p:nvSpPr>
        <p:spPr>
          <a:xfrm>
            <a:off x="3200400" y="5303520"/>
            <a:ext cx="2743200" cy="640080"/>
          </a:xfrm>
          <a:prstGeom prst="rect">
            <a:avLst/>
          </a:prstGeom>
          <a:noFill/>
          <a:ln/>
        </p:spPr>
        <p:txBody>
          <a:bodyPr wrap="square" rtlCol="0" anchor="ctr"/>
          <a:lstStyle/>
          <a:p>
            <a:pPr algn="ctr" indent="0" marL="0">
              <a:buNone/>
            </a:pPr>
            <a:r>
              <a:rPr lang="en-US" sz="1300" b="1" dirty="0">
                <a:solidFill>
                  <a:srgbClr val="6B1C2A"/>
                </a:solidFill>
                <a:latin typeface="Arial" pitchFamily="34" charset="0"/>
                <a:ea typeface="Arial" pitchFamily="34" charset="-122"/>
                <a:cs typeface="Arial" pitchFamily="34" charset="-120"/>
              </a:rPr>
              <a:t>View Impact Dashboard</a:t>
            </a:r>
            <a:endParaRPr lang="en-US" sz="1300" dirty="0"/>
          </a:p>
        </p:txBody>
      </p:sp>
      <p:sp>
        <p:nvSpPr>
          <p:cNvPr id="9" name="Shape 6"/>
          <p:cNvSpPr/>
          <p:nvPr/>
        </p:nvSpPr>
        <p:spPr>
          <a:xfrm>
            <a:off x="6400800" y="5303520"/>
            <a:ext cx="2743200" cy="640080"/>
          </a:xfrm>
          <a:prstGeom prst="roundRect">
            <a:avLst>
              <a:gd name="adj" fmla="val 14286"/>
            </a:avLst>
          </a:prstGeom>
          <a:solidFill>
            <a:srgbClr val="6B1C2A"/>
          </a:solidFill>
          <a:ln w="25400">
            <a:solidFill>
              <a:srgbClr val="999999"/>
            </a:solidFill>
            <a:prstDash val="solid"/>
          </a:ln>
        </p:spPr>
      </p:sp>
      <p:sp>
        <p:nvSpPr>
          <p:cNvPr id="10" name="Text 7"/>
          <p:cNvSpPr/>
          <p:nvPr/>
        </p:nvSpPr>
        <p:spPr>
          <a:xfrm>
            <a:off x="6400800" y="5303520"/>
            <a:ext cx="2743200" cy="64008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Explore Platform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Mastery Academy - Stakeholder Presentation</dc:title>
  <dc:subject>School Support Hub for Under-Resourced Youth</dc:subject>
  <dc:creator>AI Mastery Academy</dc:creator>
  <cp:lastModifiedBy>AI Mastery Academy</cp:lastModifiedBy>
  <cp:revision>1</cp:revision>
  <dcterms:created xsi:type="dcterms:W3CDTF">2026-03-12T03:07:23Z</dcterms:created>
  <dcterms:modified xsi:type="dcterms:W3CDTF">2026-03-12T03:07:23Z</dcterms:modified>
</cp:coreProperties>
</file>