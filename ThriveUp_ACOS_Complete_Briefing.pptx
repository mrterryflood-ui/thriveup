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Dr. Terry Flood, founder and CEO of The Collaborative Advocate Foundation, a 501(c)(3) nonprofit. We are veteran-founded and Black-led, headquartered in Pflugerville, Texas. ThriveUp Academy is the centerpiece of our 24-platform ACOS ecosystem — the Autonomous Collaborative Operating System — designed to break the cycle of poverty, incarceration, and inequity in under-resourced communities through AI-powered education, workforce development, and coordinated intervention. What you're about to see is not a concept deck. Every feature I'll show you is live, running, and measurable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Terry Flood Sr. holds a Doctorate in Healthcare Administration, Master's degrees in Implementation Science, Psychology, Human Resource Management, Business Administration, Criminal Justice, and graduate-level Public Policy. He is a veteran and the founder and CEO of three entities: The Collaborative Advocate Foundation (501(c)(3) nonprofit), Collaboration &amp; Implementation Professionals LLC (veteran-owned small business), and M&amp;T Consulting Solutions LLC (strategic advisory). His core thesis: Education is the number one protective factor against every social determinant of health. County averages lie — tract-level data tells the truth. And when 2-parent households drop below 60%, poverty rises above 17% in every case studied.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crisis is real and measurable. 67.8% of released individuals are re-arrested within 3 years. Black Americans are incarcerated at 5x the rate of white Americans. 67% of low-income students lack career readiness programs. 82% of future jobs require AI literacy. And county-level averages mask neighborhoods where poverty exceeds 40% and unemployment tops 20%. These aren't abstract statistics — they're the lived reality of the communities we serve. Our platform addresses every one of these indicators with data-driven, coordinated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ACOS — our 24-platform Autonomous Collaborative Operating System. Each platform is a specialized tool addressing a specific domain: education, health equity, workforce development, criminal justice, veterans services, business development, research, and community safety. These are not separate apps — they are autonomous agents that communicate with each other, share data, coordinate interventions, and report outcomes. The hub orchestrates without bottlenecking. Each platform operates autonomously within its domain while maintaining coordinated alignment through the ecosystem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Justice Command Center is our criminal justice intelligence hub. It tracks national crisis indicators: the 67.8% 3-year recidivism rate, 1.9 million currently incarcerated, racial sentencing disparities across drug, violent, property, and weapons offenses. It includes a Racial Disparity Dashboard tracking school suspensions, poverty, and youth unemployment by race. The Data Storyteller tab combines Census tract demographics, gun violence data from our National Gun Violence Tracker, and AI-powered narratives to tell the story of each neighborhood — not the county average, the neighborhood. We have evidence-based program profiles for FFT, MST, CURE Violence, and others with cost-benefit data. Every metric feeds directly into our grant narratives and intervention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Reentry Dashboard is a full case management system for justice-involved individuals. It tracks people through 5 phases: Pre-Release, Transition, Stabilization, Independence, and Growth. Each individual gets a Thrive Score across 6 domains: Education, Employment, Housing, Health, Social connections, and Legal compliance. The system generates court-ready progress reports, manages service delivery records, and tracks milestone completion. We have intake assessments that capture justice history including incarceration length and legal status. The Justice Partners portal connects directly with the Texas Juvenile Justice Department and Travis County Juvenile Probation for bidirectional data exchange. All outcome tracking aligns with DOJ metrics and Second Chance Act grant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Storyteller is tab 16 of the Justice Command Center. It builds a neighborhood-to-school-to-outcomes pipeline. Start with a neighborhood — say Creekwood in Wilmington, North Carolina. Pull Census demographics for that tract. Layer in gun violence data from our National Gun Violence Tracker — a separate live platform at gun-violence-registry.replit.app that provides real-time incident data with city/state filtering, multi-city comparison, monthly trends, and incident type breakdowns. Then layer in school performance data. The AI generates a narrative that connects the dots: this neighborhood has this poverty rate, this many gun violence incidents, these school outcomes — here's the story the data tells. We have 18+ pre-loaded high-impact cities plus custom city input. This is what funders need to see — not county averages, but the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us different from any other platform. Every one of our 24 platforms is an autonomous agent. They don't just sit in a list — they communicate with each other. When ThriveUp Academy identifies a student with housing instability, it doesn't just flag it. It sends a targeted exchange to LifeBridge with documented reasoning: 'Student ID 247 has housing risk score above threshold. LifeBridge has housing transition capabilities. Requesting intake assessment.' That exchange is logged, tracked, and auditable. Every exchange requires minimum 50 characters of reasoning — WHY this platform, WHY now, what's the expected outcome. Generic messages like 'sending data' or 'FYI' are rejected by the system. This is autonomous but accountable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seven API endpoints that power the agent communication layer. POST exchange for targeted platform-to-platform messaging. POST broadcast for domain-filtered alerts. POST respond for acknowledging, acting on, declining, or deferring messages. GET inbox for pending messages with action-required flags. GET capabilities for the full data flow map showing what each platform can provide and consume. GET network for communication activity and partnership tracking. And POST reason for DeepSeek-powered strategic reasoning. Every endpoint validates domain alignment. The capabilities endpoint shows compatible platforms — who can send what to whom based on domain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RPLICE Activation Pipeline has four AI-powered tools that transform Census data and implementation science research into grant-ready deliverables. The Grant Narrative Generator has 8 funder-specific voice profiles — it doesn't just write a narrative, it writes it in the voice each funder expects. BB Collective gets research-heavy language. Rare Impact gets youth empowerment framing. St. David's gets community health focus. The Community Action Planner generates 90-day implementation plans with 18 milestones across 3 phases, assigning responsible platforms for each milestone. The Outcome Baseline Dashboard locks Census ACS metrics as baselines and tracks improvement gaps. The Platform-to-Intervention Matcher maps risk factors to platform capabilities — high poverty automatically routes to workforce development platforms, low educational attainment routes to education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Ecosystem RPLICE Bridge is the intelligence distribution system. Every heartbeat response — the regular check-in each platform makes to the hub — now includes domain-filtered RPLICE intelligence. Health platforms get health metrics. Education platforms get education data. Workforce platforms get employment data. Platforms with no overlap get 'awareness only — no action required.' Four types of intelligence are delivered: intervention assignments with action vs awareness distinction and confidence scoring; action plan milestones filtered to owner vs contributor role; outcome baselines filtered to domain-relevant metrics; and reasoning justification explaining why this platform received this intelligence. It's transparent, auditable, and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AI engine uses 5 providers with automatic failover. Gemini 2.0 Flash is the primary — it's free and fast. When Gemini hits rate limits, we fail over to Claude Haiku 4.5 or GPT-5 Nano through Replit's AI integrations, which come pre-budgeted. DeepSeek R1 via OpenRouter handles our strategic reasoning — the think tags are auto-stripped. The system detects rate limits in real-time and switches providers seamlessly. The user never sees an error. This multi-provider approach means we're never dependent on a single AI vendor and we keep costs near zero for the nonprofit.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curriculum has 60 deep, real lessons — no placeholders. AI Literacy covers 30 lessons across 10 modules for grades 6-8 and 9-12. Workforce Readiness has 21 lessons across 7 modules. Social-Emotional Learning has 9 lessons across 3 modules for grades 3-5, 6-8, and 9-12. Each lesson includes thousands of words of instruction, interactive activities, and grant-aligned content. Students progress through 5 mastery levels: Explorer, Guide, Architect, Innovator, and Master. Each level has capstone projects and parent teachback verification. The AI companions — Spark for students, Sparky for adults — adapt to grade level, use Socratic questioning, and include comprehensive safety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career pathways across 12 industry categories. Technology, Healthcare, Business, Engineering, Skilled Trades, Military &amp; Public Service, Arts, Education, Law &amp; Justice, Science, Media, and Agriculture. Each pathway has structured progression from exploration through job readiness, skill training, and career placement. The AI Workforce Academy provides adult professional AI training across 7 tracks aligned with WIOA standards. The Program Management Academy offers standalone PM certification curriculum. All pathways connect to employer partnerships and our mentor network for direct placement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Creation Studio gives students 10 professional-grade tools — but only after they earn access by completing curriculum modules. This is our mastery-gated approach: prove you understand responsible AI use before accessing powerful tools. The tools include Presentation Builder, Video Script Creator, Sales Pitch Builder, Business Plan Generator, Research Assistant, Life Planner, Project Planner, Document Writer, Resume Builder, and Brainstorm Studio. Adults access all tools through Sparky. Beyond the studio, we have a full Video Production Pipeline for content creation, rendering, and distribution, and an Empathetic AI Navigator that provides persistent, context-aware chat leveraging SDOH and criminal justice frameworks with GIS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Panther Village is our immersive virtual campus for 6th-grade students. It features interactive buildings, avatar customization with skin tones and outfits, house systems with merit points, daily quests, and leaderboards. The stock market simulator teaches financial literacy through real-time trading simulation. The Academy Wallet provides a virtual currency system. The Campus Builder lets students fund and build virtual features. My Journal supports daily reflections and check-ins. Dream Design is a career and college goal-setting interface. And STAAR Prep provides grade-level test preparation aligned to Texas TEKS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health equity ecosystem includes 7 specialized platforms. Whole-Person Health provides clinical screenings and whole-person assessments. Sankofa Health delivers culturally responsive health services. Black Maternal Health addresses the maternal mortality crisis with perinatal care — Black women are 3 to 4 times more likely to die from pregnancy-related causes. Sankofa Feminine Health and Sankofa Men's Health provide gender-specific care. SafeCogniCare focuses on cognitive health and TBI — critical for veterans and justice-involved populations. PillScheduler handles medication adherence. Together these platforms share data through the agent network — a patient flagged in one platform automatically triggers relevant assessments in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operate three regional hubs forming an interconnected network. The Austin Hub focuses on housing crisis response — median home price $435,000, 3,238 individuals in the 2025 point-in-time count, 85% of renters cost-burdened. Partners include CommUnity Care, ECHO, Workforce Solutions, AISD, and Travis County. The Manor Hub addresses growth without gaps — 400% population growth since 2010, 38% youth population, critical infrastructure gaps. Partners include Manor ISD and Manor Economic Development. The Pflugerville Hub focuses on infrastructure before growth — 75,000+ population, 52% growth rate, significant digital access gap. Each hub activates specific ecosystem platforms based on local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RPLICE — Research, Planning, Learning and Implementation Center of Excellence — is our external research platform connected as the Better Science Lab and Research Quality Gate. It runs at salp-science--mrterryflood.replit.app. The AI Community Analysis engine uses Census tract-level data to reveal disparities that county-level averages hide. We analyze 252+ tracts per region across 12 preset areas exposing the Three Realities: what research says, what politics allow, and what works on the ground. The toolkit includes CFIR assessment scoring across all 5 domains, RE-AIM evaluation scorecards, fidelity checklists, and a Quality Gate Dashboard. The 9-section RPLICE report covers Three Realities, CFIR 2.0, RE-AIM, SALP, Risk/Protective Factor Matrix, Grant Alignment, and a 90-Day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grant engine handles the full lifecycle: discovery, analysis, narrative generation, and package preparation. We have daily automated discovery across 7 sources and 15 keywords with SAM.gov API integration. AI-powered semantic analysis scores each grant for fit. The Grant Narrative Generator writes funder-specific narratives. The system produces ready-to-submit grant packages with logic models, budget templates, and evidence citations. Our priority grants right now: BB Collective Research at $50,000, Rare Impact Fund at $250,000 to $500,000, Austin FC Dream Starter at $100,000, St. David's Foundation at up to $1 million, SSG Fox VA at $750,000, and Centene Foundation with a May 31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ecosystem operations layer keeps everything coordinated without bottlenecking autonomy. The Ecosystem Cross-Evaluation runs weekly and on-demand MAP-GAP peer review generating executive summaries and ranked scores. The Self-Audit runs every 6 hours catching blind spots. The Bilateral Collaboration Exchange happens 3 times daily — automated exchange of intelligence, changes, lessons, and questions. The Confidence Drift and Autonomy Quadrants track earned trust to assess autonomy levels. The Captain Load Absorption Protocol lets captains temporarily absorb critical deliverables from down partners. And the Multi-Ecosystem Firewall enables platforms to connect to multiple ecosystems with strict data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community intelligence layer includes GIS-enabled resource mapping using Leaflet with OpenStreetMap tiles, covering all 50 states plus DC and territories. The Community Intelligence Map shows local support services, the Impact Dashboard visualizes outcomes across social determinants, and the Transparency Dashboard provides public-facing metrics. The Smart Intake Wizard captures comprehensive profiles including SDOH factors, justice history, and housing status. The Community Partner Network manages referrals across organizations. Data sources include CDC PLACES API, CDC ATSDR SVI, FBI Crime Data API, Census Bureau ACS, USDA Food Access Atlas, HUD, SAMHSA, and BLS. Everything is tract-level, not county-level.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Execution Engine is our full operational program management system. It has a 6-step setup wizard, three methodology paths — Implementation Science, Traditional Project Management, and Hybrid — a real-time Execution Dashboard, and grant alignment tracking. The MCE Contract Management Center handles full contract lifecycle management for our minority business enterprise platform. The Dosage Engine tracks the amount of service delivery to individuals. The Early Warning System provides predictive analytics for at-risk students or program gaps. Post-award grant execution tools, KPI dashboards, and a Facilitator Hub round out the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not an afterthought — it's built into every component. WCAG 2.1 AA compliance with 2,415+ test identifiers and 95+ accessibility labels. Adaptive learning features include dyslexia-friendly fonts, large text mode, high contrast, and reduced motion support. We support English and Spanish. Mobile responsive design works on all devices. COPPA compliant with parental consent and age-appropriate content. FERPA aligned with student data protection. OIDC authentication with magic link, Google, and GitHub login. All API routes have rate limiting, error handling, and input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runs on a production-ready stack. Over 70 pages, 124+ API routes with 100% error handling, 60+ code-split components. The frontend uses React with Vite for fast builds, TanStack Query for data management, Tailwind CSS with shadcn/ui components, and wouter for routing. The backend runs Node.js with Express, PostgreSQL via Drizzle ORM, and our 5-provider AI engine. The database uses Neon-backed PostgreSQL. We have live GIS integration with interactive Leaflet maps. The entire stack is deployed on Replit with automatic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speaks to both funders and collaborators — because organizations like Measure Austin, United Way, and local coalitions need to see what they gain from partnering with us, not just what a funder gets for their money. For funders: measurable outcomes with locked Census baselines, real-time gap tracking, and automated reporting. For collaborators: shared data infrastructure — tract-level community data, GIS mapping, and 8 federal data sources already integrated and actionable. Both get coordinated intervention through 24 autonomous platforms with documented reasoning on every exchange. And both get ready-made deliverables — funders get grant narratives and logic models, collaborators get community data packages, shared dashboards, and API access to co-build on our infrastructure. The value proposition is different but equally strong: funders see accountability, collaborators see infrastructure they don't have to build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serve five distinct populations. Students of all ages get AI mastery curriculum, career exploration, mentorship, and financial literacy. Justice-involved individuals get reentry case management with 5-phase progression, Thrive Scores, and court-ready reports. Veterans get military-to-civilian transition through Mission Transition, VA service connection, and cognitive health through SafeCogniCare. Schools and districts get our LMS, classroom management, progress tracking, and STAAR preparation. And funders and community partners get grant-aligned metrics, impact dashboards, data export, and API integration. Each audience gets specific value from the ecosystem, and the autonomous agent network ensures coordinated service delivery across all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differentiate us from every other workforce development platform. First: autonomous agents, not siloed tools. Our 24 platforms coordinate through reasoning-required communication — they don't just exist side by side, they actively collaborate. Second: earn through mastery. AI tools are unlocked by completing curriculum modules, not purchased. Students prove readiness before accessing professional tools. Third: tract-level truth. We expose what county averages hide — poverty, unemployment, and educational attainment at the Census tract level, not the county level. And fourth: implementation science. Everything is validated through CFIR and RE-AIM frameworks. This isn't just a platform — it's a scientifically validated intervention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phased rollout starts with foundation in months 1-3: platform deployment, initial school partnerships, core curriculum launch, and reentry program pilot. Phase 2, Growth, runs months 4-6: mentor network expansion, career pipeline activation, student onboarding at scale, and justice partner integration. Phase 3, Scale, runs months 7-12: multi-district rollout, employer partnerships, national hub expansion, and full agent network activation. The live platform is already running at thrivingcommunitiesforall.com with production data. We're not asking funders to invest in a concept — we're asking them to scale what's already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people who learn to think with AI today will lead tomorrow. This is not a concept. This is a live, production-running, data-validated ecosystem with 24 autonomous platforms, implementation science validation, criminal justice intelligence, health equity coordination, and workforce development pipelines — all connected through an AI-powered agent network with reasoning-required communication. We invite you to explore the live platform at thrivingcommunitiesforall.com, review our impact data, and connect with us about partnership or funding. Contact Dr. Terry Flood at mr.terryflood@gmail.com. Payments can be made via Cash App at $MRTDFLOOD or PayPal at paypal.me/TERRYFLOODCEO.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1C2A"/>
        </a:solidFill>
      </p:bgPr>
    </p:bg>
    <p:spTree>
      <p:nvGrpSpPr>
        <p:cNvPr id="1" name=""/>
        <p:cNvGrpSpPr/>
        <p:nvPr/>
      </p:nvGrpSpPr>
      <p:grpSpPr>
        <a:xfrm>
          <a:off x="0" y="0"/>
          <a:ext cx="0" cy="0"/>
          <a:chOff x="0" y="0"/>
          <a:chExt cx="0" cy="0"/>
        </a:xfrm>
      </p:grpSpPr>
      <p:sp>
        <p:nvSpPr>
          <p:cNvPr id="3" name="Text 0"/>
          <p:cNvSpPr/>
          <p:nvPr/>
        </p:nvSpPr>
        <p:spPr>
          <a:xfrm>
            <a:off x="731520" y="1097280"/>
            <a:ext cx="10515600" cy="137160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ThriveUp Academy</a:t>
            </a:r>
            <a:endParaRPr lang="en-US" sz="4800" dirty="0"/>
          </a:p>
        </p:txBody>
      </p:sp>
      <p:sp>
        <p:nvSpPr>
          <p:cNvPr id="4" name="Text 1"/>
          <p:cNvSpPr/>
          <p:nvPr/>
        </p:nvSpPr>
        <p:spPr>
          <a:xfrm>
            <a:off x="731520" y="2560320"/>
            <a:ext cx="10515600" cy="640080"/>
          </a:xfrm>
          <a:prstGeom prst="rect">
            <a:avLst/>
          </a:prstGeom>
          <a:noFill/>
          <a:ln/>
        </p:spPr>
        <p:txBody>
          <a:bodyPr wrap="square" rtlCol="0" anchor="ctr"/>
          <a:lstStyle/>
          <a:p>
            <a:pPr algn="ctr" indent="0" marL="0">
              <a:buNone/>
            </a:pPr>
            <a:r>
              <a:rPr lang="en-US" sz="2200" dirty="0">
                <a:solidFill>
                  <a:srgbClr val="E8E0E0"/>
                </a:solidFill>
                <a:latin typeface="Arial" pitchFamily="34" charset="0"/>
                <a:ea typeface="Arial" pitchFamily="34" charset="-122"/>
                <a:cs typeface="Arial" pitchFamily="34" charset="-120"/>
              </a:rPr>
              <a:t>Autonomous Collaborative Operating System (ACOS)</a:t>
            </a:r>
            <a:endParaRPr lang="en-US" sz="2200" dirty="0"/>
          </a:p>
        </p:txBody>
      </p:sp>
      <p:sp>
        <p:nvSpPr>
          <p:cNvPr id="5" name="Text 2"/>
          <p:cNvSpPr/>
          <p:nvPr/>
        </p:nvSpPr>
        <p:spPr>
          <a:xfrm>
            <a:off x="731520" y="3291840"/>
            <a:ext cx="10515600" cy="548640"/>
          </a:xfrm>
          <a:prstGeom prst="rect">
            <a:avLst/>
          </a:prstGeom>
          <a:noFill/>
          <a:ln/>
        </p:spPr>
        <p:txBody>
          <a:bodyPr wrap="square" rtlCol="0" anchor="ctr"/>
          <a:lstStyle/>
          <a:p>
            <a:pPr algn="ctr" indent="0" marL="0">
              <a:buNone/>
            </a:pPr>
            <a:r>
              <a:rPr lang="en-US" sz="1600" dirty="0">
                <a:solidFill>
                  <a:srgbClr val="D0D0D0"/>
                </a:solidFill>
                <a:latin typeface="Arial" pitchFamily="34" charset="0"/>
                <a:ea typeface="Arial" pitchFamily="34" charset="-122"/>
                <a:cs typeface="Arial" pitchFamily="34" charset="-120"/>
              </a:rPr>
              <a:t>24-Platform AI-Powered Workforce Development &amp; Community Enablement Ecosystem</a:t>
            </a:r>
            <a:endParaRPr lang="en-US" sz="1600" dirty="0"/>
          </a:p>
        </p:txBody>
      </p:sp>
      <p:sp>
        <p:nvSpPr>
          <p:cNvPr id="6" name="Shape 3"/>
          <p:cNvSpPr/>
          <p:nvPr/>
        </p:nvSpPr>
        <p:spPr>
          <a:xfrm>
            <a:off x="4114800" y="4114800"/>
            <a:ext cx="3657600" cy="36576"/>
          </a:xfrm>
          <a:prstGeom prst="rect">
            <a:avLst/>
          </a:prstGeom>
          <a:solidFill>
            <a:srgbClr val="FFFFFF"/>
          </a:solidFill>
          <a:ln/>
        </p:spPr>
      </p:sp>
      <p:sp>
        <p:nvSpPr>
          <p:cNvPr id="7" name="Text 4"/>
          <p:cNvSpPr/>
          <p:nvPr/>
        </p:nvSpPr>
        <p:spPr>
          <a:xfrm>
            <a:off x="731520" y="4572000"/>
            <a:ext cx="10515600" cy="457200"/>
          </a:xfrm>
          <a:prstGeom prst="rect">
            <a:avLst/>
          </a:prstGeom>
          <a:noFill/>
          <a:ln/>
        </p:spPr>
        <p:txBody>
          <a:bodyPr wrap="square" rtlCol="0" anchor="ctr"/>
          <a:lstStyle/>
          <a:p>
            <a:pPr algn="ctr" indent="0" marL="0">
              <a:buNone/>
            </a:pPr>
            <a:r>
              <a:rPr lang="en-US" sz="1300" dirty="0">
                <a:solidFill>
                  <a:srgbClr val="CCCCCC"/>
                </a:solidFill>
                <a:latin typeface="Arial" pitchFamily="34" charset="0"/>
                <a:ea typeface="Arial" pitchFamily="34" charset="-122"/>
                <a:cs typeface="Arial" pitchFamily="34" charset="-120"/>
              </a:rPr>
              <a:t>The Collaborative Advocate Foundation  |  501(c)(3)  |  EIN 41-3618003</a:t>
            </a:r>
            <a:endParaRPr lang="en-US" sz="1300" dirty="0"/>
          </a:p>
        </p:txBody>
      </p:sp>
      <p:sp>
        <p:nvSpPr>
          <p:cNvPr id="8" name="Text 5"/>
          <p:cNvSpPr/>
          <p:nvPr/>
        </p:nvSpPr>
        <p:spPr>
          <a:xfrm>
            <a:off x="731520" y="5029200"/>
            <a:ext cx="10515600" cy="457200"/>
          </a:xfrm>
          <a:prstGeom prst="rect">
            <a:avLst/>
          </a:prstGeom>
          <a:noFill/>
          <a:ln/>
        </p:spPr>
        <p:txBody>
          <a:bodyPr wrap="square" rtlCol="0" anchor="ctr"/>
          <a:lstStyle/>
          <a:p>
            <a:pPr algn="ctr" indent="0" marL="0">
              <a:buNone/>
            </a:pPr>
            <a:r>
              <a:rPr lang="en-US" sz="1300" dirty="0">
                <a:solidFill>
                  <a:srgbClr val="BBBBBB"/>
                </a:solidFill>
                <a:latin typeface="Arial" pitchFamily="34" charset="0"/>
                <a:ea typeface="Arial" pitchFamily="34" charset="-122"/>
                <a:cs typeface="Arial" pitchFamily="34" charset="-120"/>
              </a:rPr>
              <a:t>Veteran-Founded  |  Black-Led  |  Dr. Terry Flood, Founder &amp; CEO</a:t>
            </a:r>
            <a:endParaRPr lang="en-US" sz="1300" dirty="0"/>
          </a:p>
        </p:txBody>
      </p:sp>
      <p:sp>
        <p:nvSpPr>
          <p:cNvPr id="9" name="Text 6"/>
          <p:cNvSpPr/>
          <p:nvPr/>
        </p:nvSpPr>
        <p:spPr>
          <a:xfrm>
            <a:off x="731520" y="5577840"/>
            <a:ext cx="10515600" cy="365760"/>
          </a:xfrm>
          <a:prstGeom prst="rect">
            <a:avLst/>
          </a:prstGeom>
          <a:noFill/>
          <a:ln/>
        </p:spPr>
        <p:txBody>
          <a:bodyPr wrap="square" rtlCol="0" anchor="ctr"/>
          <a:lstStyle/>
          <a:p>
            <a:pPr algn="ctr" indent="0" marL="0">
              <a:buNone/>
            </a:pPr>
            <a:r>
              <a:rPr lang="en-US" sz="1100" dirty="0">
                <a:solidFill>
                  <a:srgbClr val="999999"/>
                </a:solidFill>
                <a:latin typeface="Arial" pitchFamily="34" charset="0"/>
                <a:ea typeface="Arial" pitchFamily="34" charset="-122"/>
                <a:cs typeface="Arial" pitchFamily="34" charset="-120"/>
              </a:rPr>
              <a:t>17912 Stefano Drive, Pflugerville, TX 78660  |  mr.terryflood@gmail.com</a:t>
            </a:r>
            <a:endParaRPr lang="en-US" sz="1100" dirty="0"/>
          </a:p>
        </p:txBody>
      </p:sp>
      <p:sp>
        <p:nvSpPr>
          <p:cNvPr id="10" name="Text 7"/>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1/30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sp>
        <p:nvSpPr>
          <p:cNvPr id="3" name="Shape 0"/>
          <p:cNvSpPr/>
          <p:nvPr/>
        </p:nvSpPr>
        <p:spPr>
          <a:xfrm>
            <a:off x="0" y="0"/>
            <a:ext cx="4114800" cy="6858000"/>
          </a:xfrm>
          <a:prstGeom prst="rect">
            <a:avLst/>
          </a:prstGeom>
          <a:solidFill>
            <a:srgbClr val="6B1C2A"/>
          </a:solidFill>
          <a:ln/>
        </p:spPr>
      </p:sp>
      <p:sp>
        <p:nvSpPr>
          <p:cNvPr id="4" name="Text 1"/>
          <p:cNvSpPr/>
          <p:nvPr/>
        </p:nvSpPr>
        <p:spPr>
          <a:xfrm>
            <a:off x="457200" y="1371600"/>
            <a:ext cx="3200400" cy="164592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Dr. Terry</a:t>
            </a:r>
            <a:endParaRPr lang="en-US" sz="3600" dirty="0"/>
          </a:p>
          <a:p>
            <a:pPr indent="0" marL="0">
              <a:buNone/>
            </a:pPr>
            <a:r>
              <a:rPr lang="en-US" sz="3600" b="1" dirty="0">
                <a:solidFill>
                  <a:srgbClr val="FFFFFF"/>
                </a:solidFill>
                <a:latin typeface="Arial" pitchFamily="34" charset="0"/>
                <a:ea typeface="Arial" pitchFamily="34" charset="-122"/>
                <a:cs typeface="Arial" pitchFamily="34" charset="-120"/>
              </a:rPr>
              <a:t>Flood Sr.</a:t>
            </a:r>
            <a:endParaRPr lang="en-US" sz="3600" dirty="0"/>
          </a:p>
        </p:txBody>
      </p:sp>
      <p:sp>
        <p:nvSpPr>
          <p:cNvPr id="5" name="Text 2"/>
          <p:cNvSpPr/>
          <p:nvPr/>
        </p:nvSpPr>
        <p:spPr>
          <a:xfrm>
            <a:off x="457200" y="3017520"/>
            <a:ext cx="3200400" cy="457200"/>
          </a:xfrm>
          <a:prstGeom prst="rect">
            <a:avLst/>
          </a:prstGeom>
          <a:noFill/>
          <a:ln/>
        </p:spPr>
        <p:txBody>
          <a:bodyPr wrap="square" rtlCol="0" anchor="ctr"/>
          <a:lstStyle/>
          <a:p>
            <a:pPr indent="0" marL="0">
              <a:buNone/>
            </a:pPr>
            <a:r>
              <a:rPr lang="en-US" sz="1600" dirty="0">
                <a:solidFill>
                  <a:srgbClr val="DDDDDD"/>
                </a:solidFill>
                <a:latin typeface="Arial" pitchFamily="34" charset="0"/>
                <a:ea typeface="Arial" pitchFamily="34" charset="-122"/>
                <a:cs typeface="Arial" pitchFamily="34" charset="-120"/>
              </a:rPr>
              <a:t>Founder &amp; CEO</a:t>
            </a:r>
            <a:endParaRPr lang="en-US" sz="1600" dirty="0"/>
          </a:p>
        </p:txBody>
      </p:sp>
      <p:sp>
        <p:nvSpPr>
          <p:cNvPr id="6" name="Text 3"/>
          <p:cNvSpPr/>
          <p:nvPr/>
        </p:nvSpPr>
        <p:spPr>
          <a:xfrm>
            <a:off x="457200" y="3566160"/>
            <a:ext cx="3200400" cy="457200"/>
          </a:xfrm>
          <a:prstGeom prst="rect">
            <a:avLst/>
          </a:prstGeom>
          <a:noFill/>
          <a:ln/>
        </p:spPr>
        <p:txBody>
          <a:bodyPr wrap="square" rtlCol="0" anchor="ctr"/>
          <a:lstStyle/>
          <a:p>
            <a:pPr indent="0" marL="0">
              <a:buNone/>
            </a:pPr>
            <a:r>
              <a:rPr lang="en-US" sz="1200" dirty="0">
                <a:solidFill>
                  <a:srgbClr val="BBBBBB"/>
                </a:solidFill>
                <a:latin typeface="Arial" pitchFamily="34" charset="0"/>
                <a:ea typeface="Arial" pitchFamily="34" charset="-122"/>
                <a:cs typeface="Arial" pitchFamily="34" charset="-120"/>
              </a:rPr>
              <a:t>Veteran  |  DHA  |  6 Master's Degrees</a:t>
            </a:r>
            <a:endParaRPr lang="en-US" sz="1200" dirty="0"/>
          </a:p>
        </p:txBody>
      </p:sp>
      <p:sp>
        <p:nvSpPr>
          <p:cNvPr id="7" name="Text 4"/>
          <p:cNvSpPr/>
          <p:nvPr/>
        </p:nvSpPr>
        <p:spPr>
          <a:xfrm>
            <a:off x="457200" y="4206240"/>
            <a:ext cx="3200400" cy="32004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  DHA — Healthcare Administration</a:t>
            </a:r>
            <a:endParaRPr lang="en-US" sz="1000" dirty="0"/>
          </a:p>
        </p:txBody>
      </p:sp>
      <p:sp>
        <p:nvSpPr>
          <p:cNvPr id="8" name="Text 5"/>
          <p:cNvSpPr/>
          <p:nvPr/>
        </p:nvSpPr>
        <p:spPr>
          <a:xfrm>
            <a:off x="457200" y="4526280"/>
            <a:ext cx="3200400" cy="32004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  MS — Implementation Science</a:t>
            </a:r>
            <a:endParaRPr lang="en-US" sz="1000" dirty="0"/>
          </a:p>
        </p:txBody>
      </p:sp>
      <p:sp>
        <p:nvSpPr>
          <p:cNvPr id="9" name="Text 6"/>
          <p:cNvSpPr/>
          <p:nvPr/>
        </p:nvSpPr>
        <p:spPr>
          <a:xfrm>
            <a:off x="457200" y="4846320"/>
            <a:ext cx="3200400" cy="32004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  MA — Psychology</a:t>
            </a:r>
            <a:endParaRPr lang="en-US" sz="1000" dirty="0"/>
          </a:p>
        </p:txBody>
      </p:sp>
      <p:sp>
        <p:nvSpPr>
          <p:cNvPr id="10" name="Text 7"/>
          <p:cNvSpPr/>
          <p:nvPr/>
        </p:nvSpPr>
        <p:spPr>
          <a:xfrm>
            <a:off x="457200" y="5166360"/>
            <a:ext cx="3200400" cy="32004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  MSHRM — Human Resource Management</a:t>
            </a:r>
            <a:endParaRPr lang="en-US" sz="1000" dirty="0"/>
          </a:p>
        </p:txBody>
      </p:sp>
      <p:sp>
        <p:nvSpPr>
          <p:cNvPr id="11" name="Text 8"/>
          <p:cNvSpPr/>
          <p:nvPr/>
        </p:nvSpPr>
        <p:spPr>
          <a:xfrm>
            <a:off x="457200" y="5486400"/>
            <a:ext cx="3200400" cy="32004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  MBA — Business Administration</a:t>
            </a:r>
            <a:endParaRPr lang="en-US" sz="1000" dirty="0"/>
          </a:p>
        </p:txBody>
      </p:sp>
      <p:sp>
        <p:nvSpPr>
          <p:cNvPr id="12" name="Text 9"/>
          <p:cNvSpPr/>
          <p:nvPr/>
        </p:nvSpPr>
        <p:spPr>
          <a:xfrm>
            <a:off x="457200" y="5806440"/>
            <a:ext cx="3200400" cy="32004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  MSCJ — Criminal Justice</a:t>
            </a:r>
            <a:endParaRPr lang="en-US" sz="1000" dirty="0"/>
          </a:p>
        </p:txBody>
      </p:sp>
      <p:sp>
        <p:nvSpPr>
          <p:cNvPr id="13" name="Text 10"/>
          <p:cNvSpPr/>
          <p:nvPr/>
        </p:nvSpPr>
        <p:spPr>
          <a:xfrm>
            <a:off x="457200" y="6126480"/>
            <a:ext cx="3200400" cy="32004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  Public Policy (Graduate)</a:t>
            </a:r>
            <a:endParaRPr lang="en-US" sz="1000" dirty="0"/>
          </a:p>
        </p:txBody>
      </p:sp>
      <p:sp>
        <p:nvSpPr>
          <p:cNvPr id="14" name="Text 11"/>
          <p:cNvSpPr/>
          <p:nvPr/>
        </p:nvSpPr>
        <p:spPr>
          <a:xfrm>
            <a:off x="4572000" y="457200"/>
            <a:ext cx="68580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THREE ENTITIES</a:t>
            </a:r>
            <a:endParaRPr lang="en-US" sz="1100" dirty="0"/>
          </a:p>
        </p:txBody>
      </p:sp>
      <p:sp>
        <p:nvSpPr>
          <p:cNvPr id="15" name="Shape 12"/>
          <p:cNvSpPr/>
          <p:nvPr/>
        </p:nvSpPr>
        <p:spPr>
          <a:xfrm>
            <a:off x="4572000" y="1097280"/>
            <a:ext cx="6858000" cy="1188720"/>
          </a:xfrm>
          <a:prstGeom prst="roundRect">
            <a:avLst>
              <a:gd name="adj" fmla="val 7692"/>
            </a:avLst>
          </a:prstGeom>
          <a:solidFill>
            <a:srgbClr val="FFFFFF"/>
          </a:solidFill>
          <a:ln w="12700">
            <a:solidFill>
              <a:srgbClr val="E8E0D8"/>
            </a:solidFill>
            <a:prstDash val="solid"/>
          </a:ln>
        </p:spPr>
      </p:sp>
      <p:sp>
        <p:nvSpPr>
          <p:cNvPr id="16" name="Text 13"/>
          <p:cNvSpPr/>
          <p:nvPr/>
        </p:nvSpPr>
        <p:spPr>
          <a:xfrm>
            <a:off x="4846320" y="1188720"/>
            <a:ext cx="6400800" cy="411480"/>
          </a:xfrm>
          <a:prstGeom prst="rect">
            <a:avLst/>
          </a:prstGeom>
          <a:noFill/>
          <a:ln/>
        </p:spPr>
        <p:txBody>
          <a:bodyPr wrap="square" rtlCol="0" anchor="ctr"/>
          <a:lstStyle/>
          <a:p>
            <a:pPr indent="0" marL="0">
              <a:buNone/>
            </a:pPr>
            <a:r>
              <a:rPr lang="en-US" sz="1400" b="1" dirty="0">
                <a:solidFill>
                  <a:srgbClr val="2A1015"/>
                </a:solidFill>
                <a:latin typeface="Arial" pitchFamily="34" charset="0"/>
                <a:ea typeface="Arial" pitchFamily="34" charset="-122"/>
                <a:cs typeface="Arial" pitchFamily="34" charset="-120"/>
              </a:rPr>
              <a:t>The Collaborative Advocate Foundation</a:t>
            </a:r>
            <a:endParaRPr lang="en-US" sz="1400" dirty="0"/>
          </a:p>
        </p:txBody>
      </p:sp>
      <p:sp>
        <p:nvSpPr>
          <p:cNvPr id="17" name="Text 14"/>
          <p:cNvSpPr/>
          <p:nvPr/>
        </p:nvSpPr>
        <p:spPr>
          <a:xfrm>
            <a:off x="4846320" y="1554480"/>
            <a:ext cx="6400800" cy="27432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501(c)(3) Nonprofit  |  EIN: 41-3618003</a:t>
            </a:r>
            <a:endParaRPr lang="en-US" sz="1100" dirty="0"/>
          </a:p>
        </p:txBody>
      </p:sp>
      <p:sp>
        <p:nvSpPr>
          <p:cNvPr id="18" name="Text 15"/>
          <p:cNvSpPr/>
          <p:nvPr/>
        </p:nvSpPr>
        <p:spPr>
          <a:xfrm>
            <a:off x="4846320" y="1874520"/>
            <a:ext cx="6400800" cy="274320"/>
          </a:xfrm>
          <a:prstGeom prst="rect">
            <a:avLst/>
          </a:prstGeom>
          <a:noFill/>
          <a:ln/>
        </p:spPr>
        <p:txBody>
          <a:bodyPr wrap="square" rtlCol="0" anchor="ctr"/>
          <a:lstStyle/>
          <a:p>
            <a:pPr indent="0" marL="0">
              <a:buNone/>
            </a:pPr>
            <a:r>
              <a:rPr lang="en-US" sz="1100" dirty="0">
                <a:solidFill>
                  <a:srgbClr val="6B1C2A"/>
                </a:solidFill>
                <a:latin typeface="Arial" pitchFamily="34" charset="0"/>
                <a:ea typeface="Arial" pitchFamily="34" charset="-122"/>
                <a:cs typeface="Arial" pitchFamily="34" charset="-120"/>
              </a:rPr>
              <a:t>Fiscal Agent &amp; Research Engine</a:t>
            </a:r>
            <a:endParaRPr lang="en-US" sz="1100" dirty="0"/>
          </a:p>
        </p:txBody>
      </p:sp>
      <p:sp>
        <p:nvSpPr>
          <p:cNvPr id="19" name="Shape 16"/>
          <p:cNvSpPr/>
          <p:nvPr/>
        </p:nvSpPr>
        <p:spPr>
          <a:xfrm>
            <a:off x="4572000" y="2560320"/>
            <a:ext cx="6858000" cy="1188720"/>
          </a:xfrm>
          <a:prstGeom prst="roundRect">
            <a:avLst>
              <a:gd name="adj" fmla="val 7692"/>
            </a:avLst>
          </a:prstGeom>
          <a:solidFill>
            <a:srgbClr val="FFFFFF"/>
          </a:solidFill>
          <a:ln w="12700">
            <a:solidFill>
              <a:srgbClr val="E8E0D8"/>
            </a:solidFill>
            <a:prstDash val="solid"/>
          </a:ln>
        </p:spPr>
      </p:sp>
      <p:sp>
        <p:nvSpPr>
          <p:cNvPr id="20" name="Text 17"/>
          <p:cNvSpPr/>
          <p:nvPr/>
        </p:nvSpPr>
        <p:spPr>
          <a:xfrm>
            <a:off x="4846320" y="2651760"/>
            <a:ext cx="6400800" cy="411480"/>
          </a:xfrm>
          <a:prstGeom prst="rect">
            <a:avLst/>
          </a:prstGeom>
          <a:noFill/>
          <a:ln/>
        </p:spPr>
        <p:txBody>
          <a:bodyPr wrap="square" rtlCol="0" anchor="ctr"/>
          <a:lstStyle/>
          <a:p>
            <a:pPr indent="0" marL="0">
              <a:buNone/>
            </a:pPr>
            <a:r>
              <a:rPr lang="en-US" sz="1400" b="1" dirty="0">
                <a:solidFill>
                  <a:srgbClr val="2A1015"/>
                </a:solidFill>
                <a:latin typeface="Arial" pitchFamily="34" charset="0"/>
                <a:ea typeface="Arial" pitchFamily="34" charset="-122"/>
                <a:cs typeface="Arial" pitchFamily="34" charset="-120"/>
              </a:rPr>
              <a:t>Collaboration &amp; Implementation Professionals LLC</a:t>
            </a:r>
            <a:endParaRPr lang="en-US" sz="1400" dirty="0"/>
          </a:p>
        </p:txBody>
      </p:sp>
      <p:sp>
        <p:nvSpPr>
          <p:cNvPr id="21" name="Text 18"/>
          <p:cNvSpPr/>
          <p:nvPr/>
        </p:nvSpPr>
        <p:spPr>
          <a:xfrm>
            <a:off x="4846320" y="3017520"/>
            <a:ext cx="6400800" cy="27432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Veteran-Owned Small Business  |  EIN: 41-4996540</a:t>
            </a:r>
            <a:endParaRPr lang="en-US" sz="1100" dirty="0"/>
          </a:p>
        </p:txBody>
      </p:sp>
      <p:sp>
        <p:nvSpPr>
          <p:cNvPr id="22" name="Text 19"/>
          <p:cNvSpPr/>
          <p:nvPr/>
        </p:nvSpPr>
        <p:spPr>
          <a:xfrm>
            <a:off x="4846320" y="3337560"/>
            <a:ext cx="6400800" cy="274320"/>
          </a:xfrm>
          <a:prstGeom prst="rect">
            <a:avLst/>
          </a:prstGeom>
          <a:noFill/>
          <a:ln/>
        </p:spPr>
        <p:txBody>
          <a:bodyPr wrap="square" rtlCol="0" anchor="ctr"/>
          <a:lstStyle/>
          <a:p>
            <a:pPr indent="0" marL="0">
              <a:buNone/>
            </a:pPr>
            <a:r>
              <a:rPr lang="en-US" sz="1100" dirty="0">
                <a:solidFill>
                  <a:srgbClr val="6B1C2A"/>
                </a:solidFill>
                <a:latin typeface="Arial" pitchFamily="34" charset="0"/>
                <a:ea typeface="Arial" pitchFamily="34" charset="-122"/>
                <a:cs typeface="Arial" pitchFamily="34" charset="-120"/>
              </a:rPr>
              <a:t>Technology &amp; Consulting</a:t>
            </a:r>
            <a:endParaRPr lang="en-US" sz="1100" dirty="0"/>
          </a:p>
        </p:txBody>
      </p:sp>
      <p:sp>
        <p:nvSpPr>
          <p:cNvPr id="23" name="Shape 20"/>
          <p:cNvSpPr/>
          <p:nvPr/>
        </p:nvSpPr>
        <p:spPr>
          <a:xfrm>
            <a:off x="4572000" y="4023360"/>
            <a:ext cx="6858000" cy="1188720"/>
          </a:xfrm>
          <a:prstGeom prst="roundRect">
            <a:avLst>
              <a:gd name="adj" fmla="val 7692"/>
            </a:avLst>
          </a:prstGeom>
          <a:solidFill>
            <a:srgbClr val="FFFFFF"/>
          </a:solidFill>
          <a:ln w="12700">
            <a:solidFill>
              <a:srgbClr val="E8E0D8"/>
            </a:solidFill>
            <a:prstDash val="solid"/>
          </a:ln>
        </p:spPr>
      </p:sp>
      <p:sp>
        <p:nvSpPr>
          <p:cNvPr id="24" name="Text 21"/>
          <p:cNvSpPr/>
          <p:nvPr/>
        </p:nvSpPr>
        <p:spPr>
          <a:xfrm>
            <a:off x="4846320" y="4114800"/>
            <a:ext cx="6400800" cy="411480"/>
          </a:xfrm>
          <a:prstGeom prst="rect">
            <a:avLst/>
          </a:prstGeom>
          <a:noFill/>
          <a:ln/>
        </p:spPr>
        <p:txBody>
          <a:bodyPr wrap="square" rtlCol="0" anchor="ctr"/>
          <a:lstStyle/>
          <a:p>
            <a:pPr indent="0" marL="0">
              <a:buNone/>
            </a:pPr>
            <a:r>
              <a:rPr lang="en-US" sz="1400" b="1" dirty="0">
                <a:solidFill>
                  <a:srgbClr val="2A1015"/>
                </a:solidFill>
                <a:latin typeface="Arial" pitchFamily="34" charset="0"/>
                <a:ea typeface="Arial" pitchFamily="34" charset="-122"/>
                <a:cs typeface="Arial" pitchFamily="34" charset="-120"/>
              </a:rPr>
              <a:t>M&amp;T Consulting Solutions LLC</a:t>
            </a:r>
            <a:endParaRPr lang="en-US" sz="1400" dirty="0"/>
          </a:p>
        </p:txBody>
      </p:sp>
      <p:sp>
        <p:nvSpPr>
          <p:cNvPr id="25" name="Text 22"/>
          <p:cNvSpPr/>
          <p:nvPr/>
        </p:nvSpPr>
        <p:spPr>
          <a:xfrm>
            <a:off x="4846320" y="4480560"/>
            <a:ext cx="6400800" cy="27432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Consulting Entity  |  EIN: 41-4952178</a:t>
            </a:r>
            <a:endParaRPr lang="en-US" sz="1100" dirty="0"/>
          </a:p>
        </p:txBody>
      </p:sp>
      <p:sp>
        <p:nvSpPr>
          <p:cNvPr id="26" name="Text 23"/>
          <p:cNvSpPr/>
          <p:nvPr/>
        </p:nvSpPr>
        <p:spPr>
          <a:xfrm>
            <a:off x="4846320" y="4800600"/>
            <a:ext cx="6400800" cy="274320"/>
          </a:xfrm>
          <a:prstGeom prst="rect">
            <a:avLst/>
          </a:prstGeom>
          <a:noFill/>
          <a:ln/>
        </p:spPr>
        <p:txBody>
          <a:bodyPr wrap="square" rtlCol="0" anchor="ctr"/>
          <a:lstStyle/>
          <a:p>
            <a:pPr indent="0" marL="0">
              <a:buNone/>
            </a:pPr>
            <a:r>
              <a:rPr lang="en-US" sz="1100" dirty="0">
                <a:solidFill>
                  <a:srgbClr val="6B1C2A"/>
                </a:solidFill>
                <a:latin typeface="Arial" pitchFamily="34" charset="0"/>
                <a:ea typeface="Arial" pitchFamily="34" charset="-122"/>
                <a:cs typeface="Arial" pitchFamily="34" charset="-120"/>
              </a:rPr>
              <a:t>Strategic Advisory &amp; Program Design</a:t>
            </a:r>
            <a:endParaRPr lang="en-US" sz="1100" dirty="0"/>
          </a:p>
        </p:txBody>
      </p:sp>
      <p:sp>
        <p:nvSpPr>
          <p:cNvPr id="27" name="Text 24"/>
          <p:cNvSpPr/>
          <p:nvPr/>
        </p:nvSpPr>
        <p:spPr>
          <a:xfrm>
            <a:off x="4572000" y="4846320"/>
            <a:ext cx="68580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CORE PRINCIPLES</a:t>
            </a:r>
            <a:endParaRPr lang="en-US" sz="1100" dirty="0"/>
          </a:p>
        </p:txBody>
      </p:sp>
      <p:sp>
        <p:nvSpPr>
          <p:cNvPr id="28" name="Text 25"/>
          <p:cNvSpPr/>
          <p:nvPr/>
        </p:nvSpPr>
        <p:spPr>
          <a:xfrm>
            <a:off x="4572000" y="5303520"/>
            <a:ext cx="68580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Education = #1 protective factor against every social determinant</a:t>
            </a:r>
            <a:endParaRPr lang="en-US" sz="1100" dirty="0"/>
          </a:p>
        </p:txBody>
      </p:sp>
      <p:sp>
        <p:nvSpPr>
          <p:cNvPr id="29" name="Text 26"/>
          <p:cNvSpPr/>
          <p:nvPr/>
        </p:nvSpPr>
        <p:spPr>
          <a:xfrm>
            <a:off x="4572000" y="5669280"/>
            <a:ext cx="68580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Crime migrates with gentrification — it doesn't disappear</a:t>
            </a:r>
            <a:endParaRPr lang="en-US" sz="1100" dirty="0"/>
          </a:p>
        </p:txBody>
      </p:sp>
      <p:sp>
        <p:nvSpPr>
          <p:cNvPr id="30" name="Text 27"/>
          <p:cNvSpPr/>
          <p:nvPr/>
        </p:nvSpPr>
        <p:spPr>
          <a:xfrm>
            <a:off x="4572000" y="6035040"/>
            <a:ext cx="68580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County averages lie — tract-level data tells the truth</a:t>
            </a:r>
            <a:endParaRPr lang="en-US" sz="1100" dirty="0"/>
          </a:p>
        </p:txBody>
      </p:sp>
      <p:sp>
        <p:nvSpPr>
          <p:cNvPr id="31" name="Text 28"/>
          <p:cNvSpPr/>
          <p:nvPr/>
        </p:nvSpPr>
        <p:spPr>
          <a:xfrm>
            <a:off x="4572000" y="6400800"/>
            <a:ext cx="68580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2-parent households &lt; 60% → poverty &gt; 17% — every case studied</a:t>
            </a:r>
            <a:endParaRPr lang="en-US" sz="1100" dirty="0"/>
          </a:p>
        </p:txBody>
      </p:sp>
      <p:sp>
        <p:nvSpPr>
          <p:cNvPr id="32" name="Text 29"/>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2/30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365760"/>
            <a:ext cx="10058400" cy="457200"/>
          </a:xfrm>
          <a:prstGeom prst="rect">
            <a:avLst/>
          </a:prstGeom>
          <a:noFill/>
          <a:ln/>
        </p:spPr>
        <p:txBody>
          <a:bodyPr wrap="square" rtlCol="0" anchor="ctr"/>
          <a:lstStyle/>
          <a:p>
            <a:pPr indent="0" marL="0">
              <a:buNone/>
            </a:pPr>
            <a:r>
              <a:rPr lang="en-US" sz="1200" b="1" spc="400" kern="0" dirty="0">
                <a:solidFill>
                  <a:srgbClr val="C9A0A0"/>
                </a:solidFill>
                <a:latin typeface="Arial" pitchFamily="34" charset="0"/>
                <a:ea typeface="Arial" pitchFamily="34" charset="-122"/>
                <a:cs typeface="Arial" pitchFamily="34" charset="-120"/>
              </a:rPr>
              <a:t>THE CRISIS</a:t>
            </a:r>
            <a:endParaRPr lang="en-US" sz="1200" dirty="0"/>
          </a:p>
        </p:txBody>
      </p:sp>
      <p:sp>
        <p:nvSpPr>
          <p:cNvPr id="4" name="Text 1"/>
          <p:cNvSpPr/>
          <p:nvPr/>
        </p:nvSpPr>
        <p:spPr>
          <a:xfrm>
            <a:off x="731520" y="822960"/>
            <a:ext cx="10058400" cy="12801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Compounding barriers demand</a:t>
            </a:r>
            <a:endParaRPr lang="en-US" sz="3000" dirty="0"/>
          </a:p>
          <a:p>
            <a:pPr indent="0" marL="0">
              <a:buNone/>
            </a:pPr>
            <a:r>
              <a:rPr lang="en-US" sz="3000" b="1" dirty="0">
                <a:solidFill>
                  <a:srgbClr val="FFFFFF"/>
                </a:solidFill>
                <a:latin typeface="Arial" pitchFamily="34" charset="0"/>
                <a:ea typeface="Arial" pitchFamily="34" charset="-122"/>
                <a:cs typeface="Arial" pitchFamily="34" charset="-120"/>
              </a:rPr>
              <a:t>coordinated intervention</a:t>
            </a:r>
            <a:endParaRPr lang="en-US" sz="3000" dirty="0"/>
          </a:p>
        </p:txBody>
      </p:sp>
      <p:sp>
        <p:nvSpPr>
          <p:cNvPr id="5" name="Shape 2"/>
          <p:cNvSpPr/>
          <p:nvPr/>
        </p:nvSpPr>
        <p:spPr>
          <a:xfrm>
            <a:off x="457200" y="2560320"/>
            <a:ext cx="2651760" cy="2926080"/>
          </a:xfrm>
          <a:prstGeom prst="roundRect">
            <a:avLst>
              <a:gd name="adj" fmla="val 5172"/>
            </a:avLst>
          </a:prstGeom>
          <a:solidFill>
            <a:srgbClr val="2A2025"/>
          </a:solidFill>
          <a:ln w="25400">
            <a:solidFill>
              <a:srgbClr val="DC2626"/>
            </a:solidFill>
            <a:prstDash val="solid"/>
          </a:ln>
        </p:spPr>
      </p:sp>
      <p:sp>
        <p:nvSpPr>
          <p:cNvPr id="6" name="Text 3"/>
          <p:cNvSpPr/>
          <p:nvPr/>
        </p:nvSpPr>
        <p:spPr>
          <a:xfrm>
            <a:off x="457200" y="2834640"/>
            <a:ext cx="2651760" cy="1097280"/>
          </a:xfrm>
          <a:prstGeom prst="rect">
            <a:avLst/>
          </a:prstGeom>
          <a:noFill/>
          <a:ln/>
        </p:spPr>
        <p:txBody>
          <a:bodyPr wrap="square" rtlCol="0" anchor="ctr"/>
          <a:lstStyle/>
          <a:p>
            <a:pPr algn="ctr" indent="0" marL="0">
              <a:buNone/>
            </a:pPr>
            <a:r>
              <a:rPr lang="en-US" sz="4200" b="1" dirty="0">
                <a:solidFill>
                  <a:srgbClr val="DC2626"/>
                </a:solidFill>
                <a:latin typeface="Arial" pitchFamily="34" charset="0"/>
                <a:ea typeface="Arial" pitchFamily="34" charset="-122"/>
                <a:cs typeface="Arial" pitchFamily="34" charset="-120"/>
              </a:rPr>
              <a:t>67.8%</a:t>
            </a:r>
            <a:endParaRPr lang="en-US" sz="4200" dirty="0"/>
          </a:p>
        </p:txBody>
      </p:sp>
      <p:sp>
        <p:nvSpPr>
          <p:cNvPr id="7" name="Text 4"/>
          <p:cNvSpPr/>
          <p:nvPr/>
        </p:nvSpPr>
        <p:spPr>
          <a:xfrm>
            <a:off x="640080" y="3931920"/>
            <a:ext cx="2286000" cy="1097280"/>
          </a:xfrm>
          <a:prstGeom prst="rect">
            <a:avLst/>
          </a:prstGeom>
          <a:noFill/>
          <a:ln/>
        </p:spPr>
        <p:txBody>
          <a:bodyPr wrap="square" rtlCol="0" anchor="ctr"/>
          <a:lstStyle/>
          <a:p>
            <a:pPr algn="ctr" indent="0" marL="0">
              <a:buNone/>
            </a:pPr>
            <a:r>
              <a:rPr lang="en-US" sz="1200" dirty="0">
                <a:solidFill>
                  <a:srgbClr val="D0D0D0"/>
                </a:solidFill>
                <a:latin typeface="Arial" pitchFamily="34" charset="0"/>
                <a:ea typeface="Arial" pitchFamily="34" charset="-122"/>
                <a:cs typeface="Arial" pitchFamily="34" charset="-120"/>
              </a:rPr>
              <a:t>3-year recidivism rate</a:t>
            </a:r>
            <a:endParaRPr lang="en-US" sz="1200" dirty="0"/>
          </a:p>
          <a:p>
            <a:pPr algn="ctr" indent="0" marL="0">
              <a:buNone/>
            </a:pPr>
            <a:r>
              <a:rPr lang="en-US" sz="1200" dirty="0">
                <a:solidFill>
                  <a:srgbClr val="D0D0D0"/>
                </a:solidFill>
                <a:latin typeface="Arial" pitchFamily="34" charset="0"/>
                <a:ea typeface="Arial" pitchFamily="34" charset="-122"/>
                <a:cs typeface="Arial" pitchFamily="34" charset="-120"/>
              </a:rPr>
              <a:t>for released individuals</a:t>
            </a:r>
            <a:endParaRPr lang="en-US" sz="1200" dirty="0"/>
          </a:p>
        </p:txBody>
      </p:sp>
      <p:sp>
        <p:nvSpPr>
          <p:cNvPr id="8" name="Shape 5"/>
          <p:cNvSpPr/>
          <p:nvPr/>
        </p:nvSpPr>
        <p:spPr>
          <a:xfrm>
            <a:off x="3337560" y="2560320"/>
            <a:ext cx="2651760" cy="2926080"/>
          </a:xfrm>
          <a:prstGeom prst="roundRect">
            <a:avLst>
              <a:gd name="adj" fmla="val 5172"/>
            </a:avLst>
          </a:prstGeom>
          <a:solidFill>
            <a:srgbClr val="2A2025"/>
          </a:solidFill>
          <a:ln w="25400">
            <a:solidFill>
              <a:srgbClr val="D97706"/>
            </a:solidFill>
            <a:prstDash val="solid"/>
          </a:ln>
        </p:spPr>
      </p:sp>
      <p:sp>
        <p:nvSpPr>
          <p:cNvPr id="9" name="Text 6"/>
          <p:cNvSpPr/>
          <p:nvPr/>
        </p:nvSpPr>
        <p:spPr>
          <a:xfrm>
            <a:off x="3337560" y="2834640"/>
            <a:ext cx="2651760" cy="1097280"/>
          </a:xfrm>
          <a:prstGeom prst="rect">
            <a:avLst/>
          </a:prstGeom>
          <a:noFill/>
          <a:ln/>
        </p:spPr>
        <p:txBody>
          <a:bodyPr wrap="square" rtlCol="0" anchor="ctr"/>
          <a:lstStyle/>
          <a:p>
            <a:pPr algn="ctr" indent="0" marL="0">
              <a:buNone/>
            </a:pPr>
            <a:r>
              <a:rPr lang="en-US" sz="4200" b="1" dirty="0">
                <a:solidFill>
                  <a:srgbClr val="D97706"/>
                </a:solidFill>
                <a:latin typeface="Arial" pitchFamily="34" charset="0"/>
                <a:ea typeface="Arial" pitchFamily="34" charset="-122"/>
                <a:cs typeface="Arial" pitchFamily="34" charset="-120"/>
              </a:rPr>
              <a:t>5x</a:t>
            </a:r>
            <a:endParaRPr lang="en-US" sz="4200" dirty="0"/>
          </a:p>
        </p:txBody>
      </p:sp>
      <p:sp>
        <p:nvSpPr>
          <p:cNvPr id="10" name="Text 7"/>
          <p:cNvSpPr/>
          <p:nvPr/>
        </p:nvSpPr>
        <p:spPr>
          <a:xfrm>
            <a:off x="3520440" y="3931920"/>
            <a:ext cx="2286000" cy="1097280"/>
          </a:xfrm>
          <a:prstGeom prst="rect">
            <a:avLst/>
          </a:prstGeom>
          <a:noFill/>
          <a:ln/>
        </p:spPr>
        <p:txBody>
          <a:bodyPr wrap="square" rtlCol="0" anchor="ctr"/>
          <a:lstStyle/>
          <a:p>
            <a:pPr algn="ctr" indent="0" marL="0">
              <a:buNone/>
            </a:pPr>
            <a:r>
              <a:rPr lang="en-US" sz="1200" dirty="0">
                <a:solidFill>
                  <a:srgbClr val="D0D0D0"/>
                </a:solidFill>
                <a:latin typeface="Arial" pitchFamily="34" charset="0"/>
                <a:ea typeface="Arial" pitchFamily="34" charset="-122"/>
                <a:cs typeface="Arial" pitchFamily="34" charset="-120"/>
              </a:rPr>
              <a:t>Black incarceration rate</a:t>
            </a:r>
            <a:endParaRPr lang="en-US" sz="1200" dirty="0"/>
          </a:p>
          <a:p>
            <a:pPr algn="ctr" indent="0" marL="0">
              <a:buNone/>
            </a:pPr>
            <a:r>
              <a:rPr lang="en-US" sz="1200" dirty="0">
                <a:solidFill>
                  <a:srgbClr val="D0D0D0"/>
                </a:solidFill>
                <a:latin typeface="Arial" pitchFamily="34" charset="0"/>
                <a:ea typeface="Arial" pitchFamily="34" charset="-122"/>
                <a:cs typeface="Arial" pitchFamily="34" charset="-120"/>
              </a:rPr>
              <a:t>vs. white Americans</a:t>
            </a:r>
            <a:endParaRPr lang="en-US" sz="1200" dirty="0"/>
          </a:p>
        </p:txBody>
      </p:sp>
      <p:sp>
        <p:nvSpPr>
          <p:cNvPr id="11" name="Shape 8"/>
          <p:cNvSpPr/>
          <p:nvPr/>
        </p:nvSpPr>
        <p:spPr>
          <a:xfrm>
            <a:off x="6217920" y="2560320"/>
            <a:ext cx="2651760" cy="2926080"/>
          </a:xfrm>
          <a:prstGeom prst="roundRect">
            <a:avLst>
              <a:gd name="adj" fmla="val 5172"/>
            </a:avLst>
          </a:prstGeom>
          <a:solidFill>
            <a:srgbClr val="2A2025"/>
          </a:solidFill>
          <a:ln w="25400">
            <a:solidFill>
              <a:srgbClr val="7C3AED"/>
            </a:solidFill>
            <a:prstDash val="solid"/>
          </a:ln>
        </p:spPr>
      </p:sp>
      <p:sp>
        <p:nvSpPr>
          <p:cNvPr id="12" name="Text 9"/>
          <p:cNvSpPr/>
          <p:nvPr/>
        </p:nvSpPr>
        <p:spPr>
          <a:xfrm>
            <a:off x="6217920" y="2834640"/>
            <a:ext cx="2651760" cy="1097280"/>
          </a:xfrm>
          <a:prstGeom prst="rect">
            <a:avLst/>
          </a:prstGeom>
          <a:noFill/>
          <a:ln/>
        </p:spPr>
        <p:txBody>
          <a:bodyPr wrap="square" rtlCol="0" anchor="ctr"/>
          <a:lstStyle/>
          <a:p>
            <a:pPr algn="ctr" indent="0" marL="0">
              <a:buNone/>
            </a:pPr>
            <a:r>
              <a:rPr lang="en-US" sz="4200" b="1" dirty="0">
                <a:solidFill>
                  <a:srgbClr val="7C3AED"/>
                </a:solidFill>
                <a:latin typeface="Arial" pitchFamily="34" charset="0"/>
                <a:ea typeface="Arial" pitchFamily="34" charset="-122"/>
                <a:cs typeface="Arial" pitchFamily="34" charset="-120"/>
              </a:rPr>
              <a:t>67%</a:t>
            </a:r>
            <a:endParaRPr lang="en-US" sz="4200" dirty="0"/>
          </a:p>
        </p:txBody>
      </p:sp>
      <p:sp>
        <p:nvSpPr>
          <p:cNvPr id="13" name="Text 10"/>
          <p:cNvSpPr/>
          <p:nvPr/>
        </p:nvSpPr>
        <p:spPr>
          <a:xfrm>
            <a:off x="6400800" y="3931920"/>
            <a:ext cx="2286000" cy="1097280"/>
          </a:xfrm>
          <a:prstGeom prst="rect">
            <a:avLst/>
          </a:prstGeom>
          <a:noFill/>
          <a:ln/>
        </p:spPr>
        <p:txBody>
          <a:bodyPr wrap="square" rtlCol="0" anchor="ctr"/>
          <a:lstStyle/>
          <a:p>
            <a:pPr algn="ctr" indent="0" marL="0">
              <a:buNone/>
            </a:pPr>
            <a:r>
              <a:rPr lang="en-US" sz="1200" dirty="0">
                <a:solidFill>
                  <a:srgbClr val="D0D0D0"/>
                </a:solidFill>
                <a:latin typeface="Arial" pitchFamily="34" charset="0"/>
                <a:ea typeface="Arial" pitchFamily="34" charset="-122"/>
                <a:cs typeface="Arial" pitchFamily="34" charset="-120"/>
              </a:rPr>
              <a:t>Low-income students lack</a:t>
            </a:r>
            <a:endParaRPr lang="en-US" sz="1200" dirty="0"/>
          </a:p>
          <a:p>
            <a:pPr algn="ctr" indent="0" marL="0">
              <a:buNone/>
            </a:pPr>
            <a:r>
              <a:rPr lang="en-US" sz="1200" dirty="0">
                <a:solidFill>
                  <a:srgbClr val="D0D0D0"/>
                </a:solidFill>
                <a:latin typeface="Arial" pitchFamily="34" charset="0"/>
                <a:ea typeface="Arial" pitchFamily="34" charset="-122"/>
                <a:cs typeface="Arial" pitchFamily="34" charset="-120"/>
              </a:rPr>
              <a:t>career readiness programs</a:t>
            </a:r>
            <a:endParaRPr lang="en-US" sz="1200" dirty="0"/>
          </a:p>
        </p:txBody>
      </p:sp>
      <p:sp>
        <p:nvSpPr>
          <p:cNvPr id="14" name="Shape 11"/>
          <p:cNvSpPr/>
          <p:nvPr/>
        </p:nvSpPr>
        <p:spPr>
          <a:xfrm>
            <a:off x="9098280" y="2560320"/>
            <a:ext cx="2651760" cy="2926080"/>
          </a:xfrm>
          <a:prstGeom prst="roundRect">
            <a:avLst>
              <a:gd name="adj" fmla="val 5172"/>
            </a:avLst>
          </a:prstGeom>
          <a:solidFill>
            <a:srgbClr val="2A2025"/>
          </a:solidFill>
          <a:ln w="25400">
            <a:solidFill>
              <a:srgbClr val="2563EB"/>
            </a:solidFill>
            <a:prstDash val="solid"/>
          </a:ln>
        </p:spPr>
      </p:sp>
      <p:sp>
        <p:nvSpPr>
          <p:cNvPr id="15" name="Text 12"/>
          <p:cNvSpPr/>
          <p:nvPr/>
        </p:nvSpPr>
        <p:spPr>
          <a:xfrm>
            <a:off x="9098280" y="2834640"/>
            <a:ext cx="2651760" cy="1097280"/>
          </a:xfrm>
          <a:prstGeom prst="rect">
            <a:avLst/>
          </a:prstGeom>
          <a:noFill/>
          <a:ln/>
        </p:spPr>
        <p:txBody>
          <a:bodyPr wrap="square" rtlCol="0" anchor="ctr"/>
          <a:lstStyle/>
          <a:p>
            <a:pPr algn="ctr" indent="0" marL="0">
              <a:buNone/>
            </a:pPr>
            <a:r>
              <a:rPr lang="en-US" sz="4200" b="1" dirty="0">
                <a:solidFill>
                  <a:srgbClr val="2563EB"/>
                </a:solidFill>
                <a:latin typeface="Arial" pitchFamily="34" charset="0"/>
                <a:ea typeface="Arial" pitchFamily="34" charset="-122"/>
                <a:cs typeface="Arial" pitchFamily="34" charset="-120"/>
              </a:rPr>
              <a:t>82%</a:t>
            </a:r>
            <a:endParaRPr lang="en-US" sz="4200" dirty="0"/>
          </a:p>
        </p:txBody>
      </p:sp>
      <p:sp>
        <p:nvSpPr>
          <p:cNvPr id="16" name="Text 13"/>
          <p:cNvSpPr/>
          <p:nvPr/>
        </p:nvSpPr>
        <p:spPr>
          <a:xfrm>
            <a:off x="9281160" y="3931920"/>
            <a:ext cx="2286000" cy="1097280"/>
          </a:xfrm>
          <a:prstGeom prst="rect">
            <a:avLst/>
          </a:prstGeom>
          <a:noFill/>
          <a:ln/>
        </p:spPr>
        <p:txBody>
          <a:bodyPr wrap="square" rtlCol="0" anchor="ctr"/>
          <a:lstStyle/>
          <a:p>
            <a:pPr algn="ctr" indent="0" marL="0">
              <a:buNone/>
            </a:pPr>
            <a:r>
              <a:rPr lang="en-US" sz="1200" dirty="0">
                <a:solidFill>
                  <a:srgbClr val="D0D0D0"/>
                </a:solidFill>
                <a:latin typeface="Arial" pitchFamily="34" charset="0"/>
                <a:ea typeface="Arial" pitchFamily="34" charset="-122"/>
                <a:cs typeface="Arial" pitchFamily="34" charset="-120"/>
              </a:rPr>
              <a:t>Future jobs require</a:t>
            </a:r>
            <a:endParaRPr lang="en-US" sz="1200" dirty="0"/>
          </a:p>
          <a:p>
            <a:pPr algn="ctr" indent="0" marL="0">
              <a:buNone/>
            </a:pPr>
            <a:r>
              <a:rPr lang="en-US" sz="1200" dirty="0">
                <a:solidFill>
                  <a:srgbClr val="D0D0D0"/>
                </a:solidFill>
                <a:latin typeface="Arial" pitchFamily="34" charset="0"/>
                <a:ea typeface="Arial" pitchFamily="34" charset="-122"/>
                <a:cs typeface="Arial" pitchFamily="34" charset="-120"/>
              </a:rPr>
              <a:t>digital &amp; AI literacy</a:t>
            </a:r>
            <a:endParaRPr lang="en-US" sz="1200" dirty="0"/>
          </a:p>
        </p:txBody>
      </p:sp>
      <p:sp>
        <p:nvSpPr>
          <p:cNvPr id="17" name="Text 14"/>
          <p:cNvSpPr/>
          <p:nvPr/>
        </p:nvSpPr>
        <p:spPr>
          <a:xfrm>
            <a:off x="731520" y="5760720"/>
            <a:ext cx="10515600" cy="365760"/>
          </a:xfrm>
          <a:prstGeom prst="rect">
            <a:avLst/>
          </a:prstGeom>
          <a:noFill/>
          <a:ln/>
        </p:spPr>
        <p:txBody>
          <a:bodyPr wrap="square" rtlCol="0" anchor="ctr"/>
          <a:lstStyle/>
          <a:p>
            <a:pPr algn="ctr" indent="0" marL="0">
              <a:buNone/>
            </a:pPr>
            <a:r>
              <a:rPr lang="en-US" sz="1200" i="1" dirty="0">
                <a:solidFill>
                  <a:srgbClr val="AAAAAA"/>
                </a:solidFill>
                <a:latin typeface="Arial" pitchFamily="34" charset="0"/>
                <a:ea typeface="Arial" pitchFamily="34" charset="-122"/>
                <a:cs typeface="Arial" pitchFamily="34" charset="-120"/>
              </a:rPr>
              <a:t>County averages mask neighborhoods where poverty exceeds 40% and unemployment tops 20%</a:t>
            </a:r>
            <a:endParaRPr lang="en-US" sz="1200" dirty="0"/>
          </a:p>
        </p:txBody>
      </p:sp>
      <p:sp>
        <p:nvSpPr>
          <p:cNvPr id="18" name="Text 15"/>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3/30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24-PLATFORM ACOS ECOSYSTEM</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Autonomous Collaborative Operating System</a:t>
            </a:r>
            <a:endParaRPr lang="en-US" sz="2400" dirty="0"/>
          </a:p>
        </p:txBody>
      </p:sp>
      <p:sp>
        <p:nvSpPr>
          <p:cNvPr id="5" name="Shape 2"/>
          <p:cNvSpPr/>
          <p:nvPr/>
        </p:nvSpPr>
        <p:spPr>
          <a:xfrm>
            <a:off x="457200" y="1463040"/>
            <a:ext cx="1783080" cy="1051560"/>
          </a:xfrm>
          <a:prstGeom prst="roundRect">
            <a:avLst>
              <a:gd name="adj" fmla="val 6957"/>
            </a:avLst>
          </a:prstGeom>
          <a:solidFill>
            <a:srgbClr val="FFFFFF"/>
          </a:solidFill>
          <a:ln w="25400">
            <a:solidFill>
              <a:srgbClr val="7C3AED"/>
            </a:solidFill>
            <a:prstDash val="solid"/>
          </a:ln>
        </p:spPr>
      </p:sp>
      <p:sp>
        <p:nvSpPr>
          <p:cNvPr id="6" name="Text 3"/>
          <p:cNvSpPr/>
          <p:nvPr/>
        </p:nvSpPr>
        <p:spPr>
          <a:xfrm>
            <a:off x="530352" y="157276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ThriveUp Academy</a:t>
            </a:r>
            <a:endParaRPr lang="en-US" sz="900" dirty="0"/>
          </a:p>
        </p:txBody>
      </p:sp>
      <p:sp>
        <p:nvSpPr>
          <p:cNvPr id="7" name="Text 4"/>
          <p:cNvSpPr/>
          <p:nvPr/>
        </p:nvSpPr>
        <p:spPr>
          <a:xfrm>
            <a:off x="530352" y="201168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Youth &amp; Education</a:t>
            </a:r>
            <a:endParaRPr lang="en-US" sz="800" dirty="0"/>
          </a:p>
        </p:txBody>
      </p:sp>
      <p:sp>
        <p:nvSpPr>
          <p:cNvPr id="8" name="Shape 5"/>
          <p:cNvSpPr/>
          <p:nvPr/>
        </p:nvSpPr>
        <p:spPr>
          <a:xfrm>
            <a:off x="2377440" y="1463040"/>
            <a:ext cx="1783080" cy="1051560"/>
          </a:xfrm>
          <a:prstGeom prst="roundRect">
            <a:avLst>
              <a:gd name="adj" fmla="val 6957"/>
            </a:avLst>
          </a:prstGeom>
          <a:solidFill>
            <a:srgbClr val="FFFFFF"/>
          </a:solidFill>
          <a:ln w="25400">
            <a:solidFill>
              <a:srgbClr val="2563EB"/>
            </a:solidFill>
            <a:prstDash val="solid"/>
          </a:ln>
        </p:spPr>
      </p:sp>
      <p:sp>
        <p:nvSpPr>
          <p:cNvPr id="9" name="Text 6"/>
          <p:cNvSpPr/>
          <p:nvPr/>
        </p:nvSpPr>
        <p:spPr>
          <a:xfrm>
            <a:off x="2450592" y="157276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ISSS</a:t>
            </a:r>
            <a:endParaRPr lang="en-US" sz="900" dirty="0"/>
          </a:p>
        </p:txBody>
      </p:sp>
      <p:sp>
        <p:nvSpPr>
          <p:cNvPr id="10" name="Text 7"/>
          <p:cNvSpPr/>
          <p:nvPr/>
        </p:nvSpPr>
        <p:spPr>
          <a:xfrm>
            <a:off x="2450592" y="201168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School Wraparound</a:t>
            </a:r>
            <a:endParaRPr lang="en-US" sz="800" dirty="0"/>
          </a:p>
        </p:txBody>
      </p:sp>
      <p:sp>
        <p:nvSpPr>
          <p:cNvPr id="11" name="Shape 8"/>
          <p:cNvSpPr/>
          <p:nvPr/>
        </p:nvSpPr>
        <p:spPr>
          <a:xfrm>
            <a:off x="4297680" y="1463040"/>
            <a:ext cx="1783080" cy="1051560"/>
          </a:xfrm>
          <a:prstGeom prst="roundRect">
            <a:avLst>
              <a:gd name="adj" fmla="val 6957"/>
            </a:avLst>
          </a:prstGeom>
          <a:solidFill>
            <a:srgbClr val="FFFFFF"/>
          </a:solidFill>
          <a:ln w="25400">
            <a:solidFill>
              <a:srgbClr val="4F46E5"/>
            </a:solidFill>
            <a:prstDash val="solid"/>
          </a:ln>
        </p:spPr>
      </p:sp>
      <p:sp>
        <p:nvSpPr>
          <p:cNvPr id="12" name="Text 9"/>
          <p:cNvSpPr/>
          <p:nvPr/>
        </p:nvSpPr>
        <p:spPr>
          <a:xfrm>
            <a:off x="4370832" y="157276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WholeMind Learning</a:t>
            </a:r>
            <a:endParaRPr lang="en-US" sz="900" dirty="0"/>
          </a:p>
        </p:txBody>
      </p:sp>
      <p:sp>
        <p:nvSpPr>
          <p:cNvPr id="13" name="Text 10"/>
          <p:cNvSpPr/>
          <p:nvPr/>
        </p:nvSpPr>
        <p:spPr>
          <a:xfrm>
            <a:off x="4370832" y="201168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Adaptive Learning</a:t>
            </a:r>
            <a:endParaRPr lang="en-US" sz="800" dirty="0"/>
          </a:p>
        </p:txBody>
      </p:sp>
      <p:sp>
        <p:nvSpPr>
          <p:cNvPr id="14" name="Shape 11"/>
          <p:cNvSpPr/>
          <p:nvPr/>
        </p:nvSpPr>
        <p:spPr>
          <a:xfrm>
            <a:off x="6217920" y="1463040"/>
            <a:ext cx="1783080" cy="1051560"/>
          </a:xfrm>
          <a:prstGeom prst="roundRect">
            <a:avLst>
              <a:gd name="adj" fmla="val 6957"/>
            </a:avLst>
          </a:prstGeom>
          <a:solidFill>
            <a:srgbClr val="FFFFFF"/>
          </a:solidFill>
          <a:ln w="25400">
            <a:solidFill>
              <a:srgbClr val="EC4899"/>
            </a:solidFill>
            <a:prstDash val="solid"/>
          </a:ln>
        </p:spPr>
      </p:sp>
      <p:sp>
        <p:nvSpPr>
          <p:cNvPr id="15" name="Text 12"/>
          <p:cNvSpPr/>
          <p:nvPr/>
        </p:nvSpPr>
        <p:spPr>
          <a:xfrm>
            <a:off x="6291072" y="157276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Perfectly Different</a:t>
            </a:r>
            <a:endParaRPr lang="en-US" sz="900" dirty="0"/>
          </a:p>
        </p:txBody>
      </p:sp>
      <p:sp>
        <p:nvSpPr>
          <p:cNvPr id="16" name="Text 13"/>
          <p:cNvSpPr/>
          <p:nvPr/>
        </p:nvSpPr>
        <p:spPr>
          <a:xfrm>
            <a:off x="6291072" y="201168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Neurodivergent</a:t>
            </a:r>
            <a:endParaRPr lang="en-US" sz="800" dirty="0"/>
          </a:p>
        </p:txBody>
      </p:sp>
      <p:sp>
        <p:nvSpPr>
          <p:cNvPr id="17" name="Shape 14"/>
          <p:cNvSpPr/>
          <p:nvPr/>
        </p:nvSpPr>
        <p:spPr>
          <a:xfrm>
            <a:off x="8138160" y="1463040"/>
            <a:ext cx="1783080" cy="1051560"/>
          </a:xfrm>
          <a:prstGeom prst="roundRect">
            <a:avLst>
              <a:gd name="adj" fmla="val 6957"/>
            </a:avLst>
          </a:prstGeom>
          <a:solidFill>
            <a:srgbClr val="FFFFFF"/>
          </a:solidFill>
          <a:ln w="25400">
            <a:solidFill>
              <a:srgbClr val="10B981"/>
            </a:solidFill>
            <a:prstDash val="solid"/>
          </a:ln>
        </p:spPr>
      </p:sp>
      <p:sp>
        <p:nvSpPr>
          <p:cNvPr id="18" name="Text 15"/>
          <p:cNvSpPr/>
          <p:nvPr/>
        </p:nvSpPr>
        <p:spPr>
          <a:xfrm>
            <a:off x="8211312" y="157276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LifeBridge</a:t>
            </a:r>
            <a:endParaRPr lang="en-US" sz="900" dirty="0"/>
          </a:p>
        </p:txBody>
      </p:sp>
      <p:sp>
        <p:nvSpPr>
          <p:cNvPr id="19" name="Text 16"/>
          <p:cNvSpPr/>
          <p:nvPr/>
        </p:nvSpPr>
        <p:spPr>
          <a:xfrm>
            <a:off x="8211312" y="201168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Housing</a:t>
            </a:r>
            <a:endParaRPr lang="en-US" sz="800" dirty="0"/>
          </a:p>
        </p:txBody>
      </p:sp>
      <p:sp>
        <p:nvSpPr>
          <p:cNvPr id="20" name="Shape 17"/>
          <p:cNvSpPr/>
          <p:nvPr/>
        </p:nvSpPr>
        <p:spPr>
          <a:xfrm>
            <a:off x="10058400" y="1463040"/>
            <a:ext cx="1783080" cy="1051560"/>
          </a:xfrm>
          <a:prstGeom prst="roundRect">
            <a:avLst>
              <a:gd name="adj" fmla="val 6957"/>
            </a:avLst>
          </a:prstGeom>
          <a:solidFill>
            <a:srgbClr val="FFFFFF"/>
          </a:solidFill>
          <a:ln w="25400">
            <a:solidFill>
              <a:srgbClr val="0D9488"/>
            </a:solidFill>
            <a:prstDash val="solid"/>
          </a:ln>
        </p:spPr>
      </p:sp>
      <p:sp>
        <p:nvSpPr>
          <p:cNvPr id="21" name="Text 18"/>
          <p:cNvSpPr/>
          <p:nvPr/>
        </p:nvSpPr>
        <p:spPr>
          <a:xfrm>
            <a:off x="10131552" y="157276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M2C Transition</a:t>
            </a:r>
            <a:endParaRPr lang="en-US" sz="900" dirty="0"/>
          </a:p>
        </p:txBody>
      </p:sp>
      <p:sp>
        <p:nvSpPr>
          <p:cNvPr id="22" name="Text 19"/>
          <p:cNvSpPr/>
          <p:nvPr/>
        </p:nvSpPr>
        <p:spPr>
          <a:xfrm>
            <a:off x="10131552" y="201168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Benefits</a:t>
            </a:r>
            <a:endParaRPr lang="en-US" sz="800" dirty="0"/>
          </a:p>
        </p:txBody>
      </p:sp>
      <p:sp>
        <p:nvSpPr>
          <p:cNvPr id="23" name="Shape 20"/>
          <p:cNvSpPr/>
          <p:nvPr/>
        </p:nvSpPr>
        <p:spPr>
          <a:xfrm>
            <a:off x="457200" y="2743200"/>
            <a:ext cx="1783080" cy="1051560"/>
          </a:xfrm>
          <a:prstGeom prst="roundRect">
            <a:avLst>
              <a:gd name="adj" fmla="val 6957"/>
            </a:avLst>
          </a:prstGeom>
          <a:solidFill>
            <a:srgbClr val="FFFFFF"/>
          </a:solidFill>
          <a:ln w="25400">
            <a:solidFill>
              <a:srgbClr val="64748B"/>
            </a:solidFill>
            <a:prstDash val="solid"/>
          </a:ln>
        </p:spPr>
      </p:sp>
      <p:sp>
        <p:nvSpPr>
          <p:cNvPr id="24" name="Text 21"/>
          <p:cNvSpPr/>
          <p:nvPr/>
        </p:nvSpPr>
        <p:spPr>
          <a:xfrm>
            <a:off x="530352" y="285292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Mission Transition</a:t>
            </a:r>
            <a:endParaRPr lang="en-US" sz="900" dirty="0"/>
          </a:p>
        </p:txBody>
      </p:sp>
      <p:sp>
        <p:nvSpPr>
          <p:cNvPr id="25" name="Text 22"/>
          <p:cNvSpPr/>
          <p:nvPr/>
        </p:nvSpPr>
        <p:spPr>
          <a:xfrm>
            <a:off x="530352" y="329184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Military-Civilian</a:t>
            </a:r>
            <a:endParaRPr lang="en-US" sz="800" dirty="0"/>
          </a:p>
        </p:txBody>
      </p:sp>
      <p:sp>
        <p:nvSpPr>
          <p:cNvPr id="26" name="Shape 23"/>
          <p:cNvSpPr/>
          <p:nvPr/>
        </p:nvSpPr>
        <p:spPr>
          <a:xfrm>
            <a:off x="2377440" y="2743200"/>
            <a:ext cx="1783080" cy="1051560"/>
          </a:xfrm>
          <a:prstGeom prst="roundRect">
            <a:avLst>
              <a:gd name="adj" fmla="val 6957"/>
            </a:avLst>
          </a:prstGeom>
          <a:solidFill>
            <a:srgbClr val="FFFFFF"/>
          </a:solidFill>
          <a:ln w="25400">
            <a:solidFill>
              <a:srgbClr val="D97706"/>
            </a:solidFill>
            <a:prstDash val="solid"/>
          </a:ln>
        </p:spPr>
      </p:sp>
      <p:sp>
        <p:nvSpPr>
          <p:cNvPr id="27" name="Text 24"/>
          <p:cNvSpPr/>
          <p:nvPr/>
        </p:nvSpPr>
        <p:spPr>
          <a:xfrm>
            <a:off x="2450592" y="285292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MCE</a:t>
            </a:r>
            <a:endParaRPr lang="en-US" sz="900" dirty="0"/>
          </a:p>
        </p:txBody>
      </p:sp>
      <p:sp>
        <p:nvSpPr>
          <p:cNvPr id="28" name="Text 25"/>
          <p:cNvSpPr/>
          <p:nvPr/>
        </p:nvSpPr>
        <p:spPr>
          <a:xfrm>
            <a:off x="2450592" y="329184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Minority Business</a:t>
            </a:r>
            <a:endParaRPr lang="en-US" sz="800" dirty="0"/>
          </a:p>
        </p:txBody>
      </p:sp>
      <p:sp>
        <p:nvSpPr>
          <p:cNvPr id="29" name="Shape 26"/>
          <p:cNvSpPr/>
          <p:nvPr/>
        </p:nvSpPr>
        <p:spPr>
          <a:xfrm>
            <a:off x="4297680" y="2743200"/>
            <a:ext cx="1783080" cy="1051560"/>
          </a:xfrm>
          <a:prstGeom prst="roundRect">
            <a:avLst>
              <a:gd name="adj" fmla="val 6957"/>
            </a:avLst>
          </a:prstGeom>
          <a:solidFill>
            <a:srgbClr val="FFFFFF"/>
          </a:solidFill>
          <a:ln w="25400">
            <a:solidFill>
              <a:srgbClr val="EA580C"/>
            </a:solidFill>
            <a:prstDash val="solid"/>
          </a:ln>
        </p:spPr>
      </p:sp>
      <p:sp>
        <p:nvSpPr>
          <p:cNvPr id="30" name="Text 27"/>
          <p:cNvSpPr/>
          <p:nvPr/>
        </p:nvSpPr>
        <p:spPr>
          <a:xfrm>
            <a:off x="4370832" y="285292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Collaborative Advocate</a:t>
            </a:r>
            <a:endParaRPr lang="en-US" sz="900" dirty="0"/>
          </a:p>
        </p:txBody>
      </p:sp>
      <p:sp>
        <p:nvSpPr>
          <p:cNvPr id="31" name="Text 28"/>
          <p:cNvSpPr/>
          <p:nvPr/>
        </p:nvSpPr>
        <p:spPr>
          <a:xfrm>
            <a:off x="4370832" y="329184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VOSB Consulting</a:t>
            </a:r>
            <a:endParaRPr lang="en-US" sz="800" dirty="0"/>
          </a:p>
        </p:txBody>
      </p:sp>
      <p:sp>
        <p:nvSpPr>
          <p:cNvPr id="32" name="Shape 29"/>
          <p:cNvSpPr/>
          <p:nvPr/>
        </p:nvSpPr>
        <p:spPr>
          <a:xfrm>
            <a:off x="6217920" y="2743200"/>
            <a:ext cx="1783080" cy="1051560"/>
          </a:xfrm>
          <a:prstGeom prst="roundRect">
            <a:avLst>
              <a:gd name="adj" fmla="val 6957"/>
            </a:avLst>
          </a:prstGeom>
          <a:solidFill>
            <a:srgbClr val="FFFFFF"/>
          </a:solidFill>
          <a:ln w="25400">
            <a:solidFill>
              <a:srgbClr val="E11D48"/>
            </a:solidFill>
            <a:prstDash val="solid"/>
          </a:ln>
        </p:spPr>
      </p:sp>
      <p:sp>
        <p:nvSpPr>
          <p:cNvPr id="33" name="Text 30"/>
          <p:cNvSpPr/>
          <p:nvPr/>
        </p:nvSpPr>
        <p:spPr>
          <a:xfrm>
            <a:off x="6291072" y="285292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Whole-Person Health</a:t>
            </a:r>
            <a:endParaRPr lang="en-US" sz="900" dirty="0"/>
          </a:p>
        </p:txBody>
      </p:sp>
      <p:sp>
        <p:nvSpPr>
          <p:cNvPr id="34" name="Text 31"/>
          <p:cNvSpPr/>
          <p:nvPr/>
        </p:nvSpPr>
        <p:spPr>
          <a:xfrm>
            <a:off x="6291072" y="329184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Clinical</a:t>
            </a:r>
            <a:endParaRPr lang="en-US" sz="800" dirty="0"/>
          </a:p>
        </p:txBody>
      </p:sp>
      <p:sp>
        <p:nvSpPr>
          <p:cNvPr id="35" name="Shape 32"/>
          <p:cNvSpPr/>
          <p:nvPr/>
        </p:nvSpPr>
        <p:spPr>
          <a:xfrm>
            <a:off x="8138160" y="2743200"/>
            <a:ext cx="1783080" cy="1051560"/>
          </a:xfrm>
          <a:prstGeom prst="roundRect">
            <a:avLst>
              <a:gd name="adj" fmla="val 6957"/>
            </a:avLst>
          </a:prstGeom>
          <a:solidFill>
            <a:srgbClr val="FFFFFF"/>
          </a:solidFill>
          <a:ln w="25400">
            <a:solidFill>
              <a:srgbClr val="DC2626"/>
            </a:solidFill>
            <a:prstDash val="solid"/>
          </a:ln>
        </p:spPr>
      </p:sp>
      <p:sp>
        <p:nvSpPr>
          <p:cNvPr id="36" name="Text 33"/>
          <p:cNvSpPr/>
          <p:nvPr/>
        </p:nvSpPr>
        <p:spPr>
          <a:xfrm>
            <a:off x="8211312" y="285292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Sankofa Health</a:t>
            </a:r>
            <a:endParaRPr lang="en-US" sz="900" dirty="0"/>
          </a:p>
        </p:txBody>
      </p:sp>
      <p:sp>
        <p:nvSpPr>
          <p:cNvPr id="37" name="Text 34"/>
          <p:cNvSpPr/>
          <p:nvPr/>
        </p:nvSpPr>
        <p:spPr>
          <a:xfrm>
            <a:off x="8211312" y="329184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Cultural Health</a:t>
            </a:r>
            <a:endParaRPr lang="en-US" sz="800" dirty="0"/>
          </a:p>
        </p:txBody>
      </p:sp>
      <p:sp>
        <p:nvSpPr>
          <p:cNvPr id="38" name="Shape 35"/>
          <p:cNvSpPr/>
          <p:nvPr/>
        </p:nvSpPr>
        <p:spPr>
          <a:xfrm>
            <a:off x="10058400" y="2743200"/>
            <a:ext cx="1783080" cy="1051560"/>
          </a:xfrm>
          <a:prstGeom prst="roundRect">
            <a:avLst>
              <a:gd name="adj" fmla="val 6957"/>
            </a:avLst>
          </a:prstGeom>
          <a:solidFill>
            <a:srgbClr val="FFFFFF"/>
          </a:solidFill>
          <a:ln w="25400">
            <a:solidFill>
              <a:srgbClr val="D946EF"/>
            </a:solidFill>
            <a:prstDash val="solid"/>
          </a:ln>
        </p:spPr>
      </p:sp>
      <p:sp>
        <p:nvSpPr>
          <p:cNvPr id="39" name="Text 36"/>
          <p:cNvSpPr/>
          <p:nvPr/>
        </p:nvSpPr>
        <p:spPr>
          <a:xfrm>
            <a:off x="10131552" y="285292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Black Maternal Health</a:t>
            </a:r>
            <a:endParaRPr lang="en-US" sz="900" dirty="0"/>
          </a:p>
        </p:txBody>
      </p:sp>
      <p:sp>
        <p:nvSpPr>
          <p:cNvPr id="40" name="Text 37"/>
          <p:cNvSpPr/>
          <p:nvPr/>
        </p:nvSpPr>
        <p:spPr>
          <a:xfrm>
            <a:off x="10131552" y="329184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Perinatal</a:t>
            </a:r>
            <a:endParaRPr lang="en-US" sz="800" dirty="0"/>
          </a:p>
        </p:txBody>
      </p:sp>
      <p:sp>
        <p:nvSpPr>
          <p:cNvPr id="41" name="Shape 38"/>
          <p:cNvSpPr/>
          <p:nvPr/>
        </p:nvSpPr>
        <p:spPr>
          <a:xfrm>
            <a:off x="457200" y="4023360"/>
            <a:ext cx="1783080" cy="1051560"/>
          </a:xfrm>
          <a:prstGeom prst="roundRect">
            <a:avLst>
              <a:gd name="adj" fmla="val 6957"/>
            </a:avLst>
          </a:prstGeom>
          <a:solidFill>
            <a:srgbClr val="FFFFFF"/>
          </a:solidFill>
          <a:ln w="25400">
            <a:solidFill>
              <a:srgbClr val="A855F7"/>
            </a:solidFill>
            <a:prstDash val="solid"/>
          </a:ln>
        </p:spPr>
      </p:sp>
      <p:sp>
        <p:nvSpPr>
          <p:cNvPr id="42" name="Text 39"/>
          <p:cNvSpPr/>
          <p:nvPr/>
        </p:nvSpPr>
        <p:spPr>
          <a:xfrm>
            <a:off x="530352" y="413308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Sankofa Feminine Health</a:t>
            </a:r>
            <a:endParaRPr lang="en-US" sz="900" dirty="0"/>
          </a:p>
        </p:txBody>
      </p:sp>
      <p:sp>
        <p:nvSpPr>
          <p:cNvPr id="43" name="Text 40"/>
          <p:cNvSpPr/>
          <p:nvPr/>
        </p:nvSpPr>
        <p:spPr>
          <a:xfrm>
            <a:off x="530352" y="457200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Women's Health</a:t>
            </a:r>
            <a:endParaRPr lang="en-US" sz="800" dirty="0"/>
          </a:p>
        </p:txBody>
      </p:sp>
      <p:sp>
        <p:nvSpPr>
          <p:cNvPr id="44" name="Shape 41"/>
          <p:cNvSpPr/>
          <p:nvPr/>
        </p:nvSpPr>
        <p:spPr>
          <a:xfrm>
            <a:off x="2377440" y="4023360"/>
            <a:ext cx="1783080" cy="1051560"/>
          </a:xfrm>
          <a:prstGeom prst="roundRect">
            <a:avLst>
              <a:gd name="adj" fmla="val 6957"/>
            </a:avLst>
          </a:prstGeom>
          <a:solidFill>
            <a:srgbClr val="FFFFFF"/>
          </a:solidFill>
          <a:ln w="25400">
            <a:solidFill>
              <a:srgbClr val="06B6D4"/>
            </a:solidFill>
            <a:prstDash val="solid"/>
          </a:ln>
        </p:spPr>
      </p:sp>
      <p:sp>
        <p:nvSpPr>
          <p:cNvPr id="45" name="Text 42"/>
          <p:cNvSpPr/>
          <p:nvPr/>
        </p:nvSpPr>
        <p:spPr>
          <a:xfrm>
            <a:off x="2450592" y="413308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Sankofa Men's Health</a:t>
            </a:r>
            <a:endParaRPr lang="en-US" sz="900" dirty="0"/>
          </a:p>
        </p:txBody>
      </p:sp>
      <p:sp>
        <p:nvSpPr>
          <p:cNvPr id="46" name="Text 43"/>
          <p:cNvSpPr/>
          <p:nvPr/>
        </p:nvSpPr>
        <p:spPr>
          <a:xfrm>
            <a:off x="2450592" y="457200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Men's Health</a:t>
            </a:r>
            <a:endParaRPr lang="en-US" sz="800" dirty="0"/>
          </a:p>
        </p:txBody>
      </p:sp>
      <p:sp>
        <p:nvSpPr>
          <p:cNvPr id="47" name="Shape 44"/>
          <p:cNvSpPr/>
          <p:nvPr/>
        </p:nvSpPr>
        <p:spPr>
          <a:xfrm>
            <a:off x="4297680" y="4023360"/>
            <a:ext cx="1783080" cy="1051560"/>
          </a:xfrm>
          <a:prstGeom prst="roundRect">
            <a:avLst>
              <a:gd name="adj" fmla="val 6957"/>
            </a:avLst>
          </a:prstGeom>
          <a:solidFill>
            <a:srgbClr val="FFFFFF"/>
          </a:solidFill>
          <a:ln w="25400">
            <a:solidFill>
              <a:srgbClr val="0EA5E9"/>
            </a:solidFill>
            <a:prstDash val="solid"/>
          </a:ln>
        </p:spPr>
      </p:sp>
      <p:sp>
        <p:nvSpPr>
          <p:cNvPr id="48" name="Text 45"/>
          <p:cNvSpPr/>
          <p:nvPr/>
        </p:nvSpPr>
        <p:spPr>
          <a:xfrm>
            <a:off x="4370832" y="413308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SafeCogniCare</a:t>
            </a:r>
            <a:endParaRPr lang="en-US" sz="900" dirty="0"/>
          </a:p>
        </p:txBody>
      </p:sp>
      <p:sp>
        <p:nvSpPr>
          <p:cNvPr id="49" name="Text 46"/>
          <p:cNvSpPr/>
          <p:nvPr/>
        </p:nvSpPr>
        <p:spPr>
          <a:xfrm>
            <a:off x="4370832" y="457200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TBI/Cognitive</a:t>
            </a:r>
            <a:endParaRPr lang="en-US" sz="800" dirty="0"/>
          </a:p>
        </p:txBody>
      </p:sp>
      <p:sp>
        <p:nvSpPr>
          <p:cNvPr id="50" name="Shape 47"/>
          <p:cNvSpPr/>
          <p:nvPr/>
        </p:nvSpPr>
        <p:spPr>
          <a:xfrm>
            <a:off x="6217920" y="4023360"/>
            <a:ext cx="1783080" cy="1051560"/>
          </a:xfrm>
          <a:prstGeom prst="roundRect">
            <a:avLst>
              <a:gd name="adj" fmla="val 6957"/>
            </a:avLst>
          </a:prstGeom>
          <a:solidFill>
            <a:srgbClr val="FFFFFF"/>
          </a:solidFill>
          <a:ln w="25400">
            <a:solidFill>
              <a:srgbClr val="84CC16"/>
            </a:solidFill>
            <a:prstDash val="solid"/>
          </a:ln>
        </p:spPr>
      </p:sp>
      <p:sp>
        <p:nvSpPr>
          <p:cNvPr id="51" name="Text 48"/>
          <p:cNvSpPr/>
          <p:nvPr/>
        </p:nvSpPr>
        <p:spPr>
          <a:xfrm>
            <a:off x="6291072" y="413308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PillScheduler</a:t>
            </a:r>
            <a:endParaRPr lang="en-US" sz="900" dirty="0"/>
          </a:p>
        </p:txBody>
      </p:sp>
      <p:sp>
        <p:nvSpPr>
          <p:cNvPr id="52" name="Text 49"/>
          <p:cNvSpPr/>
          <p:nvPr/>
        </p:nvSpPr>
        <p:spPr>
          <a:xfrm>
            <a:off x="6291072" y="457200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Medication</a:t>
            </a:r>
            <a:endParaRPr lang="en-US" sz="800" dirty="0"/>
          </a:p>
        </p:txBody>
      </p:sp>
      <p:sp>
        <p:nvSpPr>
          <p:cNvPr id="53" name="Shape 50"/>
          <p:cNvSpPr/>
          <p:nvPr/>
        </p:nvSpPr>
        <p:spPr>
          <a:xfrm>
            <a:off x="8138160" y="4023360"/>
            <a:ext cx="1783080" cy="1051560"/>
          </a:xfrm>
          <a:prstGeom prst="roundRect">
            <a:avLst>
              <a:gd name="adj" fmla="val 6957"/>
            </a:avLst>
          </a:prstGeom>
          <a:solidFill>
            <a:srgbClr val="FFFFFF"/>
          </a:solidFill>
          <a:ln w="25400">
            <a:solidFill>
              <a:srgbClr val="EAB308"/>
            </a:solidFill>
            <a:prstDash val="solid"/>
          </a:ln>
        </p:spPr>
      </p:sp>
      <p:sp>
        <p:nvSpPr>
          <p:cNvPr id="54" name="Text 51"/>
          <p:cNvSpPr/>
          <p:nvPr/>
        </p:nvSpPr>
        <p:spPr>
          <a:xfrm>
            <a:off x="8211312" y="413308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SafeReport</a:t>
            </a:r>
            <a:endParaRPr lang="en-US" sz="900" dirty="0"/>
          </a:p>
        </p:txBody>
      </p:sp>
      <p:sp>
        <p:nvSpPr>
          <p:cNvPr id="55" name="Text 52"/>
          <p:cNvSpPr/>
          <p:nvPr/>
        </p:nvSpPr>
        <p:spPr>
          <a:xfrm>
            <a:off x="8211312" y="457200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Community Safety</a:t>
            </a:r>
            <a:endParaRPr lang="en-US" sz="800" dirty="0"/>
          </a:p>
        </p:txBody>
      </p:sp>
      <p:sp>
        <p:nvSpPr>
          <p:cNvPr id="56" name="Shape 53"/>
          <p:cNvSpPr/>
          <p:nvPr/>
        </p:nvSpPr>
        <p:spPr>
          <a:xfrm>
            <a:off x="10058400" y="4023360"/>
            <a:ext cx="1783080" cy="1051560"/>
          </a:xfrm>
          <a:prstGeom prst="roundRect">
            <a:avLst>
              <a:gd name="adj" fmla="val 6957"/>
            </a:avLst>
          </a:prstGeom>
          <a:solidFill>
            <a:srgbClr val="FFFFFF"/>
          </a:solidFill>
          <a:ln w="25400">
            <a:solidFill>
              <a:srgbClr val="6B7280"/>
            </a:solidFill>
            <a:prstDash val="solid"/>
          </a:ln>
        </p:spPr>
      </p:sp>
      <p:sp>
        <p:nvSpPr>
          <p:cNvPr id="57" name="Text 54"/>
          <p:cNvSpPr/>
          <p:nvPr/>
        </p:nvSpPr>
        <p:spPr>
          <a:xfrm>
            <a:off x="10131552" y="413308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Shield Atlas</a:t>
            </a:r>
            <a:endParaRPr lang="en-US" sz="900" dirty="0"/>
          </a:p>
        </p:txBody>
      </p:sp>
      <p:sp>
        <p:nvSpPr>
          <p:cNvPr id="58" name="Text 55"/>
          <p:cNvSpPr/>
          <p:nvPr/>
        </p:nvSpPr>
        <p:spPr>
          <a:xfrm>
            <a:off x="10131552" y="457200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Cybersecurity</a:t>
            </a:r>
            <a:endParaRPr lang="en-US" sz="800" dirty="0"/>
          </a:p>
        </p:txBody>
      </p:sp>
      <p:sp>
        <p:nvSpPr>
          <p:cNvPr id="59" name="Shape 56"/>
          <p:cNvSpPr/>
          <p:nvPr/>
        </p:nvSpPr>
        <p:spPr>
          <a:xfrm>
            <a:off x="457200" y="5303520"/>
            <a:ext cx="1783080" cy="1051560"/>
          </a:xfrm>
          <a:prstGeom prst="roundRect">
            <a:avLst>
              <a:gd name="adj" fmla="val 6957"/>
            </a:avLst>
          </a:prstGeom>
          <a:solidFill>
            <a:srgbClr val="FFFFFF"/>
          </a:solidFill>
          <a:ln w="25400">
            <a:solidFill>
              <a:srgbClr val="2563EB"/>
            </a:solidFill>
            <a:prstDash val="solid"/>
          </a:ln>
        </p:spPr>
      </p:sp>
      <p:sp>
        <p:nvSpPr>
          <p:cNvPr id="60" name="Text 57"/>
          <p:cNvSpPr/>
          <p:nvPr/>
        </p:nvSpPr>
        <p:spPr>
          <a:xfrm>
            <a:off x="530352" y="541324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RPLICE / Better Science</a:t>
            </a:r>
            <a:endParaRPr lang="en-US" sz="900" dirty="0"/>
          </a:p>
        </p:txBody>
      </p:sp>
      <p:sp>
        <p:nvSpPr>
          <p:cNvPr id="61" name="Text 58"/>
          <p:cNvSpPr/>
          <p:nvPr/>
        </p:nvSpPr>
        <p:spPr>
          <a:xfrm>
            <a:off x="530352" y="585216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Research</a:t>
            </a:r>
            <a:endParaRPr lang="en-US" sz="800" dirty="0"/>
          </a:p>
        </p:txBody>
      </p:sp>
      <p:sp>
        <p:nvSpPr>
          <p:cNvPr id="62" name="Shape 59"/>
          <p:cNvSpPr/>
          <p:nvPr/>
        </p:nvSpPr>
        <p:spPr>
          <a:xfrm>
            <a:off x="2377440" y="5303520"/>
            <a:ext cx="1783080" cy="1051560"/>
          </a:xfrm>
          <a:prstGeom prst="roundRect">
            <a:avLst>
              <a:gd name="adj" fmla="val 6957"/>
            </a:avLst>
          </a:prstGeom>
          <a:solidFill>
            <a:srgbClr val="FFFFFF"/>
          </a:solidFill>
          <a:ln w="25400">
            <a:solidFill>
              <a:srgbClr val="7C3AED"/>
            </a:solidFill>
            <a:prstDash val="solid"/>
          </a:ln>
        </p:spPr>
      </p:sp>
      <p:sp>
        <p:nvSpPr>
          <p:cNvPr id="63" name="Text 60"/>
          <p:cNvSpPr/>
          <p:nvPr/>
        </p:nvSpPr>
        <p:spPr>
          <a:xfrm>
            <a:off x="2450592" y="541324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Video Creator AI</a:t>
            </a:r>
            <a:endParaRPr lang="en-US" sz="900" dirty="0"/>
          </a:p>
        </p:txBody>
      </p:sp>
      <p:sp>
        <p:nvSpPr>
          <p:cNvPr id="64" name="Text 61"/>
          <p:cNvSpPr/>
          <p:nvPr/>
        </p:nvSpPr>
        <p:spPr>
          <a:xfrm>
            <a:off x="2450592" y="585216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Content</a:t>
            </a:r>
            <a:endParaRPr lang="en-US" sz="800" dirty="0"/>
          </a:p>
        </p:txBody>
      </p:sp>
      <p:sp>
        <p:nvSpPr>
          <p:cNvPr id="65" name="Shape 62"/>
          <p:cNvSpPr/>
          <p:nvPr/>
        </p:nvSpPr>
        <p:spPr>
          <a:xfrm>
            <a:off x="4297680" y="5303520"/>
            <a:ext cx="1783080" cy="1051560"/>
          </a:xfrm>
          <a:prstGeom prst="roundRect">
            <a:avLst>
              <a:gd name="adj" fmla="val 6957"/>
            </a:avLst>
          </a:prstGeom>
          <a:solidFill>
            <a:srgbClr val="FFFFFF"/>
          </a:solidFill>
          <a:ln w="25400">
            <a:solidFill>
              <a:srgbClr val="EA580C"/>
            </a:solidFill>
            <a:prstDash val="solid"/>
          </a:ln>
        </p:spPr>
      </p:sp>
      <p:sp>
        <p:nvSpPr>
          <p:cNvPr id="66" name="Text 63"/>
          <p:cNvSpPr/>
          <p:nvPr/>
        </p:nvSpPr>
        <p:spPr>
          <a:xfrm>
            <a:off x="4370832" y="541324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Pinnacle Business</a:t>
            </a:r>
            <a:endParaRPr lang="en-US" sz="900" dirty="0"/>
          </a:p>
        </p:txBody>
      </p:sp>
      <p:sp>
        <p:nvSpPr>
          <p:cNvPr id="67" name="Text 64"/>
          <p:cNvSpPr/>
          <p:nvPr/>
        </p:nvSpPr>
        <p:spPr>
          <a:xfrm>
            <a:off x="4370832" y="585216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Business Dev</a:t>
            </a:r>
            <a:endParaRPr lang="en-US" sz="800" dirty="0"/>
          </a:p>
        </p:txBody>
      </p:sp>
      <p:sp>
        <p:nvSpPr>
          <p:cNvPr id="68" name="Shape 65"/>
          <p:cNvSpPr/>
          <p:nvPr/>
        </p:nvSpPr>
        <p:spPr>
          <a:xfrm>
            <a:off x="6217920" y="5303520"/>
            <a:ext cx="1783080" cy="1051560"/>
          </a:xfrm>
          <a:prstGeom prst="roundRect">
            <a:avLst>
              <a:gd name="adj" fmla="val 6957"/>
            </a:avLst>
          </a:prstGeom>
          <a:solidFill>
            <a:srgbClr val="FFFFFF"/>
          </a:solidFill>
          <a:ln w="25400">
            <a:solidFill>
              <a:srgbClr val="475569"/>
            </a:solidFill>
            <a:prstDash val="solid"/>
          </a:ln>
        </p:spPr>
      </p:sp>
      <p:sp>
        <p:nvSpPr>
          <p:cNvPr id="69" name="Text 66"/>
          <p:cNvSpPr/>
          <p:nvPr/>
        </p:nvSpPr>
        <p:spPr>
          <a:xfrm>
            <a:off x="6291072" y="541324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LexiBridge</a:t>
            </a:r>
            <a:endParaRPr lang="en-US" sz="900" dirty="0"/>
          </a:p>
        </p:txBody>
      </p:sp>
      <p:sp>
        <p:nvSpPr>
          <p:cNvPr id="70" name="Text 67"/>
          <p:cNvSpPr/>
          <p:nvPr/>
        </p:nvSpPr>
        <p:spPr>
          <a:xfrm>
            <a:off x="6291072" y="585216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Legal Navigation</a:t>
            </a:r>
            <a:endParaRPr lang="en-US" sz="800" dirty="0"/>
          </a:p>
        </p:txBody>
      </p:sp>
      <p:sp>
        <p:nvSpPr>
          <p:cNvPr id="71" name="Shape 68"/>
          <p:cNvSpPr/>
          <p:nvPr/>
        </p:nvSpPr>
        <p:spPr>
          <a:xfrm>
            <a:off x="8138160" y="5303520"/>
            <a:ext cx="1783080" cy="1051560"/>
          </a:xfrm>
          <a:prstGeom prst="roundRect">
            <a:avLst>
              <a:gd name="adj" fmla="val 6957"/>
            </a:avLst>
          </a:prstGeom>
          <a:solidFill>
            <a:srgbClr val="FFFFFF"/>
          </a:solidFill>
          <a:ln w="25400">
            <a:solidFill>
              <a:srgbClr val="4F46E5"/>
            </a:solidFill>
            <a:prstDash val="solid"/>
          </a:ln>
        </p:spPr>
      </p:sp>
      <p:sp>
        <p:nvSpPr>
          <p:cNvPr id="72" name="Text 69"/>
          <p:cNvSpPr/>
          <p:nvPr/>
        </p:nvSpPr>
        <p:spPr>
          <a:xfrm>
            <a:off x="8211312" y="541324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Code Canvas</a:t>
            </a:r>
            <a:endParaRPr lang="en-US" sz="900" dirty="0"/>
          </a:p>
        </p:txBody>
      </p:sp>
      <p:sp>
        <p:nvSpPr>
          <p:cNvPr id="73" name="Text 70"/>
          <p:cNvSpPr/>
          <p:nvPr/>
        </p:nvSpPr>
        <p:spPr>
          <a:xfrm>
            <a:off x="8211312" y="585216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Digital Skills</a:t>
            </a:r>
            <a:endParaRPr lang="en-US" sz="800" dirty="0"/>
          </a:p>
        </p:txBody>
      </p:sp>
      <p:sp>
        <p:nvSpPr>
          <p:cNvPr id="74" name="Shape 71"/>
          <p:cNvSpPr/>
          <p:nvPr/>
        </p:nvSpPr>
        <p:spPr>
          <a:xfrm>
            <a:off x="10058400" y="5303520"/>
            <a:ext cx="1783080" cy="1051560"/>
          </a:xfrm>
          <a:prstGeom prst="roundRect">
            <a:avLst>
              <a:gd name="adj" fmla="val 6957"/>
            </a:avLst>
          </a:prstGeom>
          <a:solidFill>
            <a:srgbClr val="FFFFFF"/>
          </a:solidFill>
          <a:ln w="25400">
            <a:solidFill>
              <a:srgbClr val="0D9488"/>
            </a:solidFill>
            <a:prstDash val="solid"/>
          </a:ln>
        </p:spPr>
      </p:sp>
      <p:sp>
        <p:nvSpPr>
          <p:cNvPr id="75" name="Text 72"/>
          <p:cNvSpPr/>
          <p:nvPr/>
        </p:nvSpPr>
        <p:spPr>
          <a:xfrm>
            <a:off x="10131552" y="5413248"/>
            <a:ext cx="1645920" cy="411480"/>
          </a:xfrm>
          <a:prstGeom prst="rect">
            <a:avLst/>
          </a:prstGeom>
          <a:noFill/>
          <a:ln/>
        </p:spPr>
        <p:txBody>
          <a:bodyPr wrap="square" rtlCol="0" anchor="ctr"/>
          <a:lstStyle/>
          <a:p>
            <a:pPr indent="0" marL="0">
              <a:buNone/>
            </a:pPr>
            <a:r>
              <a:rPr lang="en-US" sz="900" b="1" dirty="0">
                <a:solidFill>
                  <a:srgbClr val="2A1015"/>
                </a:solidFill>
                <a:latin typeface="Arial" pitchFamily="34" charset="0"/>
                <a:ea typeface="Arial" pitchFamily="34" charset="-122"/>
                <a:cs typeface="Arial" pitchFamily="34" charset="-120"/>
              </a:rPr>
              <a:t>Ecosystem Nexus</a:t>
            </a:r>
            <a:endParaRPr lang="en-US" sz="900" dirty="0"/>
          </a:p>
        </p:txBody>
      </p:sp>
      <p:sp>
        <p:nvSpPr>
          <p:cNvPr id="76" name="Text 73"/>
          <p:cNvSpPr/>
          <p:nvPr/>
        </p:nvSpPr>
        <p:spPr>
          <a:xfrm>
            <a:off x="10131552" y="5852160"/>
            <a:ext cx="1645920" cy="320040"/>
          </a:xfrm>
          <a:prstGeom prst="rect">
            <a:avLst/>
          </a:prstGeom>
          <a:noFill/>
          <a:ln/>
        </p:spPr>
        <p:txBody>
          <a:bodyPr wrap="square" rtlCol="0" anchor="ctr"/>
          <a:lstStyle/>
          <a:p>
            <a:pPr indent="0" marL="0">
              <a:buNone/>
            </a:pPr>
            <a:r>
              <a:rPr lang="en-US" sz="800" dirty="0">
                <a:solidFill>
                  <a:srgbClr val="6B5050"/>
                </a:solidFill>
                <a:latin typeface="Arial" pitchFamily="34" charset="0"/>
                <a:ea typeface="Arial" pitchFamily="34" charset="-122"/>
                <a:cs typeface="Arial" pitchFamily="34" charset="-120"/>
              </a:rPr>
              <a:t>Integration</a:t>
            </a:r>
            <a:endParaRPr lang="en-US" sz="800" dirty="0"/>
          </a:p>
        </p:txBody>
      </p:sp>
      <p:sp>
        <p:nvSpPr>
          <p:cNvPr id="77" name="Text 74"/>
          <p:cNvSpPr/>
          <p:nvPr/>
        </p:nvSpPr>
        <p:spPr>
          <a:xfrm>
            <a:off x="457200" y="6492240"/>
            <a:ext cx="10972800" cy="274320"/>
          </a:xfrm>
          <a:prstGeom prst="rect">
            <a:avLst/>
          </a:prstGeom>
          <a:noFill/>
          <a:ln/>
        </p:spPr>
        <p:txBody>
          <a:bodyPr wrap="square" rtlCol="0" anchor="ctr"/>
          <a:lstStyle/>
          <a:p>
            <a:pPr algn="ctr" indent="0" marL="0">
              <a:buNone/>
            </a:pPr>
            <a:r>
              <a:rPr lang="en-US" sz="900" dirty="0">
                <a:solidFill>
                  <a:srgbClr val="999999"/>
                </a:solidFill>
                <a:latin typeface="Arial" pitchFamily="34" charset="0"/>
                <a:ea typeface="Arial" pitchFamily="34" charset="-122"/>
                <a:cs typeface="Arial" pitchFamily="34" charset="-120"/>
              </a:rPr>
              <a:t>Each platform = autonomous agent  |  Coordinated through ecosystem bridge  |  Domain-specific intelligence</a:t>
            </a:r>
            <a:endParaRPr lang="en-US" sz="900" dirty="0"/>
          </a:p>
        </p:txBody>
      </p:sp>
      <p:sp>
        <p:nvSpPr>
          <p:cNvPr id="78" name="Text 75"/>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4/30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JUSTICE COMMAND CENTER</a:t>
            </a:r>
            <a:endParaRPr lang="en-US" sz="1100" dirty="0"/>
          </a:p>
        </p:txBody>
      </p:sp>
      <p:sp>
        <p:nvSpPr>
          <p:cNvPr id="4" name="Text 1"/>
          <p:cNvSpPr/>
          <p:nvPr/>
        </p:nvSpPr>
        <p:spPr>
          <a:xfrm>
            <a:off x="731520" y="731520"/>
            <a:ext cx="100584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Criminal Justice Intelligence &amp; Intervention Hub</a:t>
            </a:r>
            <a:endParaRPr lang="en-US" sz="2800" dirty="0"/>
          </a:p>
        </p:txBody>
      </p:sp>
      <p:sp>
        <p:nvSpPr>
          <p:cNvPr id="5" name="Shape 2"/>
          <p:cNvSpPr/>
          <p:nvPr/>
        </p:nvSpPr>
        <p:spPr>
          <a:xfrm>
            <a:off x="457200" y="1828800"/>
            <a:ext cx="5303520" cy="2103120"/>
          </a:xfrm>
          <a:prstGeom prst="roundRect">
            <a:avLst>
              <a:gd name="adj" fmla="val 5217"/>
            </a:avLst>
          </a:prstGeom>
          <a:solidFill>
            <a:srgbClr val="2A2025"/>
          </a:solidFill>
          <a:ln w="25400">
            <a:solidFill>
              <a:srgbClr val="DC2626"/>
            </a:solidFill>
            <a:prstDash val="solid"/>
          </a:ln>
        </p:spPr>
      </p:sp>
      <p:sp>
        <p:nvSpPr>
          <p:cNvPr id="6" name="Text 3"/>
          <p:cNvSpPr/>
          <p:nvPr/>
        </p:nvSpPr>
        <p:spPr>
          <a:xfrm>
            <a:off x="640080" y="1920240"/>
            <a:ext cx="493776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National Crisis Indicators</a:t>
            </a:r>
            <a:endParaRPr lang="en-US" sz="1500" dirty="0"/>
          </a:p>
        </p:txBody>
      </p:sp>
      <p:sp>
        <p:nvSpPr>
          <p:cNvPr id="7" name="Text 4"/>
          <p:cNvSpPr/>
          <p:nvPr/>
        </p:nvSpPr>
        <p:spPr>
          <a:xfrm>
            <a:off x="640080" y="2377440"/>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67.8% recidivism rate (3-year)</a:t>
            </a:r>
            <a:endParaRPr lang="en-US" sz="1100" dirty="0"/>
          </a:p>
        </p:txBody>
      </p:sp>
      <p:sp>
        <p:nvSpPr>
          <p:cNvPr id="8" name="Text 5"/>
          <p:cNvSpPr/>
          <p:nvPr/>
        </p:nvSpPr>
        <p:spPr>
          <a:xfrm>
            <a:off x="640080" y="2724912"/>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1.9M currently incarcerated</a:t>
            </a:r>
            <a:endParaRPr lang="en-US" sz="1100" dirty="0"/>
          </a:p>
        </p:txBody>
      </p:sp>
      <p:sp>
        <p:nvSpPr>
          <p:cNvPr id="9" name="Text 6"/>
          <p:cNvSpPr/>
          <p:nvPr/>
        </p:nvSpPr>
        <p:spPr>
          <a:xfrm>
            <a:off x="640080" y="3072384"/>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Racial sentencing disparities</a:t>
            </a:r>
            <a:endParaRPr lang="en-US" sz="1100" dirty="0"/>
          </a:p>
        </p:txBody>
      </p:sp>
      <p:sp>
        <p:nvSpPr>
          <p:cNvPr id="10" name="Text 7"/>
          <p:cNvSpPr/>
          <p:nvPr/>
        </p:nvSpPr>
        <p:spPr>
          <a:xfrm>
            <a:off x="640080" y="3419856"/>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School-to-prison pipeline tracking</a:t>
            </a:r>
            <a:endParaRPr lang="en-US" sz="1100" dirty="0"/>
          </a:p>
        </p:txBody>
      </p:sp>
      <p:sp>
        <p:nvSpPr>
          <p:cNvPr id="11" name="Shape 8"/>
          <p:cNvSpPr/>
          <p:nvPr/>
        </p:nvSpPr>
        <p:spPr>
          <a:xfrm>
            <a:off x="6126480" y="1828800"/>
            <a:ext cx="5303520" cy="2103120"/>
          </a:xfrm>
          <a:prstGeom prst="roundRect">
            <a:avLst>
              <a:gd name="adj" fmla="val 5217"/>
            </a:avLst>
          </a:prstGeom>
          <a:solidFill>
            <a:srgbClr val="2A2025"/>
          </a:solidFill>
          <a:ln w="25400">
            <a:solidFill>
              <a:srgbClr val="D97706"/>
            </a:solidFill>
            <a:prstDash val="solid"/>
          </a:ln>
        </p:spPr>
      </p:sp>
      <p:sp>
        <p:nvSpPr>
          <p:cNvPr id="12" name="Text 9"/>
          <p:cNvSpPr/>
          <p:nvPr/>
        </p:nvSpPr>
        <p:spPr>
          <a:xfrm>
            <a:off x="6309360" y="1920240"/>
            <a:ext cx="493776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Racial Disparity Dashboard</a:t>
            </a:r>
            <a:endParaRPr lang="en-US" sz="1500" dirty="0"/>
          </a:p>
        </p:txBody>
      </p:sp>
      <p:sp>
        <p:nvSpPr>
          <p:cNvPr id="13" name="Text 10"/>
          <p:cNvSpPr/>
          <p:nvPr/>
        </p:nvSpPr>
        <p:spPr>
          <a:xfrm>
            <a:off x="6309360" y="2377440"/>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Suspension rates by race</a:t>
            </a:r>
            <a:endParaRPr lang="en-US" sz="1100" dirty="0"/>
          </a:p>
        </p:txBody>
      </p:sp>
      <p:sp>
        <p:nvSpPr>
          <p:cNvPr id="14" name="Text 11"/>
          <p:cNvSpPr/>
          <p:nvPr/>
        </p:nvSpPr>
        <p:spPr>
          <a:xfrm>
            <a:off x="6309360" y="2724912"/>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Poverty concentration mapping</a:t>
            </a:r>
            <a:endParaRPr lang="en-US" sz="1100" dirty="0"/>
          </a:p>
        </p:txBody>
      </p:sp>
      <p:sp>
        <p:nvSpPr>
          <p:cNvPr id="15" name="Text 12"/>
          <p:cNvSpPr/>
          <p:nvPr/>
        </p:nvSpPr>
        <p:spPr>
          <a:xfrm>
            <a:off x="6309360" y="3072384"/>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Youth unemployment disparities</a:t>
            </a:r>
            <a:endParaRPr lang="en-US" sz="1100" dirty="0"/>
          </a:p>
        </p:txBody>
      </p:sp>
      <p:sp>
        <p:nvSpPr>
          <p:cNvPr id="16" name="Text 13"/>
          <p:cNvSpPr/>
          <p:nvPr/>
        </p:nvSpPr>
        <p:spPr>
          <a:xfrm>
            <a:off x="6309360" y="3419856"/>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Foster-to-prison correlations</a:t>
            </a:r>
            <a:endParaRPr lang="en-US" sz="1100" dirty="0"/>
          </a:p>
        </p:txBody>
      </p:sp>
      <p:sp>
        <p:nvSpPr>
          <p:cNvPr id="17" name="Shape 14"/>
          <p:cNvSpPr/>
          <p:nvPr/>
        </p:nvSpPr>
        <p:spPr>
          <a:xfrm>
            <a:off x="457200" y="4206240"/>
            <a:ext cx="5303520" cy="2103120"/>
          </a:xfrm>
          <a:prstGeom prst="roundRect">
            <a:avLst>
              <a:gd name="adj" fmla="val 5217"/>
            </a:avLst>
          </a:prstGeom>
          <a:solidFill>
            <a:srgbClr val="2A2025"/>
          </a:solidFill>
          <a:ln w="25400">
            <a:solidFill>
              <a:srgbClr val="2563EB"/>
            </a:solidFill>
            <a:prstDash val="solid"/>
          </a:ln>
        </p:spPr>
      </p:sp>
      <p:sp>
        <p:nvSpPr>
          <p:cNvPr id="18" name="Text 15"/>
          <p:cNvSpPr/>
          <p:nvPr/>
        </p:nvSpPr>
        <p:spPr>
          <a:xfrm>
            <a:off x="640080" y="4297680"/>
            <a:ext cx="493776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Data Storyteller</a:t>
            </a:r>
            <a:endParaRPr lang="en-US" sz="1500" dirty="0"/>
          </a:p>
        </p:txBody>
      </p:sp>
      <p:sp>
        <p:nvSpPr>
          <p:cNvPr id="19" name="Text 16"/>
          <p:cNvSpPr/>
          <p:nvPr/>
        </p:nvSpPr>
        <p:spPr>
          <a:xfrm>
            <a:off x="640080" y="4754880"/>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Census tract-level demographics</a:t>
            </a:r>
            <a:endParaRPr lang="en-US" sz="1100" dirty="0"/>
          </a:p>
        </p:txBody>
      </p:sp>
      <p:sp>
        <p:nvSpPr>
          <p:cNvPr id="20" name="Text 17"/>
          <p:cNvSpPr/>
          <p:nvPr/>
        </p:nvSpPr>
        <p:spPr>
          <a:xfrm>
            <a:off x="640080" y="5102352"/>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Gun violence incident mapping</a:t>
            </a:r>
            <a:endParaRPr lang="en-US" sz="1100" dirty="0"/>
          </a:p>
        </p:txBody>
      </p:sp>
      <p:sp>
        <p:nvSpPr>
          <p:cNvPr id="21" name="Text 18"/>
          <p:cNvSpPr/>
          <p:nvPr/>
        </p:nvSpPr>
        <p:spPr>
          <a:xfrm>
            <a:off x="640080" y="5449824"/>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AI-powered data narratives</a:t>
            </a:r>
            <a:endParaRPr lang="en-US" sz="1100" dirty="0"/>
          </a:p>
        </p:txBody>
      </p:sp>
      <p:sp>
        <p:nvSpPr>
          <p:cNvPr id="22" name="Text 19"/>
          <p:cNvSpPr/>
          <p:nvPr/>
        </p:nvSpPr>
        <p:spPr>
          <a:xfrm>
            <a:off x="640080" y="5797296"/>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Multi-city comparison dashboards</a:t>
            </a:r>
            <a:endParaRPr lang="en-US" sz="1100" dirty="0"/>
          </a:p>
        </p:txBody>
      </p:sp>
      <p:sp>
        <p:nvSpPr>
          <p:cNvPr id="23" name="Shape 20"/>
          <p:cNvSpPr/>
          <p:nvPr/>
        </p:nvSpPr>
        <p:spPr>
          <a:xfrm>
            <a:off x="6126480" y="4206240"/>
            <a:ext cx="5303520" cy="2103120"/>
          </a:xfrm>
          <a:prstGeom prst="roundRect">
            <a:avLst>
              <a:gd name="adj" fmla="val 5217"/>
            </a:avLst>
          </a:prstGeom>
          <a:solidFill>
            <a:srgbClr val="2A2025"/>
          </a:solidFill>
          <a:ln w="25400">
            <a:solidFill>
              <a:srgbClr val="10B981"/>
            </a:solidFill>
            <a:prstDash val="solid"/>
          </a:ln>
        </p:spPr>
      </p:sp>
      <p:sp>
        <p:nvSpPr>
          <p:cNvPr id="24" name="Text 21"/>
          <p:cNvSpPr/>
          <p:nvPr/>
        </p:nvSpPr>
        <p:spPr>
          <a:xfrm>
            <a:off x="6309360" y="4297680"/>
            <a:ext cx="493776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Evidence-Based Programs</a:t>
            </a:r>
            <a:endParaRPr lang="en-US" sz="1500" dirty="0"/>
          </a:p>
        </p:txBody>
      </p:sp>
      <p:sp>
        <p:nvSpPr>
          <p:cNvPr id="25" name="Text 22"/>
          <p:cNvSpPr/>
          <p:nvPr/>
        </p:nvSpPr>
        <p:spPr>
          <a:xfrm>
            <a:off x="6309360" y="4754880"/>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FFT, MST, CURE Violence profiles</a:t>
            </a:r>
            <a:endParaRPr lang="en-US" sz="1100" dirty="0"/>
          </a:p>
        </p:txBody>
      </p:sp>
      <p:sp>
        <p:nvSpPr>
          <p:cNvPr id="26" name="Text 23"/>
          <p:cNvSpPr/>
          <p:nvPr/>
        </p:nvSpPr>
        <p:spPr>
          <a:xfrm>
            <a:off x="6309360" y="5102352"/>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Cost-benefit analysis per program</a:t>
            </a:r>
            <a:endParaRPr lang="en-US" sz="1100" dirty="0"/>
          </a:p>
        </p:txBody>
      </p:sp>
      <p:sp>
        <p:nvSpPr>
          <p:cNvPr id="27" name="Text 24"/>
          <p:cNvSpPr/>
          <p:nvPr/>
        </p:nvSpPr>
        <p:spPr>
          <a:xfrm>
            <a:off x="6309360" y="5449824"/>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Outcome data and success rates</a:t>
            </a:r>
            <a:endParaRPr lang="en-US" sz="1100" dirty="0"/>
          </a:p>
        </p:txBody>
      </p:sp>
      <p:sp>
        <p:nvSpPr>
          <p:cNvPr id="28" name="Text 25"/>
          <p:cNvSpPr/>
          <p:nvPr/>
        </p:nvSpPr>
        <p:spPr>
          <a:xfrm>
            <a:off x="6309360" y="5797296"/>
            <a:ext cx="493776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DOJ &amp; SAMHSA alignment</a:t>
            </a:r>
            <a:endParaRPr lang="en-US" sz="1100" dirty="0"/>
          </a:p>
        </p:txBody>
      </p:sp>
      <p:sp>
        <p:nvSpPr>
          <p:cNvPr id="29" name="Text 26"/>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5/30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REENTRY &amp; CASE MANAGEMENT</a:t>
            </a:r>
            <a:endParaRPr lang="en-US" sz="1100" dirty="0"/>
          </a:p>
        </p:txBody>
      </p:sp>
      <p:sp>
        <p:nvSpPr>
          <p:cNvPr id="4" name="Text 1"/>
          <p:cNvSpPr/>
          <p:nvPr/>
        </p:nvSpPr>
        <p:spPr>
          <a:xfrm>
            <a:off x="731520" y="640080"/>
            <a:ext cx="10058400" cy="640080"/>
          </a:xfrm>
          <a:prstGeom prst="rect">
            <a:avLst/>
          </a:prstGeom>
          <a:noFill/>
          <a:ln/>
        </p:spPr>
        <p:txBody>
          <a:bodyPr wrap="square" rtlCol="0" anchor="ctr"/>
          <a:lstStyle/>
          <a:p>
            <a:pPr indent="0" marL="0">
              <a:buNone/>
            </a:pPr>
            <a:r>
              <a:rPr lang="en-US" sz="2600" b="1" dirty="0">
                <a:solidFill>
                  <a:srgbClr val="2A1015"/>
                </a:solidFill>
                <a:latin typeface="Arial" pitchFamily="34" charset="0"/>
                <a:ea typeface="Arial" pitchFamily="34" charset="-122"/>
                <a:cs typeface="Arial" pitchFamily="34" charset="-120"/>
              </a:rPr>
              <a:t>Phase-Based Reintegration System</a:t>
            </a:r>
            <a:endParaRPr lang="en-US" sz="2600" dirty="0"/>
          </a:p>
        </p:txBody>
      </p:sp>
      <p:sp>
        <p:nvSpPr>
          <p:cNvPr id="5" name="Shape 2"/>
          <p:cNvSpPr/>
          <p:nvPr/>
        </p:nvSpPr>
        <p:spPr>
          <a:xfrm>
            <a:off x="457200" y="1554480"/>
            <a:ext cx="2011680" cy="640080"/>
          </a:xfrm>
          <a:prstGeom prst="roundRect">
            <a:avLst>
              <a:gd name="adj" fmla="val 11429"/>
            </a:avLst>
          </a:prstGeom>
          <a:solidFill>
            <a:srgbClr val="6B1C2A"/>
          </a:solidFill>
          <a:ln/>
        </p:spPr>
      </p:sp>
      <p:sp>
        <p:nvSpPr>
          <p:cNvPr id="6" name="Text 3"/>
          <p:cNvSpPr/>
          <p:nvPr/>
        </p:nvSpPr>
        <p:spPr>
          <a:xfrm>
            <a:off x="457200" y="1554480"/>
            <a:ext cx="2011680" cy="6400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 Pre-Release</a:t>
            </a:r>
            <a:endParaRPr lang="en-US" sz="1100" dirty="0"/>
          </a:p>
        </p:txBody>
      </p:sp>
      <p:sp>
        <p:nvSpPr>
          <p:cNvPr id="7" name="Text 4"/>
          <p:cNvSpPr/>
          <p:nvPr/>
        </p:nvSpPr>
        <p:spPr>
          <a:xfrm>
            <a:off x="2423160" y="1554480"/>
            <a:ext cx="274320" cy="640080"/>
          </a:xfrm>
          <a:prstGeom prst="rect">
            <a:avLst/>
          </a:prstGeom>
          <a:noFill/>
          <a:ln/>
        </p:spPr>
        <p:txBody>
          <a:bodyPr wrap="square" rtlCol="0" anchor="ctr"/>
          <a:lstStyle/>
          <a:p>
            <a:pPr algn="ctr" indent="0" marL="0">
              <a:buNone/>
            </a:pPr>
            <a:r>
              <a:rPr lang="en-US" sz="1600" dirty="0">
                <a:solidFill>
                  <a:srgbClr val="6B1C2A"/>
                </a:solidFill>
                <a:latin typeface="Arial" pitchFamily="34" charset="0"/>
                <a:ea typeface="Arial" pitchFamily="34" charset="-122"/>
                <a:cs typeface="Arial" pitchFamily="34" charset="-120"/>
              </a:rPr>
              <a:t>→</a:t>
            </a:r>
            <a:endParaRPr lang="en-US" sz="1600" dirty="0"/>
          </a:p>
        </p:txBody>
      </p:sp>
      <p:sp>
        <p:nvSpPr>
          <p:cNvPr id="8" name="Shape 5"/>
          <p:cNvSpPr/>
          <p:nvPr/>
        </p:nvSpPr>
        <p:spPr>
          <a:xfrm>
            <a:off x="2697480" y="1554480"/>
            <a:ext cx="2011680" cy="640080"/>
          </a:xfrm>
          <a:prstGeom prst="roundRect">
            <a:avLst>
              <a:gd name="adj" fmla="val 11429"/>
            </a:avLst>
          </a:prstGeom>
          <a:solidFill>
            <a:srgbClr val="6B1C2A"/>
          </a:solidFill>
          <a:ln/>
        </p:spPr>
      </p:sp>
      <p:sp>
        <p:nvSpPr>
          <p:cNvPr id="9" name="Text 6"/>
          <p:cNvSpPr/>
          <p:nvPr/>
        </p:nvSpPr>
        <p:spPr>
          <a:xfrm>
            <a:off x="2697480" y="1554480"/>
            <a:ext cx="2011680" cy="6400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 Transition</a:t>
            </a:r>
            <a:endParaRPr lang="en-US" sz="1100" dirty="0"/>
          </a:p>
        </p:txBody>
      </p:sp>
      <p:sp>
        <p:nvSpPr>
          <p:cNvPr id="10" name="Text 7"/>
          <p:cNvSpPr/>
          <p:nvPr/>
        </p:nvSpPr>
        <p:spPr>
          <a:xfrm>
            <a:off x="4663440" y="1554480"/>
            <a:ext cx="274320" cy="640080"/>
          </a:xfrm>
          <a:prstGeom prst="rect">
            <a:avLst/>
          </a:prstGeom>
          <a:noFill/>
          <a:ln/>
        </p:spPr>
        <p:txBody>
          <a:bodyPr wrap="square" rtlCol="0" anchor="ctr"/>
          <a:lstStyle/>
          <a:p>
            <a:pPr algn="ctr" indent="0" marL="0">
              <a:buNone/>
            </a:pPr>
            <a:r>
              <a:rPr lang="en-US" sz="1600" dirty="0">
                <a:solidFill>
                  <a:srgbClr val="6B1C2A"/>
                </a:solidFill>
                <a:latin typeface="Arial" pitchFamily="34" charset="0"/>
                <a:ea typeface="Arial" pitchFamily="34" charset="-122"/>
                <a:cs typeface="Arial" pitchFamily="34" charset="-120"/>
              </a:rPr>
              <a:t>→</a:t>
            </a:r>
            <a:endParaRPr lang="en-US" sz="1600" dirty="0"/>
          </a:p>
        </p:txBody>
      </p:sp>
      <p:sp>
        <p:nvSpPr>
          <p:cNvPr id="11" name="Shape 8"/>
          <p:cNvSpPr/>
          <p:nvPr/>
        </p:nvSpPr>
        <p:spPr>
          <a:xfrm>
            <a:off x="4937760" y="1554480"/>
            <a:ext cx="2011680" cy="640080"/>
          </a:xfrm>
          <a:prstGeom prst="roundRect">
            <a:avLst>
              <a:gd name="adj" fmla="val 11429"/>
            </a:avLst>
          </a:prstGeom>
          <a:solidFill>
            <a:srgbClr val="6B1C2A"/>
          </a:solidFill>
          <a:ln/>
        </p:spPr>
      </p:sp>
      <p:sp>
        <p:nvSpPr>
          <p:cNvPr id="12" name="Text 9"/>
          <p:cNvSpPr/>
          <p:nvPr/>
        </p:nvSpPr>
        <p:spPr>
          <a:xfrm>
            <a:off x="4937760" y="1554480"/>
            <a:ext cx="2011680" cy="6400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 Stabilization</a:t>
            </a:r>
            <a:endParaRPr lang="en-US" sz="1100" dirty="0"/>
          </a:p>
        </p:txBody>
      </p:sp>
      <p:sp>
        <p:nvSpPr>
          <p:cNvPr id="13" name="Text 10"/>
          <p:cNvSpPr/>
          <p:nvPr/>
        </p:nvSpPr>
        <p:spPr>
          <a:xfrm>
            <a:off x="6903720" y="1554480"/>
            <a:ext cx="274320" cy="640080"/>
          </a:xfrm>
          <a:prstGeom prst="rect">
            <a:avLst/>
          </a:prstGeom>
          <a:noFill/>
          <a:ln/>
        </p:spPr>
        <p:txBody>
          <a:bodyPr wrap="square" rtlCol="0" anchor="ctr"/>
          <a:lstStyle/>
          <a:p>
            <a:pPr algn="ctr" indent="0" marL="0">
              <a:buNone/>
            </a:pPr>
            <a:r>
              <a:rPr lang="en-US" sz="1600" dirty="0">
                <a:solidFill>
                  <a:srgbClr val="6B1C2A"/>
                </a:solidFill>
                <a:latin typeface="Arial" pitchFamily="34" charset="0"/>
                <a:ea typeface="Arial" pitchFamily="34" charset="-122"/>
                <a:cs typeface="Arial" pitchFamily="34" charset="-120"/>
              </a:rPr>
              <a:t>→</a:t>
            </a:r>
            <a:endParaRPr lang="en-US" sz="1600" dirty="0"/>
          </a:p>
        </p:txBody>
      </p:sp>
      <p:sp>
        <p:nvSpPr>
          <p:cNvPr id="14" name="Shape 11"/>
          <p:cNvSpPr/>
          <p:nvPr/>
        </p:nvSpPr>
        <p:spPr>
          <a:xfrm>
            <a:off x="7178040" y="1554480"/>
            <a:ext cx="2011680" cy="640080"/>
          </a:xfrm>
          <a:prstGeom prst="roundRect">
            <a:avLst>
              <a:gd name="adj" fmla="val 11429"/>
            </a:avLst>
          </a:prstGeom>
          <a:solidFill>
            <a:srgbClr val="6B1C2A"/>
          </a:solidFill>
          <a:ln/>
        </p:spPr>
      </p:sp>
      <p:sp>
        <p:nvSpPr>
          <p:cNvPr id="15" name="Text 12"/>
          <p:cNvSpPr/>
          <p:nvPr/>
        </p:nvSpPr>
        <p:spPr>
          <a:xfrm>
            <a:off x="7178040" y="1554480"/>
            <a:ext cx="2011680" cy="6400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 Independence</a:t>
            </a:r>
            <a:endParaRPr lang="en-US" sz="1100" dirty="0"/>
          </a:p>
        </p:txBody>
      </p:sp>
      <p:sp>
        <p:nvSpPr>
          <p:cNvPr id="16" name="Text 13"/>
          <p:cNvSpPr/>
          <p:nvPr/>
        </p:nvSpPr>
        <p:spPr>
          <a:xfrm>
            <a:off x="9144000" y="1554480"/>
            <a:ext cx="274320" cy="640080"/>
          </a:xfrm>
          <a:prstGeom prst="rect">
            <a:avLst/>
          </a:prstGeom>
          <a:noFill/>
          <a:ln/>
        </p:spPr>
        <p:txBody>
          <a:bodyPr wrap="square" rtlCol="0" anchor="ctr"/>
          <a:lstStyle/>
          <a:p>
            <a:pPr algn="ctr" indent="0" marL="0">
              <a:buNone/>
            </a:pPr>
            <a:r>
              <a:rPr lang="en-US" sz="1600" dirty="0">
                <a:solidFill>
                  <a:srgbClr val="6B1C2A"/>
                </a:solidFill>
                <a:latin typeface="Arial" pitchFamily="34" charset="0"/>
                <a:ea typeface="Arial" pitchFamily="34" charset="-122"/>
                <a:cs typeface="Arial" pitchFamily="34" charset="-120"/>
              </a:rPr>
              <a:t>→</a:t>
            </a:r>
            <a:endParaRPr lang="en-US" sz="1600" dirty="0"/>
          </a:p>
        </p:txBody>
      </p:sp>
      <p:sp>
        <p:nvSpPr>
          <p:cNvPr id="17" name="Shape 14"/>
          <p:cNvSpPr/>
          <p:nvPr/>
        </p:nvSpPr>
        <p:spPr>
          <a:xfrm>
            <a:off x="9418320" y="1554480"/>
            <a:ext cx="2011680" cy="640080"/>
          </a:xfrm>
          <a:prstGeom prst="roundRect">
            <a:avLst>
              <a:gd name="adj" fmla="val 11429"/>
            </a:avLst>
          </a:prstGeom>
          <a:solidFill>
            <a:srgbClr val="6B1C2A"/>
          </a:solidFill>
          <a:ln/>
        </p:spPr>
      </p:sp>
      <p:sp>
        <p:nvSpPr>
          <p:cNvPr id="18" name="Text 15"/>
          <p:cNvSpPr/>
          <p:nvPr/>
        </p:nvSpPr>
        <p:spPr>
          <a:xfrm>
            <a:off x="9418320" y="1554480"/>
            <a:ext cx="2011680" cy="6400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 Growth</a:t>
            </a:r>
            <a:endParaRPr lang="en-US" sz="1100" dirty="0"/>
          </a:p>
        </p:txBody>
      </p:sp>
      <p:sp>
        <p:nvSpPr>
          <p:cNvPr id="19" name="Text 16"/>
          <p:cNvSpPr/>
          <p:nvPr/>
        </p:nvSpPr>
        <p:spPr>
          <a:xfrm>
            <a:off x="731520" y="2560320"/>
            <a:ext cx="5029200" cy="365760"/>
          </a:xfrm>
          <a:prstGeom prst="rect">
            <a:avLst/>
          </a:prstGeom>
          <a:noFill/>
          <a:ln/>
        </p:spPr>
        <p:txBody>
          <a:bodyPr wrap="square" rtlCol="0" anchor="ctr"/>
          <a:lstStyle/>
          <a:p>
            <a:pPr indent="0" marL="0">
              <a:buNone/>
            </a:pPr>
            <a:r>
              <a:rPr lang="en-US" sz="1100" b="1" spc="200" kern="0" dirty="0">
                <a:solidFill>
                  <a:srgbClr val="6B1C2A"/>
                </a:solidFill>
                <a:latin typeface="Arial" pitchFamily="34" charset="0"/>
                <a:ea typeface="Arial" pitchFamily="34" charset="-122"/>
                <a:cs typeface="Arial" pitchFamily="34" charset="-120"/>
              </a:rPr>
              <a:t>THRIVE SCORE — 6 DOMAINS</a:t>
            </a:r>
            <a:endParaRPr lang="en-US" sz="1100" dirty="0"/>
          </a:p>
        </p:txBody>
      </p:sp>
      <p:sp>
        <p:nvSpPr>
          <p:cNvPr id="20" name="Shape 17"/>
          <p:cNvSpPr/>
          <p:nvPr/>
        </p:nvSpPr>
        <p:spPr>
          <a:xfrm>
            <a:off x="457200" y="3108960"/>
            <a:ext cx="1645920" cy="685800"/>
          </a:xfrm>
          <a:prstGeom prst="roundRect">
            <a:avLst>
              <a:gd name="adj" fmla="val 10667"/>
            </a:avLst>
          </a:prstGeom>
          <a:solidFill>
            <a:srgbClr val="FFFFFF"/>
          </a:solidFill>
          <a:ln w="25400">
            <a:solidFill>
              <a:srgbClr val="7C3AED"/>
            </a:solidFill>
            <a:prstDash val="solid"/>
          </a:ln>
        </p:spPr>
      </p:sp>
      <p:sp>
        <p:nvSpPr>
          <p:cNvPr id="21" name="Text 18"/>
          <p:cNvSpPr/>
          <p:nvPr/>
        </p:nvSpPr>
        <p:spPr>
          <a:xfrm>
            <a:off x="457200" y="3108960"/>
            <a:ext cx="1645920" cy="6858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Education</a:t>
            </a:r>
            <a:endParaRPr lang="en-US" sz="1200" dirty="0"/>
          </a:p>
        </p:txBody>
      </p:sp>
      <p:sp>
        <p:nvSpPr>
          <p:cNvPr id="22" name="Shape 19"/>
          <p:cNvSpPr/>
          <p:nvPr/>
        </p:nvSpPr>
        <p:spPr>
          <a:xfrm>
            <a:off x="2286000" y="3108960"/>
            <a:ext cx="1645920" cy="685800"/>
          </a:xfrm>
          <a:prstGeom prst="roundRect">
            <a:avLst>
              <a:gd name="adj" fmla="val 10667"/>
            </a:avLst>
          </a:prstGeom>
          <a:solidFill>
            <a:srgbClr val="FFFFFF"/>
          </a:solidFill>
          <a:ln w="25400">
            <a:solidFill>
              <a:srgbClr val="2563EB"/>
            </a:solidFill>
            <a:prstDash val="solid"/>
          </a:ln>
        </p:spPr>
      </p:sp>
      <p:sp>
        <p:nvSpPr>
          <p:cNvPr id="23" name="Text 20"/>
          <p:cNvSpPr/>
          <p:nvPr/>
        </p:nvSpPr>
        <p:spPr>
          <a:xfrm>
            <a:off x="2286000" y="3108960"/>
            <a:ext cx="1645920" cy="6858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Employment</a:t>
            </a:r>
            <a:endParaRPr lang="en-US" sz="1200" dirty="0"/>
          </a:p>
        </p:txBody>
      </p:sp>
      <p:sp>
        <p:nvSpPr>
          <p:cNvPr id="24" name="Shape 21"/>
          <p:cNvSpPr/>
          <p:nvPr/>
        </p:nvSpPr>
        <p:spPr>
          <a:xfrm>
            <a:off x="4114800" y="3108960"/>
            <a:ext cx="1645920" cy="685800"/>
          </a:xfrm>
          <a:prstGeom prst="roundRect">
            <a:avLst>
              <a:gd name="adj" fmla="val 10667"/>
            </a:avLst>
          </a:prstGeom>
          <a:solidFill>
            <a:srgbClr val="FFFFFF"/>
          </a:solidFill>
          <a:ln w="25400">
            <a:solidFill>
              <a:srgbClr val="10B981"/>
            </a:solidFill>
            <a:prstDash val="solid"/>
          </a:ln>
        </p:spPr>
      </p:sp>
      <p:sp>
        <p:nvSpPr>
          <p:cNvPr id="25" name="Text 22"/>
          <p:cNvSpPr/>
          <p:nvPr/>
        </p:nvSpPr>
        <p:spPr>
          <a:xfrm>
            <a:off x="4114800" y="3108960"/>
            <a:ext cx="1645920" cy="6858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Housing</a:t>
            </a:r>
            <a:endParaRPr lang="en-US" sz="1200" dirty="0"/>
          </a:p>
        </p:txBody>
      </p:sp>
      <p:sp>
        <p:nvSpPr>
          <p:cNvPr id="26" name="Shape 23"/>
          <p:cNvSpPr/>
          <p:nvPr/>
        </p:nvSpPr>
        <p:spPr>
          <a:xfrm>
            <a:off x="457200" y="4023360"/>
            <a:ext cx="1645920" cy="685800"/>
          </a:xfrm>
          <a:prstGeom prst="roundRect">
            <a:avLst>
              <a:gd name="adj" fmla="val 10667"/>
            </a:avLst>
          </a:prstGeom>
          <a:solidFill>
            <a:srgbClr val="FFFFFF"/>
          </a:solidFill>
          <a:ln w="25400">
            <a:solidFill>
              <a:srgbClr val="DC2626"/>
            </a:solidFill>
            <a:prstDash val="solid"/>
          </a:ln>
        </p:spPr>
      </p:sp>
      <p:sp>
        <p:nvSpPr>
          <p:cNvPr id="27" name="Text 24"/>
          <p:cNvSpPr/>
          <p:nvPr/>
        </p:nvSpPr>
        <p:spPr>
          <a:xfrm>
            <a:off x="457200" y="4023360"/>
            <a:ext cx="1645920" cy="6858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Health</a:t>
            </a:r>
            <a:endParaRPr lang="en-US" sz="1200" dirty="0"/>
          </a:p>
        </p:txBody>
      </p:sp>
      <p:sp>
        <p:nvSpPr>
          <p:cNvPr id="28" name="Shape 25"/>
          <p:cNvSpPr/>
          <p:nvPr/>
        </p:nvSpPr>
        <p:spPr>
          <a:xfrm>
            <a:off x="2286000" y="4023360"/>
            <a:ext cx="1645920" cy="685800"/>
          </a:xfrm>
          <a:prstGeom prst="roundRect">
            <a:avLst>
              <a:gd name="adj" fmla="val 10667"/>
            </a:avLst>
          </a:prstGeom>
          <a:solidFill>
            <a:srgbClr val="FFFFFF"/>
          </a:solidFill>
          <a:ln w="25400">
            <a:solidFill>
              <a:srgbClr val="D97706"/>
            </a:solidFill>
            <a:prstDash val="solid"/>
          </a:ln>
        </p:spPr>
      </p:sp>
      <p:sp>
        <p:nvSpPr>
          <p:cNvPr id="29" name="Text 26"/>
          <p:cNvSpPr/>
          <p:nvPr/>
        </p:nvSpPr>
        <p:spPr>
          <a:xfrm>
            <a:off x="2286000" y="4023360"/>
            <a:ext cx="1645920" cy="6858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Social</a:t>
            </a:r>
            <a:endParaRPr lang="en-US" sz="1200" dirty="0"/>
          </a:p>
        </p:txBody>
      </p:sp>
      <p:sp>
        <p:nvSpPr>
          <p:cNvPr id="30" name="Shape 27"/>
          <p:cNvSpPr/>
          <p:nvPr/>
        </p:nvSpPr>
        <p:spPr>
          <a:xfrm>
            <a:off x="4114800" y="4023360"/>
            <a:ext cx="1645920" cy="685800"/>
          </a:xfrm>
          <a:prstGeom prst="roundRect">
            <a:avLst>
              <a:gd name="adj" fmla="val 10667"/>
            </a:avLst>
          </a:prstGeom>
          <a:solidFill>
            <a:srgbClr val="FFFFFF"/>
          </a:solidFill>
          <a:ln w="25400">
            <a:solidFill>
              <a:srgbClr val="64748B"/>
            </a:solidFill>
            <a:prstDash val="solid"/>
          </a:ln>
        </p:spPr>
      </p:sp>
      <p:sp>
        <p:nvSpPr>
          <p:cNvPr id="31" name="Text 28"/>
          <p:cNvSpPr/>
          <p:nvPr/>
        </p:nvSpPr>
        <p:spPr>
          <a:xfrm>
            <a:off x="4114800" y="4023360"/>
            <a:ext cx="1645920" cy="6858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Legal</a:t>
            </a:r>
            <a:endParaRPr lang="en-US" sz="1200" dirty="0"/>
          </a:p>
        </p:txBody>
      </p:sp>
      <p:sp>
        <p:nvSpPr>
          <p:cNvPr id="32" name="Shape 29"/>
          <p:cNvSpPr/>
          <p:nvPr/>
        </p:nvSpPr>
        <p:spPr>
          <a:xfrm>
            <a:off x="6217920" y="2560320"/>
            <a:ext cx="5303520" cy="3657600"/>
          </a:xfrm>
          <a:prstGeom prst="roundRect">
            <a:avLst>
              <a:gd name="adj" fmla="val 3000"/>
            </a:avLst>
          </a:prstGeom>
          <a:solidFill>
            <a:srgbClr val="FFFFFF"/>
          </a:solidFill>
          <a:ln w="12700">
            <a:solidFill>
              <a:srgbClr val="E0D8D0"/>
            </a:solidFill>
            <a:prstDash val="solid"/>
          </a:ln>
        </p:spPr>
      </p:sp>
      <p:sp>
        <p:nvSpPr>
          <p:cNvPr id="33" name="Text 30"/>
          <p:cNvSpPr/>
          <p:nvPr/>
        </p:nvSpPr>
        <p:spPr>
          <a:xfrm>
            <a:off x="6492240" y="2651760"/>
            <a:ext cx="475488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System Capabilities</a:t>
            </a:r>
            <a:endParaRPr lang="en-US" sz="1600" dirty="0"/>
          </a:p>
        </p:txBody>
      </p:sp>
      <p:sp>
        <p:nvSpPr>
          <p:cNvPr id="34" name="Text 31"/>
          <p:cNvSpPr/>
          <p:nvPr/>
        </p:nvSpPr>
        <p:spPr>
          <a:xfrm>
            <a:off x="6492240" y="3200400"/>
            <a:ext cx="475488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Court-ready progress reports (automated)</a:t>
            </a:r>
            <a:endParaRPr lang="en-US" sz="1100" dirty="0"/>
          </a:p>
        </p:txBody>
      </p:sp>
      <p:sp>
        <p:nvSpPr>
          <p:cNvPr id="35" name="Text 32"/>
          <p:cNvSpPr/>
          <p:nvPr/>
        </p:nvSpPr>
        <p:spPr>
          <a:xfrm>
            <a:off x="6492240" y="3547872"/>
            <a:ext cx="475488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Service delivery record tracking</a:t>
            </a:r>
            <a:endParaRPr lang="en-US" sz="1100" dirty="0"/>
          </a:p>
        </p:txBody>
      </p:sp>
      <p:sp>
        <p:nvSpPr>
          <p:cNvPr id="36" name="Text 33"/>
          <p:cNvSpPr/>
          <p:nvPr/>
        </p:nvSpPr>
        <p:spPr>
          <a:xfrm>
            <a:off x="6492240" y="3895344"/>
            <a:ext cx="475488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Intake assessments with justice history</a:t>
            </a:r>
            <a:endParaRPr lang="en-US" sz="1100" dirty="0"/>
          </a:p>
        </p:txBody>
      </p:sp>
      <p:sp>
        <p:nvSpPr>
          <p:cNvPr id="37" name="Text 34"/>
          <p:cNvSpPr/>
          <p:nvPr/>
        </p:nvSpPr>
        <p:spPr>
          <a:xfrm>
            <a:off x="6492240" y="4242816"/>
            <a:ext cx="475488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Milestone completion with phase transitions</a:t>
            </a:r>
            <a:endParaRPr lang="en-US" sz="1100" dirty="0"/>
          </a:p>
        </p:txBody>
      </p:sp>
      <p:sp>
        <p:nvSpPr>
          <p:cNvPr id="38" name="Text 35"/>
          <p:cNvSpPr/>
          <p:nvPr/>
        </p:nvSpPr>
        <p:spPr>
          <a:xfrm>
            <a:off x="6492240" y="4590288"/>
            <a:ext cx="475488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Justice Partners portal (TJJD, Travis County)</a:t>
            </a:r>
            <a:endParaRPr lang="en-US" sz="1100" dirty="0"/>
          </a:p>
        </p:txBody>
      </p:sp>
      <p:sp>
        <p:nvSpPr>
          <p:cNvPr id="39" name="Text 36"/>
          <p:cNvSpPr/>
          <p:nvPr/>
        </p:nvSpPr>
        <p:spPr>
          <a:xfrm>
            <a:off x="6492240" y="4937760"/>
            <a:ext cx="475488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Bidirectional data exchange API</a:t>
            </a:r>
            <a:endParaRPr lang="en-US" sz="1100" dirty="0"/>
          </a:p>
        </p:txBody>
      </p:sp>
      <p:sp>
        <p:nvSpPr>
          <p:cNvPr id="40" name="Text 37"/>
          <p:cNvSpPr/>
          <p:nvPr/>
        </p:nvSpPr>
        <p:spPr>
          <a:xfrm>
            <a:off x="6492240" y="5285232"/>
            <a:ext cx="475488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DOJ-aligned outcome tracking</a:t>
            </a:r>
            <a:endParaRPr lang="en-US" sz="1100" dirty="0"/>
          </a:p>
        </p:txBody>
      </p:sp>
      <p:sp>
        <p:nvSpPr>
          <p:cNvPr id="41" name="Text 38"/>
          <p:cNvSpPr/>
          <p:nvPr/>
        </p:nvSpPr>
        <p:spPr>
          <a:xfrm>
            <a:off x="6492240" y="5632704"/>
            <a:ext cx="475488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Second Chance Act grant alignment</a:t>
            </a:r>
            <a:endParaRPr lang="en-US" sz="1100" dirty="0"/>
          </a:p>
        </p:txBody>
      </p:sp>
      <p:sp>
        <p:nvSpPr>
          <p:cNvPr id="42" name="Text 39"/>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6/30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DATA STORYTELLER &amp; GUN VIOLENCE INTELLIGENCE</a:t>
            </a:r>
            <a:endParaRPr lang="en-US" sz="1100" dirty="0"/>
          </a:p>
        </p:txBody>
      </p:sp>
      <p:sp>
        <p:nvSpPr>
          <p:cNvPr id="4" name="Text 1"/>
          <p:cNvSpPr/>
          <p:nvPr/>
        </p:nvSpPr>
        <p:spPr>
          <a:xfrm>
            <a:off x="731520" y="731520"/>
            <a:ext cx="10058400" cy="73152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Neighborhood → School → Outcomes Pipeline</a:t>
            </a:r>
            <a:endParaRPr lang="en-US" sz="2600" dirty="0"/>
          </a:p>
        </p:txBody>
      </p:sp>
      <p:sp>
        <p:nvSpPr>
          <p:cNvPr id="5" name="Shape 2"/>
          <p:cNvSpPr/>
          <p:nvPr/>
        </p:nvSpPr>
        <p:spPr>
          <a:xfrm>
            <a:off x="457200" y="2011680"/>
            <a:ext cx="2560320" cy="1828800"/>
          </a:xfrm>
          <a:prstGeom prst="roundRect">
            <a:avLst>
              <a:gd name="adj" fmla="val 6000"/>
            </a:avLst>
          </a:prstGeom>
          <a:solidFill>
            <a:srgbClr val="2A2025"/>
          </a:solidFill>
          <a:ln w="12700">
            <a:solidFill>
              <a:srgbClr val="3A3035"/>
            </a:solidFill>
            <a:prstDash val="solid"/>
          </a:ln>
        </p:spPr>
      </p:sp>
      <p:sp>
        <p:nvSpPr>
          <p:cNvPr id="6" name="Shape 3"/>
          <p:cNvSpPr/>
          <p:nvPr/>
        </p:nvSpPr>
        <p:spPr>
          <a:xfrm>
            <a:off x="548640" y="2148840"/>
            <a:ext cx="457200" cy="457200"/>
          </a:xfrm>
          <a:prstGeom prst="ellipse">
            <a:avLst/>
          </a:prstGeom>
          <a:solidFill>
            <a:srgbClr val="6B1C2A"/>
          </a:solidFill>
          <a:ln/>
        </p:spPr>
      </p:sp>
      <p:sp>
        <p:nvSpPr>
          <p:cNvPr id="7" name="Text 4"/>
          <p:cNvSpPr/>
          <p:nvPr/>
        </p:nvSpPr>
        <p:spPr>
          <a:xfrm>
            <a:off x="548640" y="21488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p:nvPr/>
        </p:nvSpPr>
        <p:spPr>
          <a:xfrm>
            <a:off x="1097280" y="2148840"/>
            <a:ext cx="182880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Neighborhood</a:t>
            </a:r>
            <a:endParaRPr lang="en-US" sz="1500" dirty="0"/>
          </a:p>
        </p:txBody>
      </p:sp>
      <p:sp>
        <p:nvSpPr>
          <p:cNvPr id="9" name="Text 6"/>
          <p:cNvSpPr/>
          <p:nvPr/>
        </p:nvSpPr>
        <p:spPr>
          <a:xfrm>
            <a:off x="594360" y="2743200"/>
            <a:ext cx="2286000" cy="91440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Census tract-level</a:t>
            </a:r>
            <a:endParaRPr lang="en-US" sz="1100" dirty="0"/>
          </a:p>
          <a:p>
            <a:pPr indent="0" marL="0">
              <a:buNone/>
            </a:pPr>
            <a:r>
              <a:rPr lang="en-US" sz="1100" dirty="0">
                <a:solidFill>
                  <a:srgbClr val="D0D0D0"/>
                </a:solidFill>
                <a:latin typeface="Arial" pitchFamily="34" charset="0"/>
                <a:ea typeface="Arial" pitchFamily="34" charset="-122"/>
                <a:cs typeface="Arial" pitchFamily="34" charset="-120"/>
              </a:rPr>
              <a:t>demographics &amp; SDOH</a:t>
            </a:r>
            <a:endParaRPr lang="en-US" sz="1100" dirty="0"/>
          </a:p>
        </p:txBody>
      </p:sp>
      <p:sp>
        <p:nvSpPr>
          <p:cNvPr id="10" name="Text 7"/>
          <p:cNvSpPr/>
          <p:nvPr/>
        </p:nvSpPr>
        <p:spPr>
          <a:xfrm>
            <a:off x="2971800" y="2560320"/>
            <a:ext cx="365760" cy="548640"/>
          </a:xfrm>
          <a:prstGeom prst="rect">
            <a:avLst/>
          </a:prstGeom>
          <a:noFill/>
          <a:ln/>
        </p:spPr>
        <p:txBody>
          <a:bodyPr wrap="square" rtlCol="0" anchor="ctr"/>
          <a:lstStyle/>
          <a:p>
            <a:pPr algn="ctr" indent="0" marL="0">
              <a:buNone/>
            </a:pPr>
            <a:r>
              <a:rPr lang="en-US" sz="2000" dirty="0">
                <a:solidFill>
                  <a:srgbClr val="6B1C2A"/>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3337560" y="2011680"/>
            <a:ext cx="2560320" cy="1828800"/>
          </a:xfrm>
          <a:prstGeom prst="roundRect">
            <a:avLst>
              <a:gd name="adj" fmla="val 6000"/>
            </a:avLst>
          </a:prstGeom>
          <a:solidFill>
            <a:srgbClr val="2A2025"/>
          </a:solidFill>
          <a:ln w="12700">
            <a:solidFill>
              <a:srgbClr val="3A3035"/>
            </a:solidFill>
            <a:prstDash val="solid"/>
          </a:ln>
        </p:spPr>
      </p:sp>
      <p:sp>
        <p:nvSpPr>
          <p:cNvPr id="12" name="Shape 9"/>
          <p:cNvSpPr/>
          <p:nvPr/>
        </p:nvSpPr>
        <p:spPr>
          <a:xfrm>
            <a:off x="3429000" y="2148840"/>
            <a:ext cx="457200" cy="457200"/>
          </a:xfrm>
          <a:prstGeom prst="ellipse">
            <a:avLst/>
          </a:prstGeom>
          <a:solidFill>
            <a:srgbClr val="6B1C2A"/>
          </a:solidFill>
          <a:ln/>
        </p:spPr>
      </p:sp>
      <p:sp>
        <p:nvSpPr>
          <p:cNvPr id="13" name="Text 10"/>
          <p:cNvSpPr/>
          <p:nvPr/>
        </p:nvSpPr>
        <p:spPr>
          <a:xfrm>
            <a:off x="3429000" y="21488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p:nvPr/>
        </p:nvSpPr>
        <p:spPr>
          <a:xfrm>
            <a:off x="3977640" y="2148840"/>
            <a:ext cx="182880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Gun Violence</a:t>
            </a:r>
            <a:endParaRPr lang="en-US" sz="1500" dirty="0"/>
          </a:p>
        </p:txBody>
      </p:sp>
      <p:sp>
        <p:nvSpPr>
          <p:cNvPr id="15" name="Text 12"/>
          <p:cNvSpPr/>
          <p:nvPr/>
        </p:nvSpPr>
        <p:spPr>
          <a:xfrm>
            <a:off x="3474720" y="2743200"/>
            <a:ext cx="2286000" cy="91440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Real-time incidents</a:t>
            </a:r>
            <a:endParaRPr lang="en-US" sz="1100" dirty="0"/>
          </a:p>
          <a:p>
            <a:pPr indent="0" marL="0">
              <a:buNone/>
            </a:pPr>
            <a:r>
              <a:rPr lang="en-US" sz="1100" dirty="0">
                <a:solidFill>
                  <a:srgbClr val="D0D0D0"/>
                </a:solidFill>
                <a:latin typeface="Arial" pitchFamily="34" charset="0"/>
                <a:ea typeface="Arial" pitchFamily="34" charset="-122"/>
                <a:cs typeface="Arial" pitchFamily="34" charset="-120"/>
              </a:rPr>
              <a:t>from GV Tracker API</a:t>
            </a:r>
            <a:endParaRPr lang="en-US" sz="1100" dirty="0"/>
          </a:p>
        </p:txBody>
      </p:sp>
      <p:sp>
        <p:nvSpPr>
          <p:cNvPr id="16" name="Text 13"/>
          <p:cNvSpPr/>
          <p:nvPr/>
        </p:nvSpPr>
        <p:spPr>
          <a:xfrm>
            <a:off x="5852160" y="2560320"/>
            <a:ext cx="365760" cy="548640"/>
          </a:xfrm>
          <a:prstGeom prst="rect">
            <a:avLst/>
          </a:prstGeom>
          <a:noFill/>
          <a:ln/>
        </p:spPr>
        <p:txBody>
          <a:bodyPr wrap="square" rtlCol="0" anchor="ctr"/>
          <a:lstStyle/>
          <a:p>
            <a:pPr algn="ctr" indent="0" marL="0">
              <a:buNone/>
            </a:pPr>
            <a:r>
              <a:rPr lang="en-US" sz="2000" dirty="0">
                <a:solidFill>
                  <a:srgbClr val="6B1C2A"/>
                </a:solidFill>
                <a:latin typeface="Arial" pitchFamily="34" charset="0"/>
                <a:ea typeface="Arial" pitchFamily="34" charset="-122"/>
                <a:cs typeface="Arial" pitchFamily="34" charset="-120"/>
              </a:rPr>
              <a:t>→</a:t>
            </a:r>
            <a:endParaRPr lang="en-US" sz="2000" dirty="0"/>
          </a:p>
        </p:txBody>
      </p:sp>
      <p:sp>
        <p:nvSpPr>
          <p:cNvPr id="17" name="Shape 14"/>
          <p:cNvSpPr/>
          <p:nvPr/>
        </p:nvSpPr>
        <p:spPr>
          <a:xfrm>
            <a:off x="6217920" y="2011680"/>
            <a:ext cx="2560320" cy="1828800"/>
          </a:xfrm>
          <a:prstGeom prst="roundRect">
            <a:avLst>
              <a:gd name="adj" fmla="val 6000"/>
            </a:avLst>
          </a:prstGeom>
          <a:solidFill>
            <a:srgbClr val="2A2025"/>
          </a:solidFill>
          <a:ln w="12700">
            <a:solidFill>
              <a:srgbClr val="3A3035"/>
            </a:solidFill>
            <a:prstDash val="solid"/>
          </a:ln>
        </p:spPr>
      </p:sp>
      <p:sp>
        <p:nvSpPr>
          <p:cNvPr id="18" name="Shape 15"/>
          <p:cNvSpPr/>
          <p:nvPr/>
        </p:nvSpPr>
        <p:spPr>
          <a:xfrm>
            <a:off x="6309360" y="2148840"/>
            <a:ext cx="457200" cy="457200"/>
          </a:xfrm>
          <a:prstGeom prst="ellipse">
            <a:avLst/>
          </a:prstGeom>
          <a:solidFill>
            <a:srgbClr val="6B1C2A"/>
          </a:solidFill>
          <a:ln/>
        </p:spPr>
      </p:sp>
      <p:sp>
        <p:nvSpPr>
          <p:cNvPr id="19" name="Text 16"/>
          <p:cNvSpPr/>
          <p:nvPr/>
        </p:nvSpPr>
        <p:spPr>
          <a:xfrm>
            <a:off x="6309360" y="21488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6858000" y="2148840"/>
            <a:ext cx="182880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School Data</a:t>
            </a:r>
            <a:endParaRPr lang="en-US" sz="1500" dirty="0"/>
          </a:p>
        </p:txBody>
      </p:sp>
      <p:sp>
        <p:nvSpPr>
          <p:cNvPr id="21" name="Text 18"/>
          <p:cNvSpPr/>
          <p:nvPr/>
        </p:nvSpPr>
        <p:spPr>
          <a:xfrm>
            <a:off x="6355080" y="2743200"/>
            <a:ext cx="2286000" cy="91440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Performance metrics</a:t>
            </a:r>
            <a:endParaRPr lang="en-US" sz="1100" dirty="0"/>
          </a:p>
          <a:p>
            <a:pPr indent="0" marL="0">
              <a:buNone/>
            </a:pPr>
            <a:r>
              <a:rPr lang="en-US" sz="1100" dirty="0">
                <a:solidFill>
                  <a:srgbClr val="D0D0D0"/>
                </a:solidFill>
                <a:latin typeface="Arial" pitchFamily="34" charset="0"/>
                <a:ea typeface="Arial" pitchFamily="34" charset="-122"/>
                <a:cs typeface="Arial" pitchFamily="34" charset="-120"/>
              </a:rPr>
              <a:t>&amp; pipeline indicators</a:t>
            </a:r>
            <a:endParaRPr lang="en-US" sz="1100" dirty="0"/>
          </a:p>
        </p:txBody>
      </p:sp>
      <p:sp>
        <p:nvSpPr>
          <p:cNvPr id="22" name="Text 19"/>
          <p:cNvSpPr/>
          <p:nvPr/>
        </p:nvSpPr>
        <p:spPr>
          <a:xfrm>
            <a:off x="8732520" y="2560320"/>
            <a:ext cx="365760" cy="548640"/>
          </a:xfrm>
          <a:prstGeom prst="rect">
            <a:avLst/>
          </a:prstGeom>
          <a:noFill/>
          <a:ln/>
        </p:spPr>
        <p:txBody>
          <a:bodyPr wrap="square" rtlCol="0" anchor="ctr"/>
          <a:lstStyle/>
          <a:p>
            <a:pPr algn="ctr" indent="0" marL="0">
              <a:buNone/>
            </a:pPr>
            <a:r>
              <a:rPr lang="en-US" sz="2000" dirty="0">
                <a:solidFill>
                  <a:srgbClr val="6B1C2A"/>
                </a:solidFill>
                <a:latin typeface="Arial" pitchFamily="34" charset="0"/>
                <a:ea typeface="Arial" pitchFamily="34" charset="-122"/>
                <a:cs typeface="Arial" pitchFamily="34" charset="-120"/>
              </a:rPr>
              <a:t>→</a:t>
            </a:r>
            <a:endParaRPr lang="en-US" sz="2000" dirty="0"/>
          </a:p>
        </p:txBody>
      </p:sp>
      <p:sp>
        <p:nvSpPr>
          <p:cNvPr id="23" name="Shape 20"/>
          <p:cNvSpPr/>
          <p:nvPr/>
        </p:nvSpPr>
        <p:spPr>
          <a:xfrm>
            <a:off x="9098280" y="2011680"/>
            <a:ext cx="2560320" cy="1828800"/>
          </a:xfrm>
          <a:prstGeom prst="roundRect">
            <a:avLst>
              <a:gd name="adj" fmla="val 6000"/>
            </a:avLst>
          </a:prstGeom>
          <a:solidFill>
            <a:srgbClr val="2A2025"/>
          </a:solidFill>
          <a:ln w="12700">
            <a:solidFill>
              <a:srgbClr val="3A3035"/>
            </a:solidFill>
            <a:prstDash val="solid"/>
          </a:ln>
        </p:spPr>
      </p:sp>
      <p:sp>
        <p:nvSpPr>
          <p:cNvPr id="24" name="Shape 21"/>
          <p:cNvSpPr/>
          <p:nvPr/>
        </p:nvSpPr>
        <p:spPr>
          <a:xfrm>
            <a:off x="9189720" y="2148840"/>
            <a:ext cx="457200" cy="457200"/>
          </a:xfrm>
          <a:prstGeom prst="ellipse">
            <a:avLst/>
          </a:prstGeom>
          <a:solidFill>
            <a:srgbClr val="6B1C2A"/>
          </a:solidFill>
          <a:ln/>
        </p:spPr>
      </p:sp>
      <p:sp>
        <p:nvSpPr>
          <p:cNvPr id="25" name="Text 22"/>
          <p:cNvSpPr/>
          <p:nvPr/>
        </p:nvSpPr>
        <p:spPr>
          <a:xfrm>
            <a:off x="9189720" y="21488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3"/>
          <p:cNvSpPr/>
          <p:nvPr/>
        </p:nvSpPr>
        <p:spPr>
          <a:xfrm>
            <a:off x="9738360" y="2148840"/>
            <a:ext cx="1828800"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AI Narrative</a:t>
            </a:r>
            <a:endParaRPr lang="en-US" sz="1500" dirty="0"/>
          </a:p>
        </p:txBody>
      </p:sp>
      <p:sp>
        <p:nvSpPr>
          <p:cNvPr id="27" name="Text 24"/>
          <p:cNvSpPr/>
          <p:nvPr/>
        </p:nvSpPr>
        <p:spPr>
          <a:xfrm>
            <a:off x="9235440" y="2743200"/>
            <a:ext cx="2286000" cy="91440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Data-driven story</a:t>
            </a:r>
            <a:endParaRPr lang="en-US" sz="1100" dirty="0"/>
          </a:p>
          <a:p>
            <a:pPr indent="0" marL="0">
              <a:buNone/>
            </a:pPr>
            <a:r>
              <a:rPr lang="en-US" sz="1100" dirty="0">
                <a:solidFill>
                  <a:srgbClr val="D0D0D0"/>
                </a:solidFill>
                <a:latin typeface="Arial" pitchFamily="34" charset="0"/>
                <a:ea typeface="Arial" pitchFamily="34" charset="-122"/>
                <a:cs typeface="Arial" pitchFamily="34" charset="-120"/>
              </a:rPr>
              <a:t>for funders &amp; policy</a:t>
            </a:r>
            <a:endParaRPr lang="en-US" sz="1100" dirty="0"/>
          </a:p>
        </p:txBody>
      </p:sp>
      <p:sp>
        <p:nvSpPr>
          <p:cNvPr id="28" name="Shape 25"/>
          <p:cNvSpPr/>
          <p:nvPr/>
        </p:nvSpPr>
        <p:spPr>
          <a:xfrm>
            <a:off x="457200" y="4389120"/>
            <a:ext cx="5486400" cy="2011680"/>
          </a:xfrm>
          <a:prstGeom prst="roundRect">
            <a:avLst>
              <a:gd name="adj" fmla="val 5455"/>
            </a:avLst>
          </a:prstGeom>
          <a:solidFill>
            <a:srgbClr val="2A2025"/>
          </a:solidFill>
          <a:ln w="12700">
            <a:solidFill>
              <a:srgbClr val="3A3035"/>
            </a:solidFill>
            <a:prstDash val="solid"/>
          </a:ln>
        </p:spPr>
      </p:sp>
      <p:sp>
        <p:nvSpPr>
          <p:cNvPr id="29" name="Text 26"/>
          <p:cNvSpPr/>
          <p:nvPr/>
        </p:nvSpPr>
        <p:spPr>
          <a:xfrm>
            <a:off x="731520" y="448056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National Gun Violence Tracker</a:t>
            </a:r>
            <a:endParaRPr lang="en-US" sz="1500" dirty="0"/>
          </a:p>
        </p:txBody>
      </p:sp>
      <p:sp>
        <p:nvSpPr>
          <p:cNvPr id="30" name="Text 27"/>
          <p:cNvSpPr/>
          <p:nvPr/>
        </p:nvSpPr>
        <p:spPr>
          <a:xfrm>
            <a:off x="731520" y="4846320"/>
            <a:ext cx="5029200" cy="27432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Live API at gun-violence-registry.replit.app</a:t>
            </a:r>
            <a:endParaRPr lang="en-US" sz="1000" dirty="0"/>
          </a:p>
        </p:txBody>
      </p:sp>
      <p:sp>
        <p:nvSpPr>
          <p:cNvPr id="31" name="Text 28"/>
          <p:cNvSpPr/>
          <p:nvPr/>
        </p:nvSpPr>
        <p:spPr>
          <a:xfrm>
            <a:off x="731520" y="5212080"/>
            <a:ext cx="237744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City/state filtering</a:t>
            </a:r>
            <a:endParaRPr lang="en-US" sz="1100" dirty="0"/>
          </a:p>
        </p:txBody>
      </p:sp>
      <p:sp>
        <p:nvSpPr>
          <p:cNvPr id="32" name="Text 29"/>
          <p:cNvSpPr/>
          <p:nvPr/>
        </p:nvSpPr>
        <p:spPr>
          <a:xfrm>
            <a:off x="3291840" y="5212080"/>
            <a:ext cx="237744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Multi-city comparison</a:t>
            </a:r>
            <a:endParaRPr lang="en-US" sz="1100" dirty="0"/>
          </a:p>
        </p:txBody>
      </p:sp>
      <p:sp>
        <p:nvSpPr>
          <p:cNvPr id="33" name="Text 30"/>
          <p:cNvSpPr/>
          <p:nvPr/>
        </p:nvSpPr>
        <p:spPr>
          <a:xfrm>
            <a:off x="731520" y="5577840"/>
            <a:ext cx="237744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Monthly trends</a:t>
            </a:r>
            <a:endParaRPr lang="en-US" sz="1100" dirty="0"/>
          </a:p>
        </p:txBody>
      </p:sp>
      <p:sp>
        <p:nvSpPr>
          <p:cNvPr id="34" name="Text 31"/>
          <p:cNvSpPr/>
          <p:nvPr/>
        </p:nvSpPr>
        <p:spPr>
          <a:xfrm>
            <a:off x="3291840" y="5577840"/>
            <a:ext cx="2377440" cy="3200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Incident type breakdowns</a:t>
            </a:r>
            <a:endParaRPr lang="en-US" sz="1100" dirty="0"/>
          </a:p>
        </p:txBody>
      </p:sp>
      <p:sp>
        <p:nvSpPr>
          <p:cNvPr id="35" name="Shape 32"/>
          <p:cNvSpPr/>
          <p:nvPr/>
        </p:nvSpPr>
        <p:spPr>
          <a:xfrm>
            <a:off x="6217920" y="4389120"/>
            <a:ext cx="5486400" cy="2011680"/>
          </a:xfrm>
          <a:prstGeom prst="roundRect">
            <a:avLst>
              <a:gd name="adj" fmla="val 5455"/>
            </a:avLst>
          </a:prstGeom>
          <a:solidFill>
            <a:srgbClr val="2A2025"/>
          </a:solidFill>
          <a:ln w="12700">
            <a:solidFill>
              <a:srgbClr val="3A3035"/>
            </a:solidFill>
            <a:prstDash val="solid"/>
          </a:ln>
        </p:spPr>
      </p:sp>
      <p:sp>
        <p:nvSpPr>
          <p:cNvPr id="36" name="Text 33"/>
          <p:cNvSpPr/>
          <p:nvPr/>
        </p:nvSpPr>
        <p:spPr>
          <a:xfrm>
            <a:off x="6492240" y="448056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Pre-Loaded Cities</a:t>
            </a:r>
            <a:endParaRPr lang="en-US" sz="1500" dirty="0"/>
          </a:p>
        </p:txBody>
      </p:sp>
      <p:sp>
        <p:nvSpPr>
          <p:cNvPr id="37" name="Text 34"/>
          <p:cNvSpPr/>
          <p:nvPr/>
        </p:nvSpPr>
        <p:spPr>
          <a:xfrm>
            <a:off x="6492240" y="4937760"/>
            <a:ext cx="2377440" cy="27432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Wilmington NC (Creekwood)</a:t>
            </a:r>
            <a:endParaRPr lang="en-US" sz="1000" dirty="0"/>
          </a:p>
        </p:txBody>
      </p:sp>
      <p:sp>
        <p:nvSpPr>
          <p:cNvPr id="38" name="Text 35"/>
          <p:cNvSpPr/>
          <p:nvPr/>
        </p:nvSpPr>
        <p:spPr>
          <a:xfrm>
            <a:off x="9052560" y="4937760"/>
            <a:ext cx="2377440" cy="27432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Austin TX</a:t>
            </a:r>
            <a:endParaRPr lang="en-US" sz="1000" dirty="0"/>
          </a:p>
        </p:txBody>
      </p:sp>
      <p:sp>
        <p:nvSpPr>
          <p:cNvPr id="39" name="Text 36"/>
          <p:cNvSpPr/>
          <p:nvPr/>
        </p:nvSpPr>
        <p:spPr>
          <a:xfrm>
            <a:off x="6492240" y="5257800"/>
            <a:ext cx="2377440" cy="27432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Buffalo NY</a:t>
            </a:r>
            <a:endParaRPr lang="en-US" sz="1000" dirty="0"/>
          </a:p>
        </p:txBody>
      </p:sp>
      <p:sp>
        <p:nvSpPr>
          <p:cNvPr id="40" name="Text 37"/>
          <p:cNvSpPr/>
          <p:nvPr/>
        </p:nvSpPr>
        <p:spPr>
          <a:xfrm>
            <a:off x="9052560" y="5257800"/>
            <a:ext cx="2377440" cy="27432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Baltimore MD</a:t>
            </a:r>
            <a:endParaRPr lang="en-US" sz="1000" dirty="0"/>
          </a:p>
        </p:txBody>
      </p:sp>
      <p:sp>
        <p:nvSpPr>
          <p:cNvPr id="41" name="Text 38"/>
          <p:cNvSpPr/>
          <p:nvPr/>
        </p:nvSpPr>
        <p:spPr>
          <a:xfrm>
            <a:off x="6492240" y="5577840"/>
            <a:ext cx="2377440" cy="27432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Detroit MI</a:t>
            </a:r>
            <a:endParaRPr lang="en-US" sz="1000" dirty="0"/>
          </a:p>
        </p:txBody>
      </p:sp>
      <p:sp>
        <p:nvSpPr>
          <p:cNvPr id="42" name="Text 39"/>
          <p:cNvSpPr/>
          <p:nvPr/>
        </p:nvSpPr>
        <p:spPr>
          <a:xfrm>
            <a:off x="9052560" y="5577840"/>
            <a:ext cx="2377440" cy="27432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Memphis TN</a:t>
            </a:r>
            <a:endParaRPr lang="en-US" sz="1000" dirty="0"/>
          </a:p>
        </p:txBody>
      </p:sp>
      <p:sp>
        <p:nvSpPr>
          <p:cNvPr id="43" name="Text 40"/>
          <p:cNvSpPr/>
          <p:nvPr/>
        </p:nvSpPr>
        <p:spPr>
          <a:xfrm>
            <a:off x="6492240" y="5897880"/>
            <a:ext cx="2377440" cy="27432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+ 14 more cities</a:t>
            </a:r>
            <a:endParaRPr lang="en-US" sz="1000" dirty="0"/>
          </a:p>
        </p:txBody>
      </p:sp>
      <p:sp>
        <p:nvSpPr>
          <p:cNvPr id="44" name="Text 41"/>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7/30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C3AED"/>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E8E0FF"/>
                </a:solidFill>
                <a:latin typeface="Arial" pitchFamily="34" charset="0"/>
                <a:ea typeface="Arial" pitchFamily="34" charset="-122"/>
                <a:cs typeface="Arial" pitchFamily="34" charset="-120"/>
              </a:rPr>
              <a:t>AUTONOMOUS AGENT NETWORK</a:t>
            </a:r>
            <a:endParaRPr lang="en-US" sz="1100" dirty="0"/>
          </a:p>
        </p:txBody>
      </p:sp>
      <p:sp>
        <p:nvSpPr>
          <p:cNvPr id="4" name="Text 1"/>
          <p:cNvSpPr/>
          <p:nvPr/>
        </p:nvSpPr>
        <p:spPr>
          <a:xfrm>
            <a:off x="731520" y="731520"/>
            <a:ext cx="10058400" cy="10972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24 Platforms. Reasoning-Required.</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Autonomous but Accountable.</a:t>
            </a:r>
            <a:endParaRPr lang="en-US" sz="2800" dirty="0"/>
          </a:p>
        </p:txBody>
      </p:sp>
      <p:sp>
        <p:nvSpPr>
          <p:cNvPr id="5" name="Shape 2"/>
          <p:cNvSpPr/>
          <p:nvPr/>
        </p:nvSpPr>
        <p:spPr>
          <a:xfrm>
            <a:off x="457200" y="2194560"/>
            <a:ext cx="3520440" cy="2560320"/>
          </a:xfrm>
          <a:prstGeom prst="roundRect">
            <a:avLst>
              <a:gd name="adj" fmla="val 4286"/>
            </a:avLst>
          </a:prstGeom>
          <a:solidFill>
            <a:srgbClr val="5B21B6"/>
          </a:solidFill>
          <a:ln/>
        </p:spPr>
      </p:sp>
      <p:sp>
        <p:nvSpPr>
          <p:cNvPr id="6" name="Text 3"/>
          <p:cNvSpPr/>
          <p:nvPr/>
        </p:nvSpPr>
        <p:spPr>
          <a:xfrm>
            <a:off x="640080" y="2377440"/>
            <a:ext cx="315468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Targeted Exchange</a:t>
            </a:r>
            <a:endParaRPr lang="en-US" sz="1700" dirty="0"/>
          </a:p>
        </p:txBody>
      </p:sp>
      <p:sp>
        <p:nvSpPr>
          <p:cNvPr id="7" name="Text 4"/>
          <p:cNvSpPr/>
          <p:nvPr/>
        </p:nvSpPr>
        <p:spPr>
          <a:xfrm>
            <a:off x="640080" y="2926080"/>
            <a:ext cx="3154680" cy="1645920"/>
          </a:xfrm>
          <a:prstGeom prst="rect">
            <a:avLst/>
          </a:prstGeom>
          <a:noFill/>
          <a:ln/>
        </p:spPr>
        <p:txBody>
          <a:bodyPr wrap="square" rtlCol="0" anchor="ctr"/>
          <a:lstStyle/>
          <a:p>
            <a:pPr indent="0" marL="0">
              <a:buNone/>
            </a:pPr>
            <a:r>
              <a:rPr lang="en-US" sz="1200" dirty="0">
                <a:solidFill>
                  <a:srgbClr val="E0D0FF"/>
                </a:solidFill>
                <a:latin typeface="Arial" pitchFamily="34" charset="0"/>
                <a:ea typeface="Arial" pitchFamily="34" charset="-122"/>
                <a:cs typeface="Arial" pitchFamily="34" charset="-120"/>
              </a:rPr>
              <a:t>Platform-to-platform messaging with domain validation and confidence scoring (high/medium/low). Every exchange documented.</a:t>
            </a:r>
            <a:endParaRPr lang="en-US" sz="1200" dirty="0"/>
          </a:p>
        </p:txBody>
      </p:sp>
      <p:sp>
        <p:nvSpPr>
          <p:cNvPr id="8" name="Shape 5"/>
          <p:cNvSpPr/>
          <p:nvPr/>
        </p:nvSpPr>
        <p:spPr>
          <a:xfrm>
            <a:off x="4251960" y="2194560"/>
            <a:ext cx="3520440" cy="2560320"/>
          </a:xfrm>
          <a:prstGeom prst="roundRect">
            <a:avLst>
              <a:gd name="adj" fmla="val 4286"/>
            </a:avLst>
          </a:prstGeom>
          <a:solidFill>
            <a:srgbClr val="5B21B6"/>
          </a:solidFill>
          <a:ln/>
        </p:spPr>
      </p:sp>
      <p:sp>
        <p:nvSpPr>
          <p:cNvPr id="9" name="Text 6"/>
          <p:cNvSpPr/>
          <p:nvPr/>
        </p:nvSpPr>
        <p:spPr>
          <a:xfrm>
            <a:off x="4434840" y="2377440"/>
            <a:ext cx="315468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Smart Broadcasting</a:t>
            </a:r>
            <a:endParaRPr lang="en-US" sz="1700" dirty="0"/>
          </a:p>
        </p:txBody>
      </p:sp>
      <p:sp>
        <p:nvSpPr>
          <p:cNvPr id="10" name="Text 7"/>
          <p:cNvSpPr/>
          <p:nvPr/>
        </p:nvSpPr>
        <p:spPr>
          <a:xfrm>
            <a:off x="4434840" y="2926080"/>
            <a:ext cx="3154680" cy="1645920"/>
          </a:xfrm>
          <a:prstGeom prst="rect">
            <a:avLst/>
          </a:prstGeom>
          <a:noFill/>
          <a:ln/>
        </p:spPr>
        <p:txBody>
          <a:bodyPr wrap="square" rtlCol="0" anchor="ctr"/>
          <a:lstStyle/>
          <a:p>
            <a:pPr indent="0" marL="0">
              <a:buNone/>
            </a:pPr>
            <a:r>
              <a:rPr lang="en-US" sz="1200" dirty="0">
                <a:solidFill>
                  <a:srgbClr val="E0D0FF"/>
                </a:solidFill>
                <a:latin typeface="Arial" pitchFamily="34" charset="0"/>
                <a:ea typeface="Arial" pitchFamily="34" charset="-122"/>
                <a:cs typeface="Arial" pitchFamily="34" charset="-120"/>
              </a:rPr>
              <a:t>Domain-filtered delivery. Health alert reaches 10 platforms with health capability. data_share broadcasts rejected — target instead.</a:t>
            </a:r>
            <a:endParaRPr lang="en-US" sz="1200" dirty="0"/>
          </a:p>
        </p:txBody>
      </p:sp>
      <p:sp>
        <p:nvSpPr>
          <p:cNvPr id="11" name="Shape 8"/>
          <p:cNvSpPr/>
          <p:nvPr/>
        </p:nvSpPr>
        <p:spPr>
          <a:xfrm>
            <a:off x="8046720" y="2194560"/>
            <a:ext cx="3520440" cy="2560320"/>
          </a:xfrm>
          <a:prstGeom prst="roundRect">
            <a:avLst>
              <a:gd name="adj" fmla="val 4286"/>
            </a:avLst>
          </a:prstGeom>
          <a:solidFill>
            <a:srgbClr val="5B21B6"/>
          </a:solidFill>
          <a:ln/>
        </p:spPr>
      </p:sp>
      <p:sp>
        <p:nvSpPr>
          <p:cNvPr id="12" name="Text 9"/>
          <p:cNvSpPr/>
          <p:nvPr/>
        </p:nvSpPr>
        <p:spPr>
          <a:xfrm>
            <a:off x="8229600" y="2377440"/>
            <a:ext cx="315468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DeepSeek Reasoning</a:t>
            </a:r>
            <a:endParaRPr lang="en-US" sz="1700" dirty="0"/>
          </a:p>
        </p:txBody>
      </p:sp>
      <p:sp>
        <p:nvSpPr>
          <p:cNvPr id="13" name="Text 10"/>
          <p:cNvSpPr/>
          <p:nvPr/>
        </p:nvSpPr>
        <p:spPr>
          <a:xfrm>
            <a:off x="8229600" y="2926080"/>
            <a:ext cx="3154680" cy="1645920"/>
          </a:xfrm>
          <a:prstGeom prst="rect">
            <a:avLst/>
          </a:prstGeom>
          <a:noFill/>
          <a:ln/>
        </p:spPr>
        <p:txBody>
          <a:bodyPr wrap="square" rtlCol="0" anchor="ctr"/>
          <a:lstStyle/>
          <a:p>
            <a:pPr indent="0" marL="0">
              <a:buNone/>
            </a:pPr>
            <a:r>
              <a:rPr lang="en-US" sz="1200" dirty="0">
                <a:solidFill>
                  <a:srgbClr val="E0D0FF"/>
                </a:solidFill>
                <a:latin typeface="Arial" pitchFamily="34" charset="0"/>
                <a:ea typeface="Arial" pitchFamily="34" charset="-122"/>
                <a:cs typeface="Arial" pitchFamily="34" charset="-120"/>
              </a:rPr>
              <a:t>Any platform can request AI-powered strategic analysis: Should I act? Who to coordinate with? What's the impact?</a:t>
            </a:r>
            <a:endParaRPr lang="en-US" sz="1200" dirty="0"/>
          </a:p>
        </p:txBody>
      </p:sp>
      <p:sp>
        <p:nvSpPr>
          <p:cNvPr id="14" name="Shape 11"/>
          <p:cNvSpPr/>
          <p:nvPr/>
        </p:nvSpPr>
        <p:spPr>
          <a:xfrm>
            <a:off x="457200" y="5120640"/>
            <a:ext cx="11064240" cy="1097280"/>
          </a:xfrm>
          <a:prstGeom prst="roundRect">
            <a:avLst>
              <a:gd name="adj" fmla="val 8333"/>
            </a:avLst>
          </a:prstGeom>
          <a:solidFill>
            <a:srgbClr val="4C1D95"/>
          </a:solidFill>
          <a:ln/>
        </p:spPr>
      </p:sp>
      <p:sp>
        <p:nvSpPr>
          <p:cNvPr id="15" name="Text 12"/>
          <p:cNvSpPr/>
          <p:nvPr/>
        </p:nvSpPr>
        <p:spPr>
          <a:xfrm>
            <a:off x="731520" y="5212080"/>
            <a:ext cx="2743200" cy="365760"/>
          </a:xfrm>
          <a:prstGeom prst="rect">
            <a:avLst/>
          </a:prstGeom>
          <a:noFill/>
          <a:ln/>
        </p:spPr>
        <p:txBody>
          <a:bodyPr wrap="square" rtlCol="0" anchor="ctr"/>
          <a:lstStyle/>
          <a:p>
            <a:pPr indent="0" marL="0">
              <a:buNone/>
            </a:pPr>
            <a:r>
              <a:rPr lang="en-US" sz="1100" b="1" dirty="0">
                <a:solidFill>
                  <a:srgbClr val="E8E0FF"/>
                </a:solidFill>
                <a:latin typeface="Arial" pitchFamily="34" charset="0"/>
                <a:ea typeface="Arial" pitchFamily="34" charset="-122"/>
                <a:cs typeface="Arial" pitchFamily="34" charset="-120"/>
              </a:rPr>
              <a:t>REASONING ENFORCEMENT</a:t>
            </a:r>
            <a:endParaRPr lang="en-US" sz="1100" dirty="0"/>
          </a:p>
        </p:txBody>
      </p:sp>
      <p:sp>
        <p:nvSpPr>
          <p:cNvPr id="16" name="Text 13"/>
          <p:cNvSpPr/>
          <p:nvPr/>
        </p:nvSpPr>
        <p:spPr>
          <a:xfrm>
            <a:off x="731520" y="5577840"/>
            <a:ext cx="10515600" cy="457200"/>
          </a:xfrm>
          <a:prstGeom prst="rect">
            <a:avLst/>
          </a:prstGeom>
          <a:noFill/>
          <a:ln/>
        </p:spPr>
        <p:txBody>
          <a:bodyPr wrap="square" rtlCol="0" anchor="ctr"/>
          <a:lstStyle/>
          <a:p>
            <a:pPr indent="0" marL="0">
              <a:buNone/>
            </a:pPr>
            <a:r>
              <a:rPr lang="en-US" sz="1100" dirty="0">
                <a:solidFill>
                  <a:srgbClr val="D0C0FF"/>
                </a:solidFill>
                <a:latin typeface="Arial" pitchFamily="34" charset="0"/>
                <a:ea typeface="Arial" pitchFamily="34" charset="-122"/>
                <a:cs typeface="Arial" pitchFamily="34" charset="-120"/>
              </a:rPr>
              <a:t>Every exchange requires 50+ characters of documented reasoning: WHY this platform, WHY now, expected outcome. Generic phrases rejected. All exchanges logged in agent_exchanges database table with timestamps, alignment scores, and response tracking.</a:t>
            </a:r>
            <a:endParaRPr lang="en-US" sz="1100" dirty="0"/>
          </a:p>
        </p:txBody>
      </p:sp>
      <p:sp>
        <p:nvSpPr>
          <p:cNvPr id="17" name="Text 14"/>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8/30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AGENT COMMUNICATION API</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7 Endpoints Powering Autonomous Coordination</a:t>
            </a:r>
            <a:endParaRPr lang="en-US" sz="2400" dirty="0"/>
          </a:p>
        </p:txBody>
      </p:sp>
      <p:sp>
        <p:nvSpPr>
          <p:cNvPr id="5" name="Shape 2"/>
          <p:cNvSpPr/>
          <p:nvPr/>
        </p:nvSpPr>
        <p:spPr>
          <a:xfrm>
            <a:off x="457200" y="1371600"/>
            <a:ext cx="11064240" cy="594360"/>
          </a:xfrm>
          <a:prstGeom prst="roundRect">
            <a:avLst>
              <a:gd name="adj" fmla="val 9231"/>
            </a:avLst>
          </a:prstGeom>
          <a:solidFill>
            <a:srgbClr val="FFFFFF"/>
          </a:solidFill>
          <a:ln w="19050">
            <a:solidFill>
              <a:srgbClr val="10B981"/>
            </a:solidFill>
            <a:prstDash val="solid"/>
          </a:ln>
        </p:spPr>
      </p:sp>
      <p:sp>
        <p:nvSpPr>
          <p:cNvPr id="6" name="Shape 3"/>
          <p:cNvSpPr/>
          <p:nvPr/>
        </p:nvSpPr>
        <p:spPr>
          <a:xfrm>
            <a:off x="640080" y="1481328"/>
            <a:ext cx="640080" cy="365760"/>
          </a:xfrm>
          <a:prstGeom prst="roundRect">
            <a:avLst>
              <a:gd name="adj" fmla="val 12500"/>
            </a:avLst>
          </a:prstGeom>
          <a:solidFill>
            <a:srgbClr val="6B1C2A"/>
          </a:solidFill>
          <a:ln/>
        </p:spPr>
      </p:sp>
      <p:sp>
        <p:nvSpPr>
          <p:cNvPr id="7" name="Text 4"/>
          <p:cNvSpPr/>
          <p:nvPr/>
        </p:nvSpPr>
        <p:spPr>
          <a:xfrm>
            <a:off x="640080" y="1481328"/>
            <a:ext cx="640080" cy="36576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POST</a:t>
            </a:r>
            <a:endParaRPr lang="en-US" sz="800" dirty="0"/>
          </a:p>
        </p:txBody>
      </p:sp>
      <p:sp>
        <p:nvSpPr>
          <p:cNvPr id="8" name="Text 5"/>
          <p:cNvSpPr/>
          <p:nvPr/>
        </p:nvSpPr>
        <p:spPr>
          <a:xfrm>
            <a:off x="1417320" y="1417320"/>
            <a:ext cx="3840480" cy="256032"/>
          </a:xfrm>
          <a:prstGeom prst="rect">
            <a:avLst/>
          </a:prstGeom>
          <a:noFill/>
          <a:ln/>
        </p:spPr>
        <p:txBody>
          <a:bodyPr wrap="square" rtlCol="0" anchor="ctr"/>
          <a:lstStyle/>
          <a:p>
            <a:pPr indent="0" marL="0">
              <a:buNone/>
            </a:pPr>
            <a:r>
              <a:rPr lang="en-US" sz="1000" dirty="0">
                <a:solidFill>
                  <a:srgbClr val="2A1015"/>
                </a:solidFill>
                <a:latin typeface="Courier New" pitchFamily="34" charset="0"/>
                <a:ea typeface="Courier New" pitchFamily="34" charset="-122"/>
                <a:cs typeface="Courier New" pitchFamily="34" charset="-120"/>
              </a:rPr>
              <a:t>/api/ecosystem/agent/exchange</a:t>
            </a:r>
            <a:endParaRPr lang="en-US" sz="1000" dirty="0"/>
          </a:p>
        </p:txBody>
      </p:sp>
      <p:sp>
        <p:nvSpPr>
          <p:cNvPr id="9" name="Text 6"/>
          <p:cNvSpPr/>
          <p:nvPr/>
        </p:nvSpPr>
        <p:spPr>
          <a:xfrm>
            <a:off x="1417320" y="1664208"/>
            <a:ext cx="9875520" cy="256032"/>
          </a:xfrm>
          <a:prstGeom prst="rect">
            <a:avLst/>
          </a:prstGeom>
          <a:noFill/>
          <a:ln/>
        </p:spPr>
        <p:txBody>
          <a:bodyPr wrap="square" rtlCol="0" anchor="ctr"/>
          <a:lstStyle/>
          <a:p>
            <a:pPr indent="0" marL="0">
              <a:buNone/>
            </a:pPr>
            <a:r>
              <a:rPr lang="en-US" sz="900" dirty="0">
                <a:solidFill>
                  <a:srgbClr val="6B5050"/>
                </a:solidFill>
                <a:latin typeface="Arial" pitchFamily="34" charset="0"/>
                <a:ea typeface="Arial" pitchFamily="34" charset="-122"/>
                <a:cs typeface="Arial" pitchFamily="34" charset="-120"/>
              </a:rPr>
              <a:t>Targeted platform-to-platform exchange with reasoning validation and domain alignment</a:t>
            </a:r>
            <a:endParaRPr lang="en-US" sz="900" dirty="0"/>
          </a:p>
        </p:txBody>
      </p:sp>
      <p:sp>
        <p:nvSpPr>
          <p:cNvPr id="10" name="Shape 7"/>
          <p:cNvSpPr/>
          <p:nvPr/>
        </p:nvSpPr>
        <p:spPr>
          <a:xfrm>
            <a:off x="457200" y="2084832"/>
            <a:ext cx="11064240" cy="594360"/>
          </a:xfrm>
          <a:prstGeom prst="roundRect">
            <a:avLst>
              <a:gd name="adj" fmla="val 9231"/>
            </a:avLst>
          </a:prstGeom>
          <a:solidFill>
            <a:srgbClr val="FFFFFF"/>
          </a:solidFill>
          <a:ln w="19050">
            <a:solidFill>
              <a:srgbClr val="2563EB"/>
            </a:solidFill>
            <a:prstDash val="solid"/>
          </a:ln>
        </p:spPr>
      </p:sp>
      <p:sp>
        <p:nvSpPr>
          <p:cNvPr id="11" name="Shape 8"/>
          <p:cNvSpPr/>
          <p:nvPr/>
        </p:nvSpPr>
        <p:spPr>
          <a:xfrm>
            <a:off x="640080" y="2194560"/>
            <a:ext cx="640080" cy="365760"/>
          </a:xfrm>
          <a:prstGeom prst="roundRect">
            <a:avLst>
              <a:gd name="adj" fmla="val 12500"/>
            </a:avLst>
          </a:prstGeom>
          <a:solidFill>
            <a:srgbClr val="6B1C2A"/>
          </a:solidFill>
          <a:ln/>
        </p:spPr>
      </p:sp>
      <p:sp>
        <p:nvSpPr>
          <p:cNvPr id="12" name="Text 9"/>
          <p:cNvSpPr/>
          <p:nvPr/>
        </p:nvSpPr>
        <p:spPr>
          <a:xfrm>
            <a:off x="640080" y="2194560"/>
            <a:ext cx="640080" cy="36576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POST</a:t>
            </a:r>
            <a:endParaRPr lang="en-US" sz="800" dirty="0"/>
          </a:p>
        </p:txBody>
      </p:sp>
      <p:sp>
        <p:nvSpPr>
          <p:cNvPr id="13" name="Text 10"/>
          <p:cNvSpPr/>
          <p:nvPr/>
        </p:nvSpPr>
        <p:spPr>
          <a:xfrm>
            <a:off x="1417320" y="2130552"/>
            <a:ext cx="3840480" cy="256032"/>
          </a:xfrm>
          <a:prstGeom prst="rect">
            <a:avLst/>
          </a:prstGeom>
          <a:noFill/>
          <a:ln/>
        </p:spPr>
        <p:txBody>
          <a:bodyPr wrap="square" rtlCol="0" anchor="ctr"/>
          <a:lstStyle/>
          <a:p>
            <a:pPr indent="0" marL="0">
              <a:buNone/>
            </a:pPr>
            <a:r>
              <a:rPr lang="en-US" sz="1000" dirty="0">
                <a:solidFill>
                  <a:srgbClr val="2A1015"/>
                </a:solidFill>
                <a:latin typeface="Courier New" pitchFamily="34" charset="0"/>
                <a:ea typeface="Courier New" pitchFamily="34" charset="-122"/>
                <a:cs typeface="Courier New" pitchFamily="34" charset="-120"/>
              </a:rPr>
              <a:t>/api/ecosystem/agent/broadcast</a:t>
            </a:r>
            <a:endParaRPr lang="en-US" sz="1000" dirty="0"/>
          </a:p>
        </p:txBody>
      </p:sp>
      <p:sp>
        <p:nvSpPr>
          <p:cNvPr id="14" name="Text 11"/>
          <p:cNvSpPr/>
          <p:nvPr/>
        </p:nvSpPr>
        <p:spPr>
          <a:xfrm>
            <a:off x="1417320" y="2377440"/>
            <a:ext cx="9875520" cy="256032"/>
          </a:xfrm>
          <a:prstGeom prst="rect">
            <a:avLst/>
          </a:prstGeom>
          <a:noFill/>
          <a:ln/>
        </p:spPr>
        <p:txBody>
          <a:bodyPr wrap="square" rtlCol="0" anchor="ctr"/>
          <a:lstStyle/>
          <a:p>
            <a:pPr indent="0" marL="0">
              <a:buNone/>
            </a:pPr>
            <a:r>
              <a:rPr lang="en-US" sz="900" dirty="0">
                <a:solidFill>
                  <a:srgbClr val="6B5050"/>
                </a:solidFill>
                <a:latin typeface="Arial" pitchFamily="34" charset="0"/>
                <a:ea typeface="Arial" pitchFamily="34" charset="-122"/>
                <a:cs typeface="Arial" pitchFamily="34" charset="-120"/>
              </a:rPr>
              <a:t>Domain-filtered broadcast (alerts, outcomes, feedback only — data_share blocked)</a:t>
            </a:r>
            <a:endParaRPr lang="en-US" sz="900" dirty="0"/>
          </a:p>
        </p:txBody>
      </p:sp>
      <p:sp>
        <p:nvSpPr>
          <p:cNvPr id="15" name="Shape 12"/>
          <p:cNvSpPr/>
          <p:nvPr/>
        </p:nvSpPr>
        <p:spPr>
          <a:xfrm>
            <a:off x="457200" y="2798064"/>
            <a:ext cx="11064240" cy="594360"/>
          </a:xfrm>
          <a:prstGeom prst="roundRect">
            <a:avLst>
              <a:gd name="adj" fmla="val 9231"/>
            </a:avLst>
          </a:prstGeom>
          <a:solidFill>
            <a:srgbClr val="FFFFFF"/>
          </a:solidFill>
          <a:ln w="19050">
            <a:solidFill>
              <a:srgbClr val="7C3AED"/>
            </a:solidFill>
            <a:prstDash val="solid"/>
          </a:ln>
        </p:spPr>
      </p:sp>
      <p:sp>
        <p:nvSpPr>
          <p:cNvPr id="16" name="Shape 13"/>
          <p:cNvSpPr/>
          <p:nvPr/>
        </p:nvSpPr>
        <p:spPr>
          <a:xfrm>
            <a:off x="640080" y="2907792"/>
            <a:ext cx="640080" cy="365760"/>
          </a:xfrm>
          <a:prstGeom prst="roundRect">
            <a:avLst>
              <a:gd name="adj" fmla="val 12500"/>
            </a:avLst>
          </a:prstGeom>
          <a:solidFill>
            <a:srgbClr val="6B1C2A"/>
          </a:solidFill>
          <a:ln/>
        </p:spPr>
      </p:sp>
      <p:sp>
        <p:nvSpPr>
          <p:cNvPr id="17" name="Text 14"/>
          <p:cNvSpPr/>
          <p:nvPr/>
        </p:nvSpPr>
        <p:spPr>
          <a:xfrm>
            <a:off x="640080" y="2907792"/>
            <a:ext cx="640080" cy="36576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POST</a:t>
            </a:r>
            <a:endParaRPr lang="en-US" sz="800" dirty="0"/>
          </a:p>
        </p:txBody>
      </p:sp>
      <p:sp>
        <p:nvSpPr>
          <p:cNvPr id="18" name="Text 15"/>
          <p:cNvSpPr/>
          <p:nvPr/>
        </p:nvSpPr>
        <p:spPr>
          <a:xfrm>
            <a:off x="1417320" y="2843784"/>
            <a:ext cx="3840480" cy="256032"/>
          </a:xfrm>
          <a:prstGeom prst="rect">
            <a:avLst/>
          </a:prstGeom>
          <a:noFill/>
          <a:ln/>
        </p:spPr>
        <p:txBody>
          <a:bodyPr wrap="square" rtlCol="0" anchor="ctr"/>
          <a:lstStyle/>
          <a:p>
            <a:pPr indent="0" marL="0">
              <a:buNone/>
            </a:pPr>
            <a:r>
              <a:rPr lang="en-US" sz="1000" dirty="0">
                <a:solidFill>
                  <a:srgbClr val="2A1015"/>
                </a:solidFill>
                <a:latin typeface="Courier New" pitchFamily="34" charset="0"/>
                <a:ea typeface="Courier New" pitchFamily="34" charset="-122"/>
                <a:cs typeface="Courier New" pitchFamily="34" charset="-120"/>
              </a:rPr>
              <a:t>/api/ecosystem/agent/respond</a:t>
            </a:r>
            <a:endParaRPr lang="en-US" sz="1000" dirty="0"/>
          </a:p>
        </p:txBody>
      </p:sp>
      <p:sp>
        <p:nvSpPr>
          <p:cNvPr id="19" name="Text 16"/>
          <p:cNvSpPr/>
          <p:nvPr/>
        </p:nvSpPr>
        <p:spPr>
          <a:xfrm>
            <a:off x="1417320" y="3090672"/>
            <a:ext cx="9875520" cy="256032"/>
          </a:xfrm>
          <a:prstGeom prst="rect">
            <a:avLst/>
          </a:prstGeom>
          <a:noFill/>
          <a:ln/>
        </p:spPr>
        <p:txBody>
          <a:bodyPr wrap="square" rtlCol="0" anchor="ctr"/>
          <a:lstStyle/>
          <a:p>
            <a:pPr indent="0" marL="0">
              <a:buNone/>
            </a:pPr>
            <a:r>
              <a:rPr lang="en-US" sz="900" dirty="0">
                <a:solidFill>
                  <a:srgbClr val="6B5050"/>
                </a:solidFill>
                <a:latin typeface="Arial" pitchFamily="34" charset="0"/>
                <a:ea typeface="Arial" pitchFamily="34" charset="-122"/>
                <a:cs typeface="Arial" pitchFamily="34" charset="-120"/>
              </a:rPr>
              <a:t>Acknowledge, act on, decline, or defer an exchange with documented reasoning</a:t>
            </a:r>
            <a:endParaRPr lang="en-US" sz="900" dirty="0"/>
          </a:p>
        </p:txBody>
      </p:sp>
      <p:sp>
        <p:nvSpPr>
          <p:cNvPr id="20" name="Shape 17"/>
          <p:cNvSpPr/>
          <p:nvPr/>
        </p:nvSpPr>
        <p:spPr>
          <a:xfrm>
            <a:off x="457200" y="3511296"/>
            <a:ext cx="11064240" cy="594360"/>
          </a:xfrm>
          <a:prstGeom prst="roundRect">
            <a:avLst>
              <a:gd name="adj" fmla="val 9231"/>
            </a:avLst>
          </a:prstGeom>
          <a:solidFill>
            <a:srgbClr val="FFFFFF"/>
          </a:solidFill>
          <a:ln w="19050">
            <a:solidFill>
              <a:srgbClr val="D97706"/>
            </a:solidFill>
            <a:prstDash val="solid"/>
          </a:ln>
        </p:spPr>
      </p:sp>
      <p:sp>
        <p:nvSpPr>
          <p:cNvPr id="21" name="Shape 18"/>
          <p:cNvSpPr/>
          <p:nvPr/>
        </p:nvSpPr>
        <p:spPr>
          <a:xfrm>
            <a:off x="640080" y="3621024"/>
            <a:ext cx="640080" cy="365760"/>
          </a:xfrm>
          <a:prstGeom prst="roundRect">
            <a:avLst>
              <a:gd name="adj" fmla="val 12500"/>
            </a:avLst>
          </a:prstGeom>
          <a:solidFill>
            <a:srgbClr val="475569"/>
          </a:solidFill>
          <a:ln/>
        </p:spPr>
      </p:sp>
      <p:sp>
        <p:nvSpPr>
          <p:cNvPr id="22" name="Text 19"/>
          <p:cNvSpPr/>
          <p:nvPr/>
        </p:nvSpPr>
        <p:spPr>
          <a:xfrm>
            <a:off x="640080" y="3621024"/>
            <a:ext cx="640080" cy="36576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GET</a:t>
            </a:r>
            <a:endParaRPr lang="en-US" sz="800" dirty="0"/>
          </a:p>
        </p:txBody>
      </p:sp>
      <p:sp>
        <p:nvSpPr>
          <p:cNvPr id="23" name="Text 20"/>
          <p:cNvSpPr/>
          <p:nvPr/>
        </p:nvSpPr>
        <p:spPr>
          <a:xfrm>
            <a:off x="1417320" y="3557016"/>
            <a:ext cx="3840480" cy="256032"/>
          </a:xfrm>
          <a:prstGeom prst="rect">
            <a:avLst/>
          </a:prstGeom>
          <a:noFill/>
          <a:ln/>
        </p:spPr>
        <p:txBody>
          <a:bodyPr wrap="square" rtlCol="0" anchor="ctr"/>
          <a:lstStyle/>
          <a:p>
            <a:pPr indent="0" marL="0">
              <a:buNone/>
            </a:pPr>
            <a:r>
              <a:rPr lang="en-US" sz="1000" dirty="0">
                <a:solidFill>
                  <a:srgbClr val="2A1015"/>
                </a:solidFill>
                <a:latin typeface="Courier New" pitchFamily="34" charset="0"/>
                <a:ea typeface="Courier New" pitchFamily="34" charset="-122"/>
                <a:cs typeface="Courier New" pitchFamily="34" charset="-120"/>
              </a:rPr>
              <a:t>/api/ecosystem/agent/inbox</a:t>
            </a:r>
            <a:endParaRPr lang="en-US" sz="1000" dirty="0"/>
          </a:p>
        </p:txBody>
      </p:sp>
      <p:sp>
        <p:nvSpPr>
          <p:cNvPr id="24" name="Text 21"/>
          <p:cNvSpPr/>
          <p:nvPr/>
        </p:nvSpPr>
        <p:spPr>
          <a:xfrm>
            <a:off x="1417320" y="3803904"/>
            <a:ext cx="9875520" cy="256032"/>
          </a:xfrm>
          <a:prstGeom prst="rect">
            <a:avLst/>
          </a:prstGeom>
          <a:noFill/>
          <a:ln/>
        </p:spPr>
        <p:txBody>
          <a:bodyPr wrap="square" rtlCol="0" anchor="ctr"/>
          <a:lstStyle/>
          <a:p>
            <a:pPr indent="0" marL="0">
              <a:buNone/>
            </a:pPr>
            <a:r>
              <a:rPr lang="en-US" sz="900" dirty="0">
                <a:solidFill>
                  <a:srgbClr val="6B5050"/>
                </a:solidFill>
                <a:latin typeface="Arial" pitchFamily="34" charset="0"/>
                <a:ea typeface="Arial" pitchFamily="34" charset="-122"/>
                <a:cs typeface="Arial" pitchFamily="34" charset="-120"/>
              </a:rPr>
              <a:t>Platform inbox with pending messages, action-required flags, and priorities</a:t>
            </a:r>
            <a:endParaRPr lang="en-US" sz="900" dirty="0"/>
          </a:p>
        </p:txBody>
      </p:sp>
      <p:sp>
        <p:nvSpPr>
          <p:cNvPr id="25" name="Shape 22"/>
          <p:cNvSpPr/>
          <p:nvPr/>
        </p:nvSpPr>
        <p:spPr>
          <a:xfrm>
            <a:off x="457200" y="4224528"/>
            <a:ext cx="11064240" cy="594360"/>
          </a:xfrm>
          <a:prstGeom prst="roundRect">
            <a:avLst>
              <a:gd name="adj" fmla="val 9231"/>
            </a:avLst>
          </a:prstGeom>
          <a:solidFill>
            <a:srgbClr val="FFFFFF"/>
          </a:solidFill>
          <a:ln w="19050">
            <a:solidFill>
              <a:srgbClr val="0D9488"/>
            </a:solidFill>
            <a:prstDash val="solid"/>
          </a:ln>
        </p:spPr>
      </p:sp>
      <p:sp>
        <p:nvSpPr>
          <p:cNvPr id="26" name="Shape 23"/>
          <p:cNvSpPr/>
          <p:nvPr/>
        </p:nvSpPr>
        <p:spPr>
          <a:xfrm>
            <a:off x="640080" y="4334256"/>
            <a:ext cx="640080" cy="365760"/>
          </a:xfrm>
          <a:prstGeom prst="roundRect">
            <a:avLst>
              <a:gd name="adj" fmla="val 12500"/>
            </a:avLst>
          </a:prstGeom>
          <a:solidFill>
            <a:srgbClr val="475569"/>
          </a:solidFill>
          <a:ln/>
        </p:spPr>
      </p:sp>
      <p:sp>
        <p:nvSpPr>
          <p:cNvPr id="27" name="Text 24"/>
          <p:cNvSpPr/>
          <p:nvPr/>
        </p:nvSpPr>
        <p:spPr>
          <a:xfrm>
            <a:off x="640080" y="4334256"/>
            <a:ext cx="640080" cy="36576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GET</a:t>
            </a:r>
            <a:endParaRPr lang="en-US" sz="800" dirty="0"/>
          </a:p>
        </p:txBody>
      </p:sp>
      <p:sp>
        <p:nvSpPr>
          <p:cNvPr id="28" name="Text 25"/>
          <p:cNvSpPr/>
          <p:nvPr/>
        </p:nvSpPr>
        <p:spPr>
          <a:xfrm>
            <a:off x="1417320" y="4270248"/>
            <a:ext cx="3840480" cy="256032"/>
          </a:xfrm>
          <a:prstGeom prst="rect">
            <a:avLst/>
          </a:prstGeom>
          <a:noFill/>
          <a:ln/>
        </p:spPr>
        <p:txBody>
          <a:bodyPr wrap="square" rtlCol="0" anchor="ctr"/>
          <a:lstStyle/>
          <a:p>
            <a:pPr indent="0" marL="0">
              <a:buNone/>
            </a:pPr>
            <a:r>
              <a:rPr lang="en-US" sz="1000" dirty="0">
                <a:solidFill>
                  <a:srgbClr val="2A1015"/>
                </a:solidFill>
                <a:latin typeface="Courier New" pitchFamily="34" charset="0"/>
                <a:ea typeface="Courier New" pitchFamily="34" charset="-122"/>
                <a:cs typeface="Courier New" pitchFamily="34" charset="-120"/>
              </a:rPr>
              <a:t>/api/ecosystem/agent/capabilities</a:t>
            </a:r>
            <a:endParaRPr lang="en-US" sz="1000" dirty="0"/>
          </a:p>
        </p:txBody>
      </p:sp>
      <p:sp>
        <p:nvSpPr>
          <p:cNvPr id="29" name="Text 26"/>
          <p:cNvSpPr/>
          <p:nvPr/>
        </p:nvSpPr>
        <p:spPr>
          <a:xfrm>
            <a:off x="1417320" y="4517136"/>
            <a:ext cx="9875520" cy="256032"/>
          </a:xfrm>
          <a:prstGeom prst="rect">
            <a:avLst/>
          </a:prstGeom>
          <a:noFill/>
          <a:ln/>
        </p:spPr>
        <p:txBody>
          <a:bodyPr wrap="square" rtlCol="0" anchor="ctr"/>
          <a:lstStyle/>
          <a:p>
            <a:pPr indent="0" marL="0">
              <a:buNone/>
            </a:pPr>
            <a:r>
              <a:rPr lang="en-US" sz="900" dirty="0">
                <a:solidFill>
                  <a:srgbClr val="6B5050"/>
                </a:solidFill>
                <a:latin typeface="Arial" pitchFamily="34" charset="0"/>
                <a:ea typeface="Arial" pitchFamily="34" charset="-122"/>
                <a:cs typeface="Arial" pitchFamily="34" charset="-120"/>
              </a:rPr>
              <a:t>Full data flow map: canProvide, canConsume, domains, compatible platforms</a:t>
            </a:r>
            <a:endParaRPr lang="en-US" sz="900" dirty="0"/>
          </a:p>
        </p:txBody>
      </p:sp>
      <p:sp>
        <p:nvSpPr>
          <p:cNvPr id="30" name="Shape 27"/>
          <p:cNvSpPr/>
          <p:nvPr/>
        </p:nvSpPr>
        <p:spPr>
          <a:xfrm>
            <a:off x="457200" y="4937760"/>
            <a:ext cx="11064240" cy="594360"/>
          </a:xfrm>
          <a:prstGeom prst="roundRect">
            <a:avLst>
              <a:gd name="adj" fmla="val 9231"/>
            </a:avLst>
          </a:prstGeom>
          <a:solidFill>
            <a:srgbClr val="FFFFFF"/>
          </a:solidFill>
          <a:ln w="19050">
            <a:solidFill>
              <a:srgbClr val="64748B"/>
            </a:solidFill>
            <a:prstDash val="solid"/>
          </a:ln>
        </p:spPr>
      </p:sp>
      <p:sp>
        <p:nvSpPr>
          <p:cNvPr id="31" name="Shape 28"/>
          <p:cNvSpPr/>
          <p:nvPr/>
        </p:nvSpPr>
        <p:spPr>
          <a:xfrm>
            <a:off x="640080" y="5047488"/>
            <a:ext cx="640080" cy="365760"/>
          </a:xfrm>
          <a:prstGeom prst="roundRect">
            <a:avLst>
              <a:gd name="adj" fmla="val 12500"/>
            </a:avLst>
          </a:prstGeom>
          <a:solidFill>
            <a:srgbClr val="475569"/>
          </a:solidFill>
          <a:ln/>
        </p:spPr>
      </p:sp>
      <p:sp>
        <p:nvSpPr>
          <p:cNvPr id="32" name="Text 29"/>
          <p:cNvSpPr/>
          <p:nvPr/>
        </p:nvSpPr>
        <p:spPr>
          <a:xfrm>
            <a:off x="640080" y="5047488"/>
            <a:ext cx="640080" cy="36576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GET</a:t>
            </a:r>
            <a:endParaRPr lang="en-US" sz="800" dirty="0"/>
          </a:p>
        </p:txBody>
      </p:sp>
      <p:sp>
        <p:nvSpPr>
          <p:cNvPr id="33" name="Text 30"/>
          <p:cNvSpPr/>
          <p:nvPr/>
        </p:nvSpPr>
        <p:spPr>
          <a:xfrm>
            <a:off x="1417320" y="4983480"/>
            <a:ext cx="3840480" cy="256032"/>
          </a:xfrm>
          <a:prstGeom prst="rect">
            <a:avLst/>
          </a:prstGeom>
          <a:noFill/>
          <a:ln/>
        </p:spPr>
        <p:txBody>
          <a:bodyPr wrap="square" rtlCol="0" anchor="ctr"/>
          <a:lstStyle/>
          <a:p>
            <a:pPr indent="0" marL="0">
              <a:buNone/>
            </a:pPr>
            <a:r>
              <a:rPr lang="en-US" sz="1000" dirty="0">
                <a:solidFill>
                  <a:srgbClr val="2A1015"/>
                </a:solidFill>
                <a:latin typeface="Courier New" pitchFamily="34" charset="0"/>
                <a:ea typeface="Courier New" pitchFamily="34" charset="-122"/>
                <a:cs typeface="Courier New" pitchFamily="34" charset="-120"/>
              </a:rPr>
              <a:t>/api/ecosystem/agent/network</a:t>
            </a:r>
            <a:endParaRPr lang="en-US" sz="1000" dirty="0"/>
          </a:p>
        </p:txBody>
      </p:sp>
      <p:sp>
        <p:nvSpPr>
          <p:cNvPr id="34" name="Text 31"/>
          <p:cNvSpPr/>
          <p:nvPr/>
        </p:nvSpPr>
        <p:spPr>
          <a:xfrm>
            <a:off x="1417320" y="5230368"/>
            <a:ext cx="9875520" cy="256032"/>
          </a:xfrm>
          <a:prstGeom prst="rect">
            <a:avLst/>
          </a:prstGeom>
          <a:noFill/>
          <a:ln/>
        </p:spPr>
        <p:txBody>
          <a:bodyPr wrap="square" rtlCol="0" anchor="ctr"/>
          <a:lstStyle/>
          <a:p>
            <a:pPr indent="0" marL="0">
              <a:buNone/>
            </a:pPr>
            <a:r>
              <a:rPr lang="en-US" sz="900" dirty="0">
                <a:solidFill>
                  <a:srgbClr val="6B5050"/>
                </a:solidFill>
                <a:latin typeface="Arial" pitchFamily="34" charset="0"/>
                <a:ea typeface="Arial" pitchFamily="34" charset="-122"/>
                <a:cs typeface="Arial" pitchFamily="34" charset="-120"/>
              </a:rPr>
              <a:t>Communication network activity, partnership tracking, exchange history</a:t>
            </a:r>
            <a:endParaRPr lang="en-US" sz="900" dirty="0"/>
          </a:p>
        </p:txBody>
      </p:sp>
      <p:sp>
        <p:nvSpPr>
          <p:cNvPr id="35" name="Shape 32"/>
          <p:cNvSpPr/>
          <p:nvPr/>
        </p:nvSpPr>
        <p:spPr>
          <a:xfrm>
            <a:off x="457200" y="5650992"/>
            <a:ext cx="11064240" cy="594360"/>
          </a:xfrm>
          <a:prstGeom prst="roundRect">
            <a:avLst>
              <a:gd name="adj" fmla="val 9231"/>
            </a:avLst>
          </a:prstGeom>
          <a:solidFill>
            <a:srgbClr val="FFFFFF"/>
          </a:solidFill>
          <a:ln w="19050">
            <a:solidFill>
              <a:srgbClr val="4F46E5"/>
            </a:solidFill>
            <a:prstDash val="solid"/>
          </a:ln>
        </p:spPr>
      </p:sp>
      <p:sp>
        <p:nvSpPr>
          <p:cNvPr id="36" name="Shape 33"/>
          <p:cNvSpPr/>
          <p:nvPr/>
        </p:nvSpPr>
        <p:spPr>
          <a:xfrm>
            <a:off x="640080" y="5760720"/>
            <a:ext cx="640080" cy="365760"/>
          </a:xfrm>
          <a:prstGeom prst="roundRect">
            <a:avLst>
              <a:gd name="adj" fmla="val 12500"/>
            </a:avLst>
          </a:prstGeom>
          <a:solidFill>
            <a:srgbClr val="6B1C2A"/>
          </a:solidFill>
          <a:ln/>
        </p:spPr>
      </p:sp>
      <p:sp>
        <p:nvSpPr>
          <p:cNvPr id="37" name="Text 34"/>
          <p:cNvSpPr/>
          <p:nvPr/>
        </p:nvSpPr>
        <p:spPr>
          <a:xfrm>
            <a:off x="640080" y="5760720"/>
            <a:ext cx="640080" cy="36576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POST</a:t>
            </a:r>
            <a:endParaRPr lang="en-US" sz="800" dirty="0"/>
          </a:p>
        </p:txBody>
      </p:sp>
      <p:sp>
        <p:nvSpPr>
          <p:cNvPr id="38" name="Text 35"/>
          <p:cNvSpPr/>
          <p:nvPr/>
        </p:nvSpPr>
        <p:spPr>
          <a:xfrm>
            <a:off x="1417320" y="5696712"/>
            <a:ext cx="3840480" cy="256032"/>
          </a:xfrm>
          <a:prstGeom prst="rect">
            <a:avLst/>
          </a:prstGeom>
          <a:noFill/>
          <a:ln/>
        </p:spPr>
        <p:txBody>
          <a:bodyPr wrap="square" rtlCol="0" anchor="ctr"/>
          <a:lstStyle/>
          <a:p>
            <a:pPr indent="0" marL="0">
              <a:buNone/>
            </a:pPr>
            <a:r>
              <a:rPr lang="en-US" sz="1000" dirty="0">
                <a:solidFill>
                  <a:srgbClr val="2A1015"/>
                </a:solidFill>
                <a:latin typeface="Courier New" pitchFamily="34" charset="0"/>
                <a:ea typeface="Courier New" pitchFamily="34" charset="-122"/>
                <a:cs typeface="Courier New" pitchFamily="34" charset="-120"/>
              </a:rPr>
              <a:t>/api/ecosystem/agent/reason</a:t>
            </a:r>
            <a:endParaRPr lang="en-US" sz="1000" dirty="0"/>
          </a:p>
        </p:txBody>
      </p:sp>
      <p:sp>
        <p:nvSpPr>
          <p:cNvPr id="39" name="Text 36"/>
          <p:cNvSpPr/>
          <p:nvPr/>
        </p:nvSpPr>
        <p:spPr>
          <a:xfrm>
            <a:off x="1417320" y="5943600"/>
            <a:ext cx="9875520" cy="256032"/>
          </a:xfrm>
          <a:prstGeom prst="rect">
            <a:avLst/>
          </a:prstGeom>
          <a:noFill/>
          <a:ln/>
        </p:spPr>
        <p:txBody>
          <a:bodyPr wrap="square" rtlCol="0" anchor="ctr"/>
          <a:lstStyle/>
          <a:p>
            <a:pPr indent="0" marL="0">
              <a:buNone/>
            </a:pPr>
            <a:r>
              <a:rPr lang="en-US" sz="900" dirty="0">
                <a:solidFill>
                  <a:srgbClr val="6B5050"/>
                </a:solidFill>
                <a:latin typeface="Arial" pitchFamily="34" charset="0"/>
                <a:ea typeface="Arial" pitchFamily="34" charset="-122"/>
                <a:cs typeface="Arial" pitchFamily="34" charset="-120"/>
              </a:rPr>
              <a:t>DeepSeek-powered strategic reasoning: context-aware analysis and recommendations</a:t>
            </a:r>
            <a:endParaRPr lang="en-US" sz="900" dirty="0"/>
          </a:p>
        </p:txBody>
      </p:sp>
      <p:sp>
        <p:nvSpPr>
          <p:cNvPr id="40" name="Text 37"/>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9/30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RPLICE ACTIVATION PIPELINE</a:t>
            </a:r>
            <a:endParaRPr lang="en-US" sz="1100" dirty="0"/>
          </a:p>
        </p:txBody>
      </p:sp>
      <p:sp>
        <p:nvSpPr>
          <p:cNvPr id="4" name="Text 1"/>
          <p:cNvSpPr/>
          <p:nvPr/>
        </p:nvSpPr>
        <p:spPr>
          <a:xfrm>
            <a:off x="731520" y="731520"/>
            <a:ext cx="10058400" cy="73152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Census Data → AI Analysis → Grant-Ready Deliverables</a:t>
            </a:r>
            <a:endParaRPr lang="en-US" sz="2600" dirty="0"/>
          </a:p>
        </p:txBody>
      </p:sp>
      <p:sp>
        <p:nvSpPr>
          <p:cNvPr id="5" name="Shape 2"/>
          <p:cNvSpPr/>
          <p:nvPr/>
        </p:nvSpPr>
        <p:spPr>
          <a:xfrm>
            <a:off x="457200" y="1828800"/>
            <a:ext cx="5394960" cy="2103120"/>
          </a:xfrm>
          <a:prstGeom prst="roundRect">
            <a:avLst>
              <a:gd name="adj" fmla="val 5217"/>
            </a:avLst>
          </a:prstGeom>
          <a:solidFill>
            <a:srgbClr val="2A2025"/>
          </a:solidFill>
          <a:ln w="25400">
            <a:solidFill>
              <a:srgbClr val="D97706"/>
            </a:solidFill>
            <a:prstDash val="solid"/>
          </a:ln>
        </p:spPr>
      </p:sp>
      <p:sp>
        <p:nvSpPr>
          <p:cNvPr id="6" name="Text 3"/>
          <p:cNvSpPr/>
          <p:nvPr/>
        </p:nvSpPr>
        <p:spPr>
          <a:xfrm>
            <a:off x="640080" y="196596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Grant Narrative Generator</a:t>
            </a:r>
            <a:endParaRPr lang="en-US" sz="1500" dirty="0"/>
          </a:p>
        </p:txBody>
      </p:sp>
      <p:sp>
        <p:nvSpPr>
          <p:cNvPr id="7" name="Text 4"/>
          <p:cNvSpPr/>
          <p:nvPr/>
        </p:nvSpPr>
        <p:spPr>
          <a:xfrm>
            <a:off x="640080" y="2377440"/>
            <a:ext cx="5029200" cy="82296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8 funder-specific voice profiles. SSE streaming. Narratives tuned to funder priorities, evaluation criteria, and language patterns.</a:t>
            </a:r>
            <a:endParaRPr lang="en-US" sz="1100" dirty="0"/>
          </a:p>
        </p:txBody>
      </p:sp>
      <p:sp>
        <p:nvSpPr>
          <p:cNvPr id="8" name="Text 5"/>
          <p:cNvSpPr/>
          <p:nvPr/>
        </p:nvSpPr>
        <p:spPr>
          <a:xfrm>
            <a:off x="640080" y="3291840"/>
            <a:ext cx="5029200" cy="365760"/>
          </a:xfrm>
          <a:prstGeom prst="rect">
            <a:avLst/>
          </a:prstGeom>
          <a:noFill/>
          <a:ln/>
        </p:spPr>
        <p:txBody>
          <a:bodyPr wrap="square" rtlCol="0" anchor="ctr"/>
          <a:lstStyle/>
          <a:p>
            <a:pPr indent="0" marL="0">
              <a:buNone/>
            </a:pPr>
            <a:r>
              <a:rPr lang="en-US" sz="900" dirty="0">
                <a:solidFill>
                  <a:srgbClr val="D97706"/>
                </a:solidFill>
                <a:latin typeface="Arial" pitchFamily="34" charset="0"/>
                <a:ea typeface="Arial" pitchFamily="34" charset="-122"/>
                <a:cs typeface="Arial" pitchFamily="34" charset="-120"/>
              </a:rPr>
              <a:t>BB Collective $50K  |  Rare Impact $500K  |  St. David's $1M  |  SSG Fox $750K</a:t>
            </a:r>
            <a:endParaRPr lang="en-US" sz="900" dirty="0"/>
          </a:p>
        </p:txBody>
      </p:sp>
      <p:sp>
        <p:nvSpPr>
          <p:cNvPr id="9" name="Shape 6"/>
          <p:cNvSpPr/>
          <p:nvPr/>
        </p:nvSpPr>
        <p:spPr>
          <a:xfrm>
            <a:off x="6217920" y="1828800"/>
            <a:ext cx="5394960" cy="2103120"/>
          </a:xfrm>
          <a:prstGeom prst="roundRect">
            <a:avLst>
              <a:gd name="adj" fmla="val 5217"/>
            </a:avLst>
          </a:prstGeom>
          <a:solidFill>
            <a:srgbClr val="2A2025"/>
          </a:solidFill>
          <a:ln w="25400">
            <a:solidFill>
              <a:srgbClr val="2563EB"/>
            </a:solidFill>
            <a:prstDash val="solid"/>
          </a:ln>
        </p:spPr>
      </p:sp>
      <p:sp>
        <p:nvSpPr>
          <p:cNvPr id="10" name="Text 7"/>
          <p:cNvSpPr/>
          <p:nvPr/>
        </p:nvSpPr>
        <p:spPr>
          <a:xfrm>
            <a:off x="6400800" y="196596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Community Action Planner</a:t>
            </a:r>
            <a:endParaRPr lang="en-US" sz="1500" dirty="0"/>
          </a:p>
        </p:txBody>
      </p:sp>
      <p:sp>
        <p:nvSpPr>
          <p:cNvPr id="11" name="Text 8"/>
          <p:cNvSpPr/>
          <p:nvPr/>
        </p:nvSpPr>
        <p:spPr>
          <a:xfrm>
            <a:off x="6400800" y="2377440"/>
            <a:ext cx="5029200" cy="82296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AI-generated 90-day plans with 18 milestones across 3 phases. Each milestone assigns responsible platforms with success criteria.</a:t>
            </a:r>
            <a:endParaRPr lang="en-US" sz="1100" dirty="0"/>
          </a:p>
        </p:txBody>
      </p:sp>
      <p:sp>
        <p:nvSpPr>
          <p:cNvPr id="12" name="Text 9"/>
          <p:cNvSpPr/>
          <p:nvPr/>
        </p:nvSpPr>
        <p:spPr>
          <a:xfrm>
            <a:off x="6400800" y="3291840"/>
            <a:ext cx="5029200" cy="365760"/>
          </a:xfrm>
          <a:prstGeom prst="rect">
            <a:avLst/>
          </a:prstGeom>
          <a:noFill/>
          <a:ln/>
        </p:spPr>
        <p:txBody>
          <a:bodyPr wrap="square" rtlCol="0" anchor="ctr"/>
          <a:lstStyle/>
          <a:p>
            <a:pPr indent="0" marL="0">
              <a:buNone/>
            </a:pPr>
            <a:r>
              <a:rPr lang="en-US" sz="900" dirty="0">
                <a:solidFill>
                  <a:srgbClr val="2563EB"/>
                </a:solidFill>
                <a:latin typeface="Arial" pitchFamily="34" charset="0"/>
                <a:ea typeface="Arial" pitchFamily="34" charset="-122"/>
                <a:cs typeface="Arial" pitchFamily="34" charset="-120"/>
              </a:rPr>
              <a:t>90-Day Timeline  |  18 Milestones  |  3 Phases  |  Platform Assignments</a:t>
            </a:r>
            <a:endParaRPr lang="en-US" sz="900" dirty="0"/>
          </a:p>
        </p:txBody>
      </p:sp>
      <p:sp>
        <p:nvSpPr>
          <p:cNvPr id="13" name="Shape 10"/>
          <p:cNvSpPr/>
          <p:nvPr/>
        </p:nvSpPr>
        <p:spPr>
          <a:xfrm>
            <a:off x="457200" y="4206240"/>
            <a:ext cx="5394960" cy="2103120"/>
          </a:xfrm>
          <a:prstGeom prst="roundRect">
            <a:avLst>
              <a:gd name="adj" fmla="val 5217"/>
            </a:avLst>
          </a:prstGeom>
          <a:solidFill>
            <a:srgbClr val="2A2025"/>
          </a:solidFill>
          <a:ln w="25400">
            <a:solidFill>
              <a:srgbClr val="10B981"/>
            </a:solidFill>
            <a:prstDash val="solid"/>
          </a:ln>
        </p:spPr>
      </p:sp>
      <p:sp>
        <p:nvSpPr>
          <p:cNvPr id="14" name="Text 11"/>
          <p:cNvSpPr/>
          <p:nvPr/>
        </p:nvSpPr>
        <p:spPr>
          <a:xfrm>
            <a:off x="640080" y="434340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Outcome Baseline Dashboard</a:t>
            </a:r>
            <a:endParaRPr lang="en-US" sz="1500" dirty="0"/>
          </a:p>
        </p:txBody>
      </p:sp>
      <p:sp>
        <p:nvSpPr>
          <p:cNvPr id="15" name="Text 12"/>
          <p:cNvSpPr/>
          <p:nvPr/>
        </p:nvSpPr>
        <p:spPr>
          <a:xfrm>
            <a:off x="640080" y="4754880"/>
            <a:ext cx="5029200" cy="82296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Locks Census ACS metrics as baselines. Sets improvement targets. Tracks current gaps with visual progress. Feeds into grant reports.</a:t>
            </a:r>
            <a:endParaRPr lang="en-US" sz="1100" dirty="0"/>
          </a:p>
        </p:txBody>
      </p:sp>
      <p:sp>
        <p:nvSpPr>
          <p:cNvPr id="16" name="Text 13"/>
          <p:cNvSpPr/>
          <p:nvPr/>
        </p:nvSpPr>
        <p:spPr>
          <a:xfrm>
            <a:off x="640080" y="5669280"/>
            <a:ext cx="5029200" cy="365760"/>
          </a:xfrm>
          <a:prstGeom prst="rect">
            <a:avLst/>
          </a:prstGeom>
          <a:noFill/>
          <a:ln/>
        </p:spPr>
        <p:txBody>
          <a:bodyPr wrap="square" rtlCol="0" anchor="ctr"/>
          <a:lstStyle/>
          <a:p>
            <a:pPr indent="0" marL="0">
              <a:buNone/>
            </a:pPr>
            <a:r>
              <a:rPr lang="en-US" sz="900" dirty="0">
                <a:solidFill>
                  <a:srgbClr val="10B981"/>
                </a:solidFill>
                <a:latin typeface="Arial" pitchFamily="34" charset="0"/>
                <a:ea typeface="Arial" pitchFamily="34" charset="-122"/>
                <a:cs typeface="Arial" pitchFamily="34" charset="-120"/>
              </a:rPr>
              <a:t>Census Baselines  |  Target Setting  |  Gap Tracking  |  Grant Reporting</a:t>
            </a:r>
            <a:endParaRPr lang="en-US" sz="900" dirty="0"/>
          </a:p>
        </p:txBody>
      </p:sp>
      <p:sp>
        <p:nvSpPr>
          <p:cNvPr id="17" name="Shape 14"/>
          <p:cNvSpPr/>
          <p:nvPr/>
        </p:nvSpPr>
        <p:spPr>
          <a:xfrm>
            <a:off x="6217920" y="4206240"/>
            <a:ext cx="5394960" cy="2103120"/>
          </a:xfrm>
          <a:prstGeom prst="roundRect">
            <a:avLst>
              <a:gd name="adj" fmla="val 5217"/>
            </a:avLst>
          </a:prstGeom>
          <a:solidFill>
            <a:srgbClr val="2A2025"/>
          </a:solidFill>
          <a:ln w="25400">
            <a:solidFill>
              <a:srgbClr val="7C3AED"/>
            </a:solidFill>
            <a:prstDash val="solid"/>
          </a:ln>
        </p:spPr>
      </p:sp>
      <p:sp>
        <p:nvSpPr>
          <p:cNvPr id="18" name="Text 15"/>
          <p:cNvSpPr/>
          <p:nvPr/>
        </p:nvSpPr>
        <p:spPr>
          <a:xfrm>
            <a:off x="6400800" y="434340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Platform-to-Intervention Matcher</a:t>
            </a:r>
            <a:endParaRPr lang="en-US" sz="1500" dirty="0"/>
          </a:p>
        </p:txBody>
      </p:sp>
      <p:sp>
        <p:nvSpPr>
          <p:cNvPr id="19" name="Text 16"/>
          <p:cNvSpPr/>
          <p:nvPr/>
        </p:nvSpPr>
        <p:spPr>
          <a:xfrm>
            <a:off x="6400800" y="4754880"/>
            <a:ext cx="5029200" cy="82296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Maps risk factors to platform capabilities. High poverty → workforce platforms. Low education → education platforms. Live health status.</a:t>
            </a:r>
            <a:endParaRPr lang="en-US" sz="1100" dirty="0"/>
          </a:p>
        </p:txBody>
      </p:sp>
      <p:sp>
        <p:nvSpPr>
          <p:cNvPr id="20" name="Text 17"/>
          <p:cNvSpPr/>
          <p:nvPr/>
        </p:nvSpPr>
        <p:spPr>
          <a:xfrm>
            <a:off x="6400800" y="5669280"/>
            <a:ext cx="5029200" cy="365760"/>
          </a:xfrm>
          <a:prstGeom prst="rect">
            <a:avLst/>
          </a:prstGeom>
          <a:noFill/>
          <a:ln/>
        </p:spPr>
        <p:txBody>
          <a:bodyPr wrap="square" rtlCol="0" anchor="ctr"/>
          <a:lstStyle/>
          <a:p>
            <a:pPr indent="0" marL="0">
              <a:buNone/>
            </a:pPr>
            <a:r>
              <a:rPr lang="en-US" sz="900" dirty="0">
                <a:solidFill>
                  <a:srgbClr val="7C3AED"/>
                </a:solidFill>
                <a:latin typeface="Arial" pitchFamily="34" charset="0"/>
                <a:ea typeface="Arial" pitchFamily="34" charset="-122"/>
                <a:cs typeface="Arial" pitchFamily="34" charset="-120"/>
              </a:rPr>
              <a:t>Risk Mapping  |  Live Status  |  Domain Matching  |  Action Plans</a:t>
            </a:r>
            <a:endParaRPr lang="en-US" sz="900" dirty="0"/>
          </a:p>
        </p:txBody>
      </p:sp>
      <p:sp>
        <p:nvSpPr>
          <p:cNvPr id="21" name="Text 18"/>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10/30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ECOSYSTEM RPLICE BRIDGE</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Domain-Targeted Intelligence Delivery</a:t>
            </a:r>
            <a:endParaRPr lang="en-US" sz="2400" dirty="0"/>
          </a:p>
        </p:txBody>
      </p:sp>
      <p:sp>
        <p:nvSpPr>
          <p:cNvPr id="5" name="Shape 2"/>
          <p:cNvSpPr/>
          <p:nvPr/>
        </p:nvSpPr>
        <p:spPr>
          <a:xfrm>
            <a:off x="457200" y="1554480"/>
            <a:ext cx="2651760" cy="2743200"/>
          </a:xfrm>
          <a:prstGeom prst="roundRect">
            <a:avLst>
              <a:gd name="adj" fmla="val 4138"/>
            </a:avLst>
          </a:prstGeom>
          <a:solidFill>
            <a:srgbClr val="FFFFFF"/>
          </a:solidFill>
          <a:ln w="25400">
            <a:solidFill>
              <a:srgbClr val="DC2626"/>
            </a:solidFill>
            <a:prstDash val="solid"/>
          </a:ln>
        </p:spPr>
      </p:sp>
      <p:sp>
        <p:nvSpPr>
          <p:cNvPr id="6" name="Text 3"/>
          <p:cNvSpPr/>
          <p:nvPr/>
        </p:nvSpPr>
        <p:spPr>
          <a:xfrm>
            <a:off x="594360" y="1737360"/>
            <a:ext cx="237744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Intervention Assignments</a:t>
            </a:r>
            <a:endParaRPr lang="en-US" sz="1300" dirty="0"/>
          </a:p>
        </p:txBody>
      </p:sp>
      <p:sp>
        <p:nvSpPr>
          <p:cNvPr id="7" name="Text 4"/>
          <p:cNvSpPr/>
          <p:nvPr/>
        </p:nvSpPr>
        <p:spPr>
          <a:xfrm>
            <a:off x="594360" y="2286000"/>
            <a:ext cx="2377440" cy="164592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Risk factors matched to platform capabilities with action vs. awareness distinction and confidence scoring</a:t>
            </a:r>
            <a:endParaRPr lang="en-US" sz="1100" dirty="0"/>
          </a:p>
        </p:txBody>
      </p:sp>
      <p:sp>
        <p:nvSpPr>
          <p:cNvPr id="8" name="Shape 5"/>
          <p:cNvSpPr/>
          <p:nvPr/>
        </p:nvSpPr>
        <p:spPr>
          <a:xfrm>
            <a:off x="3337560" y="1554480"/>
            <a:ext cx="2651760" cy="2743200"/>
          </a:xfrm>
          <a:prstGeom prst="roundRect">
            <a:avLst>
              <a:gd name="adj" fmla="val 4138"/>
            </a:avLst>
          </a:prstGeom>
          <a:solidFill>
            <a:srgbClr val="FFFFFF"/>
          </a:solidFill>
          <a:ln w="25400">
            <a:solidFill>
              <a:srgbClr val="10B981"/>
            </a:solidFill>
            <a:prstDash val="solid"/>
          </a:ln>
        </p:spPr>
      </p:sp>
      <p:sp>
        <p:nvSpPr>
          <p:cNvPr id="9" name="Text 6"/>
          <p:cNvSpPr/>
          <p:nvPr/>
        </p:nvSpPr>
        <p:spPr>
          <a:xfrm>
            <a:off x="3474720" y="1737360"/>
            <a:ext cx="237744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Action Plan Milestones</a:t>
            </a:r>
            <a:endParaRPr lang="en-US" sz="1300" dirty="0"/>
          </a:p>
        </p:txBody>
      </p:sp>
      <p:sp>
        <p:nvSpPr>
          <p:cNvPr id="10" name="Text 7"/>
          <p:cNvSpPr/>
          <p:nvPr/>
        </p:nvSpPr>
        <p:spPr>
          <a:xfrm>
            <a:off x="3474720" y="2286000"/>
            <a:ext cx="2377440" cy="164592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90-day milestones filtered to owner vs. contributor role — platforms only see what they're responsible for</a:t>
            </a:r>
            <a:endParaRPr lang="en-US" sz="1100" dirty="0"/>
          </a:p>
        </p:txBody>
      </p:sp>
      <p:sp>
        <p:nvSpPr>
          <p:cNvPr id="11" name="Shape 8"/>
          <p:cNvSpPr/>
          <p:nvPr/>
        </p:nvSpPr>
        <p:spPr>
          <a:xfrm>
            <a:off x="6217920" y="1554480"/>
            <a:ext cx="2651760" cy="2743200"/>
          </a:xfrm>
          <a:prstGeom prst="roundRect">
            <a:avLst>
              <a:gd name="adj" fmla="val 4138"/>
            </a:avLst>
          </a:prstGeom>
          <a:solidFill>
            <a:srgbClr val="FFFFFF"/>
          </a:solidFill>
          <a:ln w="25400">
            <a:solidFill>
              <a:srgbClr val="2563EB"/>
            </a:solidFill>
            <a:prstDash val="solid"/>
          </a:ln>
        </p:spPr>
      </p:sp>
      <p:sp>
        <p:nvSpPr>
          <p:cNvPr id="12" name="Text 9"/>
          <p:cNvSpPr/>
          <p:nvPr/>
        </p:nvSpPr>
        <p:spPr>
          <a:xfrm>
            <a:off x="6355080" y="1737360"/>
            <a:ext cx="237744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Outcome Baselines</a:t>
            </a:r>
            <a:endParaRPr lang="en-US" sz="1300" dirty="0"/>
          </a:p>
        </p:txBody>
      </p:sp>
      <p:sp>
        <p:nvSpPr>
          <p:cNvPr id="13" name="Text 10"/>
          <p:cNvSpPr/>
          <p:nvPr/>
        </p:nvSpPr>
        <p:spPr>
          <a:xfrm>
            <a:off x="6355080" y="2286000"/>
            <a:ext cx="2377440" cy="164592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Census metrics filtered to domain-relevant indicators — education sees attainment, health sees insurance coverage</a:t>
            </a:r>
            <a:endParaRPr lang="en-US" sz="1100" dirty="0"/>
          </a:p>
        </p:txBody>
      </p:sp>
      <p:sp>
        <p:nvSpPr>
          <p:cNvPr id="14" name="Shape 11"/>
          <p:cNvSpPr/>
          <p:nvPr/>
        </p:nvSpPr>
        <p:spPr>
          <a:xfrm>
            <a:off x="9098280" y="1554480"/>
            <a:ext cx="2651760" cy="2743200"/>
          </a:xfrm>
          <a:prstGeom prst="roundRect">
            <a:avLst>
              <a:gd name="adj" fmla="val 4138"/>
            </a:avLst>
          </a:prstGeom>
          <a:solidFill>
            <a:srgbClr val="FFFFFF"/>
          </a:solidFill>
          <a:ln w="25400">
            <a:solidFill>
              <a:srgbClr val="D97706"/>
            </a:solidFill>
            <a:prstDash val="solid"/>
          </a:ln>
        </p:spPr>
      </p:sp>
      <p:sp>
        <p:nvSpPr>
          <p:cNvPr id="15" name="Text 12"/>
          <p:cNvSpPr/>
          <p:nvPr/>
        </p:nvSpPr>
        <p:spPr>
          <a:xfrm>
            <a:off x="9235440" y="1737360"/>
            <a:ext cx="2377440" cy="45720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Reasoning Justification</a:t>
            </a:r>
            <a:endParaRPr lang="en-US" sz="1300" dirty="0"/>
          </a:p>
        </p:txBody>
      </p:sp>
      <p:sp>
        <p:nvSpPr>
          <p:cNvPr id="16" name="Text 13"/>
          <p:cNvSpPr/>
          <p:nvPr/>
        </p:nvSpPr>
        <p:spPr>
          <a:xfrm>
            <a:off x="9235440" y="2286000"/>
            <a:ext cx="2377440" cy="164592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Every intelligence delivery explains WHY this platform received it — transparent, auditable, defensible</a:t>
            </a:r>
            <a:endParaRPr lang="en-US" sz="1100" dirty="0"/>
          </a:p>
        </p:txBody>
      </p:sp>
      <p:sp>
        <p:nvSpPr>
          <p:cNvPr id="17" name="Shape 14"/>
          <p:cNvSpPr/>
          <p:nvPr/>
        </p:nvSpPr>
        <p:spPr>
          <a:xfrm>
            <a:off x="457200" y="4663440"/>
            <a:ext cx="11064240" cy="1645920"/>
          </a:xfrm>
          <a:prstGeom prst="roundRect">
            <a:avLst>
              <a:gd name="adj" fmla="val 6667"/>
            </a:avLst>
          </a:prstGeom>
          <a:solidFill>
            <a:srgbClr val="6B1C2A"/>
          </a:solidFill>
          <a:ln/>
        </p:spPr>
      </p:sp>
      <p:sp>
        <p:nvSpPr>
          <p:cNvPr id="18" name="Text 15"/>
          <p:cNvSpPr/>
          <p:nvPr/>
        </p:nvSpPr>
        <p:spPr>
          <a:xfrm>
            <a:off x="731520" y="4754880"/>
            <a:ext cx="4572000" cy="365760"/>
          </a:xfrm>
          <a:prstGeom prst="rect">
            <a:avLst/>
          </a:prstGeom>
          <a:noFill/>
          <a:ln/>
        </p:spPr>
        <p:txBody>
          <a:bodyPr wrap="square" rtlCol="0" anchor="ctr"/>
          <a:lstStyle/>
          <a:p>
            <a:pPr indent="0" marL="0">
              <a:buNone/>
            </a:pPr>
            <a:r>
              <a:rPr lang="en-US" sz="1100" b="1" spc="200" kern="0" dirty="0">
                <a:solidFill>
                  <a:srgbClr val="E8E0E0"/>
                </a:solidFill>
                <a:latin typeface="Arial" pitchFamily="34" charset="0"/>
                <a:ea typeface="Arial" pitchFamily="34" charset="-122"/>
                <a:cs typeface="Arial" pitchFamily="34" charset="-120"/>
              </a:rPr>
              <a:t>HEARTBEAT INTELLIGENCE PACKAGE</a:t>
            </a:r>
            <a:endParaRPr lang="en-US" sz="1100" dirty="0"/>
          </a:p>
        </p:txBody>
      </p:sp>
      <p:sp>
        <p:nvSpPr>
          <p:cNvPr id="19" name="Text 16"/>
          <p:cNvSpPr/>
          <p:nvPr/>
        </p:nvSpPr>
        <p:spPr>
          <a:xfrm>
            <a:off x="731520" y="5212080"/>
            <a:ext cx="10515600" cy="822960"/>
          </a:xfrm>
          <a:prstGeom prst="rect">
            <a:avLst/>
          </a:prstGeom>
          <a:noFill/>
          <a:ln/>
        </p:spPr>
        <p:txBody>
          <a:bodyPr wrap="square" rtlCol="0" anchor="ctr"/>
          <a:lstStyle/>
          <a:p>
            <a:pPr indent="0" marL="0">
              <a:buNone/>
            </a:pPr>
            <a:r>
              <a:rPr lang="en-US" sz="1200" dirty="0">
                <a:solidFill>
                  <a:srgbClr val="DDDDDD"/>
                </a:solidFill>
                <a:latin typeface="Arial" pitchFamily="34" charset="0"/>
                <a:ea typeface="Arial" pitchFamily="34" charset="-122"/>
                <a:cs typeface="Arial" pitchFamily="34" charset="-120"/>
              </a:rPr>
              <a:t>Every platform heartbeat now includes: RPLICE intelligence filtered to domain  |  Agent inbox with pending messages  |  Agent identity with autonomy scope  |  7 agent endpoints for self-service communication</a:t>
            </a:r>
            <a:endParaRPr lang="en-US" sz="1200" dirty="0"/>
          </a:p>
        </p:txBody>
      </p:sp>
      <p:sp>
        <p:nvSpPr>
          <p:cNvPr id="20" name="Text 17"/>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11/30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5-PROVIDER AI ENGINE</a:t>
            </a:r>
            <a:endParaRPr lang="en-US" sz="1100" dirty="0"/>
          </a:p>
        </p:txBody>
      </p:sp>
      <p:sp>
        <p:nvSpPr>
          <p:cNvPr id="4" name="Text 1"/>
          <p:cNvSpPr/>
          <p:nvPr/>
        </p:nvSpPr>
        <p:spPr>
          <a:xfrm>
            <a:off x="731520" y="731520"/>
            <a:ext cx="100584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Automatic Failover. Zero Downtime.</a:t>
            </a:r>
            <a:endParaRPr lang="en-US" sz="2800" dirty="0"/>
          </a:p>
        </p:txBody>
      </p:sp>
      <p:sp>
        <p:nvSpPr>
          <p:cNvPr id="5" name="Shape 2"/>
          <p:cNvSpPr/>
          <p:nvPr/>
        </p:nvSpPr>
        <p:spPr>
          <a:xfrm>
            <a:off x="274320" y="2011680"/>
            <a:ext cx="2103120" cy="2743200"/>
          </a:xfrm>
          <a:prstGeom prst="roundRect">
            <a:avLst>
              <a:gd name="adj" fmla="val 5217"/>
            </a:avLst>
          </a:prstGeom>
          <a:solidFill>
            <a:srgbClr val="2A2025"/>
          </a:solidFill>
          <a:ln w="25400">
            <a:solidFill>
              <a:srgbClr val="2563EB"/>
            </a:solidFill>
            <a:prstDash val="solid"/>
          </a:ln>
        </p:spPr>
      </p:sp>
      <p:sp>
        <p:nvSpPr>
          <p:cNvPr id="6" name="Text 3"/>
          <p:cNvSpPr/>
          <p:nvPr/>
        </p:nvSpPr>
        <p:spPr>
          <a:xfrm>
            <a:off x="365760" y="22860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Gemini 2.0 Flash</a:t>
            </a:r>
            <a:endParaRPr lang="en-US" sz="1300" dirty="0"/>
          </a:p>
        </p:txBody>
      </p:sp>
      <p:sp>
        <p:nvSpPr>
          <p:cNvPr id="7" name="Text 4"/>
          <p:cNvSpPr/>
          <p:nvPr/>
        </p:nvSpPr>
        <p:spPr>
          <a:xfrm>
            <a:off x="365760" y="2743200"/>
            <a:ext cx="1920240" cy="365760"/>
          </a:xfrm>
          <a:prstGeom prst="rect">
            <a:avLst/>
          </a:prstGeom>
          <a:noFill/>
          <a:ln/>
        </p:spPr>
        <p:txBody>
          <a:bodyPr wrap="square" rtlCol="0" anchor="ctr"/>
          <a:lstStyle/>
          <a:p>
            <a:pPr algn="ctr" indent="0" marL="0">
              <a:buNone/>
            </a:pPr>
            <a:r>
              <a:rPr lang="en-US" sz="1100" dirty="0">
                <a:solidFill>
                  <a:srgbClr val="2563EB"/>
                </a:solidFill>
                <a:latin typeface="Arial" pitchFamily="34" charset="0"/>
                <a:ea typeface="Arial" pitchFamily="34" charset="-122"/>
                <a:cs typeface="Arial" pitchFamily="34" charset="-120"/>
              </a:rPr>
              <a:t>Primary (Free)</a:t>
            </a:r>
            <a:endParaRPr lang="en-US" sz="1100" dirty="0"/>
          </a:p>
        </p:txBody>
      </p:sp>
      <p:sp>
        <p:nvSpPr>
          <p:cNvPr id="8" name="Text 5"/>
          <p:cNvSpPr/>
          <p:nvPr/>
        </p:nvSpPr>
        <p:spPr>
          <a:xfrm>
            <a:off x="365760" y="3200400"/>
            <a:ext cx="1920240" cy="1097280"/>
          </a:xfrm>
          <a:prstGeom prst="rect">
            <a:avLst/>
          </a:prstGeom>
          <a:noFill/>
          <a:ln/>
        </p:spPr>
        <p:txBody>
          <a:bodyPr wrap="square" rtlCol="0" anchor="ctr"/>
          <a:lstStyle/>
          <a:p>
            <a:pPr algn="ctr" indent="0" marL="0">
              <a:buNone/>
            </a:pPr>
            <a:r>
              <a:rPr lang="en-US" sz="1000" dirty="0">
                <a:solidFill>
                  <a:srgbClr val="D0D0D0"/>
                </a:solidFill>
                <a:latin typeface="Arial" pitchFamily="34" charset="0"/>
                <a:ea typeface="Arial" pitchFamily="34" charset="-122"/>
                <a:cs typeface="Arial" pitchFamily="34" charset="-120"/>
              </a:rPr>
              <a:t>Fast, free, handles 90%+ of requests</a:t>
            </a:r>
            <a:endParaRPr lang="en-US" sz="1000" dirty="0"/>
          </a:p>
        </p:txBody>
      </p:sp>
      <p:sp>
        <p:nvSpPr>
          <p:cNvPr id="9" name="Shape 6"/>
          <p:cNvSpPr/>
          <p:nvPr/>
        </p:nvSpPr>
        <p:spPr>
          <a:xfrm>
            <a:off x="2606040" y="2011680"/>
            <a:ext cx="2103120" cy="2743200"/>
          </a:xfrm>
          <a:prstGeom prst="roundRect">
            <a:avLst>
              <a:gd name="adj" fmla="val 5217"/>
            </a:avLst>
          </a:prstGeom>
          <a:solidFill>
            <a:srgbClr val="2A2025"/>
          </a:solidFill>
          <a:ln w="25400">
            <a:solidFill>
              <a:srgbClr val="D97706"/>
            </a:solidFill>
            <a:prstDash val="solid"/>
          </a:ln>
        </p:spPr>
      </p:sp>
      <p:sp>
        <p:nvSpPr>
          <p:cNvPr id="10" name="Text 7"/>
          <p:cNvSpPr/>
          <p:nvPr/>
        </p:nvSpPr>
        <p:spPr>
          <a:xfrm>
            <a:off x="2697480" y="22860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Claude Haiku 4.5</a:t>
            </a:r>
            <a:endParaRPr lang="en-US" sz="1300" dirty="0"/>
          </a:p>
        </p:txBody>
      </p:sp>
      <p:sp>
        <p:nvSpPr>
          <p:cNvPr id="11" name="Text 8"/>
          <p:cNvSpPr/>
          <p:nvPr/>
        </p:nvSpPr>
        <p:spPr>
          <a:xfrm>
            <a:off x="2697480" y="2743200"/>
            <a:ext cx="1920240" cy="365760"/>
          </a:xfrm>
          <a:prstGeom prst="rect">
            <a:avLst/>
          </a:prstGeom>
          <a:noFill/>
          <a:ln/>
        </p:spPr>
        <p:txBody>
          <a:bodyPr wrap="square" rtlCol="0" anchor="ctr"/>
          <a:lstStyle/>
          <a:p>
            <a:pPr algn="ctr" indent="0" marL="0">
              <a:buNone/>
            </a:pPr>
            <a:r>
              <a:rPr lang="en-US" sz="1100" dirty="0">
                <a:solidFill>
                  <a:srgbClr val="D97706"/>
                </a:solidFill>
                <a:latin typeface="Arial" pitchFamily="34" charset="0"/>
                <a:ea typeface="Arial" pitchFamily="34" charset="-122"/>
                <a:cs typeface="Arial" pitchFamily="34" charset="-120"/>
              </a:rPr>
              <a:t>Failover 1</a:t>
            </a:r>
            <a:endParaRPr lang="en-US" sz="1100" dirty="0"/>
          </a:p>
        </p:txBody>
      </p:sp>
      <p:sp>
        <p:nvSpPr>
          <p:cNvPr id="12" name="Text 9"/>
          <p:cNvSpPr/>
          <p:nvPr/>
        </p:nvSpPr>
        <p:spPr>
          <a:xfrm>
            <a:off x="2697480" y="3200400"/>
            <a:ext cx="1920240" cy="1097280"/>
          </a:xfrm>
          <a:prstGeom prst="rect">
            <a:avLst/>
          </a:prstGeom>
          <a:noFill/>
          <a:ln/>
        </p:spPr>
        <p:txBody>
          <a:bodyPr wrap="square" rtlCol="0" anchor="ctr"/>
          <a:lstStyle/>
          <a:p>
            <a:pPr algn="ctr" indent="0" marL="0">
              <a:buNone/>
            </a:pPr>
            <a:r>
              <a:rPr lang="en-US" sz="1000" dirty="0">
                <a:solidFill>
                  <a:srgbClr val="D0D0D0"/>
                </a:solidFill>
                <a:latin typeface="Arial" pitchFamily="34" charset="0"/>
                <a:ea typeface="Arial" pitchFamily="34" charset="-122"/>
                <a:cs typeface="Arial" pitchFamily="34" charset="-120"/>
              </a:rPr>
              <a:t>Anthropic quality for complex reasoning</a:t>
            </a:r>
            <a:endParaRPr lang="en-US" sz="1000" dirty="0"/>
          </a:p>
        </p:txBody>
      </p:sp>
      <p:sp>
        <p:nvSpPr>
          <p:cNvPr id="13" name="Shape 10"/>
          <p:cNvSpPr/>
          <p:nvPr/>
        </p:nvSpPr>
        <p:spPr>
          <a:xfrm>
            <a:off x="4937760" y="2011680"/>
            <a:ext cx="2103120" cy="2743200"/>
          </a:xfrm>
          <a:prstGeom prst="roundRect">
            <a:avLst>
              <a:gd name="adj" fmla="val 5217"/>
            </a:avLst>
          </a:prstGeom>
          <a:solidFill>
            <a:srgbClr val="2A2025"/>
          </a:solidFill>
          <a:ln w="25400">
            <a:solidFill>
              <a:srgbClr val="10B981"/>
            </a:solidFill>
            <a:prstDash val="solid"/>
          </a:ln>
        </p:spPr>
      </p:sp>
      <p:sp>
        <p:nvSpPr>
          <p:cNvPr id="14" name="Text 11"/>
          <p:cNvSpPr/>
          <p:nvPr/>
        </p:nvSpPr>
        <p:spPr>
          <a:xfrm>
            <a:off x="5029200" y="22860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GPT-5 Nano</a:t>
            </a:r>
            <a:endParaRPr lang="en-US" sz="1300" dirty="0"/>
          </a:p>
        </p:txBody>
      </p:sp>
      <p:sp>
        <p:nvSpPr>
          <p:cNvPr id="15" name="Text 12"/>
          <p:cNvSpPr/>
          <p:nvPr/>
        </p:nvSpPr>
        <p:spPr>
          <a:xfrm>
            <a:off x="5029200" y="2743200"/>
            <a:ext cx="1920240" cy="365760"/>
          </a:xfrm>
          <a:prstGeom prst="rect">
            <a:avLst/>
          </a:prstGeom>
          <a:noFill/>
          <a:ln/>
        </p:spPr>
        <p:txBody>
          <a:bodyPr wrap="square" rtlCol="0" anchor="ctr"/>
          <a:lstStyle/>
          <a:p>
            <a:pPr algn="ctr" indent="0" marL="0">
              <a:buNone/>
            </a:pPr>
            <a:r>
              <a:rPr lang="en-US" sz="1100" dirty="0">
                <a:solidFill>
                  <a:srgbClr val="10B981"/>
                </a:solidFill>
                <a:latin typeface="Arial" pitchFamily="34" charset="0"/>
                <a:ea typeface="Arial" pitchFamily="34" charset="-122"/>
                <a:cs typeface="Arial" pitchFamily="34" charset="-120"/>
              </a:rPr>
              <a:t>Failover 2</a:t>
            </a:r>
            <a:endParaRPr lang="en-US" sz="1100" dirty="0"/>
          </a:p>
        </p:txBody>
      </p:sp>
      <p:sp>
        <p:nvSpPr>
          <p:cNvPr id="16" name="Text 13"/>
          <p:cNvSpPr/>
          <p:nvPr/>
        </p:nvSpPr>
        <p:spPr>
          <a:xfrm>
            <a:off x="5029200" y="3200400"/>
            <a:ext cx="1920240" cy="1097280"/>
          </a:xfrm>
          <a:prstGeom prst="rect">
            <a:avLst/>
          </a:prstGeom>
          <a:noFill/>
          <a:ln/>
        </p:spPr>
        <p:txBody>
          <a:bodyPr wrap="square" rtlCol="0" anchor="ctr"/>
          <a:lstStyle/>
          <a:p>
            <a:pPr algn="ctr" indent="0" marL="0">
              <a:buNone/>
            </a:pPr>
            <a:r>
              <a:rPr lang="en-US" sz="1000" dirty="0">
                <a:solidFill>
                  <a:srgbClr val="D0D0D0"/>
                </a:solidFill>
                <a:latin typeface="Arial" pitchFamily="34" charset="0"/>
                <a:ea typeface="Arial" pitchFamily="34" charset="-122"/>
                <a:cs typeface="Arial" pitchFamily="34" charset="-120"/>
              </a:rPr>
              <a:t>OpenAI via Replit AI Integrations</a:t>
            </a:r>
            <a:endParaRPr lang="en-US" sz="1000" dirty="0"/>
          </a:p>
        </p:txBody>
      </p:sp>
      <p:sp>
        <p:nvSpPr>
          <p:cNvPr id="17" name="Shape 14"/>
          <p:cNvSpPr/>
          <p:nvPr/>
        </p:nvSpPr>
        <p:spPr>
          <a:xfrm>
            <a:off x="7269480" y="2011680"/>
            <a:ext cx="2103120" cy="2743200"/>
          </a:xfrm>
          <a:prstGeom prst="roundRect">
            <a:avLst>
              <a:gd name="adj" fmla="val 5217"/>
            </a:avLst>
          </a:prstGeom>
          <a:solidFill>
            <a:srgbClr val="2A2025"/>
          </a:solidFill>
          <a:ln w="25400">
            <a:solidFill>
              <a:srgbClr val="7C3AED"/>
            </a:solidFill>
            <a:prstDash val="solid"/>
          </a:ln>
        </p:spPr>
      </p:sp>
      <p:sp>
        <p:nvSpPr>
          <p:cNvPr id="18" name="Text 15"/>
          <p:cNvSpPr/>
          <p:nvPr/>
        </p:nvSpPr>
        <p:spPr>
          <a:xfrm>
            <a:off x="7360920" y="22860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DeepSeek R1</a:t>
            </a:r>
            <a:endParaRPr lang="en-US" sz="1300" dirty="0"/>
          </a:p>
        </p:txBody>
      </p:sp>
      <p:sp>
        <p:nvSpPr>
          <p:cNvPr id="19" name="Text 16"/>
          <p:cNvSpPr/>
          <p:nvPr/>
        </p:nvSpPr>
        <p:spPr>
          <a:xfrm>
            <a:off x="7360920" y="2743200"/>
            <a:ext cx="1920240" cy="365760"/>
          </a:xfrm>
          <a:prstGeom prst="rect">
            <a:avLst/>
          </a:prstGeom>
          <a:noFill/>
          <a:ln/>
        </p:spPr>
        <p:txBody>
          <a:bodyPr wrap="square" rtlCol="0" anchor="ctr"/>
          <a:lstStyle/>
          <a:p>
            <a:pPr algn="ctr" indent="0" marL="0">
              <a:buNone/>
            </a:pPr>
            <a:r>
              <a:rPr lang="en-US" sz="1100" dirty="0">
                <a:solidFill>
                  <a:srgbClr val="7C3AED"/>
                </a:solidFill>
                <a:latin typeface="Arial" pitchFamily="34" charset="0"/>
                <a:ea typeface="Arial" pitchFamily="34" charset="-122"/>
                <a:cs typeface="Arial" pitchFamily="34" charset="-120"/>
              </a:rPr>
              <a:t>Strategic Reasoning</a:t>
            </a:r>
            <a:endParaRPr lang="en-US" sz="1100" dirty="0"/>
          </a:p>
        </p:txBody>
      </p:sp>
      <p:sp>
        <p:nvSpPr>
          <p:cNvPr id="20" name="Text 17"/>
          <p:cNvSpPr/>
          <p:nvPr/>
        </p:nvSpPr>
        <p:spPr>
          <a:xfrm>
            <a:off x="7360920" y="3200400"/>
            <a:ext cx="1920240" cy="1097280"/>
          </a:xfrm>
          <a:prstGeom prst="rect">
            <a:avLst/>
          </a:prstGeom>
          <a:noFill/>
          <a:ln/>
        </p:spPr>
        <p:txBody>
          <a:bodyPr wrap="square" rtlCol="0" anchor="ctr"/>
          <a:lstStyle/>
          <a:p>
            <a:pPr algn="ctr" indent="0" marL="0">
              <a:buNone/>
            </a:pPr>
            <a:r>
              <a:rPr lang="en-US" sz="1000" dirty="0">
                <a:solidFill>
                  <a:srgbClr val="D0D0D0"/>
                </a:solidFill>
                <a:latin typeface="Arial" pitchFamily="34" charset="0"/>
                <a:ea typeface="Arial" pitchFamily="34" charset="-122"/>
                <a:cs typeface="Arial" pitchFamily="34" charset="-120"/>
              </a:rPr>
              <a:t>Via OpenRouter, think tags auto-stripped</a:t>
            </a:r>
            <a:endParaRPr lang="en-US" sz="1000" dirty="0"/>
          </a:p>
        </p:txBody>
      </p:sp>
      <p:sp>
        <p:nvSpPr>
          <p:cNvPr id="21" name="Shape 18"/>
          <p:cNvSpPr/>
          <p:nvPr/>
        </p:nvSpPr>
        <p:spPr>
          <a:xfrm>
            <a:off x="9601200" y="2011680"/>
            <a:ext cx="2103120" cy="2743200"/>
          </a:xfrm>
          <a:prstGeom prst="roundRect">
            <a:avLst>
              <a:gd name="adj" fmla="val 5217"/>
            </a:avLst>
          </a:prstGeom>
          <a:solidFill>
            <a:srgbClr val="2A2025"/>
          </a:solidFill>
          <a:ln w="25400">
            <a:solidFill>
              <a:srgbClr val="0D9488"/>
            </a:solidFill>
            <a:prstDash val="solid"/>
          </a:ln>
        </p:spPr>
      </p:sp>
      <p:sp>
        <p:nvSpPr>
          <p:cNvPr id="22" name="Text 19"/>
          <p:cNvSpPr/>
          <p:nvPr/>
        </p:nvSpPr>
        <p:spPr>
          <a:xfrm>
            <a:off x="9692640" y="22860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Replit AI</a:t>
            </a:r>
            <a:endParaRPr lang="en-US" sz="1300" dirty="0"/>
          </a:p>
        </p:txBody>
      </p:sp>
      <p:sp>
        <p:nvSpPr>
          <p:cNvPr id="23" name="Text 20"/>
          <p:cNvSpPr/>
          <p:nvPr/>
        </p:nvSpPr>
        <p:spPr>
          <a:xfrm>
            <a:off x="9692640" y="2743200"/>
            <a:ext cx="1920240" cy="365760"/>
          </a:xfrm>
          <a:prstGeom prst="rect">
            <a:avLst/>
          </a:prstGeom>
          <a:noFill/>
          <a:ln/>
        </p:spPr>
        <p:txBody>
          <a:bodyPr wrap="square" rtlCol="0" anchor="ctr"/>
          <a:lstStyle/>
          <a:p>
            <a:pPr algn="ctr" indent="0" marL="0">
              <a:buNone/>
            </a:pPr>
            <a:r>
              <a:rPr lang="en-US" sz="1100" dirty="0">
                <a:solidFill>
                  <a:srgbClr val="0D9488"/>
                </a:solidFill>
                <a:latin typeface="Arial" pitchFamily="34" charset="0"/>
                <a:ea typeface="Arial" pitchFamily="34" charset="-122"/>
                <a:cs typeface="Arial" pitchFamily="34" charset="-120"/>
              </a:rPr>
              <a:t>Integrated</a:t>
            </a:r>
            <a:endParaRPr lang="en-US" sz="1100" dirty="0"/>
          </a:p>
        </p:txBody>
      </p:sp>
      <p:sp>
        <p:nvSpPr>
          <p:cNvPr id="24" name="Text 21"/>
          <p:cNvSpPr/>
          <p:nvPr/>
        </p:nvSpPr>
        <p:spPr>
          <a:xfrm>
            <a:off x="9692640" y="3200400"/>
            <a:ext cx="1920240" cy="1097280"/>
          </a:xfrm>
          <a:prstGeom prst="rect">
            <a:avLst/>
          </a:prstGeom>
          <a:noFill/>
          <a:ln/>
        </p:spPr>
        <p:txBody>
          <a:bodyPr wrap="square" rtlCol="0" anchor="ctr"/>
          <a:lstStyle/>
          <a:p>
            <a:pPr algn="ctr" indent="0" marL="0">
              <a:buNone/>
            </a:pPr>
            <a:r>
              <a:rPr lang="en-US" sz="1000" dirty="0">
                <a:solidFill>
                  <a:srgbClr val="D0D0D0"/>
                </a:solidFill>
                <a:latin typeface="Arial" pitchFamily="34" charset="0"/>
                <a:ea typeface="Arial" pitchFamily="34" charset="-122"/>
                <a:cs typeface="Arial" pitchFamily="34" charset="-120"/>
              </a:rPr>
              <a:t>Pre-budgeted through platform integration</a:t>
            </a:r>
            <a:endParaRPr lang="en-US" sz="1000" dirty="0"/>
          </a:p>
        </p:txBody>
      </p:sp>
      <p:sp>
        <p:nvSpPr>
          <p:cNvPr id="25" name="Text 22"/>
          <p:cNvSpPr/>
          <p:nvPr/>
        </p:nvSpPr>
        <p:spPr>
          <a:xfrm>
            <a:off x="731520" y="5303520"/>
            <a:ext cx="10515600" cy="457200"/>
          </a:xfrm>
          <a:prstGeom prst="rect">
            <a:avLst/>
          </a:prstGeom>
          <a:noFill/>
          <a:ln/>
        </p:spPr>
        <p:txBody>
          <a:bodyPr wrap="square" rtlCol="0" anchor="ctr"/>
          <a:lstStyle/>
          <a:p>
            <a:pPr algn="ctr" indent="0" marL="0">
              <a:buNone/>
            </a:pPr>
            <a:r>
              <a:rPr lang="en-US" sz="1200" dirty="0">
                <a:solidFill>
                  <a:srgbClr val="AAAAAA"/>
                </a:solidFill>
                <a:latin typeface="Arial" pitchFamily="34" charset="0"/>
                <a:ea typeface="Arial" pitchFamily="34" charset="-122"/>
                <a:cs typeface="Arial" pitchFamily="34" charset="-120"/>
              </a:rPr>
              <a:t>Rate limit detection  →  Automatic provider switch  →  Zero user-facing errors  →  Near-zero AI costs for nonprofit</a:t>
            </a:r>
            <a:endParaRPr lang="en-US" sz="1200" dirty="0"/>
          </a:p>
        </p:txBody>
      </p:sp>
      <p:sp>
        <p:nvSpPr>
          <p:cNvPr id="26" name="Text 23"/>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12/30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AI MASTERY CURRICULUM</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200" b="1" dirty="0">
                <a:solidFill>
                  <a:srgbClr val="2A1015"/>
                </a:solidFill>
                <a:latin typeface="Arial" pitchFamily="34" charset="0"/>
                <a:ea typeface="Arial" pitchFamily="34" charset="-122"/>
                <a:cs typeface="Arial" pitchFamily="34" charset="-120"/>
              </a:rPr>
              <a:t>60 Real Lessons. Five Mastery Levels. No Placeholders.</a:t>
            </a:r>
            <a:endParaRPr lang="en-US" sz="2200" dirty="0"/>
          </a:p>
        </p:txBody>
      </p:sp>
      <p:sp>
        <p:nvSpPr>
          <p:cNvPr id="5" name="Shape 2"/>
          <p:cNvSpPr/>
          <p:nvPr/>
        </p:nvSpPr>
        <p:spPr>
          <a:xfrm>
            <a:off x="274320" y="1463040"/>
            <a:ext cx="2103120" cy="1371600"/>
          </a:xfrm>
          <a:prstGeom prst="roundRect">
            <a:avLst>
              <a:gd name="adj" fmla="val 6667"/>
            </a:avLst>
          </a:prstGeom>
          <a:solidFill>
            <a:srgbClr val="FFFFFF"/>
          </a:solidFill>
          <a:ln w="25400">
            <a:solidFill>
              <a:srgbClr val="10B981"/>
            </a:solidFill>
            <a:prstDash val="solid"/>
          </a:ln>
        </p:spPr>
      </p:sp>
      <p:sp>
        <p:nvSpPr>
          <p:cNvPr id="6" name="Text 3"/>
          <p:cNvSpPr/>
          <p:nvPr/>
        </p:nvSpPr>
        <p:spPr>
          <a:xfrm>
            <a:off x="365760" y="1645920"/>
            <a:ext cx="1920240" cy="4572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Level 1: Explorer</a:t>
            </a:r>
            <a:endParaRPr lang="en-US" sz="1200" dirty="0"/>
          </a:p>
        </p:txBody>
      </p:sp>
      <p:sp>
        <p:nvSpPr>
          <p:cNvPr id="7" name="Text 4"/>
          <p:cNvSpPr/>
          <p:nvPr/>
        </p:nvSpPr>
        <p:spPr>
          <a:xfrm>
            <a:off x="365760" y="2103120"/>
            <a:ext cx="1920240" cy="457200"/>
          </a:xfrm>
          <a:prstGeom prst="rect">
            <a:avLst/>
          </a:prstGeom>
          <a:noFill/>
          <a:ln/>
        </p:spPr>
        <p:txBody>
          <a:bodyPr wrap="square" rtlCol="0" anchor="ctr"/>
          <a:lstStyle/>
          <a:p>
            <a:pPr algn="ctr" indent="0" marL="0">
              <a:buNone/>
            </a:pPr>
            <a:r>
              <a:rPr lang="en-US" sz="1100" dirty="0">
                <a:solidFill>
                  <a:srgbClr val="6B5050"/>
                </a:solidFill>
                <a:latin typeface="Arial" pitchFamily="34" charset="0"/>
                <a:ea typeface="Arial" pitchFamily="34" charset="-122"/>
                <a:cs typeface="Arial" pitchFamily="34" charset="-120"/>
              </a:rPr>
              <a:t>Discover AI basics</a:t>
            </a:r>
            <a:endParaRPr lang="en-US" sz="1100" dirty="0"/>
          </a:p>
        </p:txBody>
      </p:sp>
      <p:sp>
        <p:nvSpPr>
          <p:cNvPr id="8" name="Shape 5"/>
          <p:cNvSpPr/>
          <p:nvPr/>
        </p:nvSpPr>
        <p:spPr>
          <a:xfrm>
            <a:off x="2606040" y="1463040"/>
            <a:ext cx="2103120" cy="1371600"/>
          </a:xfrm>
          <a:prstGeom prst="roundRect">
            <a:avLst>
              <a:gd name="adj" fmla="val 6667"/>
            </a:avLst>
          </a:prstGeom>
          <a:solidFill>
            <a:srgbClr val="FFFFFF"/>
          </a:solidFill>
          <a:ln w="25400">
            <a:solidFill>
              <a:srgbClr val="2563EB"/>
            </a:solidFill>
            <a:prstDash val="solid"/>
          </a:ln>
        </p:spPr>
      </p:sp>
      <p:sp>
        <p:nvSpPr>
          <p:cNvPr id="9" name="Text 6"/>
          <p:cNvSpPr/>
          <p:nvPr/>
        </p:nvSpPr>
        <p:spPr>
          <a:xfrm>
            <a:off x="2697480" y="1645920"/>
            <a:ext cx="1920240" cy="4572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Level 2: Guide</a:t>
            </a:r>
            <a:endParaRPr lang="en-US" sz="1200" dirty="0"/>
          </a:p>
        </p:txBody>
      </p:sp>
      <p:sp>
        <p:nvSpPr>
          <p:cNvPr id="10" name="Text 7"/>
          <p:cNvSpPr/>
          <p:nvPr/>
        </p:nvSpPr>
        <p:spPr>
          <a:xfrm>
            <a:off x="2697480" y="2103120"/>
            <a:ext cx="1920240" cy="457200"/>
          </a:xfrm>
          <a:prstGeom prst="rect">
            <a:avLst/>
          </a:prstGeom>
          <a:noFill/>
          <a:ln/>
        </p:spPr>
        <p:txBody>
          <a:bodyPr wrap="square" rtlCol="0" anchor="ctr"/>
          <a:lstStyle/>
          <a:p>
            <a:pPr algn="ctr" indent="0" marL="0">
              <a:buNone/>
            </a:pPr>
            <a:r>
              <a:rPr lang="en-US" sz="1100" dirty="0">
                <a:solidFill>
                  <a:srgbClr val="6B5050"/>
                </a:solidFill>
                <a:latin typeface="Arial" pitchFamily="34" charset="0"/>
                <a:ea typeface="Arial" pitchFamily="34" charset="-122"/>
                <a:cs typeface="Arial" pitchFamily="34" charset="-120"/>
              </a:rPr>
              <a:t>Master prompting</a:t>
            </a:r>
            <a:endParaRPr lang="en-US" sz="1100" dirty="0"/>
          </a:p>
        </p:txBody>
      </p:sp>
      <p:sp>
        <p:nvSpPr>
          <p:cNvPr id="11" name="Shape 8"/>
          <p:cNvSpPr/>
          <p:nvPr/>
        </p:nvSpPr>
        <p:spPr>
          <a:xfrm>
            <a:off x="4937760" y="1463040"/>
            <a:ext cx="2103120" cy="1371600"/>
          </a:xfrm>
          <a:prstGeom prst="roundRect">
            <a:avLst>
              <a:gd name="adj" fmla="val 6667"/>
            </a:avLst>
          </a:prstGeom>
          <a:solidFill>
            <a:srgbClr val="FFFFFF"/>
          </a:solidFill>
          <a:ln w="25400">
            <a:solidFill>
              <a:srgbClr val="7C3AED"/>
            </a:solidFill>
            <a:prstDash val="solid"/>
          </a:ln>
        </p:spPr>
      </p:sp>
      <p:sp>
        <p:nvSpPr>
          <p:cNvPr id="12" name="Text 9"/>
          <p:cNvSpPr/>
          <p:nvPr/>
        </p:nvSpPr>
        <p:spPr>
          <a:xfrm>
            <a:off x="5029200" y="1645920"/>
            <a:ext cx="1920240" cy="4572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Level 3: Architect</a:t>
            </a:r>
            <a:endParaRPr lang="en-US" sz="1200" dirty="0"/>
          </a:p>
        </p:txBody>
      </p:sp>
      <p:sp>
        <p:nvSpPr>
          <p:cNvPr id="13" name="Text 10"/>
          <p:cNvSpPr/>
          <p:nvPr/>
        </p:nvSpPr>
        <p:spPr>
          <a:xfrm>
            <a:off x="5029200" y="2103120"/>
            <a:ext cx="1920240" cy="457200"/>
          </a:xfrm>
          <a:prstGeom prst="rect">
            <a:avLst/>
          </a:prstGeom>
          <a:noFill/>
          <a:ln/>
        </p:spPr>
        <p:txBody>
          <a:bodyPr wrap="square" rtlCol="0" anchor="ctr"/>
          <a:lstStyle/>
          <a:p>
            <a:pPr algn="ctr" indent="0" marL="0">
              <a:buNone/>
            </a:pPr>
            <a:r>
              <a:rPr lang="en-US" sz="1100" dirty="0">
                <a:solidFill>
                  <a:srgbClr val="6B5050"/>
                </a:solidFill>
                <a:latin typeface="Arial" pitchFamily="34" charset="0"/>
                <a:ea typeface="Arial" pitchFamily="34" charset="-122"/>
                <a:cs typeface="Arial" pitchFamily="34" charset="-120"/>
              </a:rPr>
              <a:t>AI systems</a:t>
            </a:r>
            <a:endParaRPr lang="en-US" sz="1100" dirty="0"/>
          </a:p>
        </p:txBody>
      </p:sp>
      <p:sp>
        <p:nvSpPr>
          <p:cNvPr id="14" name="Shape 11"/>
          <p:cNvSpPr/>
          <p:nvPr/>
        </p:nvSpPr>
        <p:spPr>
          <a:xfrm>
            <a:off x="7269480" y="1463040"/>
            <a:ext cx="2103120" cy="1371600"/>
          </a:xfrm>
          <a:prstGeom prst="roundRect">
            <a:avLst>
              <a:gd name="adj" fmla="val 6667"/>
            </a:avLst>
          </a:prstGeom>
          <a:solidFill>
            <a:srgbClr val="FFFFFF"/>
          </a:solidFill>
          <a:ln w="25400">
            <a:solidFill>
              <a:srgbClr val="D97706"/>
            </a:solidFill>
            <a:prstDash val="solid"/>
          </a:ln>
        </p:spPr>
      </p:sp>
      <p:sp>
        <p:nvSpPr>
          <p:cNvPr id="15" name="Text 12"/>
          <p:cNvSpPr/>
          <p:nvPr/>
        </p:nvSpPr>
        <p:spPr>
          <a:xfrm>
            <a:off x="7360920" y="1645920"/>
            <a:ext cx="1920240" cy="4572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Level 4: Innovator</a:t>
            </a:r>
            <a:endParaRPr lang="en-US" sz="1200" dirty="0"/>
          </a:p>
        </p:txBody>
      </p:sp>
      <p:sp>
        <p:nvSpPr>
          <p:cNvPr id="16" name="Text 13"/>
          <p:cNvSpPr/>
          <p:nvPr/>
        </p:nvSpPr>
        <p:spPr>
          <a:xfrm>
            <a:off x="7360920" y="2103120"/>
            <a:ext cx="1920240" cy="457200"/>
          </a:xfrm>
          <a:prstGeom prst="rect">
            <a:avLst/>
          </a:prstGeom>
          <a:noFill/>
          <a:ln/>
        </p:spPr>
        <p:txBody>
          <a:bodyPr wrap="square" rtlCol="0" anchor="ctr"/>
          <a:lstStyle/>
          <a:p>
            <a:pPr algn="ctr" indent="0" marL="0">
              <a:buNone/>
            </a:pPr>
            <a:r>
              <a:rPr lang="en-US" sz="1100" dirty="0">
                <a:solidFill>
                  <a:srgbClr val="6B5050"/>
                </a:solidFill>
                <a:latin typeface="Arial" pitchFamily="34" charset="0"/>
                <a:ea typeface="Arial" pitchFamily="34" charset="-122"/>
                <a:cs typeface="Arial" pitchFamily="34" charset="-120"/>
              </a:rPr>
              <a:t>Entrepreneurship</a:t>
            </a:r>
            <a:endParaRPr lang="en-US" sz="1100" dirty="0"/>
          </a:p>
        </p:txBody>
      </p:sp>
      <p:sp>
        <p:nvSpPr>
          <p:cNvPr id="17" name="Shape 14"/>
          <p:cNvSpPr/>
          <p:nvPr/>
        </p:nvSpPr>
        <p:spPr>
          <a:xfrm>
            <a:off x="9601200" y="1463040"/>
            <a:ext cx="2103120" cy="1371600"/>
          </a:xfrm>
          <a:prstGeom prst="roundRect">
            <a:avLst>
              <a:gd name="adj" fmla="val 6667"/>
            </a:avLst>
          </a:prstGeom>
          <a:solidFill>
            <a:srgbClr val="FFFFFF"/>
          </a:solidFill>
          <a:ln w="25400">
            <a:solidFill>
              <a:srgbClr val="6B1C2A"/>
            </a:solidFill>
            <a:prstDash val="solid"/>
          </a:ln>
        </p:spPr>
      </p:sp>
      <p:sp>
        <p:nvSpPr>
          <p:cNvPr id="18" name="Text 15"/>
          <p:cNvSpPr/>
          <p:nvPr/>
        </p:nvSpPr>
        <p:spPr>
          <a:xfrm>
            <a:off x="9692640" y="1645920"/>
            <a:ext cx="1920240" cy="457200"/>
          </a:xfrm>
          <a:prstGeom prst="rect">
            <a:avLst/>
          </a:prstGeom>
          <a:noFill/>
          <a:ln/>
        </p:spPr>
        <p:txBody>
          <a:bodyPr wrap="square" rtlCol="0" anchor="ctr"/>
          <a:lstStyle/>
          <a:p>
            <a:pPr algn="ctr" indent="0" marL="0">
              <a:buNone/>
            </a:pPr>
            <a:r>
              <a:rPr lang="en-US" sz="1200" b="1" dirty="0">
                <a:solidFill>
                  <a:srgbClr val="2A1015"/>
                </a:solidFill>
                <a:latin typeface="Arial" pitchFamily="34" charset="0"/>
                <a:ea typeface="Arial" pitchFamily="34" charset="-122"/>
                <a:cs typeface="Arial" pitchFamily="34" charset="-120"/>
              </a:rPr>
              <a:t>Level 5: Master</a:t>
            </a:r>
            <a:endParaRPr lang="en-US" sz="1200" dirty="0"/>
          </a:p>
        </p:txBody>
      </p:sp>
      <p:sp>
        <p:nvSpPr>
          <p:cNvPr id="19" name="Text 16"/>
          <p:cNvSpPr/>
          <p:nvPr/>
        </p:nvSpPr>
        <p:spPr>
          <a:xfrm>
            <a:off x="9692640" y="2103120"/>
            <a:ext cx="1920240" cy="457200"/>
          </a:xfrm>
          <a:prstGeom prst="rect">
            <a:avLst/>
          </a:prstGeom>
          <a:noFill/>
          <a:ln/>
        </p:spPr>
        <p:txBody>
          <a:bodyPr wrap="square" rtlCol="0" anchor="ctr"/>
          <a:lstStyle/>
          <a:p>
            <a:pPr algn="ctr" indent="0" marL="0">
              <a:buNone/>
            </a:pPr>
            <a:r>
              <a:rPr lang="en-US" sz="1100" dirty="0">
                <a:solidFill>
                  <a:srgbClr val="6B5050"/>
                </a:solidFill>
                <a:latin typeface="Arial" pitchFamily="34" charset="0"/>
                <a:ea typeface="Arial" pitchFamily="34" charset="-122"/>
                <a:cs typeface="Arial" pitchFamily="34" charset="-120"/>
              </a:rPr>
              <a:t>Lead &amp; educate</a:t>
            </a:r>
            <a:endParaRPr lang="en-US" sz="1100" dirty="0"/>
          </a:p>
        </p:txBody>
      </p:sp>
      <p:sp>
        <p:nvSpPr>
          <p:cNvPr id="20" name="Shape 17"/>
          <p:cNvSpPr/>
          <p:nvPr/>
        </p:nvSpPr>
        <p:spPr>
          <a:xfrm>
            <a:off x="457200" y="3200400"/>
            <a:ext cx="3474720" cy="1463040"/>
          </a:xfrm>
          <a:prstGeom prst="roundRect">
            <a:avLst>
              <a:gd name="adj" fmla="val 6250"/>
            </a:avLst>
          </a:prstGeom>
          <a:solidFill>
            <a:srgbClr val="FFFFFF"/>
          </a:solidFill>
          <a:ln w="12700">
            <a:solidFill>
              <a:srgbClr val="E0D8D0"/>
            </a:solidFill>
            <a:prstDash val="solid"/>
          </a:ln>
        </p:spPr>
      </p:sp>
      <p:sp>
        <p:nvSpPr>
          <p:cNvPr id="21" name="Text 18"/>
          <p:cNvSpPr/>
          <p:nvPr/>
        </p:nvSpPr>
        <p:spPr>
          <a:xfrm>
            <a:off x="640080" y="3291840"/>
            <a:ext cx="310896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AI Literacy</a:t>
            </a:r>
            <a:endParaRPr lang="en-US" sz="1600" dirty="0"/>
          </a:p>
        </p:txBody>
      </p:sp>
      <p:sp>
        <p:nvSpPr>
          <p:cNvPr id="22" name="Text 19"/>
          <p:cNvSpPr/>
          <p:nvPr/>
        </p:nvSpPr>
        <p:spPr>
          <a:xfrm>
            <a:off x="640080" y="3749040"/>
            <a:ext cx="3108960" cy="320040"/>
          </a:xfrm>
          <a:prstGeom prst="rect">
            <a:avLst/>
          </a:prstGeom>
          <a:noFill/>
          <a:ln/>
        </p:spPr>
        <p:txBody>
          <a:bodyPr wrap="square" rtlCol="0" anchor="ctr"/>
          <a:lstStyle/>
          <a:p>
            <a:pPr indent="0" marL="0">
              <a:buNone/>
            </a:pPr>
            <a:r>
              <a:rPr lang="en-US" sz="1200" dirty="0">
                <a:solidFill>
                  <a:srgbClr val="6B1C2A"/>
                </a:solidFill>
                <a:latin typeface="Arial" pitchFamily="34" charset="0"/>
                <a:ea typeface="Arial" pitchFamily="34" charset="-122"/>
                <a:cs typeface="Arial" pitchFamily="34" charset="-120"/>
              </a:rPr>
              <a:t>30 lessons / 10 modules</a:t>
            </a:r>
            <a:endParaRPr lang="en-US" sz="1200" dirty="0"/>
          </a:p>
        </p:txBody>
      </p:sp>
      <p:sp>
        <p:nvSpPr>
          <p:cNvPr id="23" name="Text 20"/>
          <p:cNvSpPr/>
          <p:nvPr/>
        </p:nvSpPr>
        <p:spPr>
          <a:xfrm>
            <a:off x="640080" y="4114800"/>
            <a:ext cx="3108960" cy="32004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Grades 6-8 &amp; 9-12</a:t>
            </a:r>
            <a:endParaRPr lang="en-US" sz="1100" dirty="0"/>
          </a:p>
        </p:txBody>
      </p:sp>
      <p:sp>
        <p:nvSpPr>
          <p:cNvPr id="24" name="Shape 21"/>
          <p:cNvSpPr/>
          <p:nvPr/>
        </p:nvSpPr>
        <p:spPr>
          <a:xfrm>
            <a:off x="4206240" y="3200400"/>
            <a:ext cx="3474720" cy="1463040"/>
          </a:xfrm>
          <a:prstGeom prst="roundRect">
            <a:avLst>
              <a:gd name="adj" fmla="val 6250"/>
            </a:avLst>
          </a:prstGeom>
          <a:solidFill>
            <a:srgbClr val="FFFFFF"/>
          </a:solidFill>
          <a:ln w="12700">
            <a:solidFill>
              <a:srgbClr val="E0D8D0"/>
            </a:solidFill>
            <a:prstDash val="solid"/>
          </a:ln>
        </p:spPr>
      </p:sp>
      <p:sp>
        <p:nvSpPr>
          <p:cNvPr id="25" name="Text 22"/>
          <p:cNvSpPr/>
          <p:nvPr/>
        </p:nvSpPr>
        <p:spPr>
          <a:xfrm>
            <a:off x="4389120" y="3291840"/>
            <a:ext cx="310896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Workforce Readiness</a:t>
            </a:r>
            <a:endParaRPr lang="en-US" sz="1600" dirty="0"/>
          </a:p>
        </p:txBody>
      </p:sp>
      <p:sp>
        <p:nvSpPr>
          <p:cNvPr id="26" name="Text 23"/>
          <p:cNvSpPr/>
          <p:nvPr/>
        </p:nvSpPr>
        <p:spPr>
          <a:xfrm>
            <a:off x="4389120" y="3749040"/>
            <a:ext cx="3108960" cy="320040"/>
          </a:xfrm>
          <a:prstGeom prst="rect">
            <a:avLst/>
          </a:prstGeom>
          <a:noFill/>
          <a:ln/>
        </p:spPr>
        <p:txBody>
          <a:bodyPr wrap="square" rtlCol="0" anchor="ctr"/>
          <a:lstStyle/>
          <a:p>
            <a:pPr indent="0" marL="0">
              <a:buNone/>
            </a:pPr>
            <a:r>
              <a:rPr lang="en-US" sz="1200" dirty="0">
                <a:solidFill>
                  <a:srgbClr val="6B1C2A"/>
                </a:solidFill>
                <a:latin typeface="Arial" pitchFamily="34" charset="0"/>
                <a:ea typeface="Arial" pitchFamily="34" charset="-122"/>
                <a:cs typeface="Arial" pitchFamily="34" charset="-120"/>
              </a:rPr>
              <a:t>21 lessons / 7 modules</a:t>
            </a:r>
            <a:endParaRPr lang="en-US" sz="1200" dirty="0"/>
          </a:p>
        </p:txBody>
      </p:sp>
      <p:sp>
        <p:nvSpPr>
          <p:cNvPr id="27" name="Text 24"/>
          <p:cNvSpPr/>
          <p:nvPr/>
        </p:nvSpPr>
        <p:spPr>
          <a:xfrm>
            <a:off x="4389120" y="4114800"/>
            <a:ext cx="3108960" cy="32004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Grades 6-8 &amp; 9-12</a:t>
            </a:r>
            <a:endParaRPr lang="en-US" sz="1100" dirty="0"/>
          </a:p>
        </p:txBody>
      </p:sp>
      <p:sp>
        <p:nvSpPr>
          <p:cNvPr id="28" name="Shape 25"/>
          <p:cNvSpPr/>
          <p:nvPr/>
        </p:nvSpPr>
        <p:spPr>
          <a:xfrm>
            <a:off x="7955280" y="3200400"/>
            <a:ext cx="3474720" cy="1463040"/>
          </a:xfrm>
          <a:prstGeom prst="roundRect">
            <a:avLst>
              <a:gd name="adj" fmla="val 6250"/>
            </a:avLst>
          </a:prstGeom>
          <a:solidFill>
            <a:srgbClr val="FFFFFF"/>
          </a:solidFill>
          <a:ln w="12700">
            <a:solidFill>
              <a:srgbClr val="E0D8D0"/>
            </a:solidFill>
            <a:prstDash val="solid"/>
          </a:ln>
        </p:spPr>
      </p:sp>
      <p:sp>
        <p:nvSpPr>
          <p:cNvPr id="29" name="Text 26"/>
          <p:cNvSpPr/>
          <p:nvPr/>
        </p:nvSpPr>
        <p:spPr>
          <a:xfrm>
            <a:off x="8138160" y="3291840"/>
            <a:ext cx="310896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Social-Emotional</a:t>
            </a:r>
            <a:endParaRPr lang="en-US" sz="1600" dirty="0"/>
          </a:p>
        </p:txBody>
      </p:sp>
      <p:sp>
        <p:nvSpPr>
          <p:cNvPr id="30" name="Text 27"/>
          <p:cNvSpPr/>
          <p:nvPr/>
        </p:nvSpPr>
        <p:spPr>
          <a:xfrm>
            <a:off x="8138160" y="3749040"/>
            <a:ext cx="3108960" cy="320040"/>
          </a:xfrm>
          <a:prstGeom prst="rect">
            <a:avLst/>
          </a:prstGeom>
          <a:noFill/>
          <a:ln/>
        </p:spPr>
        <p:txBody>
          <a:bodyPr wrap="square" rtlCol="0" anchor="ctr"/>
          <a:lstStyle/>
          <a:p>
            <a:pPr indent="0" marL="0">
              <a:buNone/>
            </a:pPr>
            <a:r>
              <a:rPr lang="en-US" sz="1200" dirty="0">
                <a:solidFill>
                  <a:srgbClr val="6B1C2A"/>
                </a:solidFill>
                <a:latin typeface="Arial" pitchFamily="34" charset="0"/>
                <a:ea typeface="Arial" pitchFamily="34" charset="-122"/>
                <a:cs typeface="Arial" pitchFamily="34" charset="-120"/>
              </a:rPr>
              <a:t>9 lessons / 3 modules</a:t>
            </a:r>
            <a:endParaRPr lang="en-US" sz="1200" dirty="0"/>
          </a:p>
        </p:txBody>
      </p:sp>
      <p:sp>
        <p:nvSpPr>
          <p:cNvPr id="31" name="Text 28"/>
          <p:cNvSpPr/>
          <p:nvPr/>
        </p:nvSpPr>
        <p:spPr>
          <a:xfrm>
            <a:off x="8138160" y="4114800"/>
            <a:ext cx="3108960" cy="32004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Grades 3-5, 6-8, 9-12</a:t>
            </a:r>
            <a:endParaRPr lang="en-US" sz="1100" dirty="0"/>
          </a:p>
        </p:txBody>
      </p:sp>
      <p:sp>
        <p:nvSpPr>
          <p:cNvPr id="32" name="Shape 29"/>
          <p:cNvSpPr/>
          <p:nvPr/>
        </p:nvSpPr>
        <p:spPr>
          <a:xfrm>
            <a:off x="457200" y="5029200"/>
            <a:ext cx="5303520" cy="1188720"/>
          </a:xfrm>
          <a:prstGeom prst="roundRect">
            <a:avLst>
              <a:gd name="adj" fmla="val 7692"/>
            </a:avLst>
          </a:prstGeom>
          <a:solidFill>
            <a:srgbClr val="FFFFFF"/>
          </a:solidFill>
          <a:ln w="12700">
            <a:solidFill>
              <a:srgbClr val="E0D8D0"/>
            </a:solidFill>
            <a:prstDash val="solid"/>
          </a:ln>
        </p:spPr>
      </p:sp>
      <p:sp>
        <p:nvSpPr>
          <p:cNvPr id="33" name="Text 30"/>
          <p:cNvSpPr/>
          <p:nvPr/>
        </p:nvSpPr>
        <p:spPr>
          <a:xfrm>
            <a:off x="731520" y="5120640"/>
            <a:ext cx="4754880" cy="365760"/>
          </a:xfrm>
          <a:prstGeom prst="rect">
            <a:avLst/>
          </a:prstGeom>
          <a:noFill/>
          <a:ln/>
        </p:spPr>
        <p:txBody>
          <a:bodyPr wrap="square" rtlCol="0" anchor="ctr"/>
          <a:lstStyle/>
          <a:p>
            <a:pPr indent="0" marL="0">
              <a:buNone/>
            </a:pPr>
            <a:r>
              <a:rPr lang="en-US" sz="1400" b="1" dirty="0">
                <a:solidFill>
                  <a:srgbClr val="6B1C2A"/>
                </a:solidFill>
                <a:latin typeface="Arial" pitchFamily="34" charset="0"/>
                <a:ea typeface="Arial" pitchFamily="34" charset="-122"/>
                <a:cs typeface="Arial" pitchFamily="34" charset="-120"/>
              </a:rPr>
              <a:t>Spark — AI for Students</a:t>
            </a:r>
            <a:endParaRPr lang="en-US" sz="1400" dirty="0"/>
          </a:p>
        </p:txBody>
      </p:sp>
      <p:sp>
        <p:nvSpPr>
          <p:cNvPr id="34" name="Text 31"/>
          <p:cNvSpPr/>
          <p:nvPr/>
        </p:nvSpPr>
        <p:spPr>
          <a:xfrm>
            <a:off x="731520" y="5486400"/>
            <a:ext cx="4754880" cy="45720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Grade-band adaptive, Socratic questioning, bilingual, safety guardrails</a:t>
            </a:r>
            <a:endParaRPr lang="en-US" sz="1100" dirty="0"/>
          </a:p>
        </p:txBody>
      </p:sp>
      <p:sp>
        <p:nvSpPr>
          <p:cNvPr id="35" name="Shape 32"/>
          <p:cNvSpPr/>
          <p:nvPr/>
        </p:nvSpPr>
        <p:spPr>
          <a:xfrm>
            <a:off x="6035040" y="5029200"/>
            <a:ext cx="5303520" cy="1188720"/>
          </a:xfrm>
          <a:prstGeom prst="roundRect">
            <a:avLst>
              <a:gd name="adj" fmla="val 7692"/>
            </a:avLst>
          </a:prstGeom>
          <a:solidFill>
            <a:srgbClr val="FFFFFF"/>
          </a:solidFill>
          <a:ln w="12700">
            <a:solidFill>
              <a:srgbClr val="E0D8D0"/>
            </a:solidFill>
            <a:prstDash val="solid"/>
          </a:ln>
        </p:spPr>
      </p:sp>
      <p:sp>
        <p:nvSpPr>
          <p:cNvPr id="36" name="Text 33"/>
          <p:cNvSpPr/>
          <p:nvPr/>
        </p:nvSpPr>
        <p:spPr>
          <a:xfrm>
            <a:off x="6309360" y="5120640"/>
            <a:ext cx="4754880" cy="365760"/>
          </a:xfrm>
          <a:prstGeom prst="rect">
            <a:avLst/>
          </a:prstGeom>
          <a:noFill/>
          <a:ln/>
        </p:spPr>
        <p:txBody>
          <a:bodyPr wrap="square" rtlCol="0" anchor="ctr"/>
          <a:lstStyle/>
          <a:p>
            <a:pPr indent="0" marL="0">
              <a:buNone/>
            </a:pPr>
            <a:r>
              <a:rPr lang="en-US" sz="1400" b="1" dirty="0">
                <a:solidFill>
                  <a:srgbClr val="6B1C2A"/>
                </a:solidFill>
                <a:latin typeface="Arial" pitchFamily="34" charset="0"/>
                <a:ea typeface="Arial" pitchFamily="34" charset="-122"/>
                <a:cs typeface="Arial" pitchFamily="34" charset="-120"/>
              </a:rPr>
              <a:t>Sparky — AI for Adults</a:t>
            </a:r>
            <a:endParaRPr lang="en-US" sz="1400" dirty="0"/>
          </a:p>
        </p:txBody>
      </p:sp>
      <p:sp>
        <p:nvSpPr>
          <p:cNvPr id="37" name="Text 34"/>
          <p:cNvSpPr/>
          <p:nvPr/>
        </p:nvSpPr>
        <p:spPr>
          <a:xfrm>
            <a:off x="6309360" y="5486400"/>
            <a:ext cx="4754880" cy="457200"/>
          </a:xfrm>
          <a:prstGeom prst="rect">
            <a:avLst/>
          </a:prstGeom>
          <a:noFill/>
          <a:ln/>
        </p:spPr>
        <p:txBody>
          <a:bodyPr wrap="square" rtlCol="0" anchor="ctr"/>
          <a:lstStyle/>
          <a:p>
            <a:pPr indent="0" marL="0">
              <a:buNone/>
            </a:pPr>
            <a:r>
              <a:rPr lang="en-US" sz="1100" dirty="0">
                <a:solidFill>
                  <a:srgbClr val="6B5050"/>
                </a:solidFill>
                <a:latin typeface="Arial" pitchFamily="34" charset="0"/>
                <a:ea typeface="Arial" pitchFamily="34" charset="-122"/>
                <a:cs typeface="Arial" pitchFamily="34" charset="-120"/>
              </a:rPr>
              <a:t>Parents &amp; teachers: compassionate, evidence-based, context-aware</a:t>
            </a:r>
            <a:endParaRPr lang="en-US" sz="1100" dirty="0"/>
          </a:p>
        </p:txBody>
      </p:sp>
      <p:sp>
        <p:nvSpPr>
          <p:cNvPr id="38" name="Text 35"/>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13/30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CAREER PATHWAYS &amp; WORKFORCE DEVELOPMENT</a:t>
            </a:r>
            <a:endParaRPr lang="en-US" sz="1100" dirty="0"/>
          </a:p>
        </p:txBody>
      </p:sp>
      <p:sp>
        <p:nvSpPr>
          <p:cNvPr id="4" name="Text 1"/>
          <p:cNvSpPr/>
          <p:nvPr/>
        </p:nvSpPr>
        <p:spPr>
          <a:xfrm>
            <a:off x="731520" y="7315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55 Pathways. 12 Industries. Direct Placement.</a:t>
            </a:r>
            <a:endParaRPr lang="en-US" sz="2600" dirty="0"/>
          </a:p>
        </p:txBody>
      </p:sp>
      <p:sp>
        <p:nvSpPr>
          <p:cNvPr id="5" name="Shape 2"/>
          <p:cNvSpPr/>
          <p:nvPr/>
        </p:nvSpPr>
        <p:spPr>
          <a:xfrm>
            <a:off x="457200" y="1645920"/>
            <a:ext cx="2651760" cy="868680"/>
          </a:xfrm>
          <a:prstGeom prst="roundRect">
            <a:avLst>
              <a:gd name="adj" fmla="val 8421"/>
            </a:avLst>
          </a:prstGeom>
          <a:solidFill>
            <a:srgbClr val="2A2025"/>
          </a:solidFill>
          <a:ln w="12700">
            <a:solidFill>
              <a:srgbClr val="3A3035"/>
            </a:solidFill>
            <a:prstDash val="solid"/>
          </a:ln>
        </p:spPr>
      </p:sp>
      <p:sp>
        <p:nvSpPr>
          <p:cNvPr id="6" name="Text 3"/>
          <p:cNvSpPr/>
          <p:nvPr/>
        </p:nvSpPr>
        <p:spPr>
          <a:xfrm>
            <a:off x="594360" y="169164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Technology</a:t>
            </a:r>
            <a:endParaRPr lang="en-US" sz="1200" dirty="0"/>
          </a:p>
        </p:txBody>
      </p:sp>
      <p:sp>
        <p:nvSpPr>
          <p:cNvPr id="7" name="Text 4"/>
          <p:cNvSpPr/>
          <p:nvPr/>
        </p:nvSpPr>
        <p:spPr>
          <a:xfrm>
            <a:off x="594360" y="210312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8 pathways</a:t>
            </a:r>
            <a:endParaRPr lang="en-US" sz="1000" dirty="0"/>
          </a:p>
        </p:txBody>
      </p:sp>
      <p:sp>
        <p:nvSpPr>
          <p:cNvPr id="8" name="Shape 5"/>
          <p:cNvSpPr/>
          <p:nvPr/>
        </p:nvSpPr>
        <p:spPr>
          <a:xfrm>
            <a:off x="3337560" y="1645920"/>
            <a:ext cx="2651760" cy="868680"/>
          </a:xfrm>
          <a:prstGeom prst="roundRect">
            <a:avLst>
              <a:gd name="adj" fmla="val 8421"/>
            </a:avLst>
          </a:prstGeom>
          <a:solidFill>
            <a:srgbClr val="2A2025"/>
          </a:solidFill>
          <a:ln w="12700">
            <a:solidFill>
              <a:srgbClr val="3A3035"/>
            </a:solidFill>
            <a:prstDash val="solid"/>
          </a:ln>
        </p:spPr>
      </p:sp>
      <p:sp>
        <p:nvSpPr>
          <p:cNvPr id="9" name="Text 6"/>
          <p:cNvSpPr/>
          <p:nvPr/>
        </p:nvSpPr>
        <p:spPr>
          <a:xfrm>
            <a:off x="3474720" y="169164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Healthcare</a:t>
            </a:r>
            <a:endParaRPr lang="en-US" sz="1200" dirty="0"/>
          </a:p>
        </p:txBody>
      </p:sp>
      <p:sp>
        <p:nvSpPr>
          <p:cNvPr id="10" name="Text 7"/>
          <p:cNvSpPr/>
          <p:nvPr/>
        </p:nvSpPr>
        <p:spPr>
          <a:xfrm>
            <a:off x="3474720" y="210312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6 pathways</a:t>
            </a:r>
            <a:endParaRPr lang="en-US" sz="1000" dirty="0"/>
          </a:p>
        </p:txBody>
      </p:sp>
      <p:sp>
        <p:nvSpPr>
          <p:cNvPr id="11" name="Shape 8"/>
          <p:cNvSpPr/>
          <p:nvPr/>
        </p:nvSpPr>
        <p:spPr>
          <a:xfrm>
            <a:off x="6217920" y="1645920"/>
            <a:ext cx="2651760" cy="868680"/>
          </a:xfrm>
          <a:prstGeom prst="roundRect">
            <a:avLst>
              <a:gd name="adj" fmla="val 8421"/>
            </a:avLst>
          </a:prstGeom>
          <a:solidFill>
            <a:srgbClr val="2A2025"/>
          </a:solidFill>
          <a:ln w="12700">
            <a:solidFill>
              <a:srgbClr val="3A3035"/>
            </a:solidFill>
            <a:prstDash val="solid"/>
          </a:ln>
        </p:spPr>
      </p:sp>
      <p:sp>
        <p:nvSpPr>
          <p:cNvPr id="12" name="Text 9"/>
          <p:cNvSpPr/>
          <p:nvPr/>
        </p:nvSpPr>
        <p:spPr>
          <a:xfrm>
            <a:off x="6355080" y="169164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Business &amp; Finance</a:t>
            </a:r>
            <a:endParaRPr lang="en-US" sz="1200" dirty="0"/>
          </a:p>
        </p:txBody>
      </p:sp>
      <p:sp>
        <p:nvSpPr>
          <p:cNvPr id="13" name="Text 10"/>
          <p:cNvSpPr/>
          <p:nvPr/>
        </p:nvSpPr>
        <p:spPr>
          <a:xfrm>
            <a:off x="6355080" y="210312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5 pathways</a:t>
            </a:r>
            <a:endParaRPr lang="en-US" sz="1000" dirty="0"/>
          </a:p>
        </p:txBody>
      </p:sp>
      <p:sp>
        <p:nvSpPr>
          <p:cNvPr id="14" name="Shape 11"/>
          <p:cNvSpPr/>
          <p:nvPr/>
        </p:nvSpPr>
        <p:spPr>
          <a:xfrm>
            <a:off x="9098280" y="1645920"/>
            <a:ext cx="2651760" cy="868680"/>
          </a:xfrm>
          <a:prstGeom prst="roundRect">
            <a:avLst>
              <a:gd name="adj" fmla="val 8421"/>
            </a:avLst>
          </a:prstGeom>
          <a:solidFill>
            <a:srgbClr val="2A2025"/>
          </a:solidFill>
          <a:ln w="12700">
            <a:solidFill>
              <a:srgbClr val="3A3035"/>
            </a:solidFill>
            <a:prstDash val="solid"/>
          </a:ln>
        </p:spPr>
      </p:sp>
      <p:sp>
        <p:nvSpPr>
          <p:cNvPr id="15" name="Text 12"/>
          <p:cNvSpPr/>
          <p:nvPr/>
        </p:nvSpPr>
        <p:spPr>
          <a:xfrm>
            <a:off x="9235440" y="169164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Engineering</a:t>
            </a:r>
            <a:endParaRPr lang="en-US" sz="1200" dirty="0"/>
          </a:p>
        </p:txBody>
      </p:sp>
      <p:sp>
        <p:nvSpPr>
          <p:cNvPr id="16" name="Text 13"/>
          <p:cNvSpPr/>
          <p:nvPr/>
        </p:nvSpPr>
        <p:spPr>
          <a:xfrm>
            <a:off x="9235440" y="210312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5 pathways</a:t>
            </a:r>
            <a:endParaRPr lang="en-US" sz="1000" dirty="0"/>
          </a:p>
        </p:txBody>
      </p:sp>
      <p:sp>
        <p:nvSpPr>
          <p:cNvPr id="17" name="Shape 14"/>
          <p:cNvSpPr/>
          <p:nvPr/>
        </p:nvSpPr>
        <p:spPr>
          <a:xfrm>
            <a:off x="457200" y="2743200"/>
            <a:ext cx="2651760" cy="868680"/>
          </a:xfrm>
          <a:prstGeom prst="roundRect">
            <a:avLst>
              <a:gd name="adj" fmla="val 8421"/>
            </a:avLst>
          </a:prstGeom>
          <a:solidFill>
            <a:srgbClr val="2A2025"/>
          </a:solidFill>
          <a:ln w="12700">
            <a:solidFill>
              <a:srgbClr val="3A3035"/>
            </a:solidFill>
            <a:prstDash val="solid"/>
          </a:ln>
        </p:spPr>
      </p:sp>
      <p:sp>
        <p:nvSpPr>
          <p:cNvPr id="18" name="Text 15"/>
          <p:cNvSpPr/>
          <p:nvPr/>
        </p:nvSpPr>
        <p:spPr>
          <a:xfrm>
            <a:off x="594360" y="278892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Skilled Trades</a:t>
            </a:r>
            <a:endParaRPr lang="en-US" sz="1200" dirty="0"/>
          </a:p>
        </p:txBody>
      </p:sp>
      <p:sp>
        <p:nvSpPr>
          <p:cNvPr id="19" name="Text 16"/>
          <p:cNvSpPr/>
          <p:nvPr/>
        </p:nvSpPr>
        <p:spPr>
          <a:xfrm>
            <a:off x="594360" y="320040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8 pathways</a:t>
            </a:r>
            <a:endParaRPr lang="en-US" sz="1000" dirty="0"/>
          </a:p>
        </p:txBody>
      </p:sp>
      <p:sp>
        <p:nvSpPr>
          <p:cNvPr id="20" name="Shape 17"/>
          <p:cNvSpPr/>
          <p:nvPr/>
        </p:nvSpPr>
        <p:spPr>
          <a:xfrm>
            <a:off x="3337560" y="2743200"/>
            <a:ext cx="2651760" cy="868680"/>
          </a:xfrm>
          <a:prstGeom prst="roundRect">
            <a:avLst>
              <a:gd name="adj" fmla="val 8421"/>
            </a:avLst>
          </a:prstGeom>
          <a:solidFill>
            <a:srgbClr val="2A2025"/>
          </a:solidFill>
          <a:ln w="12700">
            <a:solidFill>
              <a:srgbClr val="3A3035"/>
            </a:solidFill>
            <a:prstDash val="solid"/>
          </a:ln>
        </p:spPr>
      </p:sp>
      <p:sp>
        <p:nvSpPr>
          <p:cNvPr id="21" name="Text 18"/>
          <p:cNvSpPr/>
          <p:nvPr/>
        </p:nvSpPr>
        <p:spPr>
          <a:xfrm>
            <a:off x="3474720" y="278892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Military/Public Svc</a:t>
            </a:r>
            <a:endParaRPr lang="en-US" sz="1200" dirty="0"/>
          </a:p>
        </p:txBody>
      </p:sp>
      <p:sp>
        <p:nvSpPr>
          <p:cNvPr id="22" name="Text 19"/>
          <p:cNvSpPr/>
          <p:nvPr/>
        </p:nvSpPr>
        <p:spPr>
          <a:xfrm>
            <a:off x="3474720" y="320040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5 pathways</a:t>
            </a:r>
            <a:endParaRPr lang="en-US" sz="1000" dirty="0"/>
          </a:p>
        </p:txBody>
      </p:sp>
      <p:sp>
        <p:nvSpPr>
          <p:cNvPr id="23" name="Shape 20"/>
          <p:cNvSpPr/>
          <p:nvPr/>
        </p:nvSpPr>
        <p:spPr>
          <a:xfrm>
            <a:off x="6217920" y="2743200"/>
            <a:ext cx="2651760" cy="868680"/>
          </a:xfrm>
          <a:prstGeom prst="roundRect">
            <a:avLst>
              <a:gd name="adj" fmla="val 8421"/>
            </a:avLst>
          </a:prstGeom>
          <a:solidFill>
            <a:srgbClr val="2A2025"/>
          </a:solidFill>
          <a:ln w="12700">
            <a:solidFill>
              <a:srgbClr val="3A3035"/>
            </a:solidFill>
            <a:prstDash val="solid"/>
          </a:ln>
        </p:spPr>
      </p:sp>
      <p:sp>
        <p:nvSpPr>
          <p:cNvPr id="24" name="Text 21"/>
          <p:cNvSpPr/>
          <p:nvPr/>
        </p:nvSpPr>
        <p:spPr>
          <a:xfrm>
            <a:off x="6355080" y="278892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Arts &amp; Creative</a:t>
            </a:r>
            <a:endParaRPr lang="en-US" sz="1200" dirty="0"/>
          </a:p>
        </p:txBody>
      </p:sp>
      <p:sp>
        <p:nvSpPr>
          <p:cNvPr id="25" name="Text 22"/>
          <p:cNvSpPr/>
          <p:nvPr/>
        </p:nvSpPr>
        <p:spPr>
          <a:xfrm>
            <a:off x="6355080" y="320040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4 pathways</a:t>
            </a:r>
            <a:endParaRPr lang="en-US" sz="1000" dirty="0"/>
          </a:p>
        </p:txBody>
      </p:sp>
      <p:sp>
        <p:nvSpPr>
          <p:cNvPr id="26" name="Shape 23"/>
          <p:cNvSpPr/>
          <p:nvPr/>
        </p:nvSpPr>
        <p:spPr>
          <a:xfrm>
            <a:off x="9098280" y="2743200"/>
            <a:ext cx="2651760" cy="868680"/>
          </a:xfrm>
          <a:prstGeom prst="roundRect">
            <a:avLst>
              <a:gd name="adj" fmla="val 8421"/>
            </a:avLst>
          </a:prstGeom>
          <a:solidFill>
            <a:srgbClr val="2A2025"/>
          </a:solidFill>
          <a:ln w="12700">
            <a:solidFill>
              <a:srgbClr val="3A3035"/>
            </a:solidFill>
            <a:prstDash val="solid"/>
          </a:ln>
        </p:spPr>
      </p:sp>
      <p:sp>
        <p:nvSpPr>
          <p:cNvPr id="27" name="Text 24"/>
          <p:cNvSpPr/>
          <p:nvPr/>
        </p:nvSpPr>
        <p:spPr>
          <a:xfrm>
            <a:off x="9235440" y="278892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Education</a:t>
            </a:r>
            <a:endParaRPr lang="en-US" sz="1200" dirty="0"/>
          </a:p>
        </p:txBody>
      </p:sp>
      <p:sp>
        <p:nvSpPr>
          <p:cNvPr id="28" name="Text 25"/>
          <p:cNvSpPr/>
          <p:nvPr/>
        </p:nvSpPr>
        <p:spPr>
          <a:xfrm>
            <a:off x="9235440" y="320040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3 pathways</a:t>
            </a:r>
            <a:endParaRPr lang="en-US" sz="1000" dirty="0"/>
          </a:p>
        </p:txBody>
      </p:sp>
      <p:sp>
        <p:nvSpPr>
          <p:cNvPr id="29" name="Shape 26"/>
          <p:cNvSpPr/>
          <p:nvPr/>
        </p:nvSpPr>
        <p:spPr>
          <a:xfrm>
            <a:off x="457200" y="3840480"/>
            <a:ext cx="2651760" cy="868680"/>
          </a:xfrm>
          <a:prstGeom prst="roundRect">
            <a:avLst>
              <a:gd name="adj" fmla="val 8421"/>
            </a:avLst>
          </a:prstGeom>
          <a:solidFill>
            <a:srgbClr val="2A2025"/>
          </a:solidFill>
          <a:ln w="12700">
            <a:solidFill>
              <a:srgbClr val="3A3035"/>
            </a:solidFill>
            <a:prstDash val="solid"/>
          </a:ln>
        </p:spPr>
      </p:sp>
      <p:sp>
        <p:nvSpPr>
          <p:cNvPr id="30" name="Text 27"/>
          <p:cNvSpPr/>
          <p:nvPr/>
        </p:nvSpPr>
        <p:spPr>
          <a:xfrm>
            <a:off x="594360" y="388620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Law &amp; Justice</a:t>
            </a:r>
            <a:endParaRPr lang="en-US" sz="1200" dirty="0"/>
          </a:p>
        </p:txBody>
      </p:sp>
      <p:sp>
        <p:nvSpPr>
          <p:cNvPr id="31" name="Text 28"/>
          <p:cNvSpPr/>
          <p:nvPr/>
        </p:nvSpPr>
        <p:spPr>
          <a:xfrm>
            <a:off x="594360" y="429768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3 pathways</a:t>
            </a:r>
            <a:endParaRPr lang="en-US" sz="1000" dirty="0"/>
          </a:p>
        </p:txBody>
      </p:sp>
      <p:sp>
        <p:nvSpPr>
          <p:cNvPr id="32" name="Shape 29"/>
          <p:cNvSpPr/>
          <p:nvPr/>
        </p:nvSpPr>
        <p:spPr>
          <a:xfrm>
            <a:off x="3337560" y="3840480"/>
            <a:ext cx="2651760" cy="868680"/>
          </a:xfrm>
          <a:prstGeom prst="roundRect">
            <a:avLst>
              <a:gd name="adj" fmla="val 8421"/>
            </a:avLst>
          </a:prstGeom>
          <a:solidFill>
            <a:srgbClr val="2A2025"/>
          </a:solidFill>
          <a:ln w="12700">
            <a:solidFill>
              <a:srgbClr val="3A3035"/>
            </a:solidFill>
            <a:prstDash val="solid"/>
          </a:ln>
        </p:spPr>
      </p:sp>
      <p:sp>
        <p:nvSpPr>
          <p:cNvPr id="33" name="Text 30"/>
          <p:cNvSpPr/>
          <p:nvPr/>
        </p:nvSpPr>
        <p:spPr>
          <a:xfrm>
            <a:off x="3474720" y="388620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Science &amp; Research</a:t>
            </a:r>
            <a:endParaRPr lang="en-US" sz="1200" dirty="0"/>
          </a:p>
        </p:txBody>
      </p:sp>
      <p:sp>
        <p:nvSpPr>
          <p:cNvPr id="34" name="Text 31"/>
          <p:cNvSpPr/>
          <p:nvPr/>
        </p:nvSpPr>
        <p:spPr>
          <a:xfrm>
            <a:off x="3474720" y="429768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3 pathways</a:t>
            </a:r>
            <a:endParaRPr lang="en-US" sz="1000" dirty="0"/>
          </a:p>
        </p:txBody>
      </p:sp>
      <p:sp>
        <p:nvSpPr>
          <p:cNvPr id="35" name="Shape 32"/>
          <p:cNvSpPr/>
          <p:nvPr/>
        </p:nvSpPr>
        <p:spPr>
          <a:xfrm>
            <a:off x="6217920" y="3840480"/>
            <a:ext cx="2651760" cy="868680"/>
          </a:xfrm>
          <a:prstGeom prst="roundRect">
            <a:avLst>
              <a:gd name="adj" fmla="val 8421"/>
            </a:avLst>
          </a:prstGeom>
          <a:solidFill>
            <a:srgbClr val="2A2025"/>
          </a:solidFill>
          <a:ln w="12700">
            <a:solidFill>
              <a:srgbClr val="3A3035"/>
            </a:solidFill>
            <a:prstDash val="solid"/>
          </a:ln>
        </p:spPr>
      </p:sp>
      <p:sp>
        <p:nvSpPr>
          <p:cNvPr id="36" name="Text 33"/>
          <p:cNvSpPr/>
          <p:nvPr/>
        </p:nvSpPr>
        <p:spPr>
          <a:xfrm>
            <a:off x="6355080" y="388620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Media &amp; Comms</a:t>
            </a:r>
            <a:endParaRPr lang="en-US" sz="1200" dirty="0"/>
          </a:p>
        </p:txBody>
      </p:sp>
      <p:sp>
        <p:nvSpPr>
          <p:cNvPr id="37" name="Text 34"/>
          <p:cNvSpPr/>
          <p:nvPr/>
        </p:nvSpPr>
        <p:spPr>
          <a:xfrm>
            <a:off x="6355080" y="429768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3 pathways</a:t>
            </a:r>
            <a:endParaRPr lang="en-US" sz="1000" dirty="0"/>
          </a:p>
        </p:txBody>
      </p:sp>
      <p:sp>
        <p:nvSpPr>
          <p:cNvPr id="38" name="Shape 35"/>
          <p:cNvSpPr/>
          <p:nvPr/>
        </p:nvSpPr>
        <p:spPr>
          <a:xfrm>
            <a:off x="9098280" y="3840480"/>
            <a:ext cx="2651760" cy="868680"/>
          </a:xfrm>
          <a:prstGeom prst="roundRect">
            <a:avLst>
              <a:gd name="adj" fmla="val 8421"/>
            </a:avLst>
          </a:prstGeom>
          <a:solidFill>
            <a:srgbClr val="2A2025"/>
          </a:solidFill>
          <a:ln w="12700">
            <a:solidFill>
              <a:srgbClr val="3A3035"/>
            </a:solidFill>
            <a:prstDash val="solid"/>
          </a:ln>
        </p:spPr>
      </p:sp>
      <p:sp>
        <p:nvSpPr>
          <p:cNvPr id="39" name="Text 36"/>
          <p:cNvSpPr/>
          <p:nvPr/>
        </p:nvSpPr>
        <p:spPr>
          <a:xfrm>
            <a:off x="9235440" y="3886200"/>
            <a:ext cx="18288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Agriculture</a:t>
            </a:r>
            <a:endParaRPr lang="en-US" sz="1200" dirty="0"/>
          </a:p>
        </p:txBody>
      </p:sp>
      <p:sp>
        <p:nvSpPr>
          <p:cNvPr id="40" name="Text 37"/>
          <p:cNvSpPr/>
          <p:nvPr/>
        </p:nvSpPr>
        <p:spPr>
          <a:xfrm>
            <a:off x="9235440" y="4297680"/>
            <a:ext cx="1828800" cy="320040"/>
          </a:xfrm>
          <a:prstGeom prst="rect">
            <a:avLst/>
          </a:prstGeom>
          <a:noFill/>
          <a:ln/>
        </p:spPr>
        <p:txBody>
          <a:bodyPr wrap="square" rtlCol="0" anchor="ctr"/>
          <a:lstStyle/>
          <a:p>
            <a:pPr indent="0" marL="0">
              <a:buNone/>
            </a:pPr>
            <a:r>
              <a:rPr lang="en-US" sz="1000" dirty="0">
                <a:solidFill>
                  <a:srgbClr val="AAAAAA"/>
                </a:solidFill>
                <a:latin typeface="Arial" pitchFamily="34" charset="0"/>
                <a:ea typeface="Arial" pitchFamily="34" charset="-122"/>
                <a:cs typeface="Arial" pitchFamily="34" charset="-120"/>
              </a:rPr>
              <a:t>2 pathways</a:t>
            </a:r>
            <a:endParaRPr lang="en-US" sz="1000" dirty="0"/>
          </a:p>
        </p:txBody>
      </p:sp>
      <p:sp>
        <p:nvSpPr>
          <p:cNvPr id="41" name="Shape 38"/>
          <p:cNvSpPr/>
          <p:nvPr/>
        </p:nvSpPr>
        <p:spPr>
          <a:xfrm>
            <a:off x="457200" y="5029200"/>
            <a:ext cx="5303520" cy="1371600"/>
          </a:xfrm>
          <a:prstGeom prst="roundRect">
            <a:avLst>
              <a:gd name="adj" fmla="val 6667"/>
            </a:avLst>
          </a:prstGeom>
          <a:solidFill>
            <a:srgbClr val="2A2025"/>
          </a:solidFill>
          <a:ln w="12700">
            <a:solidFill>
              <a:srgbClr val="7C3AED"/>
            </a:solidFill>
            <a:prstDash val="solid"/>
          </a:ln>
        </p:spPr>
      </p:sp>
      <p:sp>
        <p:nvSpPr>
          <p:cNvPr id="42" name="Text 39"/>
          <p:cNvSpPr/>
          <p:nvPr/>
        </p:nvSpPr>
        <p:spPr>
          <a:xfrm>
            <a:off x="731520" y="5120640"/>
            <a:ext cx="475488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AI Workforce Academy</a:t>
            </a:r>
            <a:endParaRPr lang="en-US" sz="1500" dirty="0"/>
          </a:p>
        </p:txBody>
      </p:sp>
      <p:sp>
        <p:nvSpPr>
          <p:cNvPr id="43" name="Text 40"/>
          <p:cNvSpPr/>
          <p:nvPr/>
        </p:nvSpPr>
        <p:spPr>
          <a:xfrm>
            <a:off x="731520" y="5577840"/>
            <a:ext cx="4754880" cy="45720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Adult professional AI training across 7 tracks, WIOA-aligned</a:t>
            </a:r>
            <a:endParaRPr lang="en-US" sz="1100" dirty="0"/>
          </a:p>
        </p:txBody>
      </p:sp>
      <p:sp>
        <p:nvSpPr>
          <p:cNvPr id="44" name="Shape 41"/>
          <p:cNvSpPr/>
          <p:nvPr/>
        </p:nvSpPr>
        <p:spPr>
          <a:xfrm>
            <a:off x="6035040" y="5029200"/>
            <a:ext cx="5303520" cy="1371600"/>
          </a:xfrm>
          <a:prstGeom prst="roundRect">
            <a:avLst>
              <a:gd name="adj" fmla="val 6667"/>
            </a:avLst>
          </a:prstGeom>
          <a:solidFill>
            <a:srgbClr val="2A2025"/>
          </a:solidFill>
          <a:ln w="12700">
            <a:solidFill>
              <a:srgbClr val="D97706"/>
            </a:solidFill>
            <a:prstDash val="solid"/>
          </a:ln>
        </p:spPr>
      </p:sp>
      <p:sp>
        <p:nvSpPr>
          <p:cNvPr id="45" name="Text 42"/>
          <p:cNvSpPr/>
          <p:nvPr/>
        </p:nvSpPr>
        <p:spPr>
          <a:xfrm>
            <a:off x="6309360" y="5120640"/>
            <a:ext cx="475488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TEKS §127.15 CTE Alignment</a:t>
            </a:r>
            <a:endParaRPr lang="en-US" sz="1500" dirty="0"/>
          </a:p>
        </p:txBody>
      </p:sp>
      <p:sp>
        <p:nvSpPr>
          <p:cNvPr id="46" name="Text 43"/>
          <p:cNvSpPr/>
          <p:nvPr/>
        </p:nvSpPr>
        <p:spPr>
          <a:xfrm>
            <a:off x="6309360" y="5577840"/>
            <a:ext cx="4754880" cy="45720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Full employability skills alignment, Workforce Readiness Certificate</a:t>
            </a:r>
            <a:endParaRPr lang="en-US" sz="1100" dirty="0"/>
          </a:p>
        </p:txBody>
      </p:sp>
      <p:sp>
        <p:nvSpPr>
          <p:cNvPr id="47" name="Text 44"/>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14/30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6B1C2A"/>
        </a:solidFill>
      </p:bgPr>
    </p:bg>
    <p:spTree>
      <p:nvGrpSpPr>
        <p:cNvPr id="1" name=""/>
        <p:cNvGrpSpPr/>
        <p:nvPr/>
      </p:nvGrpSpPr>
      <p:grpSpPr>
        <a:xfrm>
          <a:off x="0" y="0"/>
          <a:ext cx="0" cy="0"/>
          <a:chOff x="0" y="0"/>
          <a:chExt cx="0" cy="0"/>
        </a:xfrm>
      </p:grpSpPr>
      <p:sp>
        <p:nvSpPr>
          <p:cNvPr id="3" name="Text 0"/>
          <p:cNvSpPr/>
          <p:nvPr/>
        </p:nvSpPr>
        <p:spPr>
          <a:xfrm>
            <a:off x="731520" y="731520"/>
            <a:ext cx="4572000"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AI CREATION STUDIO</a:t>
            </a:r>
            <a:endParaRPr lang="en-US" sz="3000" dirty="0"/>
          </a:p>
        </p:txBody>
      </p:sp>
      <p:sp>
        <p:nvSpPr>
          <p:cNvPr id="4" name="Text 1"/>
          <p:cNvSpPr/>
          <p:nvPr/>
        </p:nvSpPr>
        <p:spPr>
          <a:xfrm>
            <a:off x="731520" y="1645920"/>
            <a:ext cx="4572000" cy="640080"/>
          </a:xfrm>
          <a:prstGeom prst="rect">
            <a:avLst/>
          </a:prstGeom>
          <a:noFill/>
          <a:ln/>
        </p:spPr>
        <p:txBody>
          <a:bodyPr wrap="square" rtlCol="0" anchor="ctr"/>
          <a:lstStyle/>
          <a:p>
            <a:pPr indent="0" marL="0">
              <a:buNone/>
            </a:pPr>
            <a:r>
              <a:rPr lang="en-US" sz="1500" dirty="0">
                <a:solidFill>
                  <a:srgbClr val="DDDDDD"/>
                </a:solidFill>
                <a:latin typeface="Arial" pitchFamily="34" charset="0"/>
                <a:ea typeface="Arial" pitchFamily="34" charset="-122"/>
                <a:cs typeface="Arial" pitchFamily="34" charset="-120"/>
              </a:rPr>
              <a:t>10 professional tools earned through mastery — not purchased</a:t>
            </a:r>
            <a:endParaRPr lang="en-US" sz="1500" dirty="0"/>
          </a:p>
        </p:txBody>
      </p:sp>
      <p:sp>
        <p:nvSpPr>
          <p:cNvPr id="5" name="Shape 2"/>
          <p:cNvSpPr/>
          <p:nvPr/>
        </p:nvSpPr>
        <p:spPr>
          <a:xfrm>
            <a:off x="5943600" y="457200"/>
            <a:ext cx="2651760" cy="822960"/>
          </a:xfrm>
          <a:prstGeom prst="roundRect">
            <a:avLst>
              <a:gd name="adj" fmla="val 11111"/>
            </a:avLst>
          </a:prstGeom>
          <a:solidFill>
            <a:srgbClr val="3A3035"/>
          </a:solidFill>
          <a:ln/>
        </p:spPr>
      </p:sp>
      <p:sp>
        <p:nvSpPr>
          <p:cNvPr id="6" name="Text 3"/>
          <p:cNvSpPr/>
          <p:nvPr/>
        </p:nvSpPr>
        <p:spPr>
          <a:xfrm>
            <a:off x="6126480" y="45720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Presentation Builder</a:t>
            </a:r>
            <a:endParaRPr lang="en-US" sz="1200" dirty="0"/>
          </a:p>
        </p:txBody>
      </p:sp>
      <p:sp>
        <p:nvSpPr>
          <p:cNvPr id="7" name="Shape 4"/>
          <p:cNvSpPr/>
          <p:nvPr/>
        </p:nvSpPr>
        <p:spPr>
          <a:xfrm>
            <a:off x="8869680" y="457200"/>
            <a:ext cx="2651760" cy="822960"/>
          </a:xfrm>
          <a:prstGeom prst="roundRect">
            <a:avLst>
              <a:gd name="adj" fmla="val 11111"/>
            </a:avLst>
          </a:prstGeom>
          <a:solidFill>
            <a:srgbClr val="3A3035"/>
          </a:solidFill>
          <a:ln/>
        </p:spPr>
      </p:sp>
      <p:sp>
        <p:nvSpPr>
          <p:cNvPr id="8" name="Text 5"/>
          <p:cNvSpPr/>
          <p:nvPr/>
        </p:nvSpPr>
        <p:spPr>
          <a:xfrm>
            <a:off x="9052560" y="45720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Video Script Creator</a:t>
            </a:r>
            <a:endParaRPr lang="en-US" sz="1200" dirty="0"/>
          </a:p>
        </p:txBody>
      </p:sp>
      <p:sp>
        <p:nvSpPr>
          <p:cNvPr id="9" name="Shape 6"/>
          <p:cNvSpPr/>
          <p:nvPr/>
        </p:nvSpPr>
        <p:spPr>
          <a:xfrm>
            <a:off x="5943600" y="1554480"/>
            <a:ext cx="2651760" cy="822960"/>
          </a:xfrm>
          <a:prstGeom prst="roundRect">
            <a:avLst>
              <a:gd name="adj" fmla="val 11111"/>
            </a:avLst>
          </a:prstGeom>
          <a:solidFill>
            <a:srgbClr val="3A3035"/>
          </a:solidFill>
          <a:ln/>
        </p:spPr>
      </p:sp>
      <p:sp>
        <p:nvSpPr>
          <p:cNvPr id="10" name="Text 7"/>
          <p:cNvSpPr/>
          <p:nvPr/>
        </p:nvSpPr>
        <p:spPr>
          <a:xfrm>
            <a:off x="6126480" y="155448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Sales Pitch Builder</a:t>
            </a:r>
            <a:endParaRPr lang="en-US" sz="1200" dirty="0"/>
          </a:p>
        </p:txBody>
      </p:sp>
      <p:sp>
        <p:nvSpPr>
          <p:cNvPr id="11" name="Shape 8"/>
          <p:cNvSpPr/>
          <p:nvPr/>
        </p:nvSpPr>
        <p:spPr>
          <a:xfrm>
            <a:off x="8869680" y="1554480"/>
            <a:ext cx="2651760" cy="822960"/>
          </a:xfrm>
          <a:prstGeom prst="roundRect">
            <a:avLst>
              <a:gd name="adj" fmla="val 11111"/>
            </a:avLst>
          </a:prstGeom>
          <a:solidFill>
            <a:srgbClr val="3A3035"/>
          </a:solidFill>
          <a:ln/>
        </p:spPr>
      </p:sp>
      <p:sp>
        <p:nvSpPr>
          <p:cNvPr id="12" name="Text 9"/>
          <p:cNvSpPr/>
          <p:nvPr/>
        </p:nvSpPr>
        <p:spPr>
          <a:xfrm>
            <a:off x="9052560" y="155448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Business Plan Generator</a:t>
            </a:r>
            <a:endParaRPr lang="en-US" sz="1200" dirty="0"/>
          </a:p>
        </p:txBody>
      </p:sp>
      <p:sp>
        <p:nvSpPr>
          <p:cNvPr id="13" name="Shape 10"/>
          <p:cNvSpPr/>
          <p:nvPr/>
        </p:nvSpPr>
        <p:spPr>
          <a:xfrm>
            <a:off x="5943600" y="2651760"/>
            <a:ext cx="2651760" cy="822960"/>
          </a:xfrm>
          <a:prstGeom prst="roundRect">
            <a:avLst>
              <a:gd name="adj" fmla="val 11111"/>
            </a:avLst>
          </a:prstGeom>
          <a:solidFill>
            <a:srgbClr val="3A3035"/>
          </a:solidFill>
          <a:ln/>
        </p:spPr>
      </p:sp>
      <p:sp>
        <p:nvSpPr>
          <p:cNvPr id="14" name="Text 11"/>
          <p:cNvSpPr/>
          <p:nvPr/>
        </p:nvSpPr>
        <p:spPr>
          <a:xfrm>
            <a:off x="6126480" y="265176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Research Assistant</a:t>
            </a:r>
            <a:endParaRPr lang="en-US" sz="1200" dirty="0"/>
          </a:p>
        </p:txBody>
      </p:sp>
      <p:sp>
        <p:nvSpPr>
          <p:cNvPr id="15" name="Shape 12"/>
          <p:cNvSpPr/>
          <p:nvPr/>
        </p:nvSpPr>
        <p:spPr>
          <a:xfrm>
            <a:off x="8869680" y="2651760"/>
            <a:ext cx="2651760" cy="822960"/>
          </a:xfrm>
          <a:prstGeom prst="roundRect">
            <a:avLst>
              <a:gd name="adj" fmla="val 11111"/>
            </a:avLst>
          </a:prstGeom>
          <a:solidFill>
            <a:srgbClr val="3A3035"/>
          </a:solidFill>
          <a:ln/>
        </p:spPr>
      </p:sp>
      <p:sp>
        <p:nvSpPr>
          <p:cNvPr id="16" name="Text 13"/>
          <p:cNvSpPr/>
          <p:nvPr/>
        </p:nvSpPr>
        <p:spPr>
          <a:xfrm>
            <a:off x="9052560" y="265176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Life Planner</a:t>
            </a:r>
            <a:endParaRPr lang="en-US" sz="1200" dirty="0"/>
          </a:p>
        </p:txBody>
      </p:sp>
      <p:sp>
        <p:nvSpPr>
          <p:cNvPr id="17" name="Shape 14"/>
          <p:cNvSpPr/>
          <p:nvPr/>
        </p:nvSpPr>
        <p:spPr>
          <a:xfrm>
            <a:off x="5943600" y="3749040"/>
            <a:ext cx="2651760" cy="822960"/>
          </a:xfrm>
          <a:prstGeom prst="roundRect">
            <a:avLst>
              <a:gd name="adj" fmla="val 11111"/>
            </a:avLst>
          </a:prstGeom>
          <a:solidFill>
            <a:srgbClr val="3A3035"/>
          </a:solidFill>
          <a:ln/>
        </p:spPr>
      </p:sp>
      <p:sp>
        <p:nvSpPr>
          <p:cNvPr id="18" name="Text 15"/>
          <p:cNvSpPr/>
          <p:nvPr/>
        </p:nvSpPr>
        <p:spPr>
          <a:xfrm>
            <a:off x="6126480" y="374904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Project Planner</a:t>
            </a:r>
            <a:endParaRPr lang="en-US" sz="1200" dirty="0"/>
          </a:p>
        </p:txBody>
      </p:sp>
      <p:sp>
        <p:nvSpPr>
          <p:cNvPr id="19" name="Shape 16"/>
          <p:cNvSpPr/>
          <p:nvPr/>
        </p:nvSpPr>
        <p:spPr>
          <a:xfrm>
            <a:off x="8869680" y="3749040"/>
            <a:ext cx="2651760" cy="822960"/>
          </a:xfrm>
          <a:prstGeom prst="roundRect">
            <a:avLst>
              <a:gd name="adj" fmla="val 11111"/>
            </a:avLst>
          </a:prstGeom>
          <a:solidFill>
            <a:srgbClr val="3A3035"/>
          </a:solidFill>
          <a:ln/>
        </p:spPr>
      </p:sp>
      <p:sp>
        <p:nvSpPr>
          <p:cNvPr id="20" name="Text 17"/>
          <p:cNvSpPr/>
          <p:nvPr/>
        </p:nvSpPr>
        <p:spPr>
          <a:xfrm>
            <a:off x="9052560" y="374904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Document Writer</a:t>
            </a:r>
            <a:endParaRPr lang="en-US" sz="1200" dirty="0"/>
          </a:p>
        </p:txBody>
      </p:sp>
      <p:sp>
        <p:nvSpPr>
          <p:cNvPr id="21" name="Shape 18"/>
          <p:cNvSpPr/>
          <p:nvPr/>
        </p:nvSpPr>
        <p:spPr>
          <a:xfrm>
            <a:off x="5943600" y="4846320"/>
            <a:ext cx="2651760" cy="822960"/>
          </a:xfrm>
          <a:prstGeom prst="roundRect">
            <a:avLst>
              <a:gd name="adj" fmla="val 11111"/>
            </a:avLst>
          </a:prstGeom>
          <a:solidFill>
            <a:srgbClr val="3A3035"/>
          </a:solidFill>
          <a:ln/>
        </p:spPr>
      </p:sp>
      <p:sp>
        <p:nvSpPr>
          <p:cNvPr id="22" name="Text 19"/>
          <p:cNvSpPr/>
          <p:nvPr/>
        </p:nvSpPr>
        <p:spPr>
          <a:xfrm>
            <a:off x="6126480" y="484632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Resume Builder</a:t>
            </a:r>
            <a:endParaRPr lang="en-US" sz="1200" dirty="0"/>
          </a:p>
        </p:txBody>
      </p:sp>
      <p:sp>
        <p:nvSpPr>
          <p:cNvPr id="23" name="Shape 20"/>
          <p:cNvSpPr/>
          <p:nvPr/>
        </p:nvSpPr>
        <p:spPr>
          <a:xfrm>
            <a:off x="8869680" y="4846320"/>
            <a:ext cx="2651760" cy="822960"/>
          </a:xfrm>
          <a:prstGeom prst="roundRect">
            <a:avLst>
              <a:gd name="adj" fmla="val 11111"/>
            </a:avLst>
          </a:prstGeom>
          <a:solidFill>
            <a:srgbClr val="3A3035"/>
          </a:solidFill>
          <a:ln/>
        </p:spPr>
      </p:sp>
      <p:sp>
        <p:nvSpPr>
          <p:cNvPr id="24" name="Text 21"/>
          <p:cNvSpPr/>
          <p:nvPr/>
        </p:nvSpPr>
        <p:spPr>
          <a:xfrm>
            <a:off x="9052560" y="4846320"/>
            <a:ext cx="2286000" cy="822960"/>
          </a:xfrm>
          <a:prstGeom prst="rect">
            <a:avLst/>
          </a:prstGeom>
          <a:noFill/>
          <a:ln/>
        </p:spPr>
        <p:txBody>
          <a:bodyPr wrap="square" rtlCol="0" anchor="ctr"/>
          <a:lstStyle/>
          <a:p>
            <a:pPr indent="0" marL="0">
              <a:buNone/>
            </a:pPr>
            <a:r>
              <a:rPr lang="en-US" sz="1200" dirty="0">
                <a:solidFill>
                  <a:srgbClr val="F5F5F5"/>
                </a:solidFill>
                <a:latin typeface="Arial" pitchFamily="34" charset="0"/>
                <a:ea typeface="Arial" pitchFamily="34" charset="-122"/>
                <a:cs typeface="Arial" pitchFamily="34" charset="-120"/>
              </a:rPr>
              <a:t>✓ Brainstorm Studio</a:t>
            </a:r>
            <a:endParaRPr lang="en-US" sz="1200" dirty="0"/>
          </a:p>
        </p:txBody>
      </p:sp>
      <p:sp>
        <p:nvSpPr>
          <p:cNvPr id="25" name="Text 22"/>
          <p:cNvSpPr/>
          <p:nvPr/>
        </p:nvSpPr>
        <p:spPr>
          <a:xfrm>
            <a:off x="731520" y="5943600"/>
            <a:ext cx="10515600" cy="365760"/>
          </a:xfrm>
          <a:prstGeom prst="rect">
            <a:avLst/>
          </a:prstGeom>
          <a:noFill/>
          <a:ln/>
        </p:spPr>
        <p:txBody>
          <a:bodyPr wrap="square" rtlCol="0" anchor="ctr"/>
          <a:lstStyle/>
          <a:p>
            <a:pPr algn="ctr" indent="0" marL="0">
              <a:buNone/>
            </a:pPr>
            <a:r>
              <a:rPr lang="en-US" sz="1100" dirty="0">
                <a:solidFill>
                  <a:srgbClr val="BBBBBB"/>
                </a:solidFill>
                <a:latin typeface="Arial" pitchFamily="34" charset="0"/>
                <a:ea typeface="Arial" pitchFamily="34" charset="-122"/>
                <a:cs typeface="Arial" pitchFamily="34" charset="-120"/>
              </a:rPr>
              <a:t>Also: Video Production Pipeline  |  Empathetic AI Navigator  |  RAG-Powered Ecosystem Chatbot</a:t>
            </a:r>
            <a:endParaRPr lang="en-US" sz="1100" dirty="0"/>
          </a:p>
        </p:txBody>
      </p:sp>
      <p:sp>
        <p:nvSpPr>
          <p:cNvPr id="26" name="Text 23"/>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15/30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PANTHER VILLAGE ACADEMY</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Gamified Virtual Campus</a:t>
            </a:r>
            <a:endParaRPr lang="en-US" sz="2400" dirty="0"/>
          </a:p>
        </p:txBody>
      </p:sp>
      <p:sp>
        <p:nvSpPr>
          <p:cNvPr id="5" name="Shape 2"/>
          <p:cNvSpPr/>
          <p:nvPr/>
        </p:nvSpPr>
        <p:spPr>
          <a:xfrm>
            <a:off x="457200" y="1463040"/>
            <a:ext cx="5394960" cy="2103120"/>
          </a:xfrm>
          <a:prstGeom prst="roundRect">
            <a:avLst>
              <a:gd name="adj" fmla="val 5217"/>
            </a:avLst>
          </a:prstGeom>
          <a:solidFill>
            <a:srgbClr val="FFFFFF"/>
          </a:solidFill>
          <a:ln w="12700">
            <a:solidFill>
              <a:srgbClr val="E0D8D0"/>
            </a:solidFill>
            <a:prstDash val="solid"/>
          </a:ln>
        </p:spPr>
      </p:sp>
      <p:sp>
        <p:nvSpPr>
          <p:cNvPr id="6" name="Text 3"/>
          <p:cNvSpPr/>
          <p:nvPr/>
        </p:nvSpPr>
        <p:spPr>
          <a:xfrm>
            <a:off x="640080" y="1554480"/>
            <a:ext cx="5029200" cy="41148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Interactive Campus</a:t>
            </a:r>
            <a:endParaRPr lang="en-US" sz="1600" dirty="0"/>
          </a:p>
        </p:txBody>
      </p:sp>
      <p:sp>
        <p:nvSpPr>
          <p:cNvPr id="7" name="Text 4"/>
          <p:cNvSpPr/>
          <p:nvPr/>
        </p:nvSpPr>
        <p:spPr>
          <a:xfrm>
            <a:off x="640080" y="201168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Avatar customization</a:t>
            </a:r>
            <a:endParaRPr lang="en-US" sz="1200" dirty="0"/>
          </a:p>
        </p:txBody>
      </p:sp>
      <p:sp>
        <p:nvSpPr>
          <p:cNvPr id="8" name="Text 5"/>
          <p:cNvSpPr/>
          <p:nvPr/>
        </p:nvSpPr>
        <p:spPr>
          <a:xfrm>
            <a:off x="640080" y="242316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House system &amp; merit</a:t>
            </a:r>
            <a:endParaRPr lang="en-US" sz="1200" dirty="0"/>
          </a:p>
        </p:txBody>
      </p:sp>
      <p:sp>
        <p:nvSpPr>
          <p:cNvPr id="9" name="Text 6"/>
          <p:cNvSpPr/>
          <p:nvPr/>
        </p:nvSpPr>
        <p:spPr>
          <a:xfrm>
            <a:off x="640080" y="283464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Daily quests &amp; leaderboards</a:t>
            </a:r>
            <a:endParaRPr lang="en-US" sz="1200" dirty="0"/>
          </a:p>
        </p:txBody>
      </p:sp>
      <p:sp>
        <p:nvSpPr>
          <p:cNvPr id="10" name="Shape 7"/>
          <p:cNvSpPr/>
          <p:nvPr/>
        </p:nvSpPr>
        <p:spPr>
          <a:xfrm>
            <a:off x="6217920" y="1463040"/>
            <a:ext cx="5394960" cy="2103120"/>
          </a:xfrm>
          <a:prstGeom prst="roundRect">
            <a:avLst>
              <a:gd name="adj" fmla="val 5217"/>
            </a:avLst>
          </a:prstGeom>
          <a:solidFill>
            <a:srgbClr val="FFFFFF"/>
          </a:solidFill>
          <a:ln w="12700">
            <a:solidFill>
              <a:srgbClr val="E0D8D0"/>
            </a:solidFill>
            <a:prstDash val="solid"/>
          </a:ln>
        </p:spPr>
      </p:sp>
      <p:sp>
        <p:nvSpPr>
          <p:cNvPr id="11" name="Text 8"/>
          <p:cNvSpPr/>
          <p:nvPr/>
        </p:nvSpPr>
        <p:spPr>
          <a:xfrm>
            <a:off x="6400800" y="1554480"/>
            <a:ext cx="5029200" cy="41148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Financial Literacy</a:t>
            </a:r>
            <a:endParaRPr lang="en-US" sz="1600" dirty="0"/>
          </a:p>
        </p:txBody>
      </p:sp>
      <p:sp>
        <p:nvSpPr>
          <p:cNvPr id="12" name="Text 9"/>
          <p:cNvSpPr/>
          <p:nvPr/>
        </p:nvSpPr>
        <p:spPr>
          <a:xfrm>
            <a:off x="6400800" y="201168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Stock Market Simulator</a:t>
            </a:r>
            <a:endParaRPr lang="en-US" sz="1200" dirty="0"/>
          </a:p>
        </p:txBody>
      </p:sp>
      <p:sp>
        <p:nvSpPr>
          <p:cNvPr id="13" name="Text 10"/>
          <p:cNvSpPr/>
          <p:nvPr/>
        </p:nvSpPr>
        <p:spPr>
          <a:xfrm>
            <a:off x="6400800" y="242316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Academy Wallet currency</a:t>
            </a:r>
            <a:endParaRPr lang="en-US" sz="1200" dirty="0"/>
          </a:p>
        </p:txBody>
      </p:sp>
      <p:sp>
        <p:nvSpPr>
          <p:cNvPr id="14" name="Text 11"/>
          <p:cNvSpPr/>
          <p:nvPr/>
        </p:nvSpPr>
        <p:spPr>
          <a:xfrm>
            <a:off x="6400800" y="283464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Campus Builder funding</a:t>
            </a:r>
            <a:endParaRPr lang="en-US" sz="1200" dirty="0"/>
          </a:p>
        </p:txBody>
      </p:sp>
      <p:sp>
        <p:nvSpPr>
          <p:cNvPr id="15" name="Shape 12"/>
          <p:cNvSpPr/>
          <p:nvPr/>
        </p:nvSpPr>
        <p:spPr>
          <a:xfrm>
            <a:off x="457200" y="3840480"/>
            <a:ext cx="5394960" cy="2103120"/>
          </a:xfrm>
          <a:prstGeom prst="roundRect">
            <a:avLst>
              <a:gd name="adj" fmla="val 5217"/>
            </a:avLst>
          </a:prstGeom>
          <a:solidFill>
            <a:srgbClr val="FFFFFF"/>
          </a:solidFill>
          <a:ln w="12700">
            <a:solidFill>
              <a:srgbClr val="E0D8D0"/>
            </a:solidFill>
            <a:prstDash val="solid"/>
          </a:ln>
        </p:spPr>
      </p:sp>
      <p:sp>
        <p:nvSpPr>
          <p:cNvPr id="16" name="Text 13"/>
          <p:cNvSpPr/>
          <p:nvPr/>
        </p:nvSpPr>
        <p:spPr>
          <a:xfrm>
            <a:off x="640080" y="3931920"/>
            <a:ext cx="5029200" cy="41148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Personal Growth</a:t>
            </a:r>
            <a:endParaRPr lang="en-US" sz="1600" dirty="0"/>
          </a:p>
        </p:txBody>
      </p:sp>
      <p:sp>
        <p:nvSpPr>
          <p:cNvPr id="17" name="Text 14"/>
          <p:cNvSpPr/>
          <p:nvPr/>
        </p:nvSpPr>
        <p:spPr>
          <a:xfrm>
            <a:off x="640080" y="438912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My Journal reflections</a:t>
            </a:r>
            <a:endParaRPr lang="en-US" sz="1200" dirty="0"/>
          </a:p>
        </p:txBody>
      </p:sp>
      <p:sp>
        <p:nvSpPr>
          <p:cNvPr id="18" name="Text 15"/>
          <p:cNvSpPr/>
          <p:nvPr/>
        </p:nvSpPr>
        <p:spPr>
          <a:xfrm>
            <a:off x="640080" y="480060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Dream Design goals</a:t>
            </a:r>
            <a:endParaRPr lang="en-US" sz="1200" dirty="0"/>
          </a:p>
        </p:txBody>
      </p:sp>
      <p:sp>
        <p:nvSpPr>
          <p:cNvPr id="19" name="Text 16"/>
          <p:cNvSpPr/>
          <p:nvPr/>
        </p:nvSpPr>
        <p:spPr>
          <a:xfrm>
            <a:off x="640080" y="521208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STAAR Test Prep</a:t>
            </a:r>
            <a:endParaRPr lang="en-US" sz="1200" dirty="0"/>
          </a:p>
        </p:txBody>
      </p:sp>
      <p:sp>
        <p:nvSpPr>
          <p:cNvPr id="20" name="Shape 17"/>
          <p:cNvSpPr/>
          <p:nvPr/>
        </p:nvSpPr>
        <p:spPr>
          <a:xfrm>
            <a:off x="6217920" y="3840480"/>
            <a:ext cx="5394960" cy="2103120"/>
          </a:xfrm>
          <a:prstGeom prst="roundRect">
            <a:avLst>
              <a:gd name="adj" fmla="val 5217"/>
            </a:avLst>
          </a:prstGeom>
          <a:solidFill>
            <a:srgbClr val="FFFFFF"/>
          </a:solidFill>
          <a:ln w="12700">
            <a:solidFill>
              <a:srgbClr val="E0D8D0"/>
            </a:solidFill>
            <a:prstDash val="solid"/>
          </a:ln>
        </p:spPr>
      </p:sp>
      <p:sp>
        <p:nvSpPr>
          <p:cNvPr id="21" name="Text 18"/>
          <p:cNvSpPr/>
          <p:nvPr/>
        </p:nvSpPr>
        <p:spPr>
          <a:xfrm>
            <a:off x="6400800" y="3931920"/>
            <a:ext cx="5029200" cy="41148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Gamification</a:t>
            </a:r>
            <a:endParaRPr lang="en-US" sz="1600" dirty="0"/>
          </a:p>
        </p:txBody>
      </p:sp>
      <p:sp>
        <p:nvSpPr>
          <p:cNvPr id="22" name="Text 19"/>
          <p:cNvSpPr/>
          <p:nvPr/>
        </p:nvSpPr>
        <p:spPr>
          <a:xfrm>
            <a:off x="6400800" y="438912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Panther Power scoring</a:t>
            </a:r>
            <a:endParaRPr lang="en-US" sz="1200" dirty="0"/>
          </a:p>
        </p:txBody>
      </p:sp>
      <p:sp>
        <p:nvSpPr>
          <p:cNvPr id="23" name="Text 20"/>
          <p:cNvSpPr/>
          <p:nvPr/>
        </p:nvSpPr>
        <p:spPr>
          <a:xfrm>
            <a:off x="6400800" y="480060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Achievements &amp; certificates</a:t>
            </a:r>
            <a:endParaRPr lang="en-US" sz="1200" dirty="0"/>
          </a:p>
        </p:txBody>
      </p:sp>
      <p:sp>
        <p:nvSpPr>
          <p:cNvPr id="24" name="Text 21"/>
          <p:cNvSpPr/>
          <p:nvPr/>
        </p:nvSpPr>
        <p:spPr>
          <a:xfrm>
            <a:off x="6400800" y="5212080"/>
            <a:ext cx="502920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Academic competitions</a:t>
            </a:r>
            <a:endParaRPr lang="en-US" sz="1200" dirty="0"/>
          </a:p>
        </p:txBody>
      </p:sp>
      <p:sp>
        <p:nvSpPr>
          <p:cNvPr id="25" name="Text 22"/>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16/30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HEALTH EQUITY ECOSYSTEM</a:t>
            </a:r>
            <a:endParaRPr lang="en-US" sz="1100" dirty="0"/>
          </a:p>
        </p:txBody>
      </p:sp>
      <p:sp>
        <p:nvSpPr>
          <p:cNvPr id="4" name="Text 1"/>
          <p:cNvSpPr/>
          <p:nvPr/>
        </p:nvSpPr>
        <p:spPr>
          <a:xfrm>
            <a:off x="731520" y="7315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7 Specialized Health Platforms — Coordinated</a:t>
            </a:r>
            <a:endParaRPr lang="en-US" sz="2600" dirty="0"/>
          </a:p>
        </p:txBody>
      </p:sp>
      <p:sp>
        <p:nvSpPr>
          <p:cNvPr id="5" name="Shape 2"/>
          <p:cNvSpPr/>
          <p:nvPr/>
        </p:nvSpPr>
        <p:spPr>
          <a:xfrm>
            <a:off x="457200" y="1645920"/>
            <a:ext cx="2651760" cy="1645920"/>
          </a:xfrm>
          <a:prstGeom prst="roundRect">
            <a:avLst>
              <a:gd name="adj" fmla="val 5556"/>
            </a:avLst>
          </a:prstGeom>
          <a:solidFill>
            <a:srgbClr val="2A2025"/>
          </a:solidFill>
          <a:ln w="25400">
            <a:solidFill>
              <a:srgbClr val="E11D48"/>
            </a:solidFill>
            <a:prstDash val="solid"/>
          </a:ln>
        </p:spPr>
      </p:sp>
      <p:sp>
        <p:nvSpPr>
          <p:cNvPr id="6" name="Text 3"/>
          <p:cNvSpPr/>
          <p:nvPr/>
        </p:nvSpPr>
        <p:spPr>
          <a:xfrm>
            <a:off x="594360" y="1828800"/>
            <a:ext cx="237744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Whole-Person Health</a:t>
            </a:r>
            <a:endParaRPr lang="en-US" sz="1300" dirty="0"/>
          </a:p>
        </p:txBody>
      </p:sp>
      <p:sp>
        <p:nvSpPr>
          <p:cNvPr id="7" name="Text 4"/>
          <p:cNvSpPr/>
          <p:nvPr/>
        </p:nvSpPr>
        <p:spPr>
          <a:xfrm>
            <a:off x="594360" y="2377440"/>
            <a:ext cx="237744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Clinical Screenings &amp; Assessments</a:t>
            </a:r>
            <a:endParaRPr lang="en-US" sz="1100" dirty="0"/>
          </a:p>
        </p:txBody>
      </p:sp>
      <p:sp>
        <p:nvSpPr>
          <p:cNvPr id="8" name="Shape 5"/>
          <p:cNvSpPr/>
          <p:nvPr/>
        </p:nvSpPr>
        <p:spPr>
          <a:xfrm>
            <a:off x="3337560" y="1645920"/>
            <a:ext cx="2651760" cy="1645920"/>
          </a:xfrm>
          <a:prstGeom prst="roundRect">
            <a:avLst>
              <a:gd name="adj" fmla="val 5556"/>
            </a:avLst>
          </a:prstGeom>
          <a:solidFill>
            <a:srgbClr val="2A2025"/>
          </a:solidFill>
          <a:ln w="25400">
            <a:solidFill>
              <a:srgbClr val="DC2626"/>
            </a:solidFill>
            <a:prstDash val="solid"/>
          </a:ln>
        </p:spPr>
      </p:sp>
      <p:sp>
        <p:nvSpPr>
          <p:cNvPr id="9" name="Text 6"/>
          <p:cNvSpPr/>
          <p:nvPr/>
        </p:nvSpPr>
        <p:spPr>
          <a:xfrm>
            <a:off x="3474720" y="1828800"/>
            <a:ext cx="237744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Sankofa Health</a:t>
            </a:r>
            <a:endParaRPr lang="en-US" sz="1300" dirty="0"/>
          </a:p>
        </p:txBody>
      </p:sp>
      <p:sp>
        <p:nvSpPr>
          <p:cNvPr id="10" name="Text 7"/>
          <p:cNvSpPr/>
          <p:nvPr/>
        </p:nvSpPr>
        <p:spPr>
          <a:xfrm>
            <a:off x="3474720" y="2377440"/>
            <a:ext cx="237744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Culturally Responsive Care</a:t>
            </a:r>
            <a:endParaRPr lang="en-US" sz="1100" dirty="0"/>
          </a:p>
        </p:txBody>
      </p:sp>
      <p:sp>
        <p:nvSpPr>
          <p:cNvPr id="11" name="Shape 8"/>
          <p:cNvSpPr/>
          <p:nvPr/>
        </p:nvSpPr>
        <p:spPr>
          <a:xfrm>
            <a:off x="6217920" y="1645920"/>
            <a:ext cx="2651760" cy="1645920"/>
          </a:xfrm>
          <a:prstGeom prst="roundRect">
            <a:avLst>
              <a:gd name="adj" fmla="val 5556"/>
            </a:avLst>
          </a:prstGeom>
          <a:solidFill>
            <a:srgbClr val="2A2025"/>
          </a:solidFill>
          <a:ln w="25400">
            <a:solidFill>
              <a:srgbClr val="D946EF"/>
            </a:solidFill>
            <a:prstDash val="solid"/>
          </a:ln>
        </p:spPr>
      </p:sp>
      <p:sp>
        <p:nvSpPr>
          <p:cNvPr id="12" name="Text 9"/>
          <p:cNvSpPr/>
          <p:nvPr/>
        </p:nvSpPr>
        <p:spPr>
          <a:xfrm>
            <a:off x="6355080" y="1828800"/>
            <a:ext cx="237744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Black Maternal Health</a:t>
            </a:r>
            <a:endParaRPr lang="en-US" sz="1300" dirty="0"/>
          </a:p>
        </p:txBody>
      </p:sp>
      <p:sp>
        <p:nvSpPr>
          <p:cNvPr id="13" name="Text 10"/>
          <p:cNvSpPr/>
          <p:nvPr/>
        </p:nvSpPr>
        <p:spPr>
          <a:xfrm>
            <a:off x="6355080" y="2377440"/>
            <a:ext cx="237744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Perinatal &amp; Maternal Mortality</a:t>
            </a:r>
            <a:endParaRPr lang="en-US" sz="1100" dirty="0"/>
          </a:p>
        </p:txBody>
      </p:sp>
      <p:sp>
        <p:nvSpPr>
          <p:cNvPr id="14" name="Shape 11"/>
          <p:cNvSpPr/>
          <p:nvPr/>
        </p:nvSpPr>
        <p:spPr>
          <a:xfrm>
            <a:off x="9098280" y="1645920"/>
            <a:ext cx="2651760" cy="1645920"/>
          </a:xfrm>
          <a:prstGeom prst="roundRect">
            <a:avLst>
              <a:gd name="adj" fmla="val 5556"/>
            </a:avLst>
          </a:prstGeom>
          <a:solidFill>
            <a:srgbClr val="2A2025"/>
          </a:solidFill>
          <a:ln w="25400">
            <a:solidFill>
              <a:srgbClr val="A855F7"/>
            </a:solidFill>
            <a:prstDash val="solid"/>
          </a:ln>
        </p:spPr>
      </p:sp>
      <p:sp>
        <p:nvSpPr>
          <p:cNvPr id="15" name="Text 12"/>
          <p:cNvSpPr/>
          <p:nvPr/>
        </p:nvSpPr>
        <p:spPr>
          <a:xfrm>
            <a:off x="9235440" y="1828800"/>
            <a:ext cx="237744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Sankofa Feminine Health</a:t>
            </a:r>
            <a:endParaRPr lang="en-US" sz="1300" dirty="0"/>
          </a:p>
        </p:txBody>
      </p:sp>
      <p:sp>
        <p:nvSpPr>
          <p:cNvPr id="16" name="Text 13"/>
          <p:cNvSpPr/>
          <p:nvPr/>
        </p:nvSpPr>
        <p:spPr>
          <a:xfrm>
            <a:off x="9235440" y="2377440"/>
            <a:ext cx="237744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Women's Health Services</a:t>
            </a:r>
            <a:endParaRPr lang="en-US" sz="1100" dirty="0"/>
          </a:p>
        </p:txBody>
      </p:sp>
      <p:sp>
        <p:nvSpPr>
          <p:cNvPr id="17" name="Shape 14"/>
          <p:cNvSpPr/>
          <p:nvPr/>
        </p:nvSpPr>
        <p:spPr>
          <a:xfrm>
            <a:off x="457200" y="3657600"/>
            <a:ext cx="3566160" cy="1645920"/>
          </a:xfrm>
          <a:prstGeom prst="roundRect">
            <a:avLst>
              <a:gd name="adj" fmla="val 5556"/>
            </a:avLst>
          </a:prstGeom>
          <a:solidFill>
            <a:srgbClr val="2A2025"/>
          </a:solidFill>
          <a:ln w="25400">
            <a:solidFill>
              <a:srgbClr val="06B6D4"/>
            </a:solidFill>
            <a:prstDash val="solid"/>
          </a:ln>
        </p:spPr>
      </p:sp>
      <p:sp>
        <p:nvSpPr>
          <p:cNvPr id="18" name="Text 15"/>
          <p:cNvSpPr/>
          <p:nvPr/>
        </p:nvSpPr>
        <p:spPr>
          <a:xfrm>
            <a:off x="594360" y="3840480"/>
            <a:ext cx="329184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Sankofa Men's Health</a:t>
            </a:r>
            <a:endParaRPr lang="en-US" sz="1300" dirty="0"/>
          </a:p>
        </p:txBody>
      </p:sp>
      <p:sp>
        <p:nvSpPr>
          <p:cNvPr id="19" name="Text 16"/>
          <p:cNvSpPr/>
          <p:nvPr/>
        </p:nvSpPr>
        <p:spPr>
          <a:xfrm>
            <a:off x="594360" y="4389120"/>
            <a:ext cx="329184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Men's Health &amp; Wellness</a:t>
            </a:r>
            <a:endParaRPr lang="en-US" sz="1100" dirty="0"/>
          </a:p>
        </p:txBody>
      </p:sp>
      <p:sp>
        <p:nvSpPr>
          <p:cNvPr id="20" name="Shape 17"/>
          <p:cNvSpPr/>
          <p:nvPr/>
        </p:nvSpPr>
        <p:spPr>
          <a:xfrm>
            <a:off x="4251960" y="3657600"/>
            <a:ext cx="3566160" cy="1645920"/>
          </a:xfrm>
          <a:prstGeom prst="roundRect">
            <a:avLst>
              <a:gd name="adj" fmla="val 5556"/>
            </a:avLst>
          </a:prstGeom>
          <a:solidFill>
            <a:srgbClr val="2A2025"/>
          </a:solidFill>
          <a:ln w="25400">
            <a:solidFill>
              <a:srgbClr val="0EA5E9"/>
            </a:solidFill>
            <a:prstDash val="solid"/>
          </a:ln>
        </p:spPr>
      </p:sp>
      <p:sp>
        <p:nvSpPr>
          <p:cNvPr id="21" name="Text 18"/>
          <p:cNvSpPr/>
          <p:nvPr/>
        </p:nvSpPr>
        <p:spPr>
          <a:xfrm>
            <a:off x="4389120" y="3840480"/>
            <a:ext cx="329184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SafeCogniCare</a:t>
            </a:r>
            <a:endParaRPr lang="en-US" sz="1300" dirty="0"/>
          </a:p>
        </p:txBody>
      </p:sp>
      <p:sp>
        <p:nvSpPr>
          <p:cNvPr id="22" name="Text 19"/>
          <p:cNvSpPr/>
          <p:nvPr/>
        </p:nvSpPr>
        <p:spPr>
          <a:xfrm>
            <a:off x="4389120" y="4389120"/>
            <a:ext cx="329184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TBI &amp; Cognitive Health</a:t>
            </a:r>
            <a:endParaRPr lang="en-US" sz="1100" dirty="0"/>
          </a:p>
        </p:txBody>
      </p:sp>
      <p:sp>
        <p:nvSpPr>
          <p:cNvPr id="23" name="Shape 20"/>
          <p:cNvSpPr/>
          <p:nvPr/>
        </p:nvSpPr>
        <p:spPr>
          <a:xfrm>
            <a:off x="8046720" y="3657600"/>
            <a:ext cx="3566160" cy="1645920"/>
          </a:xfrm>
          <a:prstGeom prst="roundRect">
            <a:avLst>
              <a:gd name="adj" fmla="val 5556"/>
            </a:avLst>
          </a:prstGeom>
          <a:solidFill>
            <a:srgbClr val="2A2025"/>
          </a:solidFill>
          <a:ln w="25400">
            <a:solidFill>
              <a:srgbClr val="84CC16"/>
            </a:solidFill>
            <a:prstDash val="solid"/>
          </a:ln>
        </p:spPr>
      </p:sp>
      <p:sp>
        <p:nvSpPr>
          <p:cNvPr id="24" name="Text 21"/>
          <p:cNvSpPr/>
          <p:nvPr/>
        </p:nvSpPr>
        <p:spPr>
          <a:xfrm>
            <a:off x="8183880" y="3840480"/>
            <a:ext cx="329184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PillScheduler</a:t>
            </a:r>
            <a:endParaRPr lang="en-US" sz="1300" dirty="0"/>
          </a:p>
        </p:txBody>
      </p:sp>
      <p:sp>
        <p:nvSpPr>
          <p:cNvPr id="25" name="Text 22"/>
          <p:cNvSpPr/>
          <p:nvPr/>
        </p:nvSpPr>
        <p:spPr>
          <a:xfrm>
            <a:off x="8183880" y="4389120"/>
            <a:ext cx="329184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Medication Adherence</a:t>
            </a:r>
            <a:endParaRPr lang="en-US" sz="1100" dirty="0"/>
          </a:p>
        </p:txBody>
      </p:sp>
      <p:sp>
        <p:nvSpPr>
          <p:cNvPr id="26" name="Text 23"/>
          <p:cNvSpPr/>
          <p:nvPr/>
        </p:nvSpPr>
        <p:spPr>
          <a:xfrm>
            <a:off x="731520" y="5760720"/>
            <a:ext cx="10515600" cy="365760"/>
          </a:xfrm>
          <a:prstGeom prst="rect">
            <a:avLst/>
          </a:prstGeom>
          <a:noFill/>
          <a:ln/>
        </p:spPr>
        <p:txBody>
          <a:bodyPr wrap="square" rtlCol="0" anchor="ctr"/>
          <a:lstStyle/>
          <a:p>
            <a:pPr algn="ctr" indent="0" marL="0">
              <a:buNone/>
            </a:pPr>
            <a:r>
              <a:rPr lang="en-US" sz="1100" i="1" dirty="0">
                <a:solidFill>
                  <a:srgbClr val="AAAAAA"/>
                </a:solidFill>
                <a:latin typeface="Arial" pitchFamily="34" charset="0"/>
                <a:ea typeface="Arial" pitchFamily="34" charset="-122"/>
                <a:cs typeface="Arial" pitchFamily="34" charset="-120"/>
              </a:rPr>
              <a:t>Cross-platform data sharing: Patient flagged in one platform triggers relevant assessments in others through the agent network</a:t>
            </a:r>
            <a:endParaRPr lang="en-US" sz="1100" dirty="0"/>
          </a:p>
        </p:txBody>
      </p:sp>
      <p:sp>
        <p:nvSpPr>
          <p:cNvPr id="27" name="Text 24"/>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17/30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REGIONAL HUBS</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Austin • Manor • Pflugerville</a:t>
            </a:r>
            <a:endParaRPr lang="en-US" sz="2400" dirty="0"/>
          </a:p>
        </p:txBody>
      </p:sp>
      <p:sp>
        <p:nvSpPr>
          <p:cNvPr id="5" name="Shape 2"/>
          <p:cNvSpPr/>
          <p:nvPr/>
        </p:nvSpPr>
        <p:spPr>
          <a:xfrm>
            <a:off x="457200" y="1463040"/>
            <a:ext cx="3520440" cy="4389120"/>
          </a:xfrm>
          <a:prstGeom prst="roundRect">
            <a:avLst>
              <a:gd name="adj" fmla="val 3117"/>
            </a:avLst>
          </a:prstGeom>
          <a:solidFill>
            <a:srgbClr val="FFFFFF"/>
          </a:solidFill>
          <a:ln w="25400">
            <a:solidFill>
              <a:srgbClr val="2563EB"/>
            </a:solidFill>
            <a:prstDash val="solid"/>
          </a:ln>
        </p:spPr>
      </p:sp>
      <p:sp>
        <p:nvSpPr>
          <p:cNvPr id="6" name="Text 3"/>
          <p:cNvSpPr/>
          <p:nvPr/>
        </p:nvSpPr>
        <p:spPr>
          <a:xfrm>
            <a:off x="640080" y="1645920"/>
            <a:ext cx="3154680" cy="45720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Austin Hub</a:t>
            </a:r>
            <a:endParaRPr lang="en-US" sz="1800" dirty="0"/>
          </a:p>
        </p:txBody>
      </p:sp>
      <p:sp>
        <p:nvSpPr>
          <p:cNvPr id="7" name="Text 4"/>
          <p:cNvSpPr/>
          <p:nvPr/>
        </p:nvSpPr>
        <p:spPr>
          <a:xfrm>
            <a:off x="640080" y="2103120"/>
            <a:ext cx="3154680" cy="320040"/>
          </a:xfrm>
          <a:prstGeom prst="rect">
            <a:avLst/>
          </a:prstGeom>
          <a:noFill/>
          <a:ln/>
        </p:spPr>
        <p:txBody>
          <a:bodyPr wrap="square" rtlCol="0" anchor="ctr"/>
          <a:lstStyle/>
          <a:p>
            <a:pPr indent="0" marL="0">
              <a:buNone/>
            </a:pPr>
            <a:r>
              <a:rPr lang="en-US" sz="1300" b="1" dirty="0">
                <a:solidFill>
                  <a:srgbClr val="2563EB"/>
                </a:solidFill>
                <a:latin typeface="Arial" pitchFamily="34" charset="0"/>
                <a:ea typeface="Arial" pitchFamily="34" charset="-122"/>
                <a:cs typeface="Arial" pitchFamily="34" charset="-120"/>
              </a:rPr>
              <a:t>Housing Crisis Response</a:t>
            </a:r>
            <a:endParaRPr lang="en-US" sz="1300" dirty="0"/>
          </a:p>
        </p:txBody>
      </p:sp>
      <p:sp>
        <p:nvSpPr>
          <p:cNvPr id="8" name="Text 5"/>
          <p:cNvSpPr/>
          <p:nvPr/>
        </p:nvSpPr>
        <p:spPr>
          <a:xfrm>
            <a:off x="640080" y="265176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$435K median home</a:t>
            </a:r>
            <a:endParaRPr lang="en-US" sz="1200" dirty="0"/>
          </a:p>
        </p:txBody>
      </p:sp>
      <p:sp>
        <p:nvSpPr>
          <p:cNvPr id="9" name="Text 6"/>
          <p:cNvSpPr/>
          <p:nvPr/>
        </p:nvSpPr>
        <p:spPr>
          <a:xfrm>
            <a:off x="640080" y="306324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3,238 homeless PIT 2025</a:t>
            </a:r>
            <a:endParaRPr lang="en-US" sz="1200" dirty="0"/>
          </a:p>
        </p:txBody>
      </p:sp>
      <p:sp>
        <p:nvSpPr>
          <p:cNvPr id="10" name="Text 7"/>
          <p:cNvSpPr/>
          <p:nvPr/>
        </p:nvSpPr>
        <p:spPr>
          <a:xfrm>
            <a:off x="640080" y="347472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85%+ cost-burdened</a:t>
            </a:r>
            <a:endParaRPr lang="en-US" sz="1200" dirty="0"/>
          </a:p>
        </p:txBody>
      </p:sp>
      <p:sp>
        <p:nvSpPr>
          <p:cNvPr id="11" name="Shape 8"/>
          <p:cNvSpPr/>
          <p:nvPr/>
        </p:nvSpPr>
        <p:spPr>
          <a:xfrm>
            <a:off x="4251960" y="1463040"/>
            <a:ext cx="3520440" cy="4389120"/>
          </a:xfrm>
          <a:prstGeom prst="roundRect">
            <a:avLst>
              <a:gd name="adj" fmla="val 3117"/>
            </a:avLst>
          </a:prstGeom>
          <a:solidFill>
            <a:srgbClr val="FFFFFF"/>
          </a:solidFill>
          <a:ln w="25400">
            <a:solidFill>
              <a:srgbClr val="10B981"/>
            </a:solidFill>
            <a:prstDash val="solid"/>
          </a:ln>
        </p:spPr>
      </p:sp>
      <p:sp>
        <p:nvSpPr>
          <p:cNvPr id="12" name="Text 9"/>
          <p:cNvSpPr/>
          <p:nvPr/>
        </p:nvSpPr>
        <p:spPr>
          <a:xfrm>
            <a:off x="4434840" y="1645920"/>
            <a:ext cx="3154680" cy="45720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Manor Hub</a:t>
            </a:r>
            <a:endParaRPr lang="en-US" sz="1800" dirty="0"/>
          </a:p>
        </p:txBody>
      </p:sp>
      <p:sp>
        <p:nvSpPr>
          <p:cNvPr id="13" name="Text 10"/>
          <p:cNvSpPr/>
          <p:nvPr/>
        </p:nvSpPr>
        <p:spPr>
          <a:xfrm>
            <a:off x="4434840" y="2103120"/>
            <a:ext cx="315468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Growth Without Gaps</a:t>
            </a:r>
            <a:endParaRPr lang="en-US" sz="1300" dirty="0"/>
          </a:p>
        </p:txBody>
      </p:sp>
      <p:sp>
        <p:nvSpPr>
          <p:cNvPr id="14" name="Text 11"/>
          <p:cNvSpPr/>
          <p:nvPr/>
        </p:nvSpPr>
        <p:spPr>
          <a:xfrm>
            <a:off x="4434840" y="265176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400%+ pop growth</a:t>
            </a:r>
            <a:endParaRPr lang="en-US" sz="1200" dirty="0"/>
          </a:p>
        </p:txBody>
      </p:sp>
      <p:sp>
        <p:nvSpPr>
          <p:cNvPr id="15" name="Text 12"/>
          <p:cNvSpPr/>
          <p:nvPr/>
        </p:nvSpPr>
        <p:spPr>
          <a:xfrm>
            <a:off x="4434840" y="306324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38% under 18</a:t>
            </a:r>
            <a:endParaRPr lang="en-US" sz="1200" dirty="0"/>
          </a:p>
        </p:txBody>
      </p:sp>
      <p:sp>
        <p:nvSpPr>
          <p:cNvPr id="16" name="Text 13"/>
          <p:cNvSpPr/>
          <p:nvPr/>
        </p:nvSpPr>
        <p:spPr>
          <a:xfrm>
            <a:off x="4434840" y="347472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Critical infrastructure gap</a:t>
            </a:r>
            <a:endParaRPr lang="en-US" sz="1200" dirty="0"/>
          </a:p>
        </p:txBody>
      </p:sp>
      <p:sp>
        <p:nvSpPr>
          <p:cNvPr id="17" name="Shape 14"/>
          <p:cNvSpPr/>
          <p:nvPr/>
        </p:nvSpPr>
        <p:spPr>
          <a:xfrm>
            <a:off x="8046720" y="1463040"/>
            <a:ext cx="3520440" cy="4389120"/>
          </a:xfrm>
          <a:prstGeom prst="roundRect">
            <a:avLst>
              <a:gd name="adj" fmla="val 3117"/>
            </a:avLst>
          </a:prstGeom>
          <a:solidFill>
            <a:srgbClr val="FFFFFF"/>
          </a:solidFill>
          <a:ln w="25400">
            <a:solidFill>
              <a:srgbClr val="D97706"/>
            </a:solidFill>
            <a:prstDash val="solid"/>
          </a:ln>
        </p:spPr>
      </p:sp>
      <p:sp>
        <p:nvSpPr>
          <p:cNvPr id="18" name="Text 15"/>
          <p:cNvSpPr/>
          <p:nvPr/>
        </p:nvSpPr>
        <p:spPr>
          <a:xfrm>
            <a:off x="8229600" y="1645920"/>
            <a:ext cx="3154680" cy="457200"/>
          </a:xfrm>
          <a:prstGeom prst="rect">
            <a:avLst/>
          </a:prstGeom>
          <a:noFill/>
          <a:ln/>
        </p:spPr>
        <p:txBody>
          <a:bodyPr wrap="square" rtlCol="0" anchor="ctr"/>
          <a:lstStyle/>
          <a:p>
            <a:pPr indent="0" marL="0">
              <a:buNone/>
            </a:pPr>
            <a:r>
              <a:rPr lang="en-US" sz="1800" b="1" dirty="0">
                <a:solidFill>
                  <a:srgbClr val="2A1015"/>
                </a:solidFill>
                <a:latin typeface="Arial" pitchFamily="34" charset="0"/>
                <a:ea typeface="Arial" pitchFamily="34" charset="-122"/>
                <a:cs typeface="Arial" pitchFamily="34" charset="-120"/>
              </a:rPr>
              <a:t>Pflugerville Hub</a:t>
            </a:r>
            <a:endParaRPr lang="en-US" sz="1800" dirty="0"/>
          </a:p>
        </p:txBody>
      </p:sp>
      <p:sp>
        <p:nvSpPr>
          <p:cNvPr id="19" name="Text 16"/>
          <p:cNvSpPr/>
          <p:nvPr/>
        </p:nvSpPr>
        <p:spPr>
          <a:xfrm>
            <a:off x="8229600" y="2103120"/>
            <a:ext cx="315468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Infrastructure First</a:t>
            </a:r>
            <a:endParaRPr lang="en-US" sz="1300" dirty="0"/>
          </a:p>
        </p:txBody>
      </p:sp>
      <p:sp>
        <p:nvSpPr>
          <p:cNvPr id="20" name="Text 17"/>
          <p:cNvSpPr/>
          <p:nvPr/>
        </p:nvSpPr>
        <p:spPr>
          <a:xfrm>
            <a:off x="8229600" y="265176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75K+ population</a:t>
            </a:r>
            <a:endParaRPr lang="en-US" sz="1200" dirty="0"/>
          </a:p>
        </p:txBody>
      </p:sp>
      <p:sp>
        <p:nvSpPr>
          <p:cNvPr id="21" name="Text 18"/>
          <p:cNvSpPr/>
          <p:nvPr/>
        </p:nvSpPr>
        <p:spPr>
          <a:xfrm>
            <a:off x="8229600" y="306324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52% growth (2010-20)</a:t>
            </a:r>
            <a:endParaRPr lang="en-US" sz="1200" dirty="0"/>
          </a:p>
        </p:txBody>
      </p:sp>
      <p:sp>
        <p:nvSpPr>
          <p:cNvPr id="22" name="Text 19"/>
          <p:cNvSpPr/>
          <p:nvPr/>
        </p:nvSpPr>
        <p:spPr>
          <a:xfrm>
            <a:off x="8229600" y="3474720"/>
            <a:ext cx="3154680" cy="36576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Digital access gap</a:t>
            </a:r>
            <a:endParaRPr lang="en-US" sz="1200" dirty="0"/>
          </a:p>
        </p:txBody>
      </p:sp>
      <p:sp>
        <p:nvSpPr>
          <p:cNvPr id="23" name="Text 20"/>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18/30</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RPLICE — IMPLEMENTATION SCIENCE</a:t>
            </a:r>
            <a:endParaRPr lang="en-US" sz="1100" dirty="0"/>
          </a:p>
        </p:txBody>
      </p:sp>
      <p:sp>
        <p:nvSpPr>
          <p:cNvPr id="4" name="Text 1"/>
          <p:cNvSpPr/>
          <p:nvPr/>
        </p:nvSpPr>
        <p:spPr>
          <a:xfrm>
            <a:off x="731520" y="7315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Research Quality Gate &amp; AI Community Analysis</a:t>
            </a:r>
            <a:endParaRPr lang="en-US" sz="2600" dirty="0"/>
          </a:p>
        </p:txBody>
      </p:sp>
      <p:sp>
        <p:nvSpPr>
          <p:cNvPr id="5" name="Shape 2"/>
          <p:cNvSpPr/>
          <p:nvPr/>
        </p:nvSpPr>
        <p:spPr>
          <a:xfrm>
            <a:off x="457200" y="1645920"/>
            <a:ext cx="5394960" cy="1554480"/>
          </a:xfrm>
          <a:prstGeom prst="roundRect">
            <a:avLst>
              <a:gd name="adj" fmla="val 5882"/>
            </a:avLst>
          </a:prstGeom>
          <a:solidFill>
            <a:srgbClr val="2A2025"/>
          </a:solidFill>
          <a:ln w="12700">
            <a:solidFill>
              <a:srgbClr val="3A3035"/>
            </a:solidFill>
            <a:prstDash val="solid"/>
          </a:ln>
        </p:spPr>
      </p:sp>
      <p:sp>
        <p:nvSpPr>
          <p:cNvPr id="6" name="Text 3"/>
          <p:cNvSpPr/>
          <p:nvPr/>
        </p:nvSpPr>
        <p:spPr>
          <a:xfrm>
            <a:off x="640080" y="173736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CFIR Assessment</a:t>
            </a:r>
            <a:endParaRPr lang="en-US" sz="1500" dirty="0"/>
          </a:p>
        </p:txBody>
      </p:sp>
      <p:sp>
        <p:nvSpPr>
          <p:cNvPr id="7" name="Text 4"/>
          <p:cNvSpPr/>
          <p:nvPr/>
        </p:nvSpPr>
        <p:spPr>
          <a:xfrm>
            <a:off x="640080" y="2194560"/>
            <a:ext cx="5029200" cy="7315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All 5 domains scored: Intervention, Inner Setting, Outer Setting, Individuals, Process</a:t>
            </a:r>
            <a:endParaRPr lang="en-US" sz="1100" dirty="0"/>
          </a:p>
        </p:txBody>
      </p:sp>
      <p:sp>
        <p:nvSpPr>
          <p:cNvPr id="8" name="Shape 5"/>
          <p:cNvSpPr/>
          <p:nvPr/>
        </p:nvSpPr>
        <p:spPr>
          <a:xfrm>
            <a:off x="6217920" y="1645920"/>
            <a:ext cx="5394960" cy="1554480"/>
          </a:xfrm>
          <a:prstGeom prst="roundRect">
            <a:avLst>
              <a:gd name="adj" fmla="val 5882"/>
            </a:avLst>
          </a:prstGeom>
          <a:solidFill>
            <a:srgbClr val="2A2025"/>
          </a:solidFill>
          <a:ln w="12700">
            <a:solidFill>
              <a:srgbClr val="3A3035"/>
            </a:solidFill>
            <a:prstDash val="solid"/>
          </a:ln>
        </p:spPr>
      </p:sp>
      <p:sp>
        <p:nvSpPr>
          <p:cNvPr id="9" name="Text 6"/>
          <p:cNvSpPr/>
          <p:nvPr/>
        </p:nvSpPr>
        <p:spPr>
          <a:xfrm>
            <a:off x="6400800" y="173736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RE-AIM Evaluation</a:t>
            </a:r>
            <a:endParaRPr lang="en-US" sz="1500" dirty="0"/>
          </a:p>
        </p:txBody>
      </p:sp>
      <p:sp>
        <p:nvSpPr>
          <p:cNvPr id="10" name="Text 7"/>
          <p:cNvSpPr/>
          <p:nvPr/>
        </p:nvSpPr>
        <p:spPr>
          <a:xfrm>
            <a:off x="6400800" y="2194560"/>
            <a:ext cx="5029200" cy="7315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Reach, Effectiveness, Adoption, Implementation, Maintenance scoring</a:t>
            </a:r>
            <a:endParaRPr lang="en-US" sz="1100" dirty="0"/>
          </a:p>
        </p:txBody>
      </p:sp>
      <p:sp>
        <p:nvSpPr>
          <p:cNvPr id="11" name="Shape 8"/>
          <p:cNvSpPr/>
          <p:nvPr/>
        </p:nvSpPr>
        <p:spPr>
          <a:xfrm>
            <a:off x="457200" y="3474720"/>
            <a:ext cx="5394960" cy="1554480"/>
          </a:xfrm>
          <a:prstGeom prst="roundRect">
            <a:avLst>
              <a:gd name="adj" fmla="val 5882"/>
            </a:avLst>
          </a:prstGeom>
          <a:solidFill>
            <a:srgbClr val="2A2025"/>
          </a:solidFill>
          <a:ln w="12700">
            <a:solidFill>
              <a:srgbClr val="3A3035"/>
            </a:solidFill>
            <a:prstDash val="solid"/>
          </a:ln>
        </p:spPr>
      </p:sp>
      <p:sp>
        <p:nvSpPr>
          <p:cNvPr id="12" name="Text 9"/>
          <p:cNvSpPr/>
          <p:nvPr/>
        </p:nvSpPr>
        <p:spPr>
          <a:xfrm>
            <a:off x="640080" y="356616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Three Realities</a:t>
            </a:r>
            <a:endParaRPr lang="en-US" sz="1500" dirty="0"/>
          </a:p>
        </p:txBody>
      </p:sp>
      <p:sp>
        <p:nvSpPr>
          <p:cNvPr id="13" name="Text 10"/>
          <p:cNvSpPr/>
          <p:nvPr/>
        </p:nvSpPr>
        <p:spPr>
          <a:xfrm>
            <a:off x="640080" y="4023360"/>
            <a:ext cx="5029200" cy="7315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What research says, what politics allow, what works on the ground</a:t>
            </a:r>
            <a:endParaRPr lang="en-US" sz="1100" dirty="0"/>
          </a:p>
        </p:txBody>
      </p:sp>
      <p:sp>
        <p:nvSpPr>
          <p:cNvPr id="14" name="Shape 11"/>
          <p:cNvSpPr/>
          <p:nvPr/>
        </p:nvSpPr>
        <p:spPr>
          <a:xfrm>
            <a:off x="6217920" y="3474720"/>
            <a:ext cx="5394960" cy="1554480"/>
          </a:xfrm>
          <a:prstGeom prst="roundRect">
            <a:avLst>
              <a:gd name="adj" fmla="val 5882"/>
            </a:avLst>
          </a:prstGeom>
          <a:solidFill>
            <a:srgbClr val="2A2025"/>
          </a:solidFill>
          <a:ln w="12700">
            <a:solidFill>
              <a:srgbClr val="3A3035"/>
            </a:solidFill>
            <a:prstDash val="solid"/>
          </a:ln>
        </p:spPr>
      </p:sp>
      <p:sp>
        <p:nvSpPr>
          <p:cNvPr id="15" name="Text 12"/>
          <p:cNvSpPr/>
          <p:nvPr/>
        </p:nvSpPr>
        <p:spPr>
          <a:xfrm>
            <a:off x="6400800" y="3566160"/>
            <a:ext cx="502920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AI Community Analysis</a:t>
            </a:r>
            <a:endParaRPr lang="en-US" sz="1500" dirty="0"/>
          </a:p>
        </p:txBody>
      </p:sp>
      <p:sp>
        <p:nvSpPr>
          <p:cNvPr id="16" name="Text 13"/>
          <p:cNvSpPr/>
          <p:nvPr/>
        </p:nvSpPr>
        <p:spPr>
          <a:xfrm>
            <a:off x="6400800" y="4023360"/>
            <a:ext cx="5029200" cy="7315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252+ Census tracts per region, 12 preset areas, 49 research studies</a:t>
            </a:r>
            <a:endParaRPr lang="en-US" sz="1100" dirty="0"/>
          </a:p>
        </p:txBody>
      </p:sp>
      <p:sp>
        <p:nvSpPr>
          <p:cNvPr id="17" name="Text 14"/>
          <p:cNvSpPr/>
          <p:nvPr/>
        </p:nvSpPr>
        <p:spPr>
          <a:xfrm>
            <a:off x="457200" y="5669280"/>
            <a:ext cx="11064240" cy="457200"/>
          </a:xfrm>
          <a:prstGeom prst="rect">
            <a:avLst/>
          </a:prstGeom>
          <a:noFill/>
          <a:ln/>
        </p:spPr>
        <p:txBody>
          <a:bodyPr wrap="square" rtlCol="0" anchor="ctr"/>
          <a:lstStyle/>
          <a:p>
            <a:pPr algn="ctr" indent="0" marL="0">
              <a:buNone/>
            </a:pPr>
            <a:r>
              <a:rPr lang="en-US" sz="1000" dirty="0">
                <a:solidFill>
                  <a:srgbClr val="AAAAAA"/>
                </a:solidFill>
                <a:latin typeface="Arial" pitchFamily="34" charset="0"/>
                <a:ea typeface="Arial" pitchFamily="34" charset="-122"/>
                <a:cs typeface="Arial" pitchFamily="34" charset="-120"/>
              </a:rPr>
              <a:t>9-Section RPLICE Report: Three Realities  |  CFIR 2.0  |  RE-AIM  |  SALP  |  Risk Matrix  |  Grant Alignment  |  90-Day Roadmap</a:t>
            </a:r>
            <a:endParaRPr lang="en-US" sz="1000" dirty="0"/>
          </a:p>
        </p:txBody>
      </p:sp>
      <p:sp>
        <p:nvSpPr>
          <p:cNvPr id="18" name="Text 15"/>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19/30</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GRANT ENGINE</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200" b="1" dirty="0">
                <a:solidFill>
                  <a:srgbClr val="2A1015"/>
                </a:solidFill>
                <a:latin typeface="Arial" pitchFamily="34" charset="0"/>
                <a:ea typeface="Arial" pitchFamily="34" charset="-122"/>
                <a:cs typeface="Arial" pitchFamily="34" charset="-120"/>
              </a:rPr>
              <a:t>Discovery → Analysis → Narrative → Package</a:t>
            </a:r>
            <a:endParaRPr lang="en-US" sz="2200" dirty="0"/>
          </a:p>
        </p:txBody>
      </p:sp>
      <p:sp>
        <p:nvSpPr>
          <p:cNvPr id="5" name="Shape 2"/>
          <p:cNvSpPr/>
          <p:nvPr/>
        </p:nvSpPr>
        <p:spPr>
          <a:xfrm>
            <a:off x="457200" y="1463040"/>
            <a:ext cx="3520440" cy="1188720"/>
          </a:xfrm>
          <a:prstGeom prst="roundRect">
            <a:avLst>
              <a:gd name="adj" fmla="val 6154"/>
            </a:avLst>
          </a:prstGeom>
          <a:solidFill>
            <a:srgbClr val="FFFFFF"/>
          </a:solidFill>
          <a:ln w="12700">
            <a:solidFill>
              <a:srgbClr val="E0D8D0"/>
            </a:solidFill>
            <a:prstDash val="solid"/>
          </a:ln>
        </p:spPr>
      </p:sp>
      <p:sp>
        <p:nvSpPr>
          <p:cNvPr id="6" name="Text 3"/>
          <p:cNvSpPr/>
          <p:nvPr/>
        </p:nvSpPr>
        <p:spPr>
          <a:xfrm>
            <a:off x="594360" y="1508760"/>
            <a:ext cx="3246120" cy="41148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BB Collective Research</a:t>
            </a:r>
            <a:endParaRPr lang="en-US" sz="1300" dirty="0"/>
          </a:p>
        </p:txBody>
      </p:sp>
      <p:sp>
        <p:nvSpPr>
          <p:cNvPr id="7" name="Text 4"/>
          <p:cNvSpPr/>
          <p:nvPr/>
        </p:nvSpPr>
        <p:spPr>
          <a:xfrm>
            <a:off x="594360" y="1920240"/>
            <a:ext cx="1828800" cy="320040"/>
          </a:xfrm>
          <a:prstGeom prst="rect">
            <a:avLst/>
          </a:prstGeom>
          <a:noFill/>
          <a:ln/>
        </p:spPr>
        <p:txBody>
          <a:bodyPr wrap="square" rtlCol="0" anchor="ctr"/>
          <a:lstStyle/>
          <a:p>
            <a:pPr indent="0" marL="0">
              <a:buNone/>
            </a:pPr>
            <a:r>
              <a:rPr lang="en-US" sz="1400" b="1" dirty="0">
                <a:solidFill>
                  <a:srgbClr val="6B1C2A"/>
                </a:solidFill>
                <a:latin typeface="Arial" pitchFamily="34" charset="0"/>
                <a:ea typeface="Arial" pitchFamily="34" charset="-122"/>
                <a:cs typeface="Arial" pitchFamily="34" charset="-120"/>
              </a:rPr>
              <a:t>$50K</a:t>
            </a:r>
            <a:endParaRPr lang="en-US" sz="1400" dirty="0"/>
          </a:p>
        </p:txBody>
      </p:sp>
      <p:sp>
        <p:nvSpPr>
          <p:cNvPr id="8" name="Text 5"/>
          <p:cNvSpPr/>
          <p:nvPr/>
        </p:nvSpPr>
        <p:spPr>
          <a:xfrm>
            <a:off x="2286000" y="1920240"/>
            <a:ext cx="1554480" cy="320040"/>
          </a:xfrm>
          <a:prstGeom prst="rect">
            <a:avLst/>
          </a:prstGeom>
          <a:noFill/>
          <a:ln/>
        </p:spPr>
        <p:txBody>
          <a:bodyPr wrap="square" rtlCol="0" anchor="ctr"/>
          <a:lstStyle/>
          <a:p>
            <a:pPr algn="r" indent="0" marL="0">
              <a:buNone/>
            </a:pPr>
            <a:r>
              <a:rPr lang="en-US" sz="1000" dirty="0">
                <a:solidFill>
                  <a:srgbClr val="6B5050"/>
                </a:solidFill>
                <a:latin typeface="Arial" pitchFamily="34" charset="0"/>
                <a:ea typeface="Arial" pitchFamily="34" charset="-122"/>
                <a:cs typeface="Arial" pitchFamily="34" charset="-120"/>
              </a:rPr>
              <a:t>Deadline: April 13</a:t>
            </a:r>
            <a:endParaRPr lang="en-US" sz="1000" dirty="0"/>
          </a:p>
        </p:txBody>
      </p:sp>
      <p:sp>
        <p:nvSpPr>
          <p:cNvPr id="9" name="Shape 6"/>
          <p:cNvSpPr/>
          <p:nvPr/>
        </p:nvSpPr>
        <p:spPr>
          <a:xfrm>
            <a:off x="4251960" y="1463040"/>
            <a:ext cx="3520440" cy="1188720"/>
          </a:xfrm>
          <a:prstGeom prst="roundRect">
            <a:avLst>
              <a:gd name="adj" fmla="val 6154"/>
            </a:avLst>
          </a:prstGeom>
          <a:solidFill>
            <a:srgbClr val="FFFFFF"/>
          </a:solidFill>
          <a:ln w="12700">
            <a:solidFill>
              <a:srgbClr val="E0D8D0"/>
            </a:solidFill>
            <a:prstDash val="solid"/>
          </a:ln>
        </p:spPr>
      </p:sp>
      <p:sp>
        <p:nvSpPr>
          <p:cNvPr id="10" name="Text 7"/>
          <p:cNvSpPr/>
          <p:nvPr/>
        </p:nvSpPr>
        <p:spPr>
          <a:xfrm>
            <a:off x="4389120" y="1508760"/>
            <a:ext cx="3246120" cy="41148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Rare Impact Fund</a:t>
            </a:r>
            <a:endParaRPr lang="en-US" sz="1300" dirty="0"/>
          </a:p>
        </p:txBody>
      </p:sp>
      <p:sp>
        <p:nvSpPr>
          <p:cNvPr id="11" name="Text 8"/>
          <p:cNvSpPr/>
          <p:nvPr/>
        </p:nvSpPr>
        <p:spPr>
          <a:xfrm>
            <a:off x="4389120" y="1920240"/>
            <a:ext cx="1828800" cy="320040"/>
          </a:xfrm>
          <a:prstGeom prst="rect">
            <a:avLst/>
          </a:prstGeom>
          <a:noFill/>
          <a:ln/>
        </p:spPr>
        <p:txBody>
          <a:bodyPr wrap="square" rtlCol="0" anchor="ctr"/>
          <a:lstStyle/>
          <a:p>
            <a:pPr indent="0" marL="0">
              <a:buNone/>
            </a:pPr>
            <a:r>
              <a:rPr lang="en-US" sz="1400" b="1" dirty="0">
                <a:solidFill>
                  <a:srgbClr val="6B1C2A"/>
                </a:solidFill>
                <a:latin typeface="Arial" pitchFamily="34" charset="0"/>
                <a:ea typeface="Arial" pitchFamily="34" charset="-122"/>
                <a:cs typeface="Arial" pitchFamily="34" charset="-120"/>
              </a:rPr>
              <a:t>$250K-$500K</a:t>
            </a:r>
            <a:endParaRPr lang="en-US" sz="1400" dirty="0"/>
          </a:p>
        </p:txBody>
      </p:sp>
      <p:sp>
        <p:nvSpPr>
          <p:cNvPr id="12" name="Text 9"/>
          <p:cNvSpPr/>
          <p:nvPr/>
        </p:nvSpPr>
        <p:spPr>
          <a:xfrm>
            <a:off x="6080760" y="1920240"/>
            <a:ext cx="1554480" cy="320040"/>
          </a:xfrm>
          <a:prstGeom prst="rect">
            <a:avLst/>
          </a:prstGeom>
          <a:noFill/>
          <a:ln/>
        </p:spPr>
        <p:txBody>
          <a:bodyPr wrap="square" rtlCol="0" anchor="ctr"/>
          <a:lstStyle/>
          <a:p>
            <a:pPr algn="r" indent="0" marL="0">
              <a:buNone/>
            </a:pPr>
            <a:r>
              <a:rPr lang="en-US" sz="1000" dirty="0">
                <a:solidFill>
                  <a:srgbClr val="6B5050"/>
                </a:solidFill>
                <a:latin typeface="Arial" pitchFamily="34" charset="0"/>
                <a:ea typeface="Arial" pitchFamily="34" charset="-122"/>
                <a:cs typeface="Arial" pitchFamily="34" charset="-120"/>
              </a:rPr>
              <a:t>Deadline: April 10</a:t>
            </a:r>
            <a:endParaRPr lang="en-US" sz="1000" dirty="0"/>
          </a:p>
        </p:txBody>
      </p:sp>
      <p:sp>
        <p:nvSpPr>
          <p:cNvPr id="13" name="Shape 10"/>
          <p:cNvSpPr/>
          <p:nvPr/>
        </p:nvSpPr>
        <p:spPr>
          <a:xfrm>
            <a:off x="8046720" y="1463040"/>
            <a:ext cx="3520440" cy="1188720"/>
          </a:xfrm>
          <a:prstGeom prst="roundRect">
            <a:avLst>
              <a:gd name="adj" fmla="val 6154"/>
            </a:avLst>
          </a:prstGeom>
          <a:solidFill>
            <a:srgbClr val="FFFFFF"/>
          </a:solidFill>
          <a:ln w="12700">
            <a:solidFill>
              <a:srgbClr val="E0D8D0"/>
            </a:solidFill>
            <a:prstDash val="solid"/>
          </a:ln>
        </p:spPr>
      </p:sp>
      <p:sp>
        <p:nvSpPr>
          <p:cNvPr id="14" name="Text 11"/>
          <p:cNvSpPr/>
          <p:nvPr/>
        </p:nvSpPr>
        <p:spPr>
          <a:xfrm>
            <a:off x="8183880" y="1508760"/>
            <a:ext cx="3246120" cy="41148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Austin FC Dream Starter</a:t>
            </a:r>
            <a:endParaRPr lang="en-US" sz="1300" dirty="0"/>
          </a:p>
        </p:txBody>
      </p:sp>
      <p:sp>
        <p:nvSpPr>
          <p:cNvPr id="15" name="Text 12"/>
          <p:cNvSpPr/>
          <p:nvPr/>
        </p:nvSpPr>
        <p:spPr>
          <a:xfrm>
            <a:off x="8183880" y="1920240"/>
            <a:ext cx="1828800" cy="320040"/>
          </a:xfrm>
          <a:prstGeom prst="rect">
            <a:avLst/>
          </a:prstGeom>
          <a:noFill/>
          <a:ln/>
        </p:spPr>
        <p:txBody>
          <a:bodyPr wrap="square" rtlCol="0" anchor="ctr"/>
          <a:lstStyle/>
          <a:p>
            <a:pPr indent="0" marL="0">
              <a:buNone/>
            </a:pPr>
            <a:r>
              <a:rPr lang="en-US" sz="1400" b="1" dirty="0">
                <a:solidFill>
                  <a:srgbClr val="6B1C2A"/>
                </a:solidFill>
                <a:latin typeface="Arial" pitchFamily="34" charset="0"/>
                <a:ea typeface="Arial" pitchFamily="34" charset="-122"/>
                <a:cs typeface="Arial" pitchFamily="34" charset="-120"/>
              </a:rPr>
              <a:t>$100K</a:t>
            </a:r>
            <a:endParaRPr lang="en-US" sz="1400" dirty="0"/>
          </a:p>
        </p:txBody>
      </p:sp>
      <p:sp>
        <p:nvSpPr>
          <p:cNvPr id="16" name="Text 13"/>
          <p:cNvSpPr/>
          <p:nvPr/>
        </p:nvSpPr>
        <p:spPr>
          <a:xfrm>
            <a:off x="9875520" y="1920240"/>
            <a:ext cx="1554480" cy="320040"/>
          </a:xfrm>
          <a:prstGeom prst="rect">
            <a:avLst/>
          </a:prstGeom>
          <a:noFill/>
          <a:ln/>
        </p:spPr>
        <p:txBody>
          <a:bodyPr wrap="square" rtlCol="0" anchor="ctr"/>
          <a:lstStyle/>
          <a:p>
            <a:pPr algn="r" indent="0" marL="0">
              <a:buNone/>
            </a:pPr>
            <a:r>
              <a:rPr lang="en-US" sz="1000" dirty="0">
                <a:solidFill>
                  <a:srgbClr val="6B5050"/>
                </a:solidFill>
                <a:latin typeface="Arial" pitchFamily="34" charset="0"/>
                <a:ea typeface="Arial" pitchFamily="34" charset="-122"/>
                <a:cs typeface="Arial" pitchFamily="34" charset="-120"/>
              </a:rPr>
              <a:t>Deadline: April 13</a:t>
            </a:r>
            <a:endParaRPr lang="en-US" sz="1000" dirty="0"/>
          </a:p>
        </p:txBody>
      </p:sp>
      <p:sp>
        <p:nvSpPr>
          <p:cNvPr id="17" name="Shape 14"/>
          <p:cNvSpPr/>
          <p:nvPr/>
        </p:nvSpPr>
        <p:spPr>
          <a:xfrm>
            <a:off x="457200" y="2926080"/>
            <a:ext cx="3520440" cy="1188720"/>
          </a:xfrm>
          <a:prstGeom prst="roundRect">
            <a:avLst>
              <a:gd name="adj" fmla="val 6154"/>
            </a:avLst>
          </a:prstGeom>
          <a:solidFill>
            <a:srgbClr val="FFFFFF"/>
          </a:solidFill>
          <a:ln w="12700">
            <a:solidFill>
              <a:srgbClr val="E0D8D0"/>
            </a:solidFill>
            <a:prstDash val="solid"/>
          </a:ln>
        </p:spPr>
      </p:sp>
      <p:sp>
        <p:nvSpPr>
          <p:cNvPr id="18" name="Text 15"/>
          <p:cNvSpPr/>
          <p:nvPr/>
        </p:nvSpPr>
        <p:spPr>
          <a:xfrm>
            <a:off x="594360" y="2971800"/>
            <a:ext cx="3246120" cy="41148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St. David's Foundation</a:t>
            </a:r>
            <a:endParaRPr lang="en-US" sz="1300" dirty="0"/>
          </a:p>
        </p:txBody>
      </p:sp>
      <p:sp>
        <p:nvSpPr>
          <p:cNvPr id="19" name="Text 16"/>
          <p:cNvSpPr/>
          <p:nvPr/>
        </p:nvSpPr>
        <p:spPr>
          <a:xfrm>
            <a:off x="594360" y="3383280"/>
            <a:ext cx="1828800" cy="320040"/>
          </a:xfrm>
          <a:prstGeom prst="rect">
            <a:avLst/>
          </a:prstGeom>
          <a:noFill/>
          <a:ln/>
        </p:spPr>
        <p:txBody>
          <a:bodyPr wrap="square" rtlCol="0" anchor="ctr"/>
          <a:lstStyle/>
          <a:p>
            <a:pPr indent="0" marL="0">
              <a:buNone/>
            </a:pPr>
            <a:r>
              <a:rPr lang="en-US" sz="1400" b="1" dirty="0">
                <a:solidFill>
                  <a:srgbClr val="6B1C2A"/>
                </a:solidFill>
                <a:latin typeface="Arial" pitchFamily="34" charset="0"/>
                <a:ea typeface="Arial" pitchFamily="34" charset="-122"/>
                <a:cs typeface="Arial" pitchFamily="34" charset="-120"/>
              </a:rPr>
              <a:t>Up to $1M</a:t>
            </a:r>
            <a:endParaRPr lang="en-US" sz="1400" dirty="0"/>
          </a:p>
        </p:txBody>
      </p:sp>
      <p:sp>
        <p:nvSpPr>
          <p:cNvPr id="20" name="Text 17"/>
          <p:cNvSpPr/>
          <p:nvPr/>
        </p:nvSpPr>
        <p:spPr>
          <a:xfrm>
            <a:off x="2286000" y="3383280"/>
            <a:ext cx="1554480" cy="320040"/>
          </a:xfrm>
          <a:prstGeom prst="rect">
            <a:avLst/>
          </a:prstGeom>
          <a:noFill/>
          <a:ln/>
        </p:spPr>
        <p:txBody>
          <a:bodyPr wrap="square" rtlCol="0" anchor="ctr"/>
          <a:lstStyle/>
          <a:p>
            <a:pPr algn="r" indent="0" marL="0">
              <a:buNone/>
            </a:pPr>
            <a:r>
              <a:rPr lang="en-US" sz="1000" dirty="0">
                <a:solidFill>
                  <a:srgbClr val="6B5050"/>
                </a:solidFill>
                <a:latin typeface="Arial" pitchFamily="34" charset="0"/>
                <a:ea typeface="Arial" pitchFamily="34" charset="-122"/>
                <a:cs typeface="Arial" pitchFamily="34" charset="-120"/>
              </a:rPr>
              <a:t>Deadline: Rolling</a:t>
            </a:r>
            <a:endParaRPr lang="en-US" sz="1000" dirty="0"/>
          </a:p>
        </p:txBody>
      </p:sp>
      <p:sp>
        <p:nvSpPr>
          <p:cNvPr id="21" name="Shape 18"/>
          <p:cNvSpPr/>
          <p:nvPr/>
        </p:nvSpPr>
        <p:spPr>
          <a:xfrm>
            <a:off x="4251960" y="2926080"/>
            <a:ext cx="3520440" cy="1188720"/>
          </a:xfrm>
          <a:prstGeom prst="roundRect">
            <a:avLst>
              <a:gd name="adj" fmla="val 6154"/>
            </a:avLst>
          </a:prstGeom>
          <a:solidFill>
            <a:srgbClr val="FFFFFF"/>
          </a:solidFill>
          <a:ln w="12700">
            <a:solidFill>
              <a:srgbClr val="E0D8D0"/>
            </a:solidFill>
            <a:prstDash val="solid"/>
          </a:ln>
        </p:spPr>
      </p:sp>
      <p:sp>
        <p:nvSpPr>
          <p:cNvPr id="22" name="Text 19"/>
          <p:cNvSpPr/>
          <p:nvPr/>
        </p:nvSpPr>
        <p:spPr>
          <a:xfrm>
            <a:off x="4389120" y="2971800"/>
            <a:ext cx="3246120" cy="41148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SSG Fox VA</a:t>
            </a:r>
            <a:endParaRPr lang="en-US" sz="1300" dirty="0"/>
          </a:p>
        </p:txBody>
      </p:sp>
      <p:sp>
        <p:nvSpPr>
          <p:cNvPr id="23" name="Text 20"/>
          <p:cNvSpPr/>
          <p:nvPr/>
        </p:nvSpPr>
        <p:spPr>
          <a:xfrm>
            <a:off x="4389120" y="3383280"/>
            <a:ext cx="1828800" cy="320040"/>
          </a:xfrm>
          <a:prstGeom prst="rect">
            <a:avLst/>
          </a:prstGeom>
          <a:noFill/>
          <a:ln/>
        </p:spPr>
        <p:txBody>
          <a:bodyPr wrap="square" rtlCol="0" anchor="ctr"/>
          <a:lstStyle/>
          <a:p>
            <a:pPr indent="0" marL="0">
              <a:buNone/>
            </a:pPr>
            <a:r>
              <a:rPr lang="en-US" sz="1400" b="1" dirty="0">
                <a:solidFill>
                  <a:srgbClr val="6B1C2A"/>
                </a:solidFill>
                <a:latin typeface="Arial" pitchFamily="34" charset="0"/>
                <a:ea typeface="Arial" pitchFamily="34" charset="-122"/>
                <a:cs typeface="Arial" pitchFamily="34" charset="-120"/>
              </a:rPr>
              <a:t>$750K</a:t>
            </a:r>
            <a:endParaRPr lang="en-US" sz="1400" dirty="0"/>
          </a:p>
        </p:txBody>
      </p:sp>
      <p:sp>
        <p:nvSpPr>
          <p:cNvPr id="24" name="Text 21"/>
          <p:cNvSpPr/>
          <p:nvPr/>
        </p:nvSpPr>
        <p:spPr>
          <a:xfrm>
            <a:off x="6080760" y="3383280"/>
            <a:ext cx="1554480" cy="320040"/>
          </a:xfrm>
          <a:prstGeom prst="rect">
            <a:avLst/>
          </a:prstGeom>
          <a:noFill/>
          <a:ln/>
        </p:spPr>
        <p:txBody>
          <a:bodyPr wrap="square" rtlCol="0" anchor="ctr"/>
          <a:lstStyle/>
          <a:p>
            <a:pPr algn="r" indent="0" marL="0">
              <a:buNone/>
            </a:pPr>
            <a:r>
              <a:rPr lang="en-US" sz="1000" dirty="0">
                <a:solidFill>
                  <a:srgbClr val="6B5050"/>
                </a:solidFill>
                <a:latin typeface="Arial" pitchFamily="34" charset="0"/>
                <a:ea typeface="Arial" pitchFamily="34" charset="-122"/>
                <a:cs typeface="Arial" pitchFamily="34" charset="-120"/>
              </a:rPr>
              <a:t>Deadline: Open</a:t>
            </a:r>
            <a:endParaRPr lang="en-US" sz="1000" dirty="0"/>
          </a:p>
        </p:txBody>
      </p:sp>
      <p:sp>
        <p:nvSpPr>
          <p:cNvPr id="25" name="Shape 22"/>
          <p:cNvSpPr/>
          <p:nvPr/>
        </p:nvSpPr>
        <p:spPr>
          <a:xfrm>
            <a:off x="8046720" y="2926080"/>
            <a:ext cx="3520440" cy="1188720"/>
          </a:xfrm>
          <a:prstGeom prst="roundRect">
            <a:avLst>
              <a:gd name="adj" fmla="val 6154"/>
            </a:avLst>
          </a:prstGeom>
          <a:solidFill>
            <a:srgbClr val="FFFFFF"/>
          </a:solidFill>
          <a:ln w="12700">
            <a:solidFill>
              <a:srgbClr val="E0D8D0"/>
            </a:solidFill>
            <a:prstDash val="solid"/>
          </a:ln>
        </p:spPr>
      </p:sp>
      <p:sp>
        <p:nvSpPr>
          <p:cNvPr id="26" name="Text 23"/>
          <p:cNvSpPr/>
          <p:nvPr/>
        </p:nvSpPr>
        <p:spPr>
          <a:xfrm>
            <a:off x="8183880" y="2971800"/>
            <a:ext cx="3246120" cy="411480"/>
          </a:xfrm>
          <a:prstGeom prst="rect">
            <a:avLst/>
          </a:prstGeom>
          <a:noFill/>
          <a:ln/>
        </p:spPr>
        <p:txBody>
          <a:bodyPr wrap="square" rtlCol="0" anchor="ctr"/>
          <a:lstStyle/>
          <a:p>
            <a:pPr indent="0" marL="0">
              <a:buNone/>
            </a:pPr>
            <a:r>
              <a:rPr lang="en-US" sz="1300" b="1" dirty="0">
                <a:solidFill>
                  <a:srgbClr val="2A1015"/>
                </a:solidFill>
                <a:latin typeface="Arial" pitchFamily="34" charset="0"/>
                <a:ea typeface="Arial" pitchFamily="34" charset="-122"/>
                <a:cs typeface="Arial" pitchFamily="34" charset="-120"/>
              </a:rPr>
              <a:t>Centene Foundation</a:t>
            </a:r>
            <a:endParaRPr lang="en-US" sz="1300" dirty="0"/>
          </a:p>
        </p:txBody>
      </p:sp>
      <p:sp>
        <p:nvSpPr>
          <p:cNvPr id="27" name="Text 24"/>
          <p:cNvSpPr/>
          <p:nvPr/>
        </p:nvSpPr>
        <p:spPr>
          <a:xfrm>
            <a:off x="8183880" y="3383280"/>
            <a:ext cx="1828800" cy="320040"/>
          </a:xfrm>
          <a:prstGeom prst="rect">
            <a:avLst/>
          </a:prstGeom>
          <a:noFill/>
          <a:ln/>
        </p:spPr>
        <p:txBody>
          <a:bodyPr wrap="square" rtlCol="0" anchor="ctr"/>
          <a:lstStyle/>
          <a:p>
            <a:pPr indent="0" marL="0">
              <a:buNone/>
            </a:pPr>
            <a:r>
              <a:rPr lang="en-US" sz="1400" b="1" dirty="0">
                <a:solidFill>
                  <a:srgbClr val="6B1C2A"/>
                </a:solidFill>
                <a:latin typeface="Arial" pitchFamily="34" charset="0"/>
                <a:ea typeface="Arial" pitchFamily="34" charset="-122"/>
                <a:cs typeface="Arial" pitchFamily="34" charset="-120"/>
              </a:rPr>
              <a:t>TBD</a:t>
            </a:r>
            <a:endParaRPr lang="en-US" sz="1400" dirty="0"/>
          </a:p>
        </p:txBody>
      </p:sp>
      <p:sp>
        <p:nvSpPr>
          <p:cNvPr id="28" name="Text 25"/>
          <p:cNvSpPr/>
          <p:nvPr/>
        </p:nvSpPr>
        <p:spPr>
          <a:xfrm>
            <a:off x="9875520" y="3383280"/>
            <a:ext cx="1554480" cy="320040"/>
          </a:xfrm>
          <a:prstGeom prst="rect">
            <a:avLst/>
          </a:prstGeom>
          <a:noFill/>
          <a:ln/>
        </p:spPr>
        <p:txBody>
          <a:bodyPr wrap="square" rtlCol="0" anchor="ctr"/>
          <a:lstStyle/>
          <a:p>
            <a:pPr algn="r" indent="0" marL="0">
              <a:buNone/>
            </a:pPr>
            <a:r>
              <a:rPr lang="en-US" sz="1000" dirty="0">
                <a:solidFill>
                  <a:srgbClr val="6B5050"/>
                </a:solidFill>
                <a:latin typeface="Arial" pitchFamily="34" charset="0"/>
                <a:ea typeface="Arial" pitchFamily="34" charset="-122"/>
                <a:cs typeface="Arial" pitchFamily="34" charset="-120"/>
              </a:rPr>
              <a:t>Deadline: May 31</a:t>
            </a:r>
            <a:endParaRPr lang="en-US" sz="1000" dirty="0"/>
          </a:p>
        </p:txBody>
      </p:sp>
      <p:sp>
        <p:nvSpPr>
          <p:cNvPr id="29" name="Text 26"/>
          <p:cNvSpPr/>
          <p:nvPr/>
        </p:nvSpPr>
        <p:spPr>
          <a:xfrm>
            <a:off x="731520" y="4572000"/>
            <a:ext cx="10058400" cy="320040"/>
          </a:xfrm>
          <a:prstGeom prst="rect">
            <a:avLst/>
          </a:prstGeom>
          <a:noFill/>
          <a:ln/>
        </p:spPr>
        <p:txBody>
          <a:bodyPr wrap="square" rtlCol="0" anchor="ctr"/>
          <a:lstStyle/>
          <a:p>
            <a:pPr indent="0" marL="0">
              <a:buNone/>
            </a:pPr>
            <a:r>
              <a:rPr lang="en-US" sz="1100" b="1" spc="200" kern="0" dirty="0">
                <a:solidFill>
                  <a:srgbClr val="6B1C2A"/>
                </a:solidFill>
                <a:latin typeface="Arial" pitchFamily="34" charset="0"/>
                <a:ea typeface="Arial" pitchFamily="34" charset="-122"/>
                <a:cs typeface="Arial" pitchFamily="34" charset="-120"/>
              </a:rPr>
              <a:t>SYSTEM CAPABILITIES</a:t>
            </a:r>
            <a:endParaRPr lang="en-US" sz="1100" dirty="0"/>
          </a:p>
        </p:txBody>
      </p:sp>
      <p:sp>
        <p:nvSpPr>
          <p:cNvPr id="30" name="Text 27"/>
          <p:cNvSpPr/>
          <p:nvPr/>
        </p:nvSpPr>
        <p:spPr>
          <a:xfrm>
            <a:off x="457200" y="4937760"/>
            <a:ext cx="5486400" cy="36576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Daily automated discovery (7 sources, 15 keywords)</a:t>
            </a:r>
            <a:endParaRPr lang="en-US" sz="1100" dirty="0"/>
          </a:p>
        </p:txBody>
      </p:sp>
      <p:sp>
        <p:nvSpPr>
          <p:cNvPr id="31" name="Text 28"/>
          <p:cNvSpPr/>
          <p:nvPr/>
        </p:nvSpPr>
        <p:spPr>
          <a:xfrm>
            <a:off x="6217920" y="4937760"/>
            <a:ext cx="5486400" cy="36576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SAM.gov API integration for federal grants</a:t>
            </a:r>
            <a:endParaRPr lang="en-US" sz="1100" dirty="0"/>
          </a:p>
        </p:txBody>
      </p:sp>
      <p:sp>
        <p:nvSpPr>
          <p:cNvPr id="32" name="Text 29"/>
          <p:cNvSpPr/>
          <p:nvPr/>
        </p:nvSpPr>
        <p:spPr>
          <a:xfrm>
            <a:off x="457200" y="5349240"/>
            <a:ext cx="5486400" cy="36576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AI semantic analysis and fit scoring</a:t>
            </a:r>
            <a:endParaRPr lang="en-US" sz="1100" dirty="0"/>
          </a:p>
        </p:txBody>
      </p:sp>
      <p:sp>
        <p:nvSpPr>
          <p:cNvPr id="33" name="Text 30"/>
          <p:cNvSpPr/>
          <p:nvPr/>
        </p:nvSpPr>
        <p:spPr>
          <a:xfrm>
            <a:off x="6217920" y="5349240"/>
            <a:ext cx="5486400" cy="36576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Funder-specific narrative generation (8 profiles)</a:t>
            </a:r>
            <a:endParaRPr lang="en-US" sz="1100" dirty="0"/>
          </a:p>
        </p:txBody>
      </p:sp>
      <p:sp>
        <p:nvSpPr>
          <p:cNvPr id="34" name="Text 31"/>
          <p:cNvSpPr/>
          <p:nvPr/>
        </p:nvSpPr>
        <p:spPr>
          <a:xfrm>
            <a:off x="457200" y="5760720"/>
            <a:ext cx="5486400" cy="36576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Logic model and evidence package assembly</a:t>
            </a:r>
            <a:endParaRPr lang="en-US" sz="1100" dirty="0"/>
          </a:p>
        </p:txBody>
      </p:sp>
      <p:sp>
        <p:nvSpPr>
          <p:cNvPr id="35" name="Text 32"/>
          <p:cNvSpPr/>
          <p:nvPr/>
        </p:nvSpPr>
        <p:spPr>
          <a:xfrm>
            <a:off x="6217920" y="5760720"/>
            <a:ext cx="5486400" cy="36576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Team-of-Teams platform assignment per grant</a:t>
            </a:r>
            <a:endParaRPr lang="en-US" sz="1100" dirty="0"/>
          </a:p>
        </p:txBody>
      </p:sp>
      <p:sp>
        <p:nvSpPr>
          <p:cNvPr id="36" name="Text 33"/>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20/30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ECOSYSTEM OPERATIONS</a:t>
            </a:r>
            <a:endParaRPr lang="en-US" sz="1100" dirty="0"/>
          </a:p>
        </p:txBody>
      </p:sp>
      <p:sp>
        <p:nvSpPr>
          <p:cNvPr id="4" name="Text 1"/>
          <p:cNvSpPr/>
          <p:nvPr/>
        </p:nvSpPr>
        <p:spPr>
          <a:xfrm>
            <a:off x="731520" y="7315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Coordinated Autonomy at Scale</a:t>
            </a:r>
            <a:endParaRPr lang="en-US" sz="2600" dirty="0"/>
          </a:p>
        </p:txBody>
      </p:sp>
      <p:sp>
        <p:nvSpPr>
          <p:cNvPr id="5" name="Shape 2"/>
          <p:cNvSpPr/>
          <p:nvPr/>
        </p:nvSpPr>
        <p:spPr>
          <a:xfrm>
            <a:off x="457200" y="1645920"/>
            <a:ext cx="5394960" cy="1188720"/>
          </a:xfrm>
          <a:prstGeom prst="roundRect">
            <a:avLst>
              <a:gd name="adj" fmla="val 7692"/>
            </a:avLst>
          </a:prstGeom>
          <a:solidFill>
            <a:srgbClr val="2A2025"/>
          </a:solidFill>
          <a:ln w="12700">
            <a:solidFill>
              <a:srgbClr val="3A3035"/>
            </a:solidFill>
            <a:prstDash val="solid"/>
          </a:ln>
        </p:spPr>
      </p:sp>
      <p:sp>
        <p:nvSpPr>
          <p:cNvPr id="6" name="Text 3"/>
          <p:cNvSpPr/>
          <p:nvPr/>
        </p:nvSpPr>
        <p:spPr>
          <a:xfrm>
            <a:off x="640080" y="1691640"/>
            <a:ext cx="36576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Weekly Cross-Evaluation</a:t>
            </a:r>
            <a:endParaRPr lang="en-US" sz="1400" dirty="0"/>
          </a:p>
        </p:txBody>
      </p:sp>
      <p:sp>
        <p:nvSpPr>
          <p:cNvPr id="7" name="Text 4"/>
          <p:cNvSpPr/>
          <p:nvPr/>
        </p:nvSpPr>
        <p:spPr>
          <a:xfrm>
            <a:off x="4114800" y="1691640"/>
            <a:ext cx="1554480" cy="365760"/>
          </a:xfrm>
          <a:prstGeom prst="rect">
            <a:avLst/>
          </a:prstGeom>
          <a:noFill/>
          <a:ln/>
        </p:spPr>
        <p:txBody>
          <a:bodyPr wrap="square" rtlCol="0" anchor="ctr"/>
          <a:lstStyle/>
          <a:p>
            <a:pPr algn="r" indent="0" marL="0">
              <a:buNone/>
            </a:pPr>
            <a:r>
              <a:rPr lang="en-US" sz="900" dirty="0">
                <a:solidFill>
                  <a:srgbClr val="D97706"/>
                </a:solidFill>
                <a:latin typeface="Arial" pitchFamily="34" charset="0"/>
                <a:ea typeface="Arial" pitchFamily="34" charset="-122"/>
                <a:cs typeface="Arial" pitchFamily="34" charset="-120"/>
              </a:rPr>
              <a:t>Weekly + On-Demand</a:t>
            </a:r>
            <a:endParaRPr lang="en-US" sz="900" dirty="0"/>
          </a:p>
        </p:txBody>
      </p:sp>
      <p:sp>
        <p:nvSpPr>
          <p:cNvPr id="8" name="Text 5"/>
          <p:cNvSpPr/>
          <p:nvPr/>
        </p:nvSpPr>
        <p:spPr>
          <a:xfrm>
            <a:off x="640080" y="2103120"/>
            <a:ext cx="502920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MAP-GAP peer review, executive summaries, ranked scores</a:t>
            </a:r>
            <a:endParaRPr lang="en-US" sz="1100" dirty="0"/>
          </a:p>
        </p:txBody>
      </p:sp>
      <p:sp>
        <p:nvSpPr>
          <p:cNvPr id="9" name="Shape 6"/>
          <p:cNvSpPr/>
          <p:nvPr/>
        </p:nvSpPr>
        <p:spPr>
          <a:xfrm>
            <a:off x="6217920" y="1645920"/>
            <a:ext cx="5394960" cy="1188720"/>
          </a:xfrm>
          <a:prstGeom prst="roundRect">
            <a:avLst>
              <a:gd name="adj" fmla="val 7692"/>
            </a:avLst>
          </a:prstGeom>
          <a:solidFill>
            <a:srgbClr val="2A2025"/>
          </a:solidFill>
          <a:ln w="12700">
            <a:solidFill>
              <a:srgbClr val="3A3035"/>
            </a:solidFill>
            <a:prstDash val="solid"/>
          </a:ln>
        </p:spPr>
      </p:sp>
      <p:sp>
        <p:nvSpPr>
          <p:cNvPr id="10" name="Text 7"/>
          <p:cNvSpPr/>
          <p:nvPr/>
        </p:nvSpPr>
        <p:spPr>
          <a:xfrm>
            <a:off x="6400800" y="1691640"/>
            <a:ext cx="36576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Self-Audit System</a:t>
            </a:r>
            <a:endParaRPr lang="en-US" sz="1400" dirty="0"/>
          </a:p>
        </p:txBody>
      </p:sp>
      <p:sp>
        <p:nvSpPr>
          <p:cNvPr id="11" name="Text 8"/>
          <p:cNvSpPr/>
          <p:nvPr/>
        </p:nvSpPr>
        <p:spPr>
          <a:xfrm>
            <a:off x="9875520" y="1691640"/>
            <a:ext cx="1554480" cy="365760"/>
          </a:xfrm>
          <a:prstGeom prst="rect">
            <a:avLst/>
          </a:prstGeom>
          <a:noFill/>
          <a:ln/>
        </p:spPr>
        <p:txBody>
          <a:bodyPr wrap="square" rtlCol="0" anchor="ctr"/>
          <a:lstStyle/>
          <a:p>
            <a:pPr algn="r" indent="0" marL="0">
              <a:buNone/>
            </a:pPr>
            <a:r>
              <a:rPr lang="en-US" sz="900" dirty="0">
                <a:solidFill>
                  <a:srgbClr val="D97706"/>
                </a:solidFill>
                <a:latin typeface="Arial" pitchFamily="34" charset="0"/>
                <a:ea typeface="Arial" pitchFamily="34" charset="-122"/>
                <a:cs typeface="Arial" pitchFamily="34" charset="-120"/>
              </a:rPr>
              <a:t>Every 6 Hours</a:t>
            </a:r>
            <a:endParaRPr lang="en-US" sz="900" dirty="0"/>
          </a:p>
        </p:txBody>
      </p:sp>
      <p:sp>
        <p:nvSpPr>
          <p:cNvPr id="12" name="Text 9"/>
          <p:cNvSpPr/>
          <p:nvPr/>
        </p:nvSpPr>
        <p:spPr>
          <a:xfrm>
            <a:off x="6400800" y="2103120"/>
            <a:ext cx="502920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Catches blind spots in subsystem monitoring, logs critical events</a:t>
            </a:r>
            <a:endParaRPr lang="en-US" sz="1100" dirty="0"/>
          </a:p>
        </p:txBody>
      </p:sp>
      <p:sp>
        <p:nvSpPr>
          <p:cNvPr id="13" name="Shape 10"/>
          <p:cNvSpPr/>
          <p:nvPr/>
        </p:nvSpPr>
        <p:spPr>
          <a:xfrm>
            <a:off x="457200" y="3108960"/>
            <a:ext cx="5394960" cy="1188720"/>
          </a:xfrm>
          <a:prstGeom prst="roundRect">
            <a:avLst>
              <a:gd name="adj" fmla="val 7692"/>
            </a:avLst>
          </a:prstGeom>
          <a:solidFill>
            <a:srgbClr val="2A2025"/>
          </a:solidFill>
          <a:ln w="12700">
            <a:solidFill>
              <a:srgbClr val="3A3035"/>
            </a:solidFill>
            <a:prstDash val="solid"/>
          </a:ln>
        </p:spPr>
      </p:sp>
      <p:sp>
        <p:nvSpPr>
          <p:cNvPr id="14" name="Text 11"/>
          <p:cNvSpPr/>
          <p:nvPr/>
        </p:nvSpPr>
        <p:spPr>
          <a:xfrm>
            <a:off x="640080" y="3154680"/>
            <a:ext cx="36576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Bilateral Exchange</a:t>
            </a:r>
            <a:endParaRPr lang="en-US" sz="1400" dirty="0"/>
          </a:p>
        </p:txBody>
      </p:sp>
      <p:sp>
        <p:nvSpPr>
          <p:cNvPr id="15" name="Text 12"/>
          <p:cNvSpPr/>
          <p:nvPr/>
        </p:nvSpPr>
        <p:spPr>
          <a:xfrm>
            <a:off x="4114800" y="3154680"/>
            <a:ext cx="1554480" cy="365760"/>
          </a:xfrm>
          <a:prstGeom prst="rect">
            <a:avLst/>
          </a:prstGeom>
          <a:noFill/>
          <a:ln/>
        </p:spPr>
        <p:txBody>
          <a:bodyPr wrap="square" rtlCol="0" anchor="ctr"/>
          <a:lstStyle/>
          <a:p>
            <a:pPr algn="r" indent="0" marL="0">
              <a:buNone/>
            </a:pPr>
            <a:r>
              <a:rPr lang="en-US" sz="900" dirty="0">
                <a:solidFill>
                  <a:srgbClr val="D97706"/>
                </a:solidFill>
                <a:latin typeface="Arial" pitchFamily="34" charset="0"/>
                <a:ea typeface="Arial" pitchFamily="34" charset="-122"/>
                <a:cs typeface="Arial" pitchFamily="34" charset="-120"/>
              </a:rPr>
              <a:t>3x Daily</a:t>
            </a:r>
            <a:endParaRPr lang="en-US" sz="900" dirty="0"/>
          </a:p>
        </p:txBody>
      </p:sp>
      <p:sp>
        <p:nvSpPr>
          <p:cNvPr id="16" name="Text 13"/>
          <p:cNvSpPr/>
          <p:nvPr/>
        </p:nvSpPr>
        <p:spPr>
          <a:xfrm>
            <a:off x="640080" y="3566160"/>
            <a:ext cx="502920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Intelligence, changes, lessons, questions across all platforms</a:t>
            </a:r>
            <a:endParaRPr lang="en-US" sz="1100" dirty="0"/>
          </a:p>
        </p:txBody>
      </p:sp>
      <p:sp>
        <p:nvSpPr>
          <p:cNvPr id="17" name="Shape 14"/>
          <p:cNvSpPr/>
          <p:nvPr/>
        </p:nvSpPr>
        <p:spPr>
          <a:xfrm>
            <a:off x="6217920" y="3108960"/>
            <a:ext cx="5394960" cy="1188720"/>
          </a:xfrm>
          <a:prstGeom prst="roundRect">
            <a:avLst>
              <a:gd name="adj" fmla="val 7692"/>
            </a:avLst>
          </a:prstGeom>
          <a:solidFill>
            <a:srgbClr val="2A2025"/>
          </a:solidFill>
          <a:ln w="12700">
            <a:solidFill>
              <a:srgbClr val="3A3035"/>
            </a:solidFill>
            <a:prstDash val="solid"/>
          </a:ln>
        </p:spPr>
      </p:sp>
      <p:sp>
        <p:nvSpPr>
          <p:cNvPr id="18" name="Text 15"/>
          <p:cNvSpPr/>
          <p:nvPr/>
        </p:nvSpPr>
        <p:spPr>
          <a:xfrm>
            <a:off x="6400800" y="3154680"/>
            <a:ext cx="36576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Confidence Drift</a:t>
            </a:r>
            <a:endParaRPr lang="en-US" sz="1400" dirty="0"/>
          </a:p>
        </p:txBody>
      </p:sp>
      <p:sp>
        <p:nvSpPr>
          <p:cNvPr id="19" name="Text 16"/>
          <p:cNvSpPr/>
          <p:nvPr/>
        </p:nvSpPr>
        <p:spPr>
          <a:xfrm>
            <a:off x="9875520" y="3154680"/>
            <a:ext cx="1554480" cy="365760"/>
          </a:xfrm>
          <a:prstGeom prst="rect">
            <a:avLst/>
          </a:prstGeom>
          <a:noFill/>
          <a:ln/>
        </p:spPr>
        <p:txBody>
          <a:bodyPr wrap="square" rtlCol="0" anchor="ctr"/>
          <a:lstStyle/>
          <a:p>
            <a:pPr algn="r" indent="0" marL="0">
              <a:buNone/>
            </a:pPr>
            <a:r>
              <a:rPr lang="en-US" sz="900" dirty="0">
                <a:solidFill>
                  <a:srgbClr val="D97706"/>
                </a:solidFill>
                <a:latin typeface="Arial" pitchFamily="34" charset="0"/>
                <a:ea typeface="Arial" pitchFamily="34" charset="-122"/>
                <a:cs typeface="Arial" pitchFamily="34" charset="-120"/>
              </a:rPr>
              <a:t>Continuous</a:t>
            </a:r>
            <a:endParaRPr lang="en-US" sz="900" dirty="0"/>
          </a:p>
        </p:txBody>
      </p:sp>
      <p:sp>
        <p:nvSpPr>
          <p:cNvPr id="20" name="Text 17"/>
          <p:cNvSpPr/>
          <p:nvPr/>
        </p:nvSpPr>
        <p:spPr>
          <a:xfrm>
            <a:off x="6400800" y="3566160"/>
            <a:ext cx="502920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Tracks earned trust and thinking scores for autonomy levels</a:t>
            </a:r>
            <a:endParaRPr lang="en-US" sz="1100" dirty="0"/>
          </a:p>
        </p:txBody>
      </p:sp>
      <p:sp>
        <p:nvSpPr>
          <p:cNvPr id="21" name="Shape 18"/>
          <p:cNvSpPr/>
          <p:nvPr/>
        </p:nvSpPr>
        <p:spPr>
          <a:xfrm>
            <a:off x="457200" y="4572000"/>
            <a:ext cx="5394960" cy="1188720"/>
          </a:xfrm>
          <a:prstGeom prst="roundRect">
            <a:avLst>
              <a:gd name="adj" fmla="val 7692"/>
            </a:avLst>
          </a:prstGeom>
          <a:solidFill>
            <a:srgbClr val="2A2025"/>
          </a:solidFill>
          <a:ln w="12700">
            <a:solidFill>
              <a:srgbClr val="3A3035"/>
            </a:solidFill>
            <a:prstDash val="solid"/>
          </a:ln>
        </p:spPr>
      </p:sp>
      <p:sp>
        <p:nvSpPr>
          <p:cNvPr id="22" name="Text 19"/>
          <p:cNvSpPr/>
          <p:nvPr/>
        </p:nvSpPr>
        <p:spPr>
          <a:xfrm>
            <a:off x="640080" y="4617720"/>
            <a:ext cx="36576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Captain Load Absorption</a:t>
            </a:r>
            <a:endParaRPr lang="en-US" sz="1400" dirty="0"/>
          </a:p>
        </p:txBody>
      </p:sp>
      <p:sp>
        <p:nvSpPr>
          <p:cNvPr id="23" name="Text 20"/>
          <p:cNvSpPr/>
          <p:nvPr/>
        </p:nvSpPr>
        <p:spPr>
          <a:xfrm>
            <a:off x="4114800" y="4617720"/>
            <a:ext cx="1554480" cy="365760"/>
          </a:xfrm>
          <a:prstGeom prst="rect">
            <a:avLst/>
          </a:prstGeom>
          <a:noFill/>
          <a:ln/>
        </p:spPr>
        <p:txBody>
          <a:bodyPr wrap="square" rtlCol="0" anchor="ctr"/>
          <a:lstStyle/>
          <a:p>
            <a:pPr algn="r" indent="0" marL="0">
              <a:buNone/>
            </a:pPr>
            <a:r>
              <a:rPr lang="en-US" sz="900" dirty="0">
                <a:solidFill>
                  <a:srgbClr val="D97706"/>
                </a:solidFill>
                <a:latin typeface="Arial" pitchFamily="34" charset="0"/>
                <a:ea typeface="Arial" pitchFamily="34" charset="-122"/>
                <a:cs typeface="Arial" pitchFamily="34" charset="-120"/>
              </a:rPr>
              <a:t>On Trigger</a:t>
            </a:r>
            <a:endParaRPr lang="en-US" sz="900" dirty="0"/>
          </a:p>
        </p:txBody>
      </p:sp>
      <p:sp>
        <p:nvSpPr>
          <p:cNvPr id="24" name="Text 21"/>
          <p:cNvSpPr/>
          <p:nvPr/>
        </p:nvSpPr>
        <p:spPr>
          <a:xfrm>
            <a:off x="640080" y="5029200"/>
            <a:ext cx="502920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Captains absorb critical deliverables from down partners</a:t>
            </a:r>
            <a:endParaRPr lang="en-US" sz="1100" dirty="0"/>
          </a:p>
        </p:txBody>
      </p:sp>
      <p:sp>
        <p:nvSpPr>
          <p:cNvPr id="25" name="Shape 22"/>
          <p:cNvSpPr/>
          <p:nvPr/>
        </p:nvSpPr>
        <p:spPr>
          <a:xfrm>
            <a:off x="6217920" y="4572000"/>
            <a:ext cx="5394960" cy="1188720"/>
          </a:xfrm>
          <a:prstGeom prst="roundRect">
            <a:avLst>
              <a:gd name="adj" fmla="val 7692"/>
            </a:avLst>
          </a:prstGeom>
          <a:solidFill>
            <a:srgbClr val="2A2025"/>
          </a:solidFill>
          <a:ln w="12700">
            <a:solidFill>
              <a:srgbClr val="3A3035"/>
            </a:solidFill>
            <a:prstDash val="solid"/>
          </a:ln>
        </p:spPr>
      </p:sp>
      <p:sp>
        <p:nvSpPr>
          <p:cNvPr id="26" name="Text 23"/>
          <p:cNvSpPr/>
          <p:nvPr/>
        </p:nvSpPr>
        <p:spPr>
          <a:xfrm>
            <a:off x="6400800" y="4617720"/>
            <a:ext cx="36576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Multi-Ecosystem Firewall</a:t>
            </a:r>
            <a:endParaRPr lang="en-US" sz="1400" dirty="0"/>
          </a:p>
        </p:txBody>
      </p:sp>
      <p:sp>
        <p:nvSpPr>
          <p:cNvPr id="27" name="Text 24"/>
          <p:cNvSpPr/>
          <p:nvPr/>
        </p:nvSpPr>
        <p:spPr>
          <a:xfrm>
            <a:off x="9875520" y="4617720"/>
            <a:ext cx="1554480" cy="365760"/>
          </a:xfrm>
          <a:prstGeom prst="rect">
            <a:avLst/>
          </a:prstGeom>
          <a:noFill/>
          <a:ln/>
        </p:spPr>
        <p:txBody>
          <a:bodyPr wrap="square" rtlCol="0" anchor="ctr"/>
          <a:lstStyle/>
          <a:p>
            <a:pPr algn="r" indent="0" marL="0">
              <a:buNone/>
            </a:pPr>
            <a:r>
              <a:rPr lang="en-US" sz="900" dirty="0">
                <a:solidFill>
                  <a:srgbClr val="D97706"/>
                </a:solidFill>
                <a:latin typeface="Arial" pitchFamily="34" charset="0"/>
                <a:ea typeface="Arial" pitchFamily="34" charset="-122"/>
                <a:cs typeface="Arial" pitchFamily="34" charset="-120"/>
              </a:rPr>
              <a:t>Always On</a:t>
            </a:r>
            <a:endParaRPr lang="en-US" sz="900" dirty="0"/>
          </a:p>
        </p:txBody>
      </p:sp>
      <p:sp>
        <p:nvSpPr>
          <p:cNvPr id="28" name="Text 25"/>
          <p:cNvSpPr/>
          <p:nvPr/>
        </p:nvSpPr>
        <p:spPr>
          <a:xfrm>
            <a:off x="6400800" y="5029200"/>
            <a:ext cx="5029200" cy="54864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Platforms connect to multiple ecosystems with data isolation</a:t>
            </a:r>
            <a:endParaRPr lang="en-US" sz="1100" dirty="0"/>
          </a:p>
        </p:txBody>
      </p:sp>
      <p:sp>
        <p:nvSpPr>
          <p:cNvPr id="29" name="Text 26"/>
          <p:cNvSpPr/>
          <p:nvPr/>
        </p:nvSpPr>
        <p:spPr>
          <a:xfrm>
            <a:off x="457200" y="5943600"/>
            <a:ext cx="11064240" cy="274320"/>
          </a:xfrm>
          <a:prstGeom prst="rect">
            <a:avLst/>
          </a:prstGeom>
          <a:noFill/>
          <a:ln/>
        </p:spPr>
        <p:txBody>
          <a:bodyPr wrap="square" rtlCol="0" anchor="ctr"/>
          <a:lstStyle/>
          <a:p>
            <a:pPr algn="ctr" indent="0" marL="0">
              <a:buNone/>
            </a:pPr>
            <a:r>
              <a:rPr lang="en-US" sz="1000" dirty="0">
                <a:solidFill>
                  <a:srgbClr val="AAAAAA"/>
                </a:solidFill>
                <a:latin typeface="Arial" pitchFamily="34" charset="0"/>
                <a:ea typeface="Arial" pitchFamily="34" charset="-122"/>
                <a:cs typeface="Arial" pitchFamily="34" charset="-120"/>
              </a:rPr>
              <a:t>Also: UOSD (Unified Operating System Directive)  |  CEA (Cognitive Elevation Addendum)  |  Fidelity Report Cards  |  Directive Compliance Center</a:t>
            </a:r>
            <a:endParaRPr lang="en-US" sz="1000" dirty="0"/>
          </a:p>
        </p:txBody>
      </p:sp>
      <p:sp>
        <p:nvSpPr>
          <p:cNvPr id="30" name="Text 27"/>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21/30</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COMMUNITY INTELLIGENCE</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GIS-Powered, Tract-Level, Real Data</a:t>
            </a:r>
            <a:endParaRPr lang="en-US" sz="2400" dirty="0"/>
          </a:p>
        </p:txBody>
      </p:sp>
      <p:sp>
        <p:nvSpPr>
          <p:cNvPr id="5" name="Shape 2"/>
          <p:cNvSpPr/>
          <p:nvPr/>
        </p:nvSpPr>
        <p:spPr>
          <a:xfrm>
            <a:off x="457200" y="1463040"/>
            <a:ext cx="5394960" cy="1371600"/>
          </a:xfrm>
          <a:prstGeom prst="roundRect">
            <a:avLst>
              <a:gd name="adj" fmla="val 6667"/>
            </a:avLst>
          </a:prstGeom>
          <a:solidFill>
            <a:srgbClr val="FFFFFF"/>
          </a:solidFill>
          <a:ln w="25400">
            <a:solidFill>
              <a:srgbClr val="2563EB"/>
            </a:solidFill>
            <a:prstDash val="solid"/>
          </a:ln>
        </p:spPr>
      </p:sp>
      <p:sp>
        <p:nvSpPr>
          <p:cNvPr id="6" name="Text 3"/>
          <p:cNvSpPr/>
          <p:nvPr/>
        </p:nvSpPr>
        <p:spPr>
          <a:xfrm>
            <a:off x="640080" y="1554480"/>
            <a:ext cx="5029200" cy="411480"/>
          </a:xfrm>
          <a:prstGeom prst="rect">
            <a:avLst/>
          </a:prstGeom>
          <a:noFill/>
          <a:ln/>
        </p:spPr>
        <p:txBody>
          <a:bodyPr wrap="square" rtlCol="0" anchor="ctr"/>
          <a:lstStyle/>
          <a:p>
            <a:pPr indent="0" marL="0">
              <a:buNone/>
            </a:pPr>
            <a:r>
              <a:rPr lang="en-US" sz="1500" b="1" dirty="0">
                <a:solidFill>
                  <a:srgbClr val="2A1015"/>
                </a:solidFill>
                <a:latin typeface="Arial" pitchFamily="34" charset="0"/>
                <a:ea typeface="Arial" pitchFamily="34" charset="-122"/>
                <a:cs typeface="Arial" pitchFamily="34" charset="-120"/>
              </a:rPr>
              <a:t>Interactive Maps</a:t>
            </a:r>
            <a:endParaRPr lang="en-US" sz="1500" dirty="0"/>
          </a:p>
        </p:txBody>
      </p:sp>
      <p:sp>
        <p:nvSpPr>
          <p:cNvPr id="7" name="Text 4"/>
          <p:cNvSpPr/>
          <p:nvPr/>
        </p:nvSpPr>
        <p:spPr>
          <a:xfrm>
            <a:off x="640080" y="2011680"/>
            <a:ext cx="5029200" cy="5486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Leaflet + OpenStreetMap tiles, 55 U.S. jurisdictions</a:t>
            </a:r>
            <a:endParaRPr lang="en-US" sz="1200" dirty="0"/>
          </a:p>
        </p:txBody>
      </p:sp>
      <p:sp>
        <p:nvSpPr>
          <p:cNvPr id="8" name="Shape 5"/>
          <p:cNvSpPr/>
          <p:nvPr/>
        </p:nvSpPr>
        <p:spPr>
          <a:xfrm>
            <a:off x="6217920" y="1463040"/>
            <a:ext cx="5394960" cy="1371600"/>
          </a:xfrm>
          <a:prstGeom prst="roundRect">
            <a:avLst>
              <a:gd name="adj" fmla="val 6667"/>
            </a:avLst>
          </a:prstGeom>
          <a:solidFill>
            <a:srgbClr val="FFFFFF"/>
          </a:solidFill>
          <a:ln w="25400">
            <a:solidFill>
              <a:srgbClr val="10B981"/>
            </a:solidFill>
            <a:prstDash val="solid"/>
          </a:ln>
        </p:spPr>
      </p:sp>
      <p:sp>
        <p:nvSpPr>
          <p:cNvPr id="9" name="Text 6"/>
          <p:cNvSpPr/>
          <p:nvPr/>
        </p:nvSpPr>
        <p:spPr>
          <a:xfrm>
            <a:off x="6400800" y="1554480"/>
            <a:ext cx="5029200" cy="411480"/>
          </a:xfrm>
          <a:prstGeom prst="rect">
            <a:avLst/>
          </a:prstGeom>
          <a:noFill/>
          <a:ln/>
        </p:spPr>
        <p:txBody>
          <a:bodyPr wrap="square" rtlCol="0" anchor="ctr"/>
          <a:lstStyle/>
          <a:p>
            <a:pPr indent="0" marL="0">
              <a:buNone/>
            </a:pPr>
            <a:r>
              <a:rPr lang="en-US" sz="1500" b="1" dirty="0">
                <a:solidFill>
                  <a:srgbClr val="2A1015"/>
                </a:solidFill>
                <a:latin typeface="Arial" pitchFamily="34" charset="0"/>
                <a:ea typeface="Arial" pitchFamily="34" charset="-122"/>
                <a:cs typeface="Arial" pitchFamily="34" charset="-120"/>
              </a:rPr>
              <a:t>Resource Finder</a:t>
            </a:r>
            <a:endParaRPr lang="en-US" sz="1500" dirty="0"/>
          </a:p>
        </p:txBody>
      </p:sp>
      <p:sp>
        <p:nvSpPr>
          <p:cNvPr id="10" name="Text 7"/>
          <p:cNvSpPr/>
          <p:nvPr/>
        </p:nvSpPr>
        <p:spPr>
          <a:xfrm>
            <a:off x="6400800" y="2011680"/>
            <a:ext cx="5029200" cy="5486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Healthcare, food, housing, education, employment services</a:t>
            </a:r>
            <a:endParaRPr lang="en-US" sz="1200" dirty="0"/>
          </a:p>
        </p:txBody>
      </p:sp>
      <p:sp>
        <p:nvSpPr>
          <p:cNvPr id="11" name="Shape 8"/>
          <p:cNvSpPr/>
          <p:nvPr/>
        </p:nvSpPr>
        <p:spPr>
          <a:xfrm>
            <a:off x="457200" y="3108960"/>
            <a:ext cx="5394960" cy="1371600"/>
          </a:xfrm>
          <a:prstGeom prst="roundRect">
            <a:avLst>
              <a:gd name="adj" fmla="val 6667"/>
            </a:avLst>
          </a:prstGeom>
          <a:solidFill>
            <a:srgbClr val="FFFFFF"/>
          </a:solidFill>
          <a:ln w="25400">
            <a:solidFill>
              <a:srgbClr val="7C3AED"/>
            </a:solidFill>
            <a:prstDash val="solid"/>
          </a:ln>
        </p:spPr>
      </p:sp>
      <p:sp>
        <p:nvSpPr>
          <p:cNvPr id="12" name="Text 9"/>
          <p:cNvSpPr/>
          <p:nvPr/>
        </p:nvSpPr>
        <p:spPr>
          <a:xfrm>
            <a:off x="640080" y="3200400"/>
            <a:ext cx="5029200" cy="411480"/>
          </a:xfrm>
          <a:prstGeom prst="rect">
            <a:avLst/>
          </a:prstGeom>
          <a:noFill/>
          <a:ln/>
        </p:spPr>
        <p:txBody>
          <a:bodyPr wrap="square" rtlCol="0" anchor="ctr"/>
          <a:lstStyle/>
          <a:p>
            <a:pPr indent="0" marL="0">
              <a:buNone/>
            </a:pPr>
            <a:r>
              <a:rPr lang="en-US" sz="1500" b="1" dirty="0">
                <a:solidFill>
                  <a:srgbClr val="2A1015"/>
                </a:solidFill>
                <a:latin typeface="Arial" pitchFamily="34" charset="0"/>
                <a:ea typeface="Arial" pitchFamily="34" charset="-122"/>
                <a:cs typeface="Arial" pitchFamily="34" charset="-120"/>
              </a:rPr>
              <a:t>Impact Dashboard</a:t>
            </a:r>
            <a:endParaRPr lang="en-US" sz="1500" dirty="0"/>
          </a:p>
        </p:txBody>
      </p:sp>
      <p:sp>
        <p:nvSpPr>
          <p:cNvPr id="13" name="Text 10"/>
          <p:cNvSpPr/>
          <p:nvPr/>
        </p:nvSpPr>
        <p:spPr>
          <a:xfrm>
            <a:off x="640080" y="3657600"/>
            <a:ext cx="5029200" cy="5486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Outcomes across all social determinants of health</a:t>
            </a:r>
            <a:endParaRPr lang="en-US" sz="1200" dirty="0"/>
          </a:p>
        </p:txBody>
      </p:sp>
      <p:sp>
        <p:nvSpPr>
          <p:cNvPr id="14" name="Shape 11"/>
          <p:cNvSpPr/>
          <p:nvPr/>
        </p:nvSpPr>
        <p:spPr>
          <a:xfrm>
            <a:off x="6217920" y="3108960"/>
            <a:ext cx="5394960" cy="1371600"/>
          </a:xfrm>
          <a:prstGeom prst="roundRect">
            <a:avLst>
              <a:gd name="adj" fmla="val 6667"/>
            </a:avLst>
          </a:prstGeom>
          <a:solidFill>
            <a:srgbClr val="FFFFFF"/>
          </a:solidFill>
          <a:ln w="25400">
            <a:solidFill>
              <a:srgbClr val="D97706"/>
            </a:solidFill>
            <a:prstDash val="solid"/>
          </a:ln>
        </p:spPr>
      </p:sp>
      <p:sp>
        <p:nvSpPr>
          <p:cNvPr id="15" name="Text 12"/>
          <p:cNvSpPr/>
          <p:nvPr/>
        </p:nvSpPr>
        <p:spPr>
          <a:xfrm>
            <a:off x="6400800" y="3200400"/>
            <a:ext cx="5029200" cy="411480"/>
          </a:xfrm>
          <a:prstGeom prst="rect">
            <a:avLst/>
          </a:prstGeom>
          <a:noFill/>
          <a:ln/>
        </p:spPr>
        <p:txBody>
          <a:bodyPr wrap="square" rtlCol="0" anchor="ctr"/>
          <a:lstStyle/>
          <a:p>
            <a:pPr indent="0" marL="0">
              <a:buNone/>
            </a:pPr>
            <a:r>
              <a:rPr lang="en-US" sz="1500" b="1" dirty="0">
                <a:solidFill>
                  <a:srgbClr val="2A1015"/>
                </a:solidFill>
                <a:latin typeface="Arial" pitchFamily="34" charset="0"/>
                <a:ea typeface="Arial" pitchFamily="34" charset="-122"/>
                <a:cs typeface="Arial" pitchFamily="34" charset="-120"/>
              </a:rPr>
              <a:t>Smart Intake Wizard</a:t>
            </a:r>
            <a:endParaRPr lang="en-US" sz="1500" dirty="0"/>
          </a:p>
        </p:txBody>
      </p:sp>
      <p:sp>
        <p:nvSpPr>
          <p:cNvPr id="16" name="Text 13"/>
          <p:cNvSpPr/>
          <p:nvPr/>
        </p:nvSpPr>
        <p:spPr>
          <a:xfrm>
            <a:off x="6400800" y="3657600"/>
            <a:ext cx="5029200" cy="5486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SDOH, justice history, housing status capture</a:t>
            </a:r>
            <a:endParaRPr lang="en-US" sz="1200" dirty="0"/>
          </a:p>
        </p:txBody>
      </p:sp>
      <p:sp>
        <p:nvSpPr>
          <p:cNvPr id="17" name="Text 14"/>
          <p:cNvSpPr/>
          <p:nvPr/>
        </p:nvSpPr>
        <p:spPr>
          <a:xfrm>
            <a:off x="731520" y="5029200"/>
            <a:ext cx="10058400" cy="320040"/>
          </a:xfrm>
          <a:prstGeom prst="rect">
            <a:avLst/>
          </a:prstGeom>
          <a:noFill/>
          <a:ln/>
        </p:spPr>
        <p:txBody>
          <a:bodyPr wrap="square" rtlCol="0" anchor="ctr"/>
          <a:lstStyle/>
          <a:p>
            <a:pPr indent="0" marL="0">
              <a:buNone/>
            </a:pPr>
            <a:r>
              <a:rPr lang="en-US" sz="1100" b="1" spc="200" kern="0" dirty="0">
                <a:solidFill>
                  <a:srgbClr val="6B1C2A"/>
                </a:solidFill>
                <a:latin typeface="Arial" pitchFamily="34" charset="0"/>
                <a:ea typeface="Arial" pitchFamily="34" charset="-122"/>
                <a:cs typeface="Arial" pitchFamily="34" charset="-120"/>
              </a:rPr>
              <a:t>DATA SOURCES</a:t>
            </a:r>
            <a:endParaRPr lang="en-US" sz="1100" dirty="0"/>
          </a:p>
        </p:txBody>
      </p:sp>
      <p:sp>
        <p:nvSpPr>
          <p:cNvPr id="18" name="Text 15"/>
          <p:cNvSpPr/>
          <p:nvPr/>
        </p:nvSpPr>
        <p:spPr>
          <a:xfrm>
            <a:off x="457200" y="5394960"/>
            <a:ext cx="27432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CDC PLACES API</a:t>
            </a:r>
            <a:endParaRPr lang="en-US" sz="1100" dirty="0"/>
          </a:p>
        </p:txBody>
      </p:sp>
      <p:sp>
        <p:nvSpPr>
          <p:cNvPr id="19" name="Text 16"/>
          <p:cNvSpPr/>
          <p:nvPr/>
        </p:nvSpPr>
        <p:spPr>
          <a:xfrm>
            <a:off x="3337560" y="5394960"/>
            <a:ext cx="27432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CDC/ATSDR SVI</a:t>
            </a:r>
            <a:endParaRPr lang="en-US" sz="1100" dirty="0"/>
          </a:p>
        </p:txBody>
      </p:sp>
      <p:sp>
        <p:nvSpPr>
          <p:cNvPr id="20" name="Text 17"/>
          <p:cNvSpPr/>
          <p:nvPr/>
        </p:nvSpPr>
        <p:spPr>
          <a:xfrm>
            <a:off x="6217920" y="5394960"/>
            <a:ext cx="27432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FBI Crime Data</a:t>
            </a:r>
            <a:endParaRPr lang="en-US" sz="1100" dirty="0"/>
          </a:p>
        </p:txBody>
      </p:sp>
      <p:sp>
        <p:nvSpPr>
          <p:cNvPr id="21" name="Text 18"/>
          <p:cNvSpPr/>
          <p:nvPr/>
        </p:nvSpPr>
        <p:spPr>
          <a:xfrm>
            <a:off x="9098280" y="5394960"/>
            <a:ext cx="27432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Census ACS</a:t>
            </a:r>
            <a:endParaRPr lang="en-US" sz="1100" dirty="0"/>
          </a:p>
        </p:txBody>
      </p:sp>
      <p:sp>
        <p:nvSpPr>
          <p:cNvPr id="22" name="Text 19"/>
          <p:cNvSpPr/>
          <p:nvPr/>
        </p:nvSpPr>
        <p:spPr>
          <a:xfrm>
            <a:off x="457200" y="5760720"/>
            <a:ext cx="27432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USDA Food Atlas</a:t>
            </a:r>
            <a:endParaRPr lang="en-US" sz="1100" dirty="0"/>
          </a:p>
        </p:txBody>
      </p:sp>
      <p:sp>
        <p:nvSpPr>
          <p:cNvPr id="23" name="Text 20"/>
          <p:cNvSpPr/>
          <p:nvPr/>
        </p:nvSpPr>
        <p:spPr>
          <a:xfrm>
            <a:off x="3337560" y="5760720"/>
            <a:ext cx="27432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HUD</a:t>
            </a:r>
            <a:endParaRPr lang="en-US" sz="1100" dirty="0"/>
          </a:p>
        </p:txBody>
      </p:sp>
      <p:sp>
        <p:nvSpPr>
          <p:cNvPr id="24" name="Text 21"/>
          <p:cNvSpPr/>
          <p:nvPr/>
        </p:nvSpPr>
        <p:spPr>
          <a:xfrm>
            <a:off x="6217920" y="5760720"/>
            <a:ext cx="27432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SAMHSA</a:t>
            </a:r>
            <a:endParaRPr lang="en-US" sz="1100" dirty="0"/>
          </a:p>
        </p:txBody>
      </p:sp>
      <p:sp>
        <p:nvSpPr>
          <p:cNvPr id="25" name="Text 22"/>
          <p:cNvSpPr/>
          <p:nvPr/>
        </p:nvSpPr>
        <p:spPr>
          <a:xfrm>
            <a:off x="9098280" y="5760720"/>
            <a:ext cx="2743200" cy="320040"/>
          </a:xfrm>
          <a:prstGeom prst="rect">
            <a:avLst/>
          </a:prstGeom>
          <a:noFill/>
          <a:ln/>
        </p:spPr>
        <p:txBody>
          <a:bodyPr wrap="square" rtlCol="0" anchor="ctr"/>
          <a:lstStyle/>
          <a:p>
            <a:pPr indent="0" marL="0">
              <a:buNone/>
            </a:pPr>
            <a:r>
              <a:rPr lang="en-US" sz="1100" dirty="0">
                <a:solidFill>
                  <a:srgbClr val="2A1015"/>
                </a:solidFill>
                <a:latin typeface="Arial" pitchFamily="34" charset="0"/>
                <a:ea typeface="Arial" pitchFamily="34" charset="-122"/>
                <a:cs typeface="Arial" pitchFamily="34" charset="-120"/>
              </a:rPr>
              <a:t>• BLS</a:t>
            </a:r>
            <a:endParaRPr lang="en-US" sz="1100" dirty="0"/>
          </a:p>
        </p:txBody>
      </p:sp>
      <p:sp>
        <p:nvSpPr>
          <p:cNvPr id="26" name="Text 23"/>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22/30</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PROGRAM ENGINE &amp; MANAGEMENT</a:t>
            </a:r>
            <a:endParaRPr lang="en-US" sz="1100" dirty="0"/>
          </a:p>
        </p:txBody>
      </p:sp>
      <p:sp>
        <p:nvSpPr>
          <p:cNvPr id="4" name="Text 1"/>
          <p:cNvSpPr/>
          <p:nvPr/>
        </p:nvSpPr>
        <p:spPr>
          <a:xfrm>
            <a:off x="731520" y="7315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Full Operational Program Lifecycle</a:t>
            </a:r>
            <a:endParaRPr lang="en-US" sz="2600" dirty="0"/>
          </a:p>
        </p:txBody>
      </p:sp>
      <p:sp>
        <p:nvSpPr>
          <p:cNvPr id="5" name="Shape 2"/>
          <p:cNvSpPr/>
          <p:nvPr/>
        </p:nvSpPr>
        <p:spPr>
          <a:xfrm>
            <a:off x="457200" y="1645920"/>
            <a:ext cx="3520440" cy="1645920"/>
          </a:xfrm>
          <a:prstGeom prst="roundRect">
            <a:avLst>
              <a:gd name="adj" fmla="val 5556"/>
            </a:avLst>
          </a:prstGeom>
          <a:solidFill>
            <a:srgbClr val="2A2025"/>
          </a:solidFill>
          <a:ln w="12700">
            <a:solidFill>
              <a:srgbClr val="3A3035"/>
            </a:solidFill>
            <a:prstDash val="solid"/>
          </a:ln>
        </p:spPr>
      </p:sp>
      <p:sp>
        <p:nvSpPr>
          <p:cNvPr id="6" name="Text 3"/>
          <p:cNvSpPr/>
          <p:nvPr/>
        </p:nvSpPr>
        <p:spPr>
          <a:xfrm>
            <a:off x="640080" y="1783080"/>
            <a:ext cx="315468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6-Step Setup Wizard</a:t>
            </a:r>
            <a:endParaRPr lang="en-US" sz="1500" dirty="0"/>
          </a:p>
        </p:txBody>
      </p:sp>
      <p:sp>
        <p:nvSpPr>
          <p:cNvPr id="7" name="Text 4"/>
          <p:cNvSpPr/>
          <p:nvPr/>
        </p:nvSpPr>
        <p:spPr>
          <a:xfrm>
            <a:off x="640080" y="2286000"/>
            <a:ext cx="3154680" cy="731520"/>
          </a:xfrm>
          <a:prstGeom prst="rect">
            <a:avLst/>
          </a:prstGeom>
          <a:noFill/>
          <a:ln/>
        </p:spPr>
        <p:txBody>
          <a:bodyPr wrap="square" rtlCol="0" anchor="ctr"/>
          <a:lstStyle/>
          <a:p>
            <a:pPr indent="0" marL="0">
              <a:buNone/>
            </a:pPr>
            <a:r>
              <a:rPr lang="en-US" sz="1200" dirty="0">
                <a:solidFill>
                  <a:srgbClr val="D0D0D0"/>
                </a:solidFill>
                <a:latin typeface="Arial" pitchFamily="34" charset="0"/>
                <a:ea typeface="Arial" pitchFamily="34" charset="-122"/>
                <a:cs typeface="Arial" pitchFamily="34" charset="-120"/>
              </a:rPr>
              <a:t>Guided program creation with methodology selection</a:t>
            </a:r>
            <a:endParaRPr lang="en-US" sz="1200" dirty="0"/>
          </a:p>
        </p:txBody>
      </p:sp>
      <p:sp>
        <p:nvSpPr>
          <p:cNvPr id="8" name="Shape 5"/>
          <p:cNvSpPr/>
          <p:nvPr/>
        </p:nvSpPr>
        <p:spPr>
          <a:xfrm>
            <a:off x="4251960" y="1645920"/>
            <a:ext cx="3520440" cy="1645920"/>
          </a:xfrm>
          <a:prstGeom prst="roundRect">
            <a:avLst>
              <a:gd name="adj" fmla="val 5556"/>
            </a:avLst>
          </a:prstGeom>
          <a:solidFill>
            <a:srgbClr val="2A2025"/>
          </a:solidFill>
          <a:ln w="12700">
            <a:solidFill>
              <a:srgbClr val="3A3035"/>
            </a:solidFill>
            <a:prstDash val="solid"/>
          </a:ln>
        </p:spPr>
      </p:sp>
      <p:sp>
        <p:nvSpPr>
          <p:cNvPr id="9" name="Text 6"/>
          <p:cNvSpPr/>
          <p:nvPr/>
        </p:nvSpPr>
        <p:spPr>
          <a:xfrm>
            <a:off x="4434840" y="1783080"/>
            <a:ext cx="315468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3 Methodology Paths</a:t>
            </a:r>
            <a:endParaRPr lang="en-US" sz="1500" dirty="0"/>
          </a:p>
        </p:txBody>
      </p:sp>
      <p:sp>
        <p:nvSpPr>
          <p:cNvPr id="10" name="Text 7"/>
          <p:cNvSpPr/>
          <p:nvPr/>
        </p:nvSpPr>
        <p:spPr>
          <a:xfrm>
            <a:off x="4434840" y="2286000"/>
            <a:ext cx="3154680" cy="731520"/>
          </a:xfrm>
          <a:prstGeom prst="rect">
            <a:avLst/>
          </a:prstGeom>
          <a:noFill/>
          <a:ln/>
        </p:spPr>
        <p:txBody>
          <a:bodyPr wrap="square" rtlCol="0" anchor="ctr"/>
          <a:lstStyle/>
          <a:p>
            <a:pPr indent="0" marL="0">
              <a:buNone/>
            </a:pPr>
            <a:r>
              <a:rPr lang="en-US" sz="1200" dirty="0">
                <a:solidFill>
                  <a:srgbClr val="D0D0D0"/>
                </a:solidFill>
                <a:latin typeface="Arial" pitchFamily="34" charset="0"/>
                <a:ea typeface="Arial" pitchFamily="34" charset="-122"/>
                <a:cs typeface="Arial" pitchFamily="34" charset="-120"/>
              </a:rPr>
              <a:t>Implementation Science, Traditional PM, Hybrid</a:t>
            </a:r>
            <a:endParaRPr lang="en-US" sz="1200" dirty="0"/>
          </a:p>
        </p:txBody>
      </p:sp>
      <p:sp>
        <p:nvSpPr>
          <p:cNvPr id="11" name="Shape 8"/>
          <p:cNvSpPr/>
          <p:nvPr/>
        </p:nvSpPr>
        <p:spPr>
          <a:xfrm>
            <a:off x="8046720" y="1645920"/>
            <a:ext cx="3520440" cy="1645920"/>
          </a:xfrm>
          <a:prstGeom prst="roundRect">
            <a:avLst>
              <a:gd name="adj" fmla="val 5556"/>
            </a:avLst>
          </a:prstGeom>
          <a:solidFill>
            <a:srgbClr val="2A2025"/>
          </a:solidFill>
          <a:ln w="12700">
            <a:solidFill>
              <a:srgbClr val="3A3035"/>
            </a:solidFill>
            <a:prstDash val="solid"/>
          </a:ln>
        </p:spPr>
      </p:sp>
      <p:sp>
        <p:nvSpPr>
          <p:cNvPr id="12" name="Text 9"/>
          <p:cNvSpPr/>
          <p:nvPr/>
        </p:nvSpPr>
        <p:spPr>
          <a:xfrm>
            <a:off x="8229600" y="1783080"/>
            <a:ext cx="315468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Execution Dashboard</a:t>
            </a:r>
            <a:endParaRPr lang="en-US" sz="1500" dirty="0"/>
          </a:p>
        </p:txBody>
      </p:sp>
      <p:sp>
        <p:nvSpPr>
          <p:cNvPr id="13" name="Text 10"/>
          <p:cNvSpPr/>
          <p:nvPr/>
        </p:nvSpPr>
        <p:spPr>
          <a:xfrm>
            <a:off x="8229600" y="2286000"/>
            <a:ext cx="3154680" cy="731520"/>
          </a:xfrm>
          <a:prstGeom prst="rect">
            <a:avLst/>
          </a:prstGeom>
          <a:noFill/>
          <a:ln/>
        </p:spPr>
        <p:txBody>
          <a:bodyPr wrap="square" rtlCol="0" anchor="ctr"/>
          <a:lstStyle/>
          <a:p>
            <a:pPr indent="0" marL="0">
              <a:buNone/>
            </a:pPr>
            <a:r>
              <a:rPr lang="en-US" sz="1200" dirty="0">
                <a:solidFill>
                  <a:srgbClr val="D0D0D0"/>
                </a:solidFill>
                <a:latin typeface="Arial" pitchFamily="34" charset="0"/>
                <a:ea typeface="Arial" pitchFamily="34" charset="-122"/>
                <a:cs typeface="Arial" pitchFamily="34" charset="-120"/>
              </a:rPr>
              <a:t>Real-time monitoring with grant alignment</a:t>
            </a:r>
            <a:endParaRPr lang="en-US" sz="1200" dirty="0"/>
          </a:p>
        </p:txBody>
      </p:sp>
      <p:sp>
        <p:nvSpPr>
          <p:cNvPr id="14" name="Shape 11"/>
          <p:cNvSpPr/>
          <p:nvPr/>
        </p:nvSpPr>
        <p:spPr>
          <a:xfrm>
            <a:off x="457200" y="3657600"/>
            <a:ext cx="3520440" cy="1645920"/>
          </a:xfrm>
          <a:prstGeom prst="roundRect">
            <a:avLst>
              <a:gd name="adj" fmla="val 5556"/>
            </a:avLst>
          </a:prstGeom>
          <a:solidFill>
            <a:srgbClr val="2A2025"/>
          </a:solidFill>
          <a:ln w="12700">
            <a:solidFill>
              <a:srgbClr val="3A3035"/>
            </a:solidFill>
            <a:prstDash val="solid"/>
          </a:ln>
        </p:spPr>
      </p:sp>
      <p:sp>
        <p:nvSpPr>
          <p:cNvPr id="15" name="Text 12"/>
          <p:cNvSpPr/>
          <p:nvPr/>
        </p:nvSpPr>
        <p:spPr>
          <a:xfrm>
            <a:off x="640080" y="3794760"/>
            <a:ext cx="315468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MCE Contract Center</a:t>
            </a:r>
            <a:endParaRPr lang="en-US" sz="1500" dirty="0"/>
          </a:p>
        </p:txBody>
      </p:sp>
      <p:sp>
        <p:nvSpPr>
          <p:cNvPr id="16" name="Text 13"/>
          <p:cNvSpPr/>
          <p:nvPr/>
        </p:nvSpPr>
        <p:spPr>
          <a:xfrm>
            <a:off x="640080" y="4297680"/>
            <a:ext cx="3154680" cy="731520"/>
          </a:xfrm>
          <a:prstGeom prst="rect">
            <a:avLst/>
          </a:prstGeom>
          <a:noFill/>
          <a:ln/>
        </p:spPr>
        <p:txBody>
          <a:bodyPr wrap="square" rtlCol="0" anchor="ctr"/>
          <a:lstStyle/>
          <a:p>
            <a:pPr indent="0" marL="0">
              <a:buNone/>
            </a:pPr>
            <a:r>
              <a:rPr lang="en-US" sz="1200" dirty="0">
                <a:solidFill>
                  <a:srgbClr val="D0D0D0"/>
                </a:solidFill>
                <a:latin typeface="Arial" pitchFamily="34" charset="0"/>
                <a:ea typeface="Arial" pitchFamily="34" charset="-122"/>
                <a:cs typeface="Arial" pitchFamily="34" charset="-120"/>
              </a:rPr>
              <a:t>Full contract lifecycle management</a:t>
            </a:r>
            <a:endParaRPr lang="en-US" sz="1200" dirty="0"/>
          </a:p>
        </p:txBody>
      </p:sp>
      <p:sp>
        <p:nvSpPr>
          <p:cNvPr id="17" name="Shape 14"/>
          <p:cNvSpPr/>
          <p:nvPr/>
        </p:nvSpPr>
        <p:spPr>
          <a:xfrm>
            <a:off x="4251960" y="3657600"/>
            <a:ext cx="3520440" cy="1645920"/>
          </a:xfrm>
          <a:prstGeom prst="roundRect">
            <a:avLst>
              <a:gd name="adj" fmla="val 5556"/>
            </a:avLst>
          </a:prstGeom>
          <a:solidFill>
            <a:srgbClr val="2A2025"/>
          </a:solidFill>
          <a:ln w="12700">
            <a:solidFill>
              <a:srgbClr val="3A3035"/>
            </a:solidFill>
            <a:prstDash val="solid"/>
          </a:ln>
        </p:spPr>
      </p:sp>
      <p:sp>
        <p:nvSpPr>
          <p:cNvPr id="18" name="Text 15"/>
          <p:cNvSpPr/>
          <p:nvPr/>
        </p:nvSpPr>
        <p:spPr>
          <a:xfrm>
            <a:off x="4434840" y="3794760"/>
            <a:ext cx="315468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Dosage Engine</a:t>
            </a:r>
            <a:endParaRPr lang="en-US" sz="1500" dirty="0"/>
          </a:p>
        </p:txBody>
      </p:sp>
      <p:sp>
        <p:nvSpPr>
          <p:cNvPr id="19" name="Text 16"/>
          <p:cNvSpPr/>
          <p:nvPr/>
        </p:nvSpPr>
        <p:spPr>
          <a:xfrm>
            <a:off x="4434840" y="4297680"/>
            <a:ext cx="3154680" cy="731520"/>
          </a:xfrm>
          <a:prstGeom prst="rect">
            <a:avLst/>
          </a:prstGeom>
          <a:noFill/>
          <a:ln/>
        </p:spPr>
        <p:txBody>
          <a:bodyPr wrap="square" rtlCol="0" anchor="ctr"/>
          <a:lstStyle/>
          <a:p>
            <a:pPr indent="0" marL="0">
              <a:buNone/>
            </a:pPr>
            <a:r>
              <a:rPr lang="en-US" sz="1200" dirty="0">
                <a:solidFill>
                  <a:srgbClr val="D0D0D0"/>
                </a:solidFill>
                <a:latin typeface="Arial" pitchFamily="34" charset="0"/>
                <a:ea typeface="Arial" pitchFamily="34" charset="-122"/>
                <a:cs typeface="Arial" pitchFamily="34" charset="-120"/>
              </a:rPr>
              <a:t>Tracks service delivery amounts per individual</a:t>
            </a:r>
            <a:endParaRPr lang="en-US" sz="1200" dirty="0"/>
          </a:p>
        </p:txBody>
      </p:sp>
      <p:sp>
        <p:nvSpPr>
          <p:cNvPr id="20" name="Shape 17"/>
          <p:cNvSpPr/>
          <p:nvPr/>
        </p:nvSpPr>
        <p:spPr>
          <a:xfrm>
            <a:off x="8046720" y="3657600"/>
            <a:ext cx="3520440" cy="1645920"/>
          </a:xfrm>
          <a:prstGeom prst="roundRect">
            <a:avLst>
              <a:gd name="adj" fmla="val 5556"/>
            </a:avLst>
          </a:prstGeom>
          <a:solidFill>
            <a:srgbClr val="2A2025"/>
          </a:solidFill>
          <a:ln w="12700">
            <a:solidFill>
              <a:srgbClr val="3A3035"/>
            </a:solidFill>
            <a:prstDash val="solid"/>
          </a:ln>
        </p:spPr>
      </p:sp>
      <p:sp>
        <p:nvSpPr>
          <p:cNvPr id="21" name="Text 18"/>
          <p:cNvSpPr/>
          <p:nvPr/>
        </p:nvSpPr>
        <p:spPr>
          <a:xfrm>
            <a:off x="8229600" y="3794760"/>
            <a:ext cx="3154680" cy="4114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Early Warning System</a:t>
            </a:r>
            <a:endParaRPr lang="en-US" sz="1500" dirty="0"/>
          </a:p>
        </p:txBody>
      </p:sp>
      <p:sp>
        <p:nvSpPr>
          <p:cNvPr id="22" name="Text 19"/>
          <p:cNvSpPr/>
          <p:nvPr/>
        </p:nvSpPr>
        <p:spPr>
          <a:xfrm>
            <a:off x="8229600" y="4297680"/>
            <a:ext cx="3154680" cy="731520"/>
          </a:xfrm>
          <a:prstGeom prst="rect">
            <a:avLst/>
          </a:prstGeom>
          <a:noFill/>
          <a:ln/>
        </p:spPr>
        <p:txBody>
          <a:bodyPr wrap="square" rtlCol="0" anchor="ctr"/>
          <a:lstStyle/>
          <a:p>
            <a:pPr indent="0" marL="0">
              <a:buNone/>
            </a:pPr>
            <a:r>
              <a:rPr lang="en-US" sz="1200" dirty="0">
                <a:solidFill>
                  <a:srgbClr val="D0D0D0"/>
                </a:solidFill>
                <a:latin typeface="Arial" pitchFamily="34" charset="0"/>
                <a:ea typeface="Arial" pitchFamily="34" charset="-122"/>
                <a:cs typeface="Arial" pitchFamily="34" charset="-120"/>
              </a:rPr>
              <a:t>Predictive analytics for at-risk populations</a:t>
            </a:r>
            <a:endParaRPr lang="en-US" sz="1200" dirty="0"/>
          </a:p>
        </p:txBody>
      </p:sp>
      <p:sp>
        <p:nvSpPr>
          <p:cNvPr id="23" name="Text 20"/>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23/30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ACCESSIBILITY &amp; COMPLIANCE</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Built for Everyone. Enterprise Standards.</a:t>
            </a:r>
            <a:endParaRPr lang="en-US" sz="2400" dirty="0"/>
          </a:p>
        </p:txBody>
      </p:sp>
      <p:sp>
        <p:nvSpPr>
          <p:cNvPr id="5" name="Shape 2"/>
          <p:cNvSpPr/>
          <p:nvPr/>
        </p:nvSpPr>
        <p:spPr>
          <a:xfrm>
            <a:off x="457200" y="1463040"/>
            <a:ext cx="2651760" cy="4114800"/>
          </a:xfrm>
          <a:prstGeom prst="roundRect">
            <a:avLst>
              <a:gd name="adj" fmla="val 4138"/>
            </a:avLst>
          </a:prstGeom>
          <a:solidFill>
            <a:srgbClr val="FFFFFF"/>
          </a:solidFill>
          <a:ln w="25400">
            <a:solidFill>
              <a:srgbClr val="2563EB"/>
            </a:solidFill>
            <a:prstDash val="solid"/>
          </a:ln>
        </p:spPr>
      </p:sp>
      <p:sp>
        <p:nvSpPr>
          <p:cNvPr id="6" name="Text 3"/>
          <p:cNvSpPr/>
          <p:nvPr/>
        </p:nvSpPr>
        <p:spPr>
          <a:xfrm>
            <a:off x="594360" y="1645920"/>
            <a:ext cx="2377440" cy="457200"/>
          </a:xfrm>
          <a:prstGeom prst="rect">
            <a:avLst/>
          </a:prstGeom>
          <a:noFill/>
          <a:ln/>
        </p:spPr>
        <p:txBody>
          <a:bodyPr wrap="square" rtlCol="0" anchor="ctr"/>
          <a:lstStyle/>
          <a:p>
            <a:pPr indent="0" marL="0">
              <a:buNone/>
            </a:pPr>
            <a:r>
              <a:rPr lang="en-US" sz="1500" b="1" dirty="0">
                <a:solidFill>
                  <a:srgbClr val="2A1015"/>
                </a:solidFill>
                <a:latin typeface="Arial" pitchFamily="34" charset="0"/>
                <a:ea typeface="Arial" pitchFamily="34" charset="-122"/>
                <a:cs typeface="Arial" pitchFamily="34" charset="-120"/>
              </a:rPr>
              <a:t>WCAG 2.1 AA</a:t>
            </a:r>
            <a:endParaRPr lang="en-US" sz="1500" dirty="0"/>
          </a:p>
        </p:txBody>
      </p:sp>
      <p:sp>
        <p:nvSpPr>
          <p:cNvPr id="7" name="Text 4"/>
          <p:cNvSpPr/>
          <p:nvPr/>
        </p:nvSpPr>
        <p:spPr>
          <a:xfrm>
            <a:off x="594360" y="228600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2,415+ test identifiers</a:t>
            </a:r>
            <a:endParaRPr lang="en-US" sz="1200" dirty="0"/>
          </a:p>
        </p:txBody>
      </p:sp>
      <p:sp>
        <p:nvSpPr>
          <p:cNvPr id="8" name="Text 5"/>
          <p:cNvSpPr/>
          <p:nvPr/>
        </p:nvSpPr>
        <p:spPr>
          <a:xfrm>
            <a:off x="594360" y="278892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95+ accessibility labels</a:t>
            </a:r>
            <a:endParaRPr lang="en-US" sz="1200" dirty="0"/>
          </a:p>
        </p:txBody>
      </p:sp>
      <p:sp>
        <p:nvSpPr>
          <p:cNvPr id="9" name="Text 6"/>
          <p:cNvSpPr/>
          <p:nvPr/>
        </p:nvSpPr>
        <p:spPr>
          <a:xfrm>
            <a:off x="594360" y="329184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Skip-to-content navigation</a:t>
            </a:r>
            <a:endParaRPr lang="en-US" sz="1200" dirty="0"/>
          </a:p>
        </p:txBody>
      </p:sp>
      <p:sp>
        <p:nvSpPr>
          <p:cNvPr id="10" name="Text 7"/>
          <p:cNvSpPr/>
          <p:nvPr/>
        </p:nvSpPr>
        <p:spPr>
          <a:xfrm>
            <a:off x="594360" y="379476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Focus-visible indicators</a:t>
            </a:r>
            <a:endParaRPr lang="en-US" sz="1200" dirty="0"/>
          </a:p>
        </p:txBody>
      </p:sp>
      <p:sp>
        <p:nvSpPr>
          <p:cNvPr id="11" name="Shape 8"/>
          <p:cNvSpPr/>
          <p:nvPr/>
        </p:nvSpPr>
        <p:spPr>
          <a:xfrm>
            <a:off x="3337560" y="1463040"/>
            <a:ext cx="2651760" cy="4114800"/>
          </a:xfrm>
          <a:prstGeom prst="roundRect">
            <a:avLst>
              <a:gd name="adj" fmla="val 4138"/>
            </a:avLst>
          </a:prstGeom>
          <a:solidFill>
            <a:srgbClr val="FFFFFF"/>
          </a:solidFill>
          <a:ln w="25400">
            <a:solidFill>
              <a:srgbClr val="7C3AED"/>
            </a:solidFill>
            <a:prstDash val="solid"/>
          </a:ln>
        </p:spPr>
      </p:sp>
      <p:sp>
        <p:nvSpPr>
          <p:cNvPr id="12" name="Text 9"/>
          <p:cNvSpPr/>
          <p:nvPr/>
        </p:nvSpPr>
        <p:spPr>
          <a:xfrm>
            <a:off x="3474720" y="1645920"/>
            <a:ext cx="2377440" cy="457200"/>
          </a:xfrm>
          <a:prstGeom prst="rect">
            <a:avLst/>
          </a:prstGeom>
          <a:noFill/>
          <a:ln/>
        </p:spPr>
        <p:txBody>
          <a:bodyPr wrap="square" rtlCol="0" anchor="ctr"/>
          <a:lstStyle/>
          <a:p>
            <a:pPr indent="0" marL="0">
              <a:buNone/>
            </a:pPr>
            <a:r>
              <a:rPr lang="en-US" sz="1500" b="1" dirty="0">
                <a:solidFill>
                  <a:srgbClr val="2A1015"/>
                </a:solidFill>
                <a:latin typeface="Arial" pitchFamily="34" charset="0"/>
                <a:ea typeface="Arial" pitchFamily="34" charset="-122"/>
                <a:cs typeface="Arial" pitchFamily="34" charset="-120"/>
              </a:rPr>
              <a:t>Adaptive Learning</a:t>
            </a:r>
            <a:endParaRPr lang="en-US" sz="1500" dirty="0"/>
          </a:p>
        </p:txBody>
      </p:sp>
      <p:sp>
        <p:nvSpPr>
          <p:cNvPr id="13" name="Text 10"/>
          <p:cNvSpPr/>
          <p:nvPr/>
        </p:nvSpPr>
        <p:spPr>
          <a:xfrm>
            <a:off x="3474720" y="228600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Dyslexia-friendly fonts</a:t>
            </a:r>
            <a:endParaRPr lang="en-US" sz="1200" dirty="0"/>
          </a:p>
        </p:txBody>
      </p:sp>
      <p:sp>
        <p:nvSpPr>
          <p:cNvPr id="14" name="Text 11"/>
          <p:cNvSpPr/>
          <p:nvPr/>
        </p:nvSpPr>
        <p:spPr>
          <a:xfrm>
            <a:off x="3474720" y="278892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Large text mode</a:t>
            </a:r>
            <a:endParaRPr lang="en-US" sz="1200" dirty="0"/>
          </a:p>
        </p:txBody>
      </p:sp>
      <p:sp>
        <p:nvSpPr>
          <p:cNvPr id="15" name="Text 12"/>
          <p:cNvSpPr/>
          <p:nvPr/>
        </p:nvSpPr>
        <p:spPr>
          <a:xfrm>
            <a:off x="3474720" y="329184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High contrast mode</a:t>
            </a:r>
            <a:endParaRPr lang="en-US" sz="1200" dirty="0"/>
          </a:p>
        </p:txBody>
      </p:sp>
      <p:sp>
        <p:nvSpPr>
          <p:cNvPr id="16" name="Text 13"/>
          <p:cNvSpPr/>
          <p:nvPr/>
        </p:nvSpPr>
        <p:spPr>
          <a:xfrm>
            <a:off x="3474720" y="379476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Reduced motion support</a:t>
            </a:r>
            <a:endParaRPr lang="en-US" sz="1200" dirty="0"/>
          </a:p>
        </p:txBody>
      </p:sp>
      <p:sp>
        <p:nvSpPr>
          <p:cNvPr id="17" name="Shape 14"/>
          <p:cNvSpPr/>
          <p:nvPr/>
        </p:nvSpPr>
        <p:spPr>
          <a:xfrm>
            <a:off x="6217920" y="1463040"/>
            <a:ext cx="2651760" cy="4114800"/>
          </a:xfrm>
          <a:prstGeom prst="roundRect">
            <a:avLst>
              <a:gd name="adj" fmla="val 4138"/>
            </a:avLst>
          </a:prstGeom>
          <a:solidFill>
            <a:srgbClr val="FFFFFF"/>
          </a:solidFill>
          <a:ln w="25400">
            <a:solidFill>
              <a:srgbClr val="10B981"/>
            </a:solidFill>
            <a:prstDash val="solid"/>
          </a:ln>
        </p:spPr>
      </p:sp>
      <p:sp>
        <p:nvSpPr>
          <p:cNvPr id="18" name="Text 15"/>
          <p:cNvSpPr/>
          <p:nvPr/>
        </p:nvSpPr>
        <p:spPr>
          <a:xfrm>
            <a:off x="6355080" y="1645920"/>
            <a:ext cx="2377440" cy="457200"/>
          </a:xfrm>
          <a:prstGeom prst="rect">
            <a:avLst/>
          </a:prstGeom>
          <a:noFill/>
          <a:ln/>
        </p:spPr>
        <p:txBody>
          <a:bodyPr wrap="square" rtlCol="0" anchor="ctr"/>
          <a:lstStyle/>
          <a:p>
            <a:pPr indent="0" marL="0">
              <a:buNone/>
            </a:pPr>
            <a:r>
              <a:rPr lang="en-US" sz="1500" b="1" dirty="0">
                <a:solidFill>
                  <a:srgbClr val="2A1015"/>
                </a:solidFill>
                <a:latin typeface="Arial" pitchFamily="34" charset="0"/>
                <a:ea typeface="Arial" pitchFamily="34" charset="-122"/>
                <a:cs typeface="Arial" pitchFamily="34" charset="-120"/>
              </a:rPr>
              <a:t>Inclusive Design</a:t>
            </a:r>
            <a:endParaRPr lang="en-US" sz="1500" dirty="0"/>
          </a:p>
        </p:txBody>
      </p:sp>
      <p:sp>
        <p:nvSpPr>
          <p:cNvPr id="19" name="Text 16"/>
          <p:cNvSpPr/>
          <p:nvPr/>
        </p:nvSpPr>
        <p:spPr>
          <a:xfrm>
            <a:off x="6355080" y="228600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English &amp; Spanish</a:t>
            </a:r>
            <a:endParaRPr lang="en-US" sz="1200" dirty="0"/>
          </a:p>
        </p:txBody>
      </p:sp>
      <p:sp>
        <p:nvSpPr>
          <p:cNvPr id="20" name="Text 17"/>
          <p:cNvSpPr/>
          <p:nvPr/>
        </p:nvSpPr>
        <p:spPr>
          <a:xfrm>
            <a:off x="6355080" y="278892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Low-bandwidth mode</a:t>
            </a:r>
            <a:endParaRPr lang="en-US" sz="1200" dirty="0"/>
          </a:p>
        </p:txBody>
      </p:sp>
      <p:sp>
        <p:nvSpPr>
          <p:cNvPr id="21" name="Text 18"/>
          <p:cNvSpPr/>
          <p:nvPr/>
        </p:nvSpPr>
        <p:spPr>
          <a:xfrm>
            <a:off x="6355080" y="329184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Mobile responsive</a:t>
            </a:r>
            <a:endParaRPr lang="en-US" sz="1200" dirty="0"/>
          </a:p>
        </p:txBody>
      </p:sp>
      <p:sp>
        <p:nvSpPr>
          <p:cNvPr id="22" name="Text 19"/>
          <p:cNvSpPr/>
          <p:nvPr/>
        </p:nvSpPr>
        <p:spPr>
          <a:xfrm>
            <a:off x="6355080" y="379476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Screen reader optimized</a:t>
            </a:r>
            <a:endParaRPr lang="en-US" sz="1200" dirty="0"/>
          </a:p>
        </p:txBody>
      </p:sp>
      <p:sp>
        <p:nvSpPr>
          <p:cNvPr id="23" name="Shape 20"/>
          <p:cNvSpPr/>
          <p:nvPr/>
        </p:nvSpPr>
        <p:spPr>
          <a:xfrm>
            <a:off x="9098280" y="1463040"/>
            <a:ext cx="2651760" cy="4114800"/>
          </a:xfrm>
          <a:prstGeom prst="roundRect">
            <a:avLst>
              <a:gd name="adj" fmla="val 4138"/>
            </a:avLst>
          </a:prstGeom>
          <a:solidFill>
            <a:srgbClr val="FFFFFF"/>
          </a:solidFill>
          <a:ln w="25400">
            <a:solidFill>
              <a:srgbClr val="DC2626"/>
            </a:solidFill>
            <a:prstDash val="solid"/>
          </a:ln>
        </p:spPr>
      </p:sp>
      <p:sp>
        <p:nvSpPr>
          <p:cNvPr id="24" name="Text 21"/>
          <p:cNvSpPr/>
          <p:nvPr/>
        </p:nvSpPr>
        <p:spPr>
          <a:xfrm>
            <a:off x="9235440" y="1645920"/>
            <a:ext cx="2377440" cy="457200"/>
          </a:xfrm>
          <a:prstGeom prst="rect">
            <a:avLst/>
          </a:prstGeom>
          <a:noFill/>
          <a:ln/>
        </p:spPr>
        <p:txBody>
          <a:bodyPr wrap="square" rtlCol="0" anchor="ctr"/>
          <a:lstStyle/>
          <a:p>
            <a:pPr indent="0" marL="0">
              <a:buNone/>
            </a:pPr>
            <a:r>
              <a:rPr lang="en-US" sz="1500" b="1" dirty="0">
                <a:solidFill>
                  <a:srgbClr val="2A1015"/>
                </a:solidFill>
                <a:latin typeface="Arial" pitchFamily="34" charset="0"/>
                <a:ea typeface="Arial" pitchFamily="34" charset="-122"/>
                <a:cs typeface="Arial" pitchFamily="34" charset="-120"/>
              </a:rPr>
              <a:t>Security</a:t>
            </a:r>
            <a:endParaRPr lang="en-US" sz="1500" dirty="0"/>
          </a:p>
        </p:txBody>
      </p:sp>
      <p:sp>
        <p:nvSpPr>
          <p:cNvPr id="25" name="Text 22"/>
          <p:cNvSpPr/>
          <p:nvPr/>
        </p:nvSpPr>
        <p:spPr>
          <a:xfrm>
            <a:off x="9235440" y="228600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COPPA compliant</a:t>
            </a:r>
            <a:endParaRPr lang="en-US" sz="1200" dirty="0"/>
          </a:p>
        </p:txBody>
      </p:sp>
      <p:sp>
        <p:nvSpPr>
          <p:cNvPr id="26" name="Text 23"/>
          <p:cNvSpPr/>
          <p:nvPr/>
        </p:nvSpPr>
        <p:spPr>
          <a:xfrm>
            <a:off x="9235440" y="278892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FERPA aligned</a:t>
            </a:r>
            <a:endParaRPr lang="en-US" sz="1200" dirty="0"/>
          </a:p>
        </p:txBody>
      </p:sp>
      <p:sp>
        <p:nvSpPr>
          <p:cNvPr id="27" name="Text 24"/>
          <p:cNvSpPr/>
          <p:nvPr/>
        </p:nvSpPr>
        <p:spPr>
          <a:xfrm>
            <a:off x="9235440" y="329184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OIDC authentication</a:t>
            </a:r>
            <a:endParaRPr lang="en-US" sz="1200" dirty="0"/>
          </a:p>
        </p:txBody>
      </p:sp>
      <p:sp>
        <p:nvSpPr>
          <p:cNvPr id="28" name="Text 25"/>
          <p:cNvSpPr/>
          <p:nvPr/>
        </p:nvSpPr>
        <p:spPr>
          <a:xfrm>
            <a:off x="9235440" y="3794760"/>
            <a:ext cx="2377440" cy="41148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Rate limited APIs</a:t>
            </a:r>
            <a:endParaRPr lang="en-US" sz="1200" dirty="0"/>
          </a:p>
        </p:txBody>
      </p:sp>
      <p:sp>
        <p:nvSpPr>
          <p:cNvPr id="29" name="Text 26"/>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24/30</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TECHNICAL ARCHITECTURE</a:t>
            </a:r>
            <a:endParaRPr lang="en-US" sz="1100" dirty="0"/>
          </a:p>
        </p:txBody>
      </p:sp>
      <p:sp>
        <p:nvSpPr>
          <p:cNvPr id="4" name="Text 1"/>
          <p:cNvSpPr/>
          <p:nvPr/>
        </p:nvSpPr>
        <p:spPr>
          <a:xfrm>
            <a:off x="731520" y="7315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Production-Ready. Battle-Tested.</a:t>
            </a:r>
            <a:endParaRPr lang="en-US" sz="2600" dirty="0"/>
          </a:p>
        </p:txBody>
      </p:sp>
      <p:sp>
        <p:nvSpPr>
          <p:cNvPr id="5" name="Shape 2"/>
          <p:cNvSpPr/>
          <p:nvPr/>
        </p:nvSpPr>
        <p:spPr>
          <a:xfrm>
            <a:off x="274320" y="1645920"/>
            <a:ext cx="1783080" cy="1371600"/>
          </a:xfrm>
          <a:prstGeom prst="roundRect">
            <a:avLst>
              <a:gd name="adj" fmla="val 6667"/>
            </a:avLst>
          </a:prstGeom>
          <a:solidFill>
            <a:srgbClr val="2A2025"/>
          </a:solidFill>
          <a:ln w="12700">
            <a:solidFill>
              <a:srgbClr val="3A3035"/>
            </a:solidFill>
            <a:prstDash val="solid"/>
          </a:ln>
        </p:spPr>
      </p:sp>
      <p:sp>
        <p:nvSpPr>
          <p:cNvPr id="6" name="Text 3"/>
          <p:cNvSpPr/>
          <p:nvPr/>
        </p:nvSpPr>
        <p:spPr>
          <a:xfrm>
            <a:off x="274320" y="1737360"/>
            <a:ext cx="1783080" cy="822960"/>
          </a:xfrm>
          <a:prstGeom prst="rect">
            <a:avLst/>
          </a:prstGeom>
          <a:noFill/>
          <a:ln/>
        </p:spPr>
        <p:txBody>
          <a:bodyPr wrap="square" rtlCol="0" anchor="ctr"/>
          <a:lstStyle/>
          <a:p>
            <a:pPr algn="ctr" indent="0" marL="0">
              <a:buNone/>
            </a:pPr>
            <a:r>
              <a:rPr lang="en-US" sz="3000" b="1" dirty="0">
                <a:solidFill>
                  <a:srgbClr val="6B1C2A"/>
                </a:solidFill>
                <a:latin typeface="Arial" pitchFamily="34" charset="0"/>
                <a:ea typeface="Arial" pitchFamily="34" charset="-122"/>
                <a:cs typeface="Arial" pitchFamily="34" charset="-120"/>
              </a:rPr>
              <a:t>70+</a:t>
            </a:r>
            <a:endParaRPr lang="en-US" sz="3000" dirty="0"/>
          </a:p>
        </p:txBody>
      </p:sp>
      <p:sp>
        <p:nvSpPr>
          <p:cNvPr id="7" name="Text 4"/>
          <p:cNvSpPr/>
          <p:nvPr/>
        </p:nvSpPr>
        <p:spPr>
          <a:xfrm>
            <a:off x="274320" y="2468880"/>
            <a:ext cx="1783080" cy="365760"/>
          </a:xfrm>
          <a:prstGeom prst="rect">
            <a:avLst/>
          </a:prstGeom>
          <a:noFill/>
          <a:ln/>
        </p:spPr>
        <p:txBody>
          <a:bodyPr wrap="square" rtlCol="0" anchor="ctr"/>
          <a:lstStyle/>
          <a:p>
            <a:pPr algn="ctr" indent="0" marL="0">
              <a:buNone/>
            </a:pPr>
            <a:r>
              <a:rPr lang="en-US" sz="1100" dirty="0">
                <a:solidFill>
                  <a:srgbClr val="AAAAAA"/>
                </a:solidFill>
                <a:latin typeface="Arial" pitchFamily="34" charset="0"/>
                <a:ea typeface="Arial" pitchFamily="34" charset="-122"/>
                <a:cs typeface="Arial" pitchFamily="34" charset="-120"/>
              </a:rPr>
              <a:t>Pages</a:t>
            </a:r>
            <a:endParaRPr lang="en-US" sz="1100" dirty="0"/>
          </a:p>
        </p:txBody>
      </p:sp>
      <p:sp>
        <p:nvSpPr>
          <p:cNvPr id="8" name="Shape 5"/>
          <p:cNvSpPr/>
          <p:nvPr/>
        </p:nvSpPr>
        <p:spPr>
          <a:xfrm>
            <a:off x="2240280" y="1645920"/>
            <a:ext cx="1783080" cy="1371600"/>
          </a:xfrm>
          <a:prstGeom prst="roundRect">
            <a:avLst>
              <a:gd name="adj" fmla="val 6667"/>
            </a:avLst>
          </a:prstGeom>
          <a:solidFill>
            <a:srgbClr val="2A2025"/>
          </a:solidFill>
          <a:ln w="12700">
            <a:solidFill>
              <a:srgbClr val="3A3035"/>
            </a:solidFill>
            <a:prstDash val="solid"/>
          </a:ln>
        </p:spPr>
      </p:sp>
      <p:sp>
        <p:nvSpPr>
          <p:cNvPr id="9" name="Text 6"/>
          <p:cNvSpPr/>
          <p:nvPr/>
        </p:nvSpPr>
        <p:spPr>
          <a:xfrm>
            <a:off x="2240280" y="1737360"/>
            <a:ext cx="1783080" cy="822960"/>
          </a:xfrm>
          <a:prstGeom prst="rect">
            <a:avLst/>
          </a:prstGeom>
          <a:noFill/>
          <a:ln/>
        </p:spPr>
        <p:txBody>
          <a:bodyPr wrap="square" rtlCol="0" anchor="ctr"/>
          <a:lstStyle/>
          <a:p>
            <a:pPr algn="ctr" indent="0" marL="0">
              <a:buNone/>
            </a:pPr>
            <a:r>
              <a:rPr lang="en-US" sz="3000" b="1" dirty="0">
                <a:solidFill>
                  <a:srgbClr val="6B1C2A"/>
                </a:solidFill>
                <a:latin typeface="Arial" pitchFamily="34" charset="0"/>
                <a:ea typeface="Arial" pitchFamily="34" charset="-122"/>
                <a:cs typeface="Arial" pitchFamily="34" charset="-120"/>
              </a:rPr>
              <a:t>124+</a:t>
            </a:r>
            <a:endParaRPr lang="en-US" sz="3000" dirty="0"/>
          </a:p>
        </p:txBody>
      </p:sp>
      <p:sp>
        <p:nvSpPr>
          <p:cNvPr id="10" name="Text 7"/>
          <p:cNvSpPr/>
          <p:nvPr/>
        </p:nvSpPr>
        <p:spPr>
          <a:xfrm>
            <a:off x="2240280" y="2468880"/>
            <a:ext cx="1783080" cy="365760"/>
          </a:xfrm>
          <a:prstGeom prst="rect">
            <a:avLst/>
          </a:prstGeom>
          <a:noFill/>
          <a:ln/>
        </p:spPr>
        <p:txBody>
          <a:bodyPr wrap="square" rtlCol="0" anchor="ctr"/>
          <a:lstStyle/>
          <a:p>
            <a:pPr algn="ctr" indent="0" marL="0">
              <a:buNone/>
            </a:pPr>
            <a:r>
              <a:rPr lang="en-US" sz="1100" dirty="0">
                <a:solidFill>
                  <a:srgbClr val="AAAAAA"/>
                </a:solidFill>
                <a:latin typeface="Arial" pitchFamily="34" charset="0"/>
                <a:ea typeface="Arial" pitchFamily="34" charset="-122"/>
                <a:cs typeface="Arial" pitchFamily="34" charset="-120"/>
              </a:rPr>
              <a:t>API Routes</a:t>
            </a:r>
            <a:endParaRPr lang="en-US" sz="1100" dirty="0"/>
          </a:p>
        </p:txBody>
      </p:sp>
      <p:sp>
        <p:nvSpPr>
          <p:cNvPr id="11" name="Shape 8"/>
          <p:cNvSpPr/>
          <p:nvPr/>
        </p:nvSpPr>
        <p:spPr>
          <a:xfrm>
            <a:off x="4206240" y="1645920"/>
            <a:ext cx="1783080" cy="1371600"/>
          </a:xfrm>
          <a:prstGeom prst="roundRect">
            <a:avLst>
              <a:gd name="adj" fmla="val 6667"/>
            </a:avLst>
          </a:prstGeom>
          <a:solidFill>
            <a:srgbClr val="2A2025"/>
          </a:solidFill>
          <a:ln w="12700">
            <a:solidFill>
              <a:srgbClr val="3A3035"/>
            </a:solidFill>
            <a:prstDash val="solid"/>
          </a:ln>
        </p:spPr>
      </p:sp>
      <p:sp>
        <p:nvSpPr>
          <p:cNvPr id="12" name="Text 9"/>
          <p:cNvSpPr/>
          <p:nvPr/>
        </p:nvSpPr>
        <p:spPr>
          <a:xfrm>
            <a:off x="4206240" y="1737360"/>
            <a:ext cx="1783080" cy="822960"/>
          </a:xfrm>
          <a:prstGeom prst="rect">
            <a:avLst/>
          </a:prstGeom>
          <a:noFill/>
          <a:ln/>
        </p:spPr>
        <p:txBody>
          <a:bodyPr wrap="square" rtlCol="0" anchor="ctr"/>
          <a:lstStyle/>
          <a:p>
            <a:pPr algn="ctr" indent="0" marL="0">
              <a:buNone/>
            </a:pPr>
            <a:r>
              <a:rPr lang="en-US" sz="3000" b="1" dirty="0">
                <a:solidFill>
                  <a:srgbClr val="6B1C2A"/>
                </a:solidFill>
                <a:latin typeface="Arial" pitchFamily="34" charset="0"/>
                <a:ea typeface="Arial" pitchFamily="34" charset="-122"/>
                <a:cs typeface="Arial" pitchFamily="34" charset="-120"/>
              </a:rPr>
              <a:t>100%</a:t>
            </a:r>
            <a:endParaRPr lang="en-US" sz="3000" dirty="0"/>
          </a:p>
        </p:txBody>
      </p:sp>
      <p:sp>
        <p:nvSpPr>
          <p:cNvPr id="13" name="Text 10"/>
          <p:cNvSpPr/>
          <p:nvPr/>
        </p:nvSpPr>
        <p:spPr>
          <a:xfrm>
            <a:off x="4206240" y="2468880"/>
            <a:ext cx="1783080" cy="365760"/>
          </a:xfrm>
          <a:prstGeom prst="rect">
            <a:avLst/>
          </a:prstGeom>
          <a:noFill/>
          <a:ln/>
        </p:spPr>
        <p:txBody>
          <a:bodyPr wrap="square" rtlCol="0" anchor="ctr"/>
          <a:lstStyle/>
          <a:p>
            <a:pPr algn="ctr" indent="0" marL="0">
              <a:buNone/>
            </a:pPr>
            <a:r>
              <a:rPr lang="en-US" sz="1100" dirty="0">
                <a:solidFill>
                  <a:srgbClr val="AAAAAA"/>
                </a:solidFill>
                <a:latin typeface="Arial" pitchFamily="34" charset="0"/>
                <a:ea typeface="Arial" pitchFamily="34" charset="-122"/>
                <a:cs typeface="Arial" pitchFamily="34" charset="-120"/>
              </a:rPr>
              <a:t>Error Handling</a:t>
            </a:r>
            <a:endParaRPr lang="en-US" sz="1100" dirty="0"/>
          </a:p>
        </p:txBody>
      </p:sp>
      <p:sp>
        <p:nvSpPr>
          <p:cNvPr id="14" name="Shape 11"/>
          <p:cNvSpPr/>
          <p:nvPr/>
        </p:nvSpPr>
        <p:spPr>
          <a:xfrm>
            <a:off x="6172200" y="1645920"/>
            <a:ext cx="1783080" cy="1371600"/>
          </a:xfrm>
          <a:prstGeom prst="roundRect">
            <a:avLst>
              <a:gd name="adj" fmla="val 6667"/>
            </a:avLst>
          </a:prstGeom>
          <a:solidFill>
            <a:srgbClr val="2A2025"/>
          </a:solidFill>
          <a:ln w="12700">
            <a:solidFill>
              <a:srgbClr val="3A3035"/>
            </a:solidFill>
            <a:prstDash val="solid"/>
          </a:ln>
        </p:spPr>
      </p:sp>
      <p:sp>
        <p:nvSpPr>
          <p:cNvPr id="15" name="Text 12"/>
          <p:cNvSpPr/>
          <p:nvPr/>
        </p:nvSpPr>
        <p:spPr>
          <a:xfrm>
            <a:off x="6172200" y="1737360"/>
            <a:ext cx="1783080" cy="822960"/>
          </a:xfrm>
          <a:prstGeom prst="rect">
            <a:avLst/>
          </a:prstGeom>
          <a:noFill/>
          <a:ln/>
        </p:spPr>
        <p:txBody>
          <a:bodyPr wrap="square" rtlCol="0" anchor="ctr"/>
          <a:lstStyle/>
          <a:p>
            <a:pPr algn="ctr" indent="0" marL="0">
              <a:buNone/>
            </a:pPr>
            <a:r>
              <a:rPr lang="en-US" sz="3000" b="1" dirty="0">
                <a:solidFill>
                  <a:srgbClr val="6B1C2A"/>
                </a:solidFill>
                <a:latin typeface="Arial" pitchFamily="34" charset="0"/>
                <a:ea typeface="Arial" pitchFamily="34" charset="-122"/>
                <a:cs typeface="Arial" pitchFamily="34" charset="-120"/>
              </a:rPr>
              <a:t>60+</a:t>
            </a:r>
            <a:endParaRPr lang="en-US" sz="3000" dirty="0"/>
          </a:p>
        </p:txBody>
      </p:sp>
      <p:sp>
        <p:nvSpPr>
          <p:cNvPr id="16" name="Text 13"/>
          <p:cNvSpPr/>
          <p:nvPr/>
        </p:nvSpPr>
        <p:spPr>
          <a:xfrm>
            <a:off x="6172200" y="2468880"/>
            <a:ext cx="1783080" cy="365760"/>
          </a:xfrm>
          <a:prstGeom prst="rect">
            <a:avLst/>
          </a:prstGeom>
          <a:noFill/>
          <a:ln/>
        </p:spPr>
        <p:txBody>
          <a:bodyPr wrap="square" rtlCol="0" anchor="ctr"/>
          <a:lstStyle/>
          <a:p>
            <a:pPr algn="ctr" indent="0" marL="0">
              <a:buNone/>
            </a:pPr>
            <a:r>
              <a:rPr lang="en-US" sz="1100" dirty="0">
                <a:solidFill>
                  <a:srgbClr val="AAAAAA"/>
                </a:solidFill>
                <a:latin typeface="Arial" pitchFamily="34" charset="0"/>
                <a:ea typeface="Arial" pitchFamily="34" charset="-122"/>
                <a:cs typeface="Arial" pitchFamily="34" charset="-120"/>
              </a:rPr>
              <a:t>Components</a:t>
            </a:r>
            <a:endParaRPr lang="en-US" sz="1100" dirty="0"/>
          </a:p>
        </p:txBody>
      </p:sp>
      <p:sp>
        <p:nvSpPr>
          <p:cNvPr id="17" name="Shape 14"/>
          <p:cNvSpPr/>
          <p:nvPr/>
        </p:nvSpPr>
        <p:spPr>
          <a:xfrm>
            <a:off x="8138160" y="1645920"/>
            <a:ext cx="1783080" cy="1371600"/>
          </a:xfrm>
          <a:prstGeom prst="roundRect">
            <a:avLst>
              <a:gd name="adj" fmla="val 6667"/>
            </a:avLst>
          </a:prstGeom>
          <a:solidFill>
            <a:srgbClr val="2A2025"/>
          </a:solidFill>
          <a:ln w="12700">
            <a:solidFill>
              <a:srgbClr val="3A3035"/>
            </a:solidFill>
            <a:prstDash val="solid"/>
          </a:ln>
        </p:spPr>
      </p:sp>
      <p:sp>
        <p:nvSpPr>
          <p:cNvPr id="18" name="Text 15"/>
          <p:cNvSpPr/>
          <p:nvPr/>
        </p:nvSpPr>
        <p:spPr>
          <a:xfrm>
            <a:off x="8138160" y="1737360"/>
            <a:ext cx="1783080" cy="822960"/>
          </a:xfrm>
          <a:prstGeom prst="rect">
            <a:avLst/>
          </a:prstGeom>
          <a:noFill/>
          <a:ln/>
        </p:spPr>
        <p:txBody>
          <a:bodyPr wrap="square" rtlCol="0" anchor="ctr"/>
          <a:lstStyle/>
          <a:p>
            <a:pPr algn="ctr" indent="0" marL="0">
              <a:buNone/>
            </a:pPr>
            <a:r>
              <a:rPr lang="en-US" sz="3000" b="1" dirty="0">
                <a:solidFill>
                  <a:srgbClr val="6B1C2A"/>
                </a:solidFill>
                <a:latin typeface="Arial" pitchFamily="34" charset="0"/>
                <a:ea typeface="Arial" pitchFamily="34" charset="-122"/>
                <a:cs typeface="Arial" pitchFamily="34" charset="-120"/>
              </a:rPr>
              <a:t>24</a:t>
            </a:r>
            <a:endParaRPr lang="en-US" sz="3000" dirty="0"/>
          </a:p>
        </p:txBody>
      </p:sp>
      <p:sp>
        <p:nvSpPr>
          <p:cNvPr id="19" name="Text 16"/>
          <p:cNvSpPr/>
          <p:nvPr/>
        </p:nvSpPr>
        <p:spPr>
          <a:xfrm>
            <a:off x="8138160" y="2468880"/>
            <a:ext cx="1783080" cy="365760"/>
          </a:xfrm>
          <a:prstGeom prst="rect">
            <a:avLst/>
          </a:prstGeom>
          <a:noFill/>
          <a:ln/>
        </p:spPr>
        <p:txBody>
          <a:bodyPr wrap="square" rtlCol="0" anchor="ctr"/>
          <a:lstStyle/>
          <a:p>
            <a:pPr algn="ctr" indent="0" marL="0">
              <a:buNone/>
            </a:pPr>
            <a:r>
              <a:rPr lang="en-US" sz="1100" dirty="0">
                <a:solidFill>
                  <a:srgbClr val="AAAAAA"/>
                </a:solidFill>
                <a:latin typeface="Arial" pitchFamily="34" charset="0"/>
                <a:ea typeface="Arial" pitchFamily="34" charset="-122"/>
                <a:cs typeface="Arial" pitchFamily="34" charset="-120"/>
              </a:rPr>
              <a:t>Platforms</a:t>
            </a:r>
            <a:endParaRPr lang="en-US" sz="1100" dirty="0"/>
          </a:p>
        </p:txBody>
      </p:sp>
      <p:sp>
        <p:nvSpPr>
          <p:cNvPr id="20" name="Shape 17"/>
          <p:cNvSpPr/>
          <p:nvPr/>
        </p:nvSpPr>
        <p:spPr>
          <a:xfrm>
            <a:off x="10104120" y="1645920"/>
            <a:ext cx="1783080" cy="1371600"/>
          </a:xfrm>
          <a:prstGeom prst="roundRect">
            <a:avLst>
              <a:gd name="adj" fmla="val 6667"/>
            </a:avLst>
          </a:prstGeom>
          <a:solidFill>
            <a:srgbClr val="2A2025"/>
          </a:solidFill>
          <a:ln w="12700">
            <a:solidFill>
              <a:srgbClr val="3A3035"/>
            </a:solidFill>
            <a:prstDash val="solid"/>
          </a:ln>
        </p:spPr>
      </p:sp>
      <p:sp>
        <p:nvSpPr>
          <p:cNvPr id="21" name="Text 18"/>
          <p:cNvSpPr/>
          <p:nvPr/>
        </p:nvSpPr>
        <p:spPr>
          <a:xfrm>
            <a:off x="10104120" y="1737360"/>
            <a:ext cx="1783080" cy="822960"/>
          </a:xfrm>
          <a:prstGeom prst="rect">
            <a:avLst/>
          </a:prstGeom>
          <a:noFill/>
          <a:ln/>
        </p:spPr>
        <p:txBody>
          <a:bodyPr wrap="square" rtlCol="0" anchor="ctr"/>
          <a:lstStyle/>
          <a:p>
            <a:pPr algn="ctr" indent="0" marL="0">
              <a:buNone/>
            </a:pPr>
            <a:r>
              <a:rPr lang="en-US" sz="3000" b="1" dirty="0">
                <a:solidFill>
                  <a:srgbClr val="6B1C2A"/>
                </a:solidFill>
                <a:latin typeface="Arial" pitchFamily="34" charset="0"/>
                <a:ea typeface="Arial" pitchFamily="34" charset="-122"/>
                <a:cs typeface="Arial" pitchFamily="34" charset="-120"/>
              </a:rPr>
              <a:t>5</a:t>
            </a:r>
            <a:endParaRPr lang="en-US" sz="3000" dirty="0"/>
          </a:p>
        </p:txBody>
      </p:sp>
      <p:sp>
        <p:nvSpPr>
          <p:cNvPr id="22" name="Text 19"/>
          <p:cNvSpPr/>
          <p:nvPr/>
        </p:nvSpPr>
        <p:spPr>
          <a:xfrm>
            <a:off x="10104120" y="2468880"/>
            <a:ext cx="1783080" cy="365760"/>
          </a:xfrm>
          <a:prstGeom prst="rect">
            <a:avLst/>
          </a:prstGeom>
          <a:noFill/>
          <a:ln/>
        </p:spPr>
        <p:txBody>
          <a:bodyPr wrap="square" rtlCol="0" anchor="ctr"/>
          <a:lstStyle/>
          <a:p>
            <a:pPr algn="ctr" indent="0" marL="0">
              <a:buNone/>
            </a:pPr>
            <a:r>
              <a:rPr lang="en-US" sz="1100" dirty="0">
                <a:solidFill>
                  <a:srgbClr val="AAAAAA"/>
                </a:solidFill>
                <a:latin typeface="Arial" pitchFamily="34" charset="0"/>
                <a:ea typeface="Arial" pitchFamily="34" charset="-122"/>
                <a:cs typeface="Arial" pitchFamily="34" charset="-120"/>
              </a:rPr>
              <a:t>AI Providers</a:t>
            </a:r>
            <a:endParaRPr lang="en-US" sz="1100" dirty="0"/>
          </a:p>
        </p:txBody>
      </p:sp>
      <p:sp>
        <p:nvSpPr>
          <p:cNvPr id="23" name="Shape 20"/>
          <p:cNvSpPr/>
          <p:nvPr/>
        </p:nvSpPr>
        <p:spPr>
          <a:xfrm>
            <a:off x="457200" y="3383280"/>
            <a:ext cx="5303520" cy="2286000"/>
          </a:xfrm>
          <a:prstGeom prst="roundRect">
            <a:avLst>
              <a:gd name="adj" fmla="val 4800"/>
            </a:avLst>
          </a:prstGeom>
          <a:solidFill>
            <a:srgbClr val="2A2025"/>
          </a:solidFill>
          <a:ln w="12700">
            <a:solidFill>
              <a:srgbClr val="3A3035"/>
            </a:solidFill>
            <a:prstDash val="solid"/>
          </a:ln>
        </p:spPr>
      </p:sp>
      <p:sp>
        <p:nvSpPr>
          <p:cNvPr id="24" name="Text 21"/>
          <p:cNvSpPr/>
          <p:nvPr/>
        </p:nvSpPr>
        <p:spPr>
          <a:xfrm>
            <a:off x="731520" y="3474720"/>
            <a:ext cx="4754880"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Frontend Stack</a:t>
            </a:r>
            <a:endParaRPr lang="en-US" sz="1600" dirty="0"/>
          </a:p>
        </p:txBody>
      </p:sp>
      <p:sp>
        <p:nvSpPr>
          <p:cNvPr id="25" name="Text 22"/>
          <p:cNvSpPr/>
          <p:nvPr/>
        </p:nvSpPr>
        <p:spPr>
          <a:xfrm>
            <a:off x="731520" y="402336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React + Vite (fast builds)</a:t>
            </a:r>
            <a:endParaRPr lang="en-US" sz="1100" dirty="0"/>
          </a:p>
        </p:txBody>
      </p:sp>
      <p:sp>
        <p:nvSpPr>
          <p:cNvPr id="26" name="Text 23"/>
          <p:cNvSpPr/>
          <p:nvPr/>
        </p:nvSpPr>
        <p:spPr>
          <a:xfrm>
            <a:off x="731520" y="434340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TanStack Query (data)</a:t>
            </a:r>
            <a:endParaRPr lang="en-US" sz="1100" dirty="0"/>
          </a:p>
        </p:txBody>
      </p:sp>
      <p:sp>
        <p:nvSpPr>
          <p:cNvPr id="27" name="Text 24"/>
          <p:cNvSpPr/>
          <p:nvPr/>
        </p:nvSpPr>
        <p:spPr>
          <a:xfrm>
            <a:off x="731520" y="466344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Tailwind CSS + shadcn/ui</a:t>
            </a:r>
            <a:endParaRPr lang="en-US" sz="1100" dirty="0"/>
          </a:p>
        </p:txBody>
      </p:sp>
      <p:sp>
        <p:nvSpPr>
          <p:cNvPr id="28" name="Text 25"/>
          <p:cNvSpPr/>
          <p:nvPr/>
        </p:nvSpPr>
        <p:spPr>
          <a:xfrm>
            <a:off x="731520" y="498348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wouter routing</a:t>
            </a:r>
            <a:endParaRPr lang="en-US" sz="1100" dirty="0"/>
          </a:p>
        </p:txBody>
      </p:sp>
      <p:sp>
        <p:nvSpPr>
          <p:cNvPr id="29" name="Text 26"/>
          <p:cNvSpPr/>
          <p:nvPr/>
        </p:nvSpPr>
        <p:spPr>
          <a:xfrm>
            <a:off x="731520" y="530352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Leaflet + OpenStreetMap</a:t>
            </a:r>
            <a:endParaRPr lang="en-US" sz="1100" dirty="0"/>
          </a:p>
        </p:txBody>
      </p:sp>
      <p:sp>
        <p:nvSpPr>
          <p:cNvPr id="30" name="Shape 27"/>
          <p:cNvSpPr/>
          <p:nvPr/>
        </p:nvSpPr>
        <p:spPr>
          <a:xfrm>
            <a:off x="6035040" y="3383280"/>
            <a:ext cx="5303520" cy="2286000"/>
          </a:xfrm>
          <a:prstGeom prst="roundRect">
            <a:avLst>
              <a:gd name="adj" fmla="val 4800"/>
            </a:avLst>
          </a:prstGeom>
          <a:solidFill>
            <a:srgbClr val="2A2025"/>
          </a:solidFill>
          <a:ln w="12700">
            <a:solidFill>
              <a:srgbClr val="3A3035"/>
            </a:solidFill>
            <a:prstDash val="solid"/>
          </a:ln>
        </p:spPr>
      </p:sp>
      <p:sp>
        <p:nvSpPr>
          <p:cNvPr id="31" name="Text 28"/>
          <p:cNvSpPr/>
          <p:nvPr/>
        </p:nvSpPr>
        <p:spPr>
          <a:xfrm>
            <a:off x="6309360" y="3474720"/>
            <a:ext cx="4754880"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Backend Stack</a:t>
            </a:r>
            <a:endParaRPr lang="en-US" sz="1600" dirty="0"/>
          </a:p>
        </p:txBody>
      </p:sp>
      <p:sp>
        <p:nvSpPr>
          <p:cNvPr id="32" name="Text 29"/>
          <p:cNvSpPr/>
          <p:nvPr/>
        </p:nvSpPr>
        <p:spPr>
          <a:xfrm>
            <a:off x="6309360" y="402336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Node.js + Express</a:t>
            </a:r>
            <a:endParaRPr lang="en-US" sz="1100" dirty="0"/>
          </a:p>
        </p:txBody>
      </p:sp>
      <p:sp>
        <p:nvSpPr>
          <p:cNvPr id="33" name="Text 30"/>
          <p:cNvSpPr/>
          <p:nvPr/>
        </p:nvSpPr>
        <p:spPr>
          <a:xfrm>
            <a:off x="6309360" y="434340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PostgreSQL (Neon)</a:t>
            </a:r>
            <a:endParaRPr lang="en-US" sz="1100" dirty="0"/>
          </a:p>
        </p:txBody>
      </p:sp>
      <p:sp>
        <p:nvSpPr>
          <p:cNvPr id="34" name="Text 31"/>
          <p:cNvSpPr/>
          <p:nvPr/>
        </p:nvSpPr>
        <p:spPr>
          <a:xfrm>
            <a:off x="6309360" y="466344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Drizzle ORM</a:t>
            </a:r>
            <a:endParaRPr lang="en-US" sz="1100" dirty="0"/>
          </a:p>
        </p:txBody>
      </p:sp>
      <p:sp>
        <p:nvSpPr>
          <p:cNvPr id="35" name="Text 32"/>
          <p:cNvSpPr/>
          <p:nvPr/>
        </p:nvSpPr>
        <p:spPr>
          <a:xfrm>
            <a:off x="6309360" y="498348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5-Provider AI Engine</a:t>
            </a:r>
            <a:endParaRPr lang="en-US" sz="1100" dirty="0"/>
          </a:p>
        </p:txBody>
      </p:sp>
      <p:sp>
        <p:nvSpPr>
          <p:cNvPr id="36" name="Text 33"/>
          <p:cNvSpPr/>
          <p:nvPr/>
        </p:nvSpPr>
        <p:spPr>
          <a:xfrm>
            <a:off x="6309360" y="5303520"/>
            <a:ext cx="4754880" cy="274320"/>
          </a:xfrm>
          <a:prstGeom prst="rect">
            <a:avLst/>
          </a:prstGeom>
          <a:noFill/>
          <a:ln/>
        </p:spPr>
        <p:txBody>
          <a:bodyPr wrap="square" rtlCol="0" anchor="ctr"/>
          <a:lstStyle/>
          <a:p>
            <a:pPr indent="0" marL="0">
              <a:buNone/>
            </a:pPr>
            <a:r>
              <a:rPr lang="en-US" sz="1100" dirty="0">
                <a:solidFill>
                  <a:srgbClr val="D0D0D0"/>
                </a:solidFill>
                <a:latin typeface="Arial" pitchFamily="34" charset="0"/>
                <a:ea typeface="Arial" pitchFamily="34" charset="-122"/>
                <a:cs typeface="Arial" pitchFamily="34" charset="-120"/>
              </a:rPr>
              <a:t>•  Resend Email Integration</a:t>
            </a:r>
            <a:endParaRPr lang="en-US" sz="1100" dirty="0"/>
          </a:p>
        </p:txBody>
      </p:sp>
      <p:sp>
        <p:nvSpPr>
          <p:cNvPr id="37" name="Text 34"/>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25/30</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WHAT FUNDERS &amp; COLLABORATORS GET</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Why Partner With Us — Whether You Fund or Build</a:t>
            </a:r>
            <a:endParaRPr lang="en-US" sz="2400" dirty="0"/>
          </a:p>
        </p:txBody>
      </p:sp>
      <p:sp>
        <p:nvSpPr>
          <p:cNvPr id="5" name="Shape 2"/>
          <p:cNvSpPr/>
          <p:nvPr/>
        </p:nvSpPr>
        <p:spPr>
          <a:xfrm>
            <a:off x="457200" y="1463040"/>
            <a:ext cx="5394960" cy="2286000"/>
          </a:xfrm>
          <a:prstGeom prst="roundRect">
            <a:avLst>
              <a:gd name="adj" fmla="val 4800"/>
            </a:avLst>
          </a:prstGeom>
          <a:solidFill>
            <a:srgbClr val="FFFFFF"/>
          </a:solidFill>
          <a:ln w="25400">
            <a:solidFill>
              <a:srgbClr val="10B981"/>
            </a:solidFill>
            <a:prstDash val="solid"/>
          </a:ln>
        </p:spPr>
      </p:sp>
      <p:sp>
        <p:nvSpPr>
          <p:cNvPr id="6" name="Text 3"/>
          <p:cNvSpPr/>
          <p:nvPr/>
        </p:nvSpPr>
        <p:spPr>
          <a:xfrm>
            <a:off x="640080" y="1554480"/>
            <a:ext cx="5029200" cy="41148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For Funders: Measurable ROI</a:t>
            </a:r>
            <a:endParaRPr lang="en-US" sz="1600" dirty="0"/>
          </a:p>
        </p:txBody>
      </p:sp>
      <p:sp>
        <p:nvSpPr>
          <p:cNvPr id="7" name="Text 4"/>
          <p:cNvSpPr/>
          <p:nvPr/>
        </p:nvSpPr>
        <p:spPr>
          <a:xfrm>
            <a:off x="685800" y="201168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Locked Census baselines with targets</a:t>
            </a:r>
            <a:endParaRPr lang="en-US" sz="1200" dirty="0"/>
          </a:p>
        </p:txBody>
      </p:sp>
      <p:sp>
        <p:nvSpPr>
          <p:cNvPr id="8" name="Text 5"/>
          <p:cNvSpPr/>
          <p:nvPr/>
        </p:nvSpPr>
        <p:spPr>
          <a:xfrm>
            <a:off x="685800" y="237744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Real-time gap tracking dashboards</a:t>
            </a:r>
            <a:endParaRPr lang="en-US" sz="1200" dirty="0"/>
          </a:p>
        </p:txBody>
      </p:sp>
      <p:sp>
        <p:nvSpPr>
          <p:cNvPr id="9" name="Text 6"/>
          <p:cNvSpPr/>
          <p:nvPr/>
        </p:nvSpPr>
        <p:spPr>
          <a:xfrm>
            <a:off x="685800" y="274320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Automated outcome reporting</a:t>
            </a:r>
            <a:endParaRPr lang="en-US" sz="1200" dirty="0"/>
          </a:p>
        </p:txBody>
      </p:sp>
      <p:sp>
        <p:nvSpPr>
          <p:cNvPr id="10" name="Text 7"/>
          <p:cNvSpPr/>
          <p:nvPr/>
        </p:nvSpPr>
        <p:spPr>
          <a:xfrm>
            <a:off x="685800" y="310896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Grant-specific narratives &amp; logic models</a:t>
            </a:r>
            <a:endParaRPr lang="en-US" sz="1200" dirty="0"/>
          </a:p>
        </p:txBody>
      </p:sp>
      <p:sp>
        <p:nvSpPr>
          <p:cNvPr id="11" name="Shape 8"/>
          <p:cNvSpPr/>
          <p:nvPr/>
        </p:nvSpPr>
        <p:spPr>
          <a:xfrm>
            <a:off x="6217920" y="1463040"/>
            <a:ext cx="5394960" cy="2286000"/>
          </a:xfrm>
          <a:prstGeom prst="roundRect">
            <a:avLst>
              <a:gd name="adj" fmla="val 4800"/>
            </a:avLst>
          </a:prstGeom>
          <a:solidFill>
            <a:srgbClr val="FFFFFF"/>
          </a:solidFill>
          <a:ln w="25400">
            <a:solidFill>
              <a:srgbClr val="7C3AED"/>
            </a:solidFill>
            <a:prstDash val="solid"/>
          </a:ln>
        </p:spPr>
      </p:sp>
      <p:sp>
        <p:nvSpPr>
          <p:cNvPr id="12" name="Text 9"/>
          <p:cNvSpPr/>
          <p:nvPr/>
        </p:nvSpPr>
        <p:spPr>
          <a:xfrm>
            <a:off x="6400800" y="1554480"/>
            <a:ext cx="5029200" cy="41148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For Collaborators: Shared Infrastructure</a:t>
            </a:r>
            <a:endParaRPr lang="en-US" sz="1600" dirty="0"/>
          </a:p>
        </p:txBody>
      </p:sp>
      <p:sp>
        <p:nvSpPr>
          <p:cNvPr id="13" name="Text 10"/>
          <p:cNvSpPr/>
          <p:nvPr/>
        </p:nvSpPr>
        <p:spPr>
          <a:xfrm>
            <a:off x="6446520" y="201168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Tract-level community data access</a:t>
            </a:r>
            <a:endParaRPr lang="en-US" sz="1200" dirty="0"/>
          </a:p>
        </p:txBody>
      </p:sp>
      <p:sp>
        <p:nvSpPr>
          <p:cNvPr id="14" name="Text 11"/>
          <p:cNvSpPr/>
          <p:nvPr/>
        </p:nvSpPr>
        <p:spPr>
          <a:xfrm>
            <a:off x="6446520" y="237744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8 federal data sources integrated</a:t>
            </a:r>
            <a:endParaRPr lang="en-US" sz="1200" dirty="0"/>
          </a:p>
        </p:txBody>
      </p:sp>
      <p:sp>
        <p:nvSpPr>
          <p:cNvPr id="15" name="Text 12"/>
          <p:cNvSpPr/>
          <p:nvPr/>
        </p:nvSpPr>
        <p:spPr>
          <a:xfrm>
            <a:off x="6446520" y="274320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GIS mapping &amp; visualization tools</a:t>
            </a:r>
            <a:endParaRPr lang="en-US" sz="1200" dirty="0"/>
          </a:p>
        </p:txBody>
      </p:sp>
      <p:sp>
        <p:nvSpPr>
          <p:cNvPr id="16" name="Text 13"/>
          <p:cNvSpPr/>
          <p:nvPr/>
        </p:nvSpPr>
        <p:spPr>
          <a:xfrm>
            <a:off x="6446520" y="310896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API access to co-build solutions</a:t>
            </a:r>
            <a:endParaRPr lang="en-US" sz="1200" dirty="0"/>
          </a:p>
        </p:txBody>
      </p:sp>
      <p:sp>
        <p:nvSpPr>
          <p:cNvPr id="17" name="Shape 14"/>
          <p:cNvSpPr/>
          <p:nvPr/>
        </p:nvSpPr>
        <p:spPr>
          <a:xfrm>
            <a:off x="457200" y="4023360"/>
            <a:ext cx="5394960" cy="2286000"/>
          </a:xfrm>
          <a:prstGeom prst="roundRect">
            <a:avLst>
              <a:gd name="adj" fmla="val 4800"/>
            </a:avLst>
          </a:prstGeom>
          <a:solidFill>
            <a:srgbClr val="FFFFFF"/>
          </a:solidFill>
          <a:ln w="25400">
            <a:solidFill>
              <a:srgbClr val="2563EB"/>
            </a:solidFill>
            <a:prstDash val="solid"/>
          </a:ln>
        </p:spPr>
      </p:sp>
      <p:sp>
        <p:nvSpPr>
          <p:cNvPr id="18" name="Text 15"/>
          <p:cNvSpPr/>
          <p:nvPr/>
        </p:nvSpPr>
        <p:spPr>
          <a:xfrm>
            <a:off x="640080" y="4114800"/>
            <a:ext cx="5029200" cy="41148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For Both: Coordinated Impact</a:t>
            </a:r>
            <a:endParaRPr lang="en-US" sz="1600" dirty="0"/>
          </a:p>
        </p:txBody>
      </p:sp>
      <p:sp>
        <p:nvSpPr>
          <p:cNvPr id="19" name="Text 16"/>
          <p:cNvSpPr/>
          <p:nvPr/>
        </p:nvSpPr>
        <p:spPr>
          <a:xfrm>
            <a:off x="685800" y="457200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24 autonomous platforms — not siloed tools</a:t>
            </a:r>
            <a:endParaRPr lang="en-US" sz="1200" dirty="0"/>
          </a:p>
        </p:txBody>
      </p:sp>
      <p:sp>
        <p:nvSpPr>
          <p:cNvPr id="20" name="Text 17"/>
          <p:cNvSpPr/>
          <p:nvPr/>
        </p:nvSpPr>
        <p:spPr>
          <a:xfrm>
            <a:off x="685800" y="493776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Risk-to-platform routing</a:t>
            </a:r>
            <a:endParaRPr lang="en-US" sz="1200" dirty="0"/>
          </a:p>
        </p:txBody>
      </p:sp>
      <p:sp>
        <p:nvSpPr>
          <p:cNvPr id="21" name="Text 18"/>
          <p:cNvSpPr/>
          <p:nvPr/>
        </p:nvSpPr>
        <p:spPr>
          <a:xfrm>
            <a:off x="685800" y="530352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Documented reasoning on every exchange</a:t>
            </a:r>
            <a:endParaRPr lang="en-US" sz="1200" dirty="0"/>
          </a:p>
        </p:txBody>
      </p:sp>
      <p:sp>
        <p:nvSpPr>
          <p:cNvPr id="22" name="Text 19"/>
          <p:cNvSpPr/>
          <p:nvPr/>
        </p:nvSpPr>
        <p:spPr>
          <a:xfrm>
            <a:off x="685800" y="566928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CFIR &amp; RE-AIM validated frameworks</a:t>
            </a:r>
            <a:endParaRPr lang="en-US" sz="1200" dirty="0"/>
          </a:p>
        </p:txBody>
      </p:sp>
      <p:sp>
        <p:nvSpPr>
          <p:cNvPr id="23" name="Shape 20"/>
          <p:cNvSpPr/>
          <p:nvPr/>
        </p:nvSpPr>
        <p:spPr>
          <a:xfrm>
            <a:off x="6217920" y="4023360"/>
            <a:ext cx="5394960" cy="2286000"/>
          </a:xfrm>
          <a:prstGeom prst="roundRect">
            <a:avLst>
              <a:gd name="adj" fmla="val 4800"/>
            </a:avLst>
          </a:prstGeom>
          <a:solidFill>
            <a:srgbClr val="FFFFFF"/>
          </a:solidFill>
          <a:ln w="25400">
            <a:solidFill>
              <a:srgbClr val="D97706"/>
            </a:solidFill>
            <a:prstDash val="solid"/>
          </a:ln>
        </p:spPr>
      </p:sp>
      <p:sp>
        <p:nvSpPr>
          <p:cNvPr id="24" name="Text 21"/>
          <p:cNvSpPr/>
          <p:nvPr/>
        </p:nvSpPr>
        <p:spPr>
          <a:xfrm>
            <a:off x="6400800" y="4114800"/>
            <a:ext cx="5029200" cy="41148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For Both: Ready-Made Deliverables</a:t>
            </a:r>
            <a:endParaRPr lang="en-US" sz="1600" dirty="0"/>
          </a:p>
        </p:txBody>
      </p:sp>
      <p:sp>
        <p:nvSpPr>
          <p:cNvPr id="25" name="Text 22"/>
          <p:cNvSpPr/>
          <p:nvPr/>
        </p:nvSpPr>
        <p:spPr>
          <a:xfrm>
            <a:off x="6446520" y="457200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Community data packages</a:t>
            </a:r>
            <a:endParaRPr lang="en-US" sz="1200" dirty="0"/>
          </a:p>
        </p:txBody>
      </p:sp>
      <p:sp>
        <p:nvSpPr>
          <p:cNvPr id="26" name="Text 23"/>
          <p:cNvSpPr/>
          <p:nvPr/>
        </p:nvSpPr>
        <p:spPr>
          <a:xfrm>
            <a:off x="6446520" y="493776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Impact dashboards &amp; CSV export</a:t>
            </a:r>
            <a:endParaRPr lang="en-US" sz="1200" dirty="0"/>
          </a:p>
        </p:txBody>
      </p:sp>
      <p:sp>
        <p:nvSpPr>
          <p:cNvPr id="27" name="Text 24"/>
          <p:cNvSpPr/>
          <p:nvPr/>
        </p:nvSpPr>
        <p:spPr>
          <a:xfrm>
            <a:off x="6446520" y="530352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Evidence packages &amp; budget templates</a:t>
            </a:r>
            <a:endParaRPr lang="en-US" sz="1200" dirty="0"/>
          </a:p>
        </p:txBody>
      </p:sp>
      <p:sp>
        <p:nvSpPr>
          <p:cNvPr id="28" name="Text 25"/>
          <p:cNvSpPr/>
          <p:nvPr/>
        </p:nvSpPr>
        <p:spPr>
          <a:xfrm>
            <a:off x="6446520" y="5669280"/>
            <a:ext cx="4937760" cy="32004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  90-day action plans with accountability</a:t>
            </a:r>
            <a:endParaRPr lang="en-US" sz="1200" dirty="0"/>
          </a:p>
        </p:txBody>
      </p:sp>
      <p:sp>
        <p:nvSpPr>
          <p:cNvPr id="29" name="Text 26"/>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26/30</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WHO WE SERVE</a:t>
            </a:r>
            <a:endParaRPr lang="en-US" sz="1100" dirty="0"/>
          </a:p>
        </p:txBody>
      </p:sp>
      <p:sp>
        <p:nvSpPr>
          <p:cNvPr id="4" name="Text 1"/>
          <p:cNvSpPr/>
          <p:nvPr/>
        </p:nvSpPr>
        <p:spPr>
          <a:xfrm>
            <a:off x="731520" y="7315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Five Populations. One Ecosystem.</a:t>
            </a:r>
            <a:endParaRPr lang="en-US" sz="2600" dirty="0"/>
          </a:p>
        </p:txBody>
      </p:sp>
      <p:sp>
        <p:nvSpPr>
          <p:cNvPr id="5" name="Shape 2"/>
          <p:cNvSpPr/>
          <p:nvPr/>
        </p:nvSpPr>
        <p:spPr>
          <a:xfrm>
            <a:off x="274320" y="1645920"/>
            <a:ext cx="2103120" cy="4114800"/>
          </a:xfrm>
          <a:prstGeom prst="roundRect">
            <a:avLst>
              <a:gd name="adj" fmla="val 5217"/>
            </a:avLst>
          </a:prstGeom>
          <a:solidFill>
            <a:srgbClr val="2A2025"/>
          </a:solidFill>
          <a:ln w="25400">
            <a:solidFill>
              <a:srgbClr val="7C3AED"/>
            </a:solidFill>
            <a:prstDash val="solid"/>
          </a:ln>
        </p:spPr>
      </p:sp>
      <p:sp>
        <p:nvSpPr>
          <p:cNvPr id="6" name="Text 3"/>
          <p:cNvSpPr/>
          <p:nvPr/>
        </p:nvSpPr>
        <p:spPr>
          <a:xfrm>
            <a:off x="365760" y="18288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Students (All Ages)</a:t>
            </a:r>
            <a:endParaRPr lang="en-US" sz="1300" dirty="0"/>
          </a:p>
        </p:txBody>
      </p:sp>
      <p:sp>
        <p:nvSpPr>
          <p:cNvPr id="7" name="Text 4"/>
          <p:cNvSpPr/>
          <p:nvPr/>
        </p:nvSpPr>
        <p:spPr>
          <a:xfrm>
            <a:off x="365760" y="246888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AI mastery curriculum</a:t>
            </a:r>
            <a:endParaRPr lang="en-US" sz="1000" dirty="0"/>
          </a:p>
        </p:txBody>
      </p:sp>
      <p:sp>
        <p:nvSpPr>
          <p:cNvPr id="8" name="Text 5"/>
          <p:cNvSpPr/>
          <p:nvPr/>
        </p:nvSpPr>
        <p:spPr>
          <a:xfrm>
            <a:off x="365760" y="297180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Career exploration</a:t>
            </a:r>
            <a:endParaRPr lang="en-US" sz="1000" dirty="0"/>
          </a:p>
        </p:txBody>
      </p:sp>
      <p:sp>
        <p:nvSpPr>
          <p:cNvPr id="9" name="Text 6"/>
          <p:cNvSpPr/>
          <p:nvPr/>
        </p:nvSpPr>
        <p:spPr>
          <a:xfrm>
            <a:off x="365760" y="347472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Mentorship</a:t>
            </a:r>
            <a:endParaRPr lang="en-US" sz="1000" dirty="0"/>
          </a:p>
        </p:txBody>
      </p:sp>
      <p:sp>
        <p:nvSpPr>
          <p:cNvPr id="10" name="Text 7"/>
          <p:cNvSpPr/>
          <p:nvPr/>
        </p:nvSpPr>
        <p:spPr>
          <a:xfrm>
            <a:off x="365760" y="397764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Financial literacy</a:t>
            </a:r>
            <a:endParaRPr lang="en-US" sz="1000" dirty="0"/>
          </a:p>
        </p:txBody>
      </p:sp>
      <p:sp>
        <p:nvSpPr>
          <p:cNvPr id="11" name="Shape 8"/>
          <p:cNvSpPr/>
          <p:nvPr/>
        </p:nvSpPr>
        <p:spPr>
          <a:xfrm>
            <a:off x="2606040" y="1645920"/>
            <a:ext cx="2103120" cy="4114800"/>
          </a:xfrm>
          <a:prstGeom prst="roundRect">
            <a:avLst>
              <a:gd name="adj" fmla="val 5217"/>
            </a:avLst>
          </a:prstGeom>
          <a:solidFill>
            <a:srgbClr val="2A2025"/>
          </a:solidFill>
          <a:ln w="25400">
            <a:solidFill>
              <a:srgbClr val="DC2626"/>
            </a:solidFill>
            <a:prstDash val="solid"/>
          </a:ln>
        </p:spPr>
      </p:sp>
      <p:sp>
        <p:nvSpPr>
          <p:cNvPr id="12" name="Text 9"/>
          <p:cNvSpPr/>
          <p:nvPr/>
        </p:nvSpPr>
        <p:spPr>
          <a:xfrm>
            <a:off x="2697480" y="18288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Justice-Involved</a:t>
            </a:r>
            <a:endParaRPr lang="en-US" sz="1300" dirty="0"/>
          </a:p>
        </p:txBody>
      </p:sp>
      <p:sp>
        <p:nvSpPr>
          <p:cNvPr id="13" name="Text 10"/>
          <p:cNvSpPr/>
          <p:nvPr/>
        </p:nvSpPr>
        <p:spPr>
          <a:xfrm>
            <a:off x="2697480" y="246888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5-phase reentry</a:t>
            </a:r>
            <a:endParaRPr lang="en-US" sz="1000" dirty="0"/>
          </a:p>
        </p:txBody>
      </p:sp>
      <p:sp>
        <p:nvSpPr>
          <p:cNvPr id="14" name="Text 11"/>
          <p:cNvSpPr/>
          <p:nvPr/>
        </p:nvSpPr>
        <p:spPr>
          <a:xfrm>
            <a:off x="2697480" y="297180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Thrive Scores</a:t>
            </a:r>
            <a:endParaRPr lang="en-US" sz="1000" dirty="0"/>
          </a:p>
        </p:txBody>
      </p:sp>
      <p:sp>
        <p:nvSpPr>
          <p:cNvPr id="15" name="Text 12"/>
          <p:cNvSpPr/>
          <p:nvPr/>
        </p:nvSpPr>
        <p:spPr>
          <a:xfrm>
            <a:off x="2697480" y="347472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Court-ready reports</a:t>
            </a:r>
            <a:endParaRPr lang="en-US" sz="1000" dirty="0"/>
          </a:p>
        </p:txBody>
      </p:sp>
      <p:sp>
        <p:nvSpPr>
          <p:cNvPr id="16" name="Text 13"/>
          <p:cNvSpPr/>
          <p:nvPr/>
        </p:nvSpPr>
        <p:spPr>
          <a:xfrm>
            <a:off x="2697480" y="397764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Service tracking</a:t>
            </a:r>
            <a:endParaRPr lang="en-US" sz="1000" dirty="0"/>
          </a:p>
        </p:txBody>
      </p:sp>
      <p:sp>
        <p:nvSpPr>
          <p:cNvPr id="17" name="Shape 14"/>
          <p:cNvSpPr/>
          <p:nvPr/>
        </p:nvSpPr>
        <p:spPr>
          <a:xfrm>
            <a:off x="4937760" y="1645920"/>
            <a:ext cx="2103120" cy="4114800"/>
          </a:xfrm>
          <a:prstGeom prst="roundRect">
            <a:avLst>
              <a:gd name="adj" fmla="val 5217"/>
            </a:avLst>
          </a:prstGeom>
          <a:solidFill>
            <a:srgbClr val="2A2025"/>
          </a:solidFill>
          <a:ln w="25400">
            <a:solidFill>
              <a:srgbClr val="64748B"/>
            </a:solidFill>
            <a:prstDash val="solid"/>
          </a:ln>
        </p:spPr>
      </p:sp>
      <p:sp>
        <p:nvSpPr>
          <p:cNvPr id="18" name="Text 15"/>
          <p:cNvSpPr/>
          <p:nvPr/>
        </p:nvSpPr>
        <p:spPr>
          <a:xfrm>
            <a:off x="5029200" y="18288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Veterans</a:t>
            </a:r>
            <a:endParaRPr lang="en-US" sz="1300" dirty="0"/>
          </a:p>
        </p:txBody>
      </p:sp>
      <p:sp>
        <p:nvSpPr>
          <p:cNvPr id="19" name="Text 16"/>
          <p:cNvSpPr/>
          <p:nvPr/>
        </p:nvSpPr>
        <p:spPr>
          <a:xfrm>
            <a:off x="5029200" y="246888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Military-civilian transition</a:t>
            </a:r>
            <a:endParaRPr lang="en-US" sz="1000" dirty="0"/>
          </a:p>
        </p:txBody>
      </p:sp>
      <p:sp>
        <p:nvSpPr>
          <p:cNvPr id="20" name="Text 17"/>
          <p:cNvSpPr/>
          <p:nvPr/>
        </p:nvSpPr>
        <p:spPr>
          <a:xfrm>
            <a:off x="5029200" y="297180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VA service connection</a:t>
            </a:r>
            <a:endParaRPr lang="en-US" sz="1000" dirty="0"/>
          </a:p>
        </p:txBody>
      </p:sp>
      <p:sp>
        <p:nvSpPr>
          <p:cNvPr id="21" name="Text 18"/>
          <p:cNvSpPr/>
          <p:nvPr/>
        </p:nvSpPr>
        <p:spPr>
          <a:xfrm>
            <a:off x="5029200" y="347472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Cognitive health (TBI)</a:t>
            </a:r>
            <a:endParaRPr lang="en-US" sz="1000" dirty="0"/>
          </a:p>
        </p:txBody>
      </p:sp>
      <p:sp>
        <p:nvSpPr>
          <p:cNvPr id="22" name="Text 19"/>
          <p:cNvSpPr/>
          <p:nvPr/>
        </p:nvSpPr>
        <p:spPr>
          <a:xfrm>
            <a:off x="5029200" y="397764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Benefits navigation</a:t>
            </a:r>
            <a:endParaRPr lang="en-US" sz="1000" dirty="0"/>
          </a:p>
        </p:txBody>
      </p:sp>
      <p:sp>
        <p:nvSpPr>
          <p:cNvPr id="23" name="Shape 20"/>
          <p:cNvSpPr/>
          <p:nvPr/>
        </p:nvSpPr>
        <p:spPr>
          <a:xfrm>
            <a:off x="7269480" y="1645920"/>
            <a:ext cx="2103120" cy="4114800"/>
          </a:xfrm>
          <a:prstGeom prst="roundRect">
            <a:avLst>
              <a:gd name="adj" fmla="val 5217"/>
            </a:avLst>
          </a:prstGeom>
          <a:solidFill>
            <a:srgbClr val="2A2025"/>
          </a:solidFill>
          <a:ln w="25400">
            <a:solidFill>
              <a:srgbClr val="2563EB"/>
            </a:solidFill>
            <a:prstDash val="solid"/>
          </a:ln>
        </p:spPr>
      </p:sp>
      <p:sp>
        <p:nvSpPr>
          <p:cNvPr id="24" name="Text 21"/>
          <p:cNvSpPr/>
          <p:nvPr/>
        </p:nvSpPr>
        <p:spPr>
          <a:xfrm>
            <a:off x="7360920" y="18288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Schools &amp; Districts</a:t>
            </a:r>
            <a:endParaRPr lang="en-US" sz="1300" dirty="0"/>
          </a:p>
        </p:txBody>
      </p:sp>
      <p:sp>
        <p:nvSpPr>
          <p:cNvPr id="25" name="Text 22"/>
          <p:cNvSpPr/>
          <p:nvPr/>
        </p:nvSpPr>
        <p:spPr>
          <a:xfrm>
            <a:off x="7360920" y="246888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LMS &amp; classrooms</a:t>
            </a:r>
            <a:endParaRPr lang="en-US" sz="1000" dirty="0"/>
          </a:p>
        </p:txBody>
      </p:sp>
      <p:sp>
        <p:nvSpPr>
          <p:cNvPr id="26" name="Text 23"/>
          <p:cNvSpPr/>
          <p:nvPr/>
        </p:nvSpPr>
        <p:spPr>
          <a:xfrm>
            <a:off x="7360920" y="297180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Progress tracking</a:t>
            </a:r>
            <a:endParaRPr lang="en-US" sz="1000" dirty="0"/>
          </a:p>
        </p:txBody>
      </p:sp>
      <p:sp>
        <p:nvSpPr>
          <p:cNvPr id="27" name="Text 24"/>
          <p:cNvSpPr/>
          <p:nvPr/>
        </p:nvSpPr>
        <p:spPr>
          <a:xfrm>
            <a:off x="7360920" y="347472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STAAR test prep</a:t>
            </a:r>
            <a:endParaRPr lang="en-US" sz="1000" dirty="0"/>
          </a:p>
        </p:txBody>
      </p:sp>
      <p:sp>
        <p:nvSpPr>
          <p:cNvPr id="28" name="Text 25"/>
          <p:cNvSpPr/>
          <p:nvPr/>
        </p:nvSpPr>
        <p:spPr>
          <a:xfrm>
            <a:off x="7360920" y="397764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Parent dashboards</a:t>
            </a:r>
            <a:endParaRPr lang="en-US" sz="1000" dirty="0"/>
          </a:p>
        </p:txBody>
      </p:sp>
      <p:sp>
        <p:nvSpPr>
          <p:cNvPr id="29" name="Shape 26"/>
          <p:cNvSpPr/>
          <p:nvPr/>
        </p:nvSpPr>
        <p:spPr>
          <a:xfrm>
            <a:off x="9601200" y="1645920"/>
            <a:ext cx="2103120" cy="4114800"/>
          </a:xfrm>
          <a:prstGeom prst="roundRect">
            <a:avLst>
              <a:gd name="adj" fmla="val 5217"/>
            </a:avLst>
          </a:prstGeom>
          <a:solidFill>
            <a:srgbClr val="2A2025"/>
          </a:solidFill>
          <a:ln w="25400">
            <a:solidFill>
              <a:srgbClr val="10B981"/>
            </a:solidFill>
            <a:prstDash val="solid"/>
          </a:ln>
        </p:spPr>
      </p:sp>
      <p:sp>
        <p:nvSpPr>
          <p:cNvPr id="30" name="Text 27"/>
          <p:cNvSpPr/>
          <p:nvPr/>
        </p:nvSpPr>
        <p:spPr>
          <a:xfrm>
            <a:off x="9692640" y="1828800"/>
            <a:ext cx="192024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Funders &amp; Partners</a:t>
            </a:r>
            <a:endParaRPr lang="en-US" sz="1300" dirty="0"/>
          </a:p>
        </p:txBody>
      </p:sp>
      <p:sp>
        <p:nvSpPr>
          <p:cNvPr id="31" name="Text 28"/>
          <p:cNvSpPr/>
          <p:nvPr/>
        </p:nvSpPr>
        <p:spPr>
          <a:xfrm>
            <a:off x="9692640" y="246888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Grant-aligned metrics</a:t>
            </a:r>
            <a:endParaRPr lang="en-US" sz="1000" dirty="0"/>
          </a:p>
        </p:txBody>
      </p:sp>
      <p:sp>
        <p:nvSpPr>
          <p:cNvPr id="32" name="Text 29"/>
          <p:cNvSpPr/>
          <p:nvPr/>
        </p:nvSpPr>
        <p:spPr>
          <a:xfrm>
            <a:off x="9692640" y="297180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Impact dashboards</a:t>
            </a:r>
            <a:endParaRPr lang="en-US" sz="1000" dirty="0"/>
          </a:p>
        </p:txBody>
      </p:sp>
      <p:sp>
        <p:nvSpPr>
          <p:cNvPr id="33" name="Text 30"/>
          <p:cNvSpPr/>
          <p:nvPr/>
        </p:nvSpPr>
        <p:spPr>
          <a:xfrm>
            <a:off x="9692640" y="347472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Data export (CSV)</a:t>
            </a:r>
            <a:endParaRPr lang="en-US" sz="1000" dirty="0"/>
          </a:p>
        </p:txBody>
      </p:sp>
      <p:sp>
        <p:nvSpPr>
          <p:cNvPr id="34" name="Text 31"/>
          <p:cNvSpPr/>
          <p:nvPr/>
        </p:nvSpPr>
        <p:spPr>
          <a:xfrm>
            <a:off x="9692640" y="3977640"/>
            <a:ext cx="1920240" cy="411480"/>
          </a:xfrm>
          <a:prstGeom prst="rect">
            <a:avLst/>
          </a:prstGeom>
          <a:noFill/>
          <a:ln/>
        </p:spPr>
        <p:txBody>
          <a:bodyPr wrap="square" rtlCol="0" anchor="ctr"/>
          <a:lstStyle/>
          <a:p>
            <a:pPr indent="0" marL="0">
              <a:buNone/>
            </a:pPr>
            <a:r>
              <a:rPr lang="en-US" sz="1000" dirty="0">
                <a:solidFill>
                  <a:srgbClr val="D0D0D0"/>
                </a:solidFill>
                <a:latin typeface="Arial" pitchFamily="34" charset="0"/>
                <a:ea typeface="Arial" pitchFamily="34" charset="-122"/>
                <a:cs typeface="Arial" pitchFamily="34" charset="-120"/>
              </a:rPr>
              <a:t>•  API integration</a:t>
            </a:r>
            <a:endParaRPr lang="en-US" sz="1000" dirty="0"/>
          </a:p>
        </p:txBody>
      </p:sp>
      <p:sp>
        <p:nvSpPr>
          <p:cNvPr id="35" name="Text 32"/>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27/30</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6B1C2A"/>
                </a:solidFill>
                <a:latin typeface="Arial" pitchFamily="34" charset="0"/>
                <a:ea typeface="Arial" pitchFamily="34" charset="-122"/>
                <a:cs typeface="Arial" pitchFamily="34" charset="-120"/>
              </a:rPr>
              <a:t>WHY WE'RE DIFFERENT</a:t>
            </a:r>
            <a:endParaRPr lang="en-US" sz="1100" dirty="0"/>
          </a:p>
        </p:txBody>
      </p:sp>
      <p:sp>
        <p:nvSpPr>
          <p:cNvPr id="4" name="Text 1"/>
          <p:cNvSpPr/>
          <p:nvPr/>
        </p:nvSpPr>
        <p:spPr>
          <a:xfrm>
            <a:off x="731520" y="640080"/>
            <a:ext cx="10058400" cy="548640"/>
          </a:xfrm>
          <a:prstGeom prst="rect">
            <a:avLst/>
          </a:prstGeom>
          <a:noFill/>
          <a:ln/>
        </p:spPr>
        <p:txBody>
          <a:bodyPr wrap="square" rtlCol="0" anchor="ctr"/>
          <a:lstStyle/>
          <a:p>
            <a:pPr indent="0" marL="0">
              <a:buNone/>
            </a:pPr>
            <a:r>
              <a:rPr lang="en-US" sz="2400" b="1" dirty="0">
                <a:solidFill>
                  <a:srgbClr val="2A1015"/>
                </a:solidFill>
                <a:latin typeface="Arial" pitchFamily="34" charset="0"/>
                <a:ea typeface="Arial" pitchFamily="34" charset="-122"/>
                <a:cs typeface="Arial" pitchFamily="34" charset="-120"/>
              </a:rPr>
              <a:t>Competitive Advantage</a:t>
            </a:r>
            <a:endParaRPr lang="en-US" sz="2400" dirty="0"/>
          </a:p>
        </p:txBody>
      </p:sp>
      <p:sp>
        <p:nvSpPr>
          <p:cNvPr id="5" name="Shape 2"/>
          <p:cNvSpPr/>
          <p:nvPr/>
        </p:nvSpPr>
        <p:spPr>
          <a:xfrm>
            <a:off x="457200" y="1463040"/>
            <a:ext cx="5394960" cy="2103120"/>
          </a:xfrm>
          <a:prstGeom prst="roundRect">
            <a:avLst>
              <a:gd name="adj" fmla="val 5217"/>
            </a:avLst>
          </a:prstGeom>
          <a:solidFill>
            <a:srgbClr val="FFFFFF"/>
          </a:solidFill>
          <a:ln w="25400">
            <a:solidFill>
              <a:srgbClr val="7C3AED"/>
            </a:solidFill>
            <a:prstDash val="solid"/>
          </a:ln>
        </p:spPr>
      </p:sp>
      <p:sp>
        <p:nvSpPr>
          <p:cNvPr id="6" name="Text 3"/>
          <p:cNvSpPr/>
          <p:nvPr/>
        </p:nvSpPr>
        <p:spPr>
          <a:xfrm>
            <a:off x="640080" y="1600200"/>
            <a:ext cx="502920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Autonomous Agents, Not Siloed Tools</a:t>
            </a:r>
            <a:endParaRPr lang="en-US" sz="1600" dirty="0"/>
          </a:p>
        </p:txBody>
      </p:sp>
      <p:sp>
        <p:nvSpPr>
          <p:cNvPr id="7" name="Text 4"/>
          <p:cNvSpPr/>
          <p:nvPr/>
        </p:nvSpPr>
        <p:spPr>
          <a:xfrm>
            <a:off x="640080" y="2103120"/>
            <a:ext cx="5029200" cy="118872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24 platforms coordinate through reasoning-required communication. Domain alignment validated on every exchange. Targeted, not broadcast.</a:t>
            </a:r>
            <a:endParaRPr lang="en-US" sz="1200" dirty="0"/>
          </a:p>
        </p:txBody>
      </p:sp>
      <p:sp>
        <p:nvSpPr>
          <p:cNvPr id="8" name="Shape 5"/>
          <p:cNvSpPr/>
          <p:nvPr/>
        </p:nvSpPr>
        <p:spPr>
          <a:xfrm>
            <a:off x="6217920" y="1463040"/>
            <a:ext cx="5394960" cy="2103120"/>
          </a:xfrm>
          <a:prstGeom prst="roundRect">
            <a:avLst>
              <a:gd name="adj" fmla="val 5217"/>
            </a:avLst>
          </a:prstGeom>
          <a:solidFill>
            <a:srgbClr val="FFFFFF"/>
          </a:solidFill>
          <a:ln w="25400">
            <a:solidFill>
              <a:srgbClr val="10B981"/>
            </a:solidFill>
            <a:prstDash val="solid"/>
          </a:ln>
        </p:spPr>
      </p:sp>
      <p:sp>
        <p:nvSpPr>
          <p:cNvPr id="9" name="Text 6"/>
          <p:cNvSpPr/>
          <p:nvPr/>
        </p:nvSpPr>
        <p:spPr>
          <a:xfrm>
            <a:off x="6400800" y="1600200"/>
            <a:ext cx="502920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Earn Through Mastery</a:t>
            </a:r>
            <a:endParaRPr lang="en-US" sz="1600" dirty="0"/>
          </a:p>
        </p:txBody>
      </p:sp>
      <p:sp>
        <p:nvSpPr>
          <p:cNvPr id="10" name="Text 7"/>
          <p:cNvSpPr/>
          <p:nvPr/>
        </p:nvSpPr>
        <p:spPr>
          <a:xfrm>
            <a:off x="6400800" y="2103120"/>
            <a:ext cx="5029200" cy="118872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AI tools unlocked by completing curriculum modules — not purchased. Students prove responsible AI use before accessing professional tools.</a:t>
            </a:r>
            <a:endParaRPr lang="en-US" sz="1200" dirty="0"/>
          </a:p>
        </p:txBody>
      </p:sp>
      <p:sp>
        <p:nvSpPr>
          <p:cNvPr id="11" name="Shape 8"/>
          <p:cNvSpPr/>
          <p:nvPr/>
        </p:nvSpPr>
        <p:spPr>
          <a:xfrm>
            <a:off x="457200" y="3840480"/>
            <a:ext cx="5394960" cy="2103120"/>
          </a:xfrm>
          <a:prstGeom prst="roundRect">
            <a:avLst>
              <a:gd name="adj" fmla="val 5217"/>
            </a:avLst>
          </a:prstGeom>
          <a:solidFill>
            <a:srgbClr val="FFFFFF"/>
          </a:solidFill>
          <a:ln w="25400">
            <a:solidFill>
              <a:srgbClr val="2563EB"/>
            </a:solidFill>
            <a:prstDash val="solid"/>
          </a:ln>
        </p:spPr>
      </p:sp>
      <p:sp>
        <p:nvSpPr>
          <p:cNvPr id="12" name="Text 9"/>
          <p:cNvSpPr/>
          <p:nvPr/>
        </p:nvSpPr>
        <p:spPr>
          <a:xfrm>
            <a:off x="640080" y="3977640"/>
            <a:ext cx="502920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Tract-Level Truth</a:t>
            </a:r>
            <a:endParaRPr lang="en-US" sz="1600" dirty="0"/>
          </a:p>
        </p:txBody>
      </p:sp>
      <p:sp>
        <p:nvSpPr>
          <p:cNvPr id="13" name="Text 10"/>
          <p:cNvSpPr/>
          <p:nvPr/>
        </p:nvSpPr>
        <p:spPr>
          <a:xfrm>
            <a:off x="640080" y="4480560"/>
            <a:ext cx="5029200" cy="118872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County averages hide reality. We expose poverty, unemployment, and education at Census tract level — 252+ tracts analyzed per region.</a:t>
            </a:r>
            <a:endParaRPr lang="en-US" sz="1200" dirty="0"/>
          </a:p>
        </p:txBody>
      </p:sp>
      <p:sp>
        <p:nvSpPr>
          <p:cNvPr id="14" name="Shape 11"/>
          <p:cNvSpPr/>
          <p:nvPr/>
        </p:nvSpPr>
        <p:spPr>
          <a:xfrm>
            <a:off x="6217920" y="3840480"/>
            <a:ext cx="5394960" cy="2103120"/>
          </a:xfrm>
          <a:prstGeom prst="roundRect">
            <a:avLst>
              <a:gd name="adj" fmla="val 5217"/>
            </a:avLst>
          </a:prstGeom>
          <a:solidFill>
            <a:srgbClr val="FFFFFF"/>
          </a:solidFill>
          <a:ln w="25400">
            <a:solidFill>
              <a:srgbClr val="D97706"/>
            </a:solidFill>
            <a:prstDash val="solid"/>
          </a:ln>
        </p:spPr>
      </p:sp>
      <p:sp>
        <p:nvSpPr>
          <p:cNvPr id="15" name="Text 12"/>
          <p:cNvSpPr/>
          <p:nvPr/>
        </p:nvSpPr>
        <p:spPr>
          <a:xfrm>
            <a:off x="6400800" y="3977640"/>
            <a:ext cx="5029200" cy="457200"/>
          </a:xfrm>
          <a:prstGeom prst="rect">
            <a:avLst/>
          </a:prstGeom>
          <a:noFill/>
          <a:ln/>
        </p:spPr>
        <p:txBody>
          <a:bodyPr wrap="square" rtlCol="0" anchor="ctr"/>
          <a:lstStyle/>
          <a:p>
            <a:pPr indent="0" marL="0">
              <a:buNone/>
            </a:pPr>
            <a:r>
              <a:rPr lang="en-US" sz="1600" b="1" dirty="0">
                <a:solidFill>
                  <a:srgbClr val="2A1015"/>
                </a:solidFill>
                <a:latin typeface="Arial" pitchFamily="34" charset="0"/>
                <a:ea typeface="Arial" pitchFamily="34" charset="-122"/>
                <a:cs typeface="Arial" pitchFamily="34" charset="-120"/>
              </a:rPr>
              <a:t>Implementation Science</a:t>
            </a:r>
            <a:endParaRPr lang="en-US" sz="1600" dirty="0"/>
          </a:p>
        </p:txBody>
      </p:sp>
      <p:sp>
        <p:nvSpPr>
          <p:cNvPr id="16" name="Text 13"/>
          <p:cNvSpPr/>
          <p:nvPr/>
        </p:nvSpPr>
        <p:spPr>
          <a:xfrm>
            <a:off x="6400800" y="4480560"/>
            <a:ext cx="5029200" cy="1188720"/>
          </a:xfrm>
          <a:prstGeom prst="rect">
            <a:avLst/>
          </a:prstGeom>
          <a:noFill/>
          <a:ln/>
        </p:spPr>
        <p:txBody>
          <a:bodyPr wrap="square" rtlCol="0" anchor="ctr"/>
          <a:lstStyle/>
          <a:p>
            <a:pPr indent="0" marL="0">
              <a:buNone/>
            </a:pPr>
            <a:r>
              <a:rPr lang="en-US" sz="1200" dirty="0">
                <a:solidFill>
                  <a:srgbClr val="6B5050"/>
                </a:solidFill>
                <a:latin typeface="Arial" pitchFamily="34" charset="0"/>
                <a:ea typeface="Arial" pitchFamily="34" charset="-122"/>
                <a:cs typeface="Arial" pitchFamily="34" charset="-120"/>
              </a:rPr>
              <a:t>CFIR and RE-AIM frameworks validate every intervention. Not just a platform — a scientifically validated system with 49 peer-reviewed studies.</a:t>
            </a:r>
            <a:endParaRPr lang="en-US" sz="1200" dirty="0"/>
          </a:p>
        </p:txBody>
      </p:sp>
      <p:sp>
        <p:nvSpPr>
          <p:cNvPr id="17" name="Text 14"/>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28/30</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215"/>
        </a:solidFill>
      </p:bgPr>
    </p:bg>
    <p:spTree>
      <p:nvGrpSpPr>
        <p:cNvPr id="1" name=""/>
        <p:cNvGrpSpPr/>
        <p:nvPr/>
      </p:nvGrpSpPr>
      <p:grpSpPr>
        <a:xfrm>
          <a:off x="0" y="0"/>
          <a:ext cx="0" cy="0"/>
          <a:chOff x="0" y="0"/>
          <a:chExt cx="0" cy="0"/>
        </a:xfrm>
      </p:grpSpPr>
      <p:sp>
        <p:nvSpPr>
          <p:cNvPr id="3" name="Text 0"/>
          <p:cNvSpPr/>
          <p:nvPr/>
        </p:nvSpPr>
        <p:spPr>
          <a:xfrm>
            <a:off x="731520" y="274320"/>
            <a:ext cx="10058400" cy="365760"/>
          </a:xfrm>
          <a:prstGeom prst="rect">
            <a:avLst/>
          </a:prstGeom>
          <a:noFill/>
          <a:ln/>
        </p:spPr>
        <p:txBody>
          <a:bodyPr wrap="square" rtlCol="0" anchor="ctr"/>
          <a:lstStyle/>
          <a:p>
            <a:pPr indent="0" marL="0">
              <a:buNone/>
            </a:pPr>
            <a:r>
              <a:rPr lang="en-US" sz="1100" b="1" spc="300" kern="0" dirty="0">
                <a:solidFill>
                  <a:srgbClr val="C9A0A0"/>
                </a:solidFill>
                <a:latin typeface="Arial" pitchFamily="34" charset="0"/>
                <a:ea typeface="Arial" pitchFamily="34" charset="-122"/>
                <a:cs typeface="Arial" pitchFamily="34" charset="-120"/>
              </a:rPr>
              <a:t>DEPLOYMENT STRATEGY</a:t>
            </a:r>
            <a:endParaRPr lang="en-US" sz="1100" dirty="0"/>
          </a:p>
        </p:txBody>
      </p:sp>
      <p:sp>
        <p:nvSpPr>
          <p:cNvPr id="4" name="Text 1"/>
          <p:cNvSpPr/>
          <p:nvPr/>
        </p:nvSpPr>
        <p:spPr>
          <a:xfrm>
            <a:off x="731520" y="731520"/>
            <a:ext cx="100584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Phased Implementation</a:t>
            </a:r>
            <a:endParaRPr lang="en-US" sz="2600" dirty="0"/>
          </a:p>
        </p:txBody>
      </p:sp>
      <p:sp>
        <p:nvSpPr>
          <p:cNvPr id="5" name="Shape 2"/>
          <p:cNvSpPr/>
          <p:nvPr/>
        </p:nvSpPr>
        <p:spPr>
          <a:xfrm>
            <a:off x="457200" y="1645920"/>
            <a:ext cx="3520440" cy="4389120"/>
          </a:xfrm>
          <a:prstGeom prst="roundRect">
            <a:avLst>
              <a:gd name="adj" fmla="val 3117"/>
            </a:avLst>
          </a:prstGeom>
          <a:solidFill>
            <a:srgbClr val="2A2025"/>
          </a:solidFill>
          <a:ln w="25400">
            <a:solidFill>
              <a:srgbClr val="10B981"/>
            </a:solidFill>
            <a:prstDash val="solid"/>
          </a:ln>
        </p:spPr>
      </p:sp>
      <p:sp>
        <p:nvSpPr>
          <p:cNvPr id="6" name="Shape 3"/>
          <p:cNvSpPr/>
          <p:nvPr/>
        </p:nvSpPr>
        <p:spPr>
          <a:xfrm>
            <a:off x="640080" y="1920240"/>
            <a:ext cx="457200" cy="457200"/>
          </a:xfrm>
          <a:prstGeom prst="ellipse">
            <a:avLst/>
          </a:prstGeom>
          <a:solidFill>
            <a:srgbClr val="10B981"/>
          </a:solidFill>
          <a:ln/>
        </p:spPr>
      </p:sp>
      <p:sp>
        <p:nvSpPr>
          <p:cNvPr id="7" name="Text 4"/>
          <p:cNvSpPr/>
          <p:nvPr/>
        </p:nvSpPr>
        <p:spPr>
          <a:xfrm>
            <a:off x="640080" y="192024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p:nvPr/>
        </p:nvSpPr>
        <p:spPr>
          <a:xfrm>
            <a:off x="1234440" y="1920240"/>
            <a:ext cx="246888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Foundation</a:t>
            </a:r>
            <a:endParaRPr lang="en-US" sz="1800" dirty="0"/>
          </a:p>
        </p:txBody>
      </p:sp>
      <p:sp>
        <p:nvSpPr>
          <p:cNvPr id="9" name="Text 6"/>
          <p:cNvSpPr/>
          <p:nvPr/>
        </p:nvSpPr>
        <p:spPr>
          <a:xfrm>
            <a:off x="1234440" y="2331720"/>
            <a:ext cx="2468880" cy="320040"/>
          </a:xfrm>
          <a:prstGeom prst="rect">
            <a:avLst/>
          </a:prstGeom>
          <a:noFill/>
          <a:ln/>
        </p:spPr>
        <p:txBody>
          <a:bodyPr wrap="square" rtlCol="0" anchor="ctr"/>
          <a:lstStyle/>
          <a:p>
            <a:pPr indent="0" marL="0">
              <a:buNone/>
            </a:pPr>
            <a:r>
              <a:rPr lang="en-US" sz="1100" dirty="0">
                <a:solidFill>
                  <a:srgbClr val="10B981"/>
                </a:solidFill>
                <a:latin typeface="Arial" pitchFamily="34" charset="0"/>
                <a:ea typeface="Arial" pitchFamily="34" charset="-122"/>
                <a:cs typeface="Arial" pitchFamily="34" charset="-120"/>
              </a:rPr>
              <a:t>Months 1-3</a:t>
            </a:r>
            <a:endParaRPr lang="en-US" sz="1100" dirty="0"/>
          </a:p>
        </p:txBody>
      </p:sp>
      <p:sp>
        <p:nvSpPr>
          <p:cNvPr id="10" name="Text 7"/>
          <p:cNvSpPr/>
          <p:nvPr/>
        </p:nvSpPr>
        <p:spPr>
          <a:xfrm>
            <a:off x="640080" y="292608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Platform deployment</a:t>
            </a:r>
            <a:endParaRPr lang="en-US" sz="1300" dirty="0"/>
          </a:p>
        </p:txBody>
      </p:sp>
      <p:sp>
        <p:nvSpPr>
          <p:cNvPr id="11" name="Text 8"/>
          <p:cNvSpPr/>
          <p:nvPr/>
        </p:nvSpPr>
        <p:spPr>
          <a:xfrm>
            <a:off x="640080" y="347472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School partnerships</a:t>
            </a:r>
            <a:endParaRPr lang="en-US" sz="1300" dirty="0"/>
          </a:p>
        </p:txBody>
      </p:sp>
      <p:sp>
        <p:nvSpPr>
          <p:cNvPr id="12" name="Text 9"/>
          <p:cNvSpPr/>
          <p:nvPr/>
        </p:nvSpPr>
        <p:spPr>
          <a:xfrm>
            <a:off x="640080" y="402336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Core curriculum launch</a:t>
            </a:r>
            <a:endParaRPr lang="en-US" sz="1300" dirty="0"/>
          </a:p>
        </p:txBody>
      </p:sp>
      <p:sp>
        <p:nvSpPr>
          <p:cNvPr id="13" name="Text 10"/>
          <p:cNvSpPr/>
          <p:nvPr/>
        </p:nvSpPr>
        <p:spPr>
          <a:xfrm>
            <a:off x="640080" y="457200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Reentry program pilot</a:t>
            </a:r>
            <a:endParaRPr lang="en-US" sz="1300" dirty="0"/>
          </a:p>
        </p:txBody>
      </p:sp>
      <p:sp>
        <p:nvSpPr>
          <p:cNvPr id="14" name="Shape 11"/>
          <p:cNvSpPr/>
          <p:nvPr/>
        </p:nvSpPr>
        <p:spPr>
          <a:xfrm>
            <a:off x="4251960" y="1645920"/>
            <a:ext cx="3520440" cy="4389120"/>
          </a:xfrm>
          <a:prstGeom prst="roundRect">
            <a:avLst>
              <a:gd name="adj" fmla="val 3117"/>
            </a:avLst>
          </a:prstGeom>
          <a:solidFill>
            <a:srgbClr val="2A2025"/>
          </a:solidFill>
          <a:ln w="25400">
            <a:solidFill>
              <a:srgbClr val="2563EB"/>
            </a:solidFill>
            <a:prstDash val="solid"/>
          </a:ln>
        </p:spPr>
      </p:sp>
      <p:sp>
        <p:nvSpPr>
          <p:cNvPr id="15" name="Shape 12"/>
          <p:cNvSpPr/>
          <p:nvPr/>
        </p:nvSpPr>
        <p:spPr>
          <a:xfrm>
            <a:off x="4434840" y="1920240"/>
            <a:ext cx="457200" cy="457200"/>
          </a:xfrm>
          <a:prstGeom prst="ellipse">
            <a:avLst/>
          </a:prstGeom>
          <a:solidFill>
            <a:srgbClr val="2563EB"/>
          </a:solidFill>
          <a:ln/>
        </p:spPr>
      </p:sp>
      <p:sp>
        <p:nvSpPr>
          <p:cNvPr id="16" name="Text 13"/>
          <p:cNvSpPr/>
          <p:nvPr/>
        </p:nvSpPr>
        <p:spPr>
          <a:xfrm>
            <a:off x="4434840" y="192024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7" name="Text 14"/>
          <p:cNvSpPr/>
          <p:nvPr/>
        </p:nvSpPr>
        <p:spPr>
          <a:xfrm>
            <a:off x="5029200" y="1920240"/>
            <a:ext cx="246888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Growth</a:t>
            </a:r>
            <a:endParaRPr lang="en-US" sz="1800" dirty="0"/>
          </a:p>
        </p:txBody>
      </p:sp>
      <p:sp>
        <p:nvSpPr>
          <p:cNvPr id="18" name="Text 15"/>
          <p:cNvSpPr/>
          <p:nvPr/>
        </p:nvSpPr>
        <p:spPr>
          <a:xfrm>
            <a:off x="5029200" y="2331720"/>
            <a:ext cx="2468880" cy="320040"/>
          </a:xfrm>
          <a:prstGeom prst="rect">
            <a:avLst/>
          </a:prstGeom>
          <a:noFill/>
          <a:ln/>
        </p:spPr>
        <p:txBody>
          <a:bodyPr wrap="square" rtlCol="0" anchor="ctr"/>
          <a:lstStyle/>
          <a:p>
            <a:pPr indent="0" marL="0">
              <a:buNone/>
            </a:pPr>
            <a:r>
              <a:rPr lang="en-US" sz="1100" dirty="0">
                <a:solidFill>
                  <a:srgbClr val="2563EB"/>
                </a:solidFill>
                <a:latin typeface="Arial" pitchFamily="34" charset="0"/>
                <a:ea typeface="Arial" pitchFamily="34" charset="-122"/>
                <a:cs typeface="Arial" pitchFamily="34" charset="-120"/>
              </a:rPr>
              <a:t>Months 4-6</a:t>
            </a:r>
            <a:endParaRPr lang="en-US" sz="1100" dirty="0"/>
          </a:p>
        </p:txBody>
      </p:sp>
      <p:sp>
        <p:nvSpPr>
          <p:cNvPr id="19" name="Text 16"/>
          <p:cNvSpPr/>
          <p:nvPr/>
        </p:nvSpPr>
        <p:spPr>
          <a:xfrm>
            <a:off x="4434840" y="292608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Mentor network expansion</a:t>
            </a:r>
            <a:endParaRPr lang="en-US" sz="1300" dirty="0"/>
          </a:p>
        </p:txBody>
      </p:sp>
      <p:sp>
        <p:nvSpPr>
          <p:cNvPr id="20" name="Text 17"/>
          <p:cNvSpPr/>
          <p:nvPr/>
        </p:nvSpPr>
        <p:spPr>
          <a:xfrm>
            <a:off x="4434840" y="347472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Career pipeline activation</a:t>
            </a:r>
            <a:endParaRPr lang="en-US" sz="1300" dirty="0"/>
          </a:p>
        </p:txBody>
      </p:sp>
      <p:sp>
        <p:nvSpPr>
          <p:cNvPr id="21" name="Text 18"/>
          <p:cNvSpPr/>
          <p:nvPr/>
        </p:nvSpPr>
        <p:spPr>
          <a:xfrm>
            <a:off x="4434840" y="402336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Student onboarding at scale</a:t>
            </a:r>
            <a:endParaRPr lang="en-US" sz="1300" dirty="0"/>
          </a:p>
        </p:txBody>
      </p:sp>
      <p:sp>
        <p:nvSpPr>
          <p:cNvPr id="22" name="Text 19"/>
          <p:cNvSpPr/>
          <p:nvPr/>
        </p:nvSpPr>
        <p:spPr>
          <a:xfrm>
            <a:off x="4434840" y="457200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Justice partner integration</a:t>
            </a:r>
            <a:endParaRPr lang="en-US" sz="1300" dirty="0"/>
          </a:p>
        </p:txBody>
      </p:sp>
      <p:sp>
        <p:nvSpPr>
          <p:cNvPr id="23" name="Shape 20"/>
          <p:cNvSpPr/>
          <p:nvPr/>
        </p:nvSpPr>
        <p:spPr>
          <a:xfrm>
            <a:off x="8046720" y="1645920"/>
            <a:ext cx="3520440" cy="4389120"/>
          </a:xfrm>
          <a:prstGeom prst="roundRect">
            <a:avLst>
              <a:gd name="adj" fmla="val 3117"/>
            </a:avLst>
          </a:prstGeom>
          <a:solidFill>
            <a:srgbClr val="2A2025"/>
          </a:solidFill>
          <a:ln w="25400">
            <a:solidFill>
              <a:srgbClr val="7C3AED"/>
            </a:solidFill>
            <a:prstDash val="solid"/>
          </a:ln>
        </p:spPr>
      </p:sp>
      <p:sp>
        <p:nvSpPr>
          <p:cNvPr id="24" name="Shape 21"/>
          <p:cNvSpPr/>
          <p:nvPr/>
        </p:nvSpPr>
        <p:spPr>
          <a:xfrm>
            <a:off x="8229600" y="1920240"/>
            <a:ext cx="457200" cy="457200"/>
          </a:xfrm>
          <a:prstGeom prst="ellipse">
            <a:avLst/>
          </a:prstGeom>
          <a:solidFill>
            <a:srgbClr val="7C3AED"/>
          </a:solidFill>
          <a:ln/>
        </p:spPr>
      </p:sp>
      <p:sp>
        <p:nvSpPr>
          <p:cNvPr id="25" name="Text 22"/>
          <p:cNvSpPr/>
          <p:nvPr/>
        </p:nvSpPr>
        <p:spPr>
          <a:xfrm>
            <a:off x="8229600" y="192024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6" name="Text 23"/>
          <p:cNvSpPr/>
          <p:nvPr/>
        </p:nvSpPr>
        <p:spPr>
          <a:xfrm>
            <a:off x="8823960" y="1920240"/>
            <a:ext cx="2468880" cy="45720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Scale</a:t>
            </a:r>
            <a:endParaRPr lang="en-US" sz="1800" dirty="0"/>
          </a:p>
        </p:txBody>
      </p:sp>
      <p:sp>
        <p:nvSpPr>
          <p:cNvPr id="27" name="Text 24"/>
          <p:cNvSpPr/>
          <p:nvPr/>
        </p:nvSpPr>
        <p:spPr>
          <a:xfrm>
            <a:off x="8823960" y="2331720"/>
            <a:ext cx="2468880" cy="320040"/>
          </a:xfrm>
          <a:prstGeom prst="rect">
            <a:avLst/>
          </a:prstGeom>
          <a:noFill/>
          <a:ln/>
        </p:spPr>
        <p:txBody>
          <a:bodyPr wrap="square" rtlCol="0" anchor="ctr"/>
          <a:lstStyle/>
          <a:p>
            <a:pPr indent="0" marL="0">
              <a:buNone/>
            </a:pPr>
            <a:r>
              <a:rPr lang="en-US" sz="1100" dirty="0">
                <a:solidFill>
                  <a:srgbClr val="7C3AED"/>
                </a:solidFill>
                <a:latin typeface="Arial" pitchFamily="34" charset="0"/>
                <a:ea typeface="Arial" pitchFamily="34" charset="-122"/>
                <a:cs typeface="Arial" pitchFamily="34" charset="-120"/>
              </a:rPr>
              <a:t>Months 7-12</a:t>
            </a:r>
            <a:endParaRPr lang="en-US" sz="1100" dirty="0"/>
          </a:p>
        </p:txBody>
      </p:sp>
      <p:sp>
        <p:nvSpPr>
          <p:cNvPr id="28" name="Text 25"/>
          <p:cNvSpPr/>
          <p:nvPr/>
        </p:nvSpPr>
        <p:spPr>
          <a:xfrm>
            <a:off x="8229600" y="292608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Multi-district rollout</a:t>
            </a:r>
            <a:endParaRPr lang="en-US" sz="1300" dirty="0"/>
          </a:p>
        </p:txBody>
      </p:sp>
      <p:sp>
        <p:nvSpPr>
          <p:cNvPr id="29" name="Text 26"/>
          <p:cNvSpPr/>
          <p:nvPr/>
        </p:nvSpPr>
        <p:spPr>
          <a:xfrm>
            <a:off x="8229600" y="347472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Employer partnerships</a:t>
            </a:r>
            <a:endParaRPr lang="en-US" sz="1300" dirty="0"/>
          </a:p>
        </p:txBody>
      </p:sp>
      <p:sp>
        <p:nvSpPr>
          <p:cNvPr id="30" name="Text 27"/>
          <p:cNvSpPr/>
          <p:nvPr/>
        </p:nvSpPr>
        <p:spPr>
          <a:xfrm>
            <a:off x="8229600" y="402336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National hub expansion</a:t>
            </a:r>
            <a:endParaRPr lang="en-US" sz="1300" dirty="0"/>
          </a:p>
        </p:txBody>
      </p:sp>
      <p:sp>
        <p:nvSpPr>
          <p:cNvPr id="31" name="Text 28"/>
          <p:cNvSpPr/>
          <p:nvPr/>
        </p:nvSpPr>
        <p:spPr>
          <a:xfrm>
            <a:off x="8229600" y="4572000"/>
            <a:ext cx="3154680" cy="457200"/>
          </a:xfrm>
          <a:prstGeom prst="rect">
            <a:avLst/>
          </a:prstGeom>
          <a:noFill/>
          <a:ln/>
        </p:spPr>
        <p:txBody>
          <a:bodyPr wrap="square" rtlCol="0" anchor="ctr"/>
          <a:lstStyle/>
          <a:p>
            <a:pPr indent="0" marL="0">
              <a:buNone/>
            </a:pPr>
            <a:r>
              <a:rPr lang="en-US" sz="1300" dirty="0">
                <a:solidFill>
                  <a:srgbClr val="DDDDDD"/>
                </a:solidFill>
                <a:latin typeface="Arial" pitchFamily="34" charset="0"/>
                <a:ea typeface="Arial" pitchFamily="34" charset="-122"/>
                <a:cs typeface="Arial" pitchFamily="34" charset="-120"/>
              </a:rPr>
              <a:t>→  Full agent network activation</a:t>
            </a:r>
            <a:endParaRPr lang="en-US" sz="1300" dirty="0"/>
          </a:p>
        </p:txBody>
      </p:sp>
      <p:sp>
        <p:nvSpPr>
          <p:cNvPr id="32" name="Text 29"/>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29/30</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6B1C2A"/>
        </a:solidFill>
      </p:bgPr>
    </p:bg>
    <p:spTree>
      <p:nvGrpSpPr>
        <p:cNvPr id="1" name=""/>
        <p:cNvGrpSpPr/>
        <p:nvPr/>
      </p:nvGrpSpPr>
      <p:grpSpPr>
        <a:xfrm>
          <a:off x="0" y="0"/>
          <a:ext cx="0" cy="0"/>
          <a:chOff x="0" y="0"/>
          <a:chExt cx="0" cy="0"/>
        </a:xfrm>
      </p:grpSpPr>
      <p:sp>
        <p:nvSpPr>
          <p:cNvPr id="3" name="Text 0"/>
          <p:cNvSpPr/>
          <p:nvPr/>
        </p:nvSpPr>
        <p:spPr>
          <a:xfrm>
            <a:off x="731520" y="914400"/>
            <a:ext cx="10515600" cy="109728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Ready to Transform Futures?</a:t>
            </a:r>
            <a:endParaRPr lang="en-US" sz="4200" dirty="0"/>
          </a:p>
        </p:txBody>
      </p:sp>
      <p:sp>
        <p:nvSpPr>
          <p:cNvPr id="4" name="Text 1"/>
          <p:cNvSpPr/>
          <p:nvPr/>
        </p:nvSpPr>
        <p:spPr>
          <a:xfrm>
            <a:off x="1371600" y="2286000"/>
            <a:ext cx="9144000" cy="640080"/>
          </a:xfrm>
          <a:prstGeom prst="rect">
            <a:avLst/>
          </a:prstGeom>
          <a:noFill/>
          <a:ln/>
        </p:spPr>
        <p:txBody>
          <a:bodyPr wrap="square" rtlCol="0" anchor="ctr"/>
          <a:lstStyle/>
          <a:p>
            <a:pPr algn="ctr" indent="0" marL="0">
              <a:buNone/>
            </a:pPr>
            <a:r>
              <a:rPr lang="en-US" sz="1800" i="1" dirty="0">
                <a:solidFill>
                  <a:srgbClr val="DDDDDD"/>
                </a:solidFill>
                <a:latin typeface="Arial" pitchFamily="34" charset="0"/>
                <a:ea typeface="Arial" pitchFamily="34" charset="-122"/>
                <a:cs typeface="Arial" pitchFamily="34" charset="-120"/>
              </a:rPr>
              <a:t>The people who learn to think with AI today will lead tomorrow.</a:t>
            </a:r>
            <a:endParaRPr lang="en-US" sz="1800" dirty="0"/>
          </a:p>
        </p:txBody>
      </p:sp>
      <p:sp>
        <p:nvSpPr>
          <p:cNvPr id="5" name="Shape 2"/>
          <p:cNvSpPr/>
          <p:nvPr/>
        </p:nvSpPr>
        <p:spPr>
          <a:xfrm>
            <a:off x="4114800" y="3200400"/>
            <a:ext cx="3657600" cy="36576"/>
          </a:xfrm>
          <a:prstGeom prst="rect">
            <a:avLst/>
          </a:prstGeom>
          <a:solidFill>
            <a:srgbClr val="999999"/>
          </a:solidFill>
          <a:ln/>
        </p:spPr>
      </p:sp>
      <p:sp>
        <p:nvSpPr>
          <p:cNvPr id="6" name="Text 3"/>
          <p:cNvSpPr/>
          <p:nvPr/>
        </p:nvSpPr>
        <p:spPr>
          <a:xfrm>
            <a:off x="731520" y="3657600"/>
            <a:ext cx="105156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Dr. Terry Flood  |  Founder &amp; CEO</a:t>
            </a:r>
            <a:endParaRPr lang="en-US" sz="1600" dirty="0"/>
          </a:p>
        </p:txBody>
      </p:sp>
      <p:sp>
        <p:nvSpPr>
          <p:cNvPr id="7" name="Text 4"/>
          <p:cNvSpPr/>
          <p:nvPr/>
        </p:nvSpPr>
        <p:spPr>
          <a:xfrm>
            <a:off x="731520" y="4114800"/>
            <a:ext cx="10515600" cy="365760"/>
          </a:xfrm>
          <a:prstGeom prst="rect">
            <a:avLst/>
          </a:prstGeom>
          <a:noFill/>
          <a:ln/>
        </p:spPr>
        <p:txBody>
          <a:bodyPr wrap="square" rtlCol="0" anchor="ctr"/>
          <a:lstStyle/>
          <a:p>
            <a:pPr algn="ctr" indent="0" marL="0">
              <a:buNone/>
            </a:pPr>
            <a:r>
              <a:rPr lang="en-US" sz="1400" dirty="0">
                <a:solidFill>
                  <a:srgbClr val="E8E8E8"/>
                </a:solidFill>
                <a:latin typeface="Arial" pitchFamily="34" charset="0"/>
                <a:ea typeface="Arial" pitchFamily="34" charset="-122"/>
                <a:cs typeface="Arial" pitchFamily="34" charset="-120"/>
              </a:rPr>
              <a:t>mr.terryflood@gmail.com</a:t>
            </a:r>
            <a:endParaRPr lang="en-US" sz="1400" dirty="0"/>
          </a:p>
        </p:txBody>
      </p:sp>
      <p:sp>
        <p:nvSpPr>
          <p:cNvPr id="8" name="Text 5"/>
          <p:cNvSpPr/>
          <p:nvPr/>
        </p:nvSpPr>
        <p:spPr>
          <a:xfrm>
            <a:off x="731520" y="4572000"/>
            <a:ext cx="10515600" cy="365760"/>
          </a:xfrm>
          <a:prstGeom prst="rect">
            <a:avLst/>
          </a:prstGeom>
          <a:noFill/>
          <a:ln/>
        </p:spPr>
        <p:txBody>
          <a:bodyPr wrap="square" rtlCol="0" anchor="ctr"/>
          <a:lstStyle/>
          <a:p>
            <a:pPr algn="ctr" indent="0" marL="0">
              <a:buNone/>
            </a:pPr>
            <a:r>
              <a:rPr lang="en-US" sz="1300" dirty="0">
                <a:solidFill>
                  <a:srgbClr val="CCCCCC"/>
                </a:solidFill>
                <a:latin typeface="Arial" pitchFamily="34" charset="0"/>
                <a:ea typeface="Arial" pitchFamily="34" charset="-122"/>
                <a:cs typeface="Arial" pitchFamily="34" charset="-120"/>
              </a:rPr>
              <a:t>Cash App: $MRTDFLOOD  |  PayPal: paypal.me/TERRYFLOODCEO</a:t>
            </a:r>
            <a:endParaRPr lang="en-US" sz="1300" dirty="0"/>
          </a:p>
        </p:txBody>
      </p:sp>
      <p:sp>
        <p:nvSpPr>
          <p:cNvPr id="9" name="Shape 6"/>
          <p:cNvSpPr/>
          <p:nvPr/>
        </p:nvSpPr>
        <p:spPr>
          <a:xfrm>
            <a:off x="2743200" y="5303520"/>
            <a:ext cx="3200400" cy="640080"/>
          </a:xfrm>
          <a:prstGeom prst="roundRect">
            <a:avLst>
              <a:gd name="adj" fmla="val 14286"/>
            </a:avLst>
          </a:prstGeom>
          <a:solidFill>
            <a:srgbClr val="FFFFFF"/>
          </a:solidFill>
          <a:ln/>
        </p:spPr>
      </p:sp>
      <p:sp>
        <p:nvSpPr>
          <p:cNvPr id="10" name="Text 7"/>
          <p:cNvSpPr/>
          <p:nvPr/>
        </p:nvSpPr>
        <p:spPr>
          <a:xfrm>
            <a:off x="2743200" y="5303520"/>
            <a:ext cx="3200400" cy="640080"/>
          </a:xfrm>
          <a:prstGeom prst="rect">
            <a:avLst/>
          </a:prstGeom>
          <a:noFill/>
          <a:ln/>
        </p:spPr>
        <p:txBody>
          <a:bodyPr wrap="square" rtlCol="0" anchor="ctr"/>
          <a:lstStyle/>
          <a:p>
            <a:pPr algn="ctr" indent="0" marL="0">
              <a:buNone/>
            </a:pPr>
            <a:r>
              <a:rPr lang="en-US" sz="1200" b="1" dirty="0">
                <a:solidFill>
                  <a:srgbClr val="6B1C2A"/>
                </a:solidFill>
                <a:latin typeface="Arial" pitchFamily="34" charset="0"/>
                <a:ea typeface="Arial" pitchFamily="34" charset="-122"/>
                <a:cs typeface="Arial" pitchFamily="34" charset="-120"/>
              </a:rPr>
              <a:t>thrivingcommunitiesforall.com</a:t>
            </a:r>
            <a:endParaRPr lang="en-US" sz="1200" dirty="0"/>
          </a:p>
        </p:txBody>
      </p:sp>
      <p:sp>
        <p:nvSpPr>
          <p:cNvPr id="11" name="Shape 8"/>
          <p:cNvSpPr/>
          <p:nvPr/>
        </p:nvSpPr>
        <p:spPr>
          <a:xfrm>
            <a:off x="6400800" y="5303520"/>
            <a:ext cx="3200400" cy="640080"/>
          </a:xfrm>
          <a:prstGeom prst="roundRect">
            <a:avLst>
              <a:gd name="adj" fmla="val 14286"/>
            </a:avLst>
          </a:prstGeom>
          <a:solidFill>
            <a:srgbClr val="3A3035"/>
          </a:solidFill>
          <a:ln w="12700">
            <a:solidFill>
              <a:srgbClr val="999999"/>
            </a:solidFill>
            <a:prstDash val="solid"/>
          </a:ln>
        </p:spPr>
      </p:sp>
      <p:sp>
        <p:nvSpPr>
          <p:cNvPr id="12" name="Text 9"/>
          <p:cNvSpPr/>
          <p:nvPr/>
        </p:nvSpPr>
        <p:spPr>
          <a:xfrm>
            <a:off x="6400800" y="5303520"/>
            <a:ext cx="3200400" cy="6400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View Impact Dashboard</a:t>
            </a:r>
            <a:endParaRPr lang="en-US" sz="1200" dirty="0"/>
          </a:p>
        </p:txBody>
      </p:sp>
      <p:sp>
        <p:nvSpPr>
          <p:cNvPr id="13" name="Text 10"/>
          <p:cNvSpPr/>
          <p:nvPr/>
        </p:nvSpPr>
        <p:spPr>
          <a:xfrm>
            <a:off x="731520" y="6035040"/>
            <a:ext cx="10515600" cy="365760"/>
          </a:xfrm>
          <a:prstGeom prst="rect">
            <a:avLst/>
          </a:prstGeom>
          <a:noFill/>
          <a:ln/>
        </p:spPr>
        <p:txBody>
          <a:bodyPr wrap="square" rtlCol="0" anchor="ctr"/>
          <a:lstStyle/>
          <a:p>
            <a:pPr algn="ctr" indent="0" marL="0">
              <a:buNone/>
            </a:pPr>
            <a:r>
              <a:rPr lang="en-US" sz="1000" dirty="0">
                <a:solidFill>
                  <a:srgbClr val="999999"/>
                </a:solidFill>
                <a:latin typeface="Arial" pitchFamily="34" charset="0"/>
                <a:ea typeface="Arial" pitchFamily="34" charset="-122"/>
                <a:cs typeface="Arial" pitchFamily="34" charset="-120"/>
              </a:rPr>
              <a:t>The Collaborative Advocate Foundation  |  501(c)(3)  |  EIN 41-3618003  |  Veteran-Founded  |  Black-Led</a:t>
            </a:r>
            <a:endParaRPr lang="en-US" sz="1000" dirty="0"/>
          </a:p>
        </p:txBody>
      </p:sp>
      <p:sp>
        <p:nvSpPr>
          <p:cNvPr id="14" name="Text 11"/>
          <p:cNvSpPr/>
          <p:nvPr/>
        </p:nvSpPr>
        <p:spPr>
          <a:xfrm>
            <a:off x="274320" y="6400800"/>
            <a:ext cx="11430000" cy="274320"/>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ThriveUp Academy ACOS  |  The Collaborative Advocate Foundation  |  Slide 30/30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ThriveUp Academy ACOS Ecosystem — Complete Platform Briefing</dc:title>
  <dc:subject>24-Platform AI-Powered Workforce Development &amp; Community Enablement Ecosystem</dc:subject>
  <dc:creator>Dr. Terry Flood — The Collaborative Advocate Foundation</dc:creator>
  <cp:lastModifiedBy>Dr. Terry Flood — The Collaborative Advocate Foundation</cp:lastModifiedBy>
  <cp:revision>1</cp:revision>
  <dcterms:created xsi:type="dcterms:W3CDTF">2026-03-30T21:30:52Z</dcterms:created>
  <dcterms:modified xsi:type="dcterms:W3CDTF">2026-03-30T21:30:52Z</dcterms:modified>
</cp:coreProperties>
</file>