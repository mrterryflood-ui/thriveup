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PFLUGERVILLE'S FUTURE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24-Platform AI-Powered Ecosystem for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 Development, Health Equity &amp; Community Enablement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0" y="3840480"/>
            <a:ext cx="45720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41148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Terry Flood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 | U.S. Army Veteran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5029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Collaborative Advocate Foundation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501(c)(3) | EIN 41-3618003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Pflugerville, Texas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Collaborative Advocate Foundation | thrivingcommunitiesforall.com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ARE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743200" cy="0"/>
          </a:xfrm>
          <a:prstGeom prst="line">
            <a:avLst/>
          </a:prstGeom>
          <a:noFill/>
          <a:ln w="381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801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Veteran-Founded, Black-Led 501(c)(3) nonprofit headquartered in Pflugerville, TX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7 Academic Disciplines: Implementation Science, Criminal Justice, HR Management, I-O Psychology, Education, Social Science, Healthcare &amp; Public Health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Belief: "Education is the #1 protective factor against every negative outcome — poverty, crime, poor health, unemployment"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Business Entities supporting the mission: TCAF (nonprofit), CIP LLC (consulting), M&amp;T Consulting (advisory)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5486400"/>
            <a:ext cx="10058400" cy="640080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5486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17912 Stefano Drive, Pflugerville, TX 78660  |  mr.terryflood@gmail.com  |  thrivingcommunitiesforall.com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Collaborative Advocate Foundation | thrivingcommunitiesforall.com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WE SOLVE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743200" cy="0"/>
          </a:xfrm>
          <a:prstGeom prst="line">
            <a:avLst/>
          </a:prstGeom>
          <a:noFill/>
          <a:ln w="381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Underserved communities face fragmented support — workforce in one place,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in another, education somewhere else, justice-involved individuals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falling through every crack.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2560320" cy="3200400"/>
          </a:xfrm>
          <a:prstGeom prst="roundRect">
            <a:avLst>
              <a:gd name="adj" fmla="val 5357"/>
            </a:avLst>
          </a:prstGeom>
          <a:solidFill>
            <a:srgbClr val="243555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517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60%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2-parent households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206240"/>
            <a:ext cx="1645920" cy="0"/>
          </a:xfrm>
          <a:prstGeom prst="line">
            <a:avLst/>
          </a:prstGeom>
          <a:noFill/>
          <a:ln w="12700">
            <a:solidFill>
              <a:srgbClr val="3A4A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3891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poverty exceeds 17%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SINGLE CASE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2468880"/>
            <a:ext cx="2560320" cy="3200400"/>
          </a:xfrm>
          <a:prstGeom prst="roundRect">
            <a:avLst>
              <a:gd name="adj" fmla="val 5357"/>
            </a:avLst>
          </a:prstGeom>
          <a:solidFill>
            <a:srgbClr val="243555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6517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83280" y="33832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Austin MSA youth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unemployment (16-24)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49040" y="4206240"/>
            <a:ext cx="1645920" cy="0"/>
          </a:xfrm>
          <a:prstGeom prst="line">
            <a:avLst/>
          </a:prstGeom>
          <a:noFill/>
          <a:ln w="12700">
            <a:solidFill>
              <a:srgbClr val="3A4A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43891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7.8% statewide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2468880"/>
            <a:ext cx="2560320" cy="3200400"/>
          </a:xfrm>
          <a:prstGeom prst="roundRect">
            <a:avLst>
              <a:gd name="adj" fmla="val 5357"/>
            </a:avLst>
          </a:prstGeom>
          <a:solidFill>
            <a:srgbClr val="243555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6517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~18,000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217920" y="33832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Out-of-school youth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Travis County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83680" y="4206240"/>
            <a:ext cx="1645920" cy="0"/>
          </a:xfrm>
          <a:prstGeom prst="line">
            <a:avLst/>
          </a:prstGeom>
          <a:noFill/>
          <a:ln w="12700">
            <a:solidFill>
              <a:srgbClr val="3A4A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43891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Ages 16-24 facing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barriers to employment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961120" y="2468880"/>
            <a:ext cx="2560320" cy="3200400"/>
          </a:xfrm>
          <a:prstGeom prst="roundRect">
            <a:avLst>
              <a:gd name="adj" fmla="val 5357"/>
            </a:avLst>
          </a:prstGeom>
          <a:solidFill>
            <a:srgbClr val="243555"/>
          </a:solidFill>
          <a:ln w="25400">
            <a:solidFill>
              <a:srgbClr val="F43F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0" y="26517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21.4%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052560" y="33832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reincarceration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within 3 years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418320" y="4206240"/>
            <a:ext cx="1645920" cy="0"/>
          </a:xfrm>
          <a:prstGeom prst="line">
            <a:avLst/>
          </a:prstGeom>
          <a:noFill/>
          <a:ln w="12700">
            <a:solidFill>
              <a:srgbClr val="3A4A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52560" y="43891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Crime migrates with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gentrification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"County averages lie — tract-level tells the truth."  — Dr. Terry Flood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Collaborative Advocate Foundation | thrivingcommunitiesforall.com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24-PLATFORM ECOSYSTEM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743200" cy="0"/>
          </a:xfrm>
          <a:prstGeom prst="line">
            <a:avLst/>
          </a:prstGeom>
          <a:noFill/>
          <a:ln w="381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concepts. Not proposals. 24 live, working platforms you can visit today.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2286000" cy="777240"/>
          </a:xfrm>
          <a:prstGeom prst="roundRect">
            <a:avLst>
              <a:gd name="adj" fmla="val 11765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459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 &amp; EDUCATION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0" y="16459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ThriveUp Academy • Career Explorer • Credential Tracker • WholeMind Learning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0" y="16459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career pathways with stackable credentials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2286000" cy="777240"/>
          </a:xfrm>
          <a:prstGeom prst="roundRect">
            <a:avLst>
              <a:gd name="adj" fmla="val 11765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5603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&amp; WELLNESS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26080" y="25603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Sankofa Health • PillScheduler • AutoImmune Thrive • Speech Bridge • Black Maternal Health • Black Men's Health • Holistic Feminine Health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0" y="25603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Culturally responsive screening, medication adherence, chronic disease support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2286000" cy="777240"/>
          </a:xfrm>
          <a:prstGeom prst="roundRect">
            <a:avLst>
              <a:gd name="adj" fmla="val 11765"/>
            </a:avLst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4747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YOUTH &amp; FAMILY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26080" y="34747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Realities • ISSS • Perfectly Different • SafeReport • SafeCogniCare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0" y="34747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Youth voice, integrated supports, neurodiversity, safety reporting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389120"/>
            <a:ext cx="2286000" cy="777240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3891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VETERANS &amp; JUSTICE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26080" y="43891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Transition (M2C) • Justice Command Center • LifeBridge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0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Military transition, tract-level crime analysis, reentry pathways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5303520"/>
            <a:ext cx="2286000" cy="777240"/>
          </a:xfrm>
          <a:prstGeom prst="roundRect">
            <a:avLst>
              <a:gd name="adj" fmla="val 11765"/>
            </a:avLst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53035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&amp; TECHNOLOGY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26080" y="53035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MCE • Pinnacle Business • Ad Targeting • Code Canvas • Video Creator AI • Ecosystem Nexus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46720" y="53035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Minority business incubation, procurement readiness, platform analytics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828800" y="6035040"/>
            <a:ext cx="8229600" cy="411480"/>
          </a:xfrm>
          <a:prstGeom prst="roundRect">
            <a:avLst>
              <a:gd name="adj" fmla="val 22222"/>
            </a:avLst>
          </a:prstGeom>
          <a:solidFill>
            <a:srgbClr val="1B2A4A"/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0" y="6035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thrivingcommunitiesforall.com  —  All 24 platforms live and operational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Collaborative Advocate Foundation | thrivingcommunitiesforall.com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 &amp; EDUCATION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74320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365760" cy="822960"/>
          </a:xfrm>
          <a:prstGeom prst="roundRect">
            <a:avLst>
              <a:gd name="adj" fmla="val 12500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188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Career Pathways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1508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Stackable credentials from entry-level to advanced certifications — CNA, CompTIA, CDL, welding, CHW, and more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365760" cy="822960"/>
          </a:xfrm>
          <a:prstGeom prst="roundRect">
            <a:avLst>
              <a:gd name="adj" fmla="val 12500"/>
            </a:avLst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CHW Training Pipeline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2514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Health Workers trained and deployed in underserved neighborhoods — expanding healthcare access where it's needed most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365760" cy="822960"/>
          </a:xfrm>
          <a:prstGeom prst="roundRect">
            <a:avLst>
              <a:gd name="adj" fmla="val 12500"/>
            </a:avLst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Youth Workforce (Ages 16-24)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3520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Targeting ~18,000 out-of-school youth in Travis County. Career exploration, paid work experience, employer-matched internships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365760" cy="822960"/>
          </a:xfrm>
          <a:prstGeom prst="roundRect">
            <a:avLst>
              <a:gd name="adj" fmla="val 12500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Performance Tracking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4526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WIOA-aligned: employment rate, median earnings, credential attainment, measurable skill gains — all tracked automatically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212080"/>
            <a:ext cx="365760" cy="822960"/>
          </a:xfrm>
          <a:prstGeom prst="roundRect">
            <a:avLst>
              <a:gd name="adj" fmla="val 12500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5212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 Partnership Portal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05840" y="5532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pipeline to Austin growth sectors: Healthcare (+12%), IT (+15%), Construction (+9%), Advanced Manufacturing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Collaborative Advocate Foundation | thrivingcommunitiesforall.com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EQUITY &amp; COMMUNITY WELLNESS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743200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Sankofa Health Network  — 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Culturally responsive health screening rooted in African diaspora wellness traditions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PillScheduler  — 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Medication adherence tracking — ensuring patients take the right medication at the right time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WholeMind Learning  — 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K-12 mental health curriculum integrating social-emotional learning with academic support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AutoImmune Thrive  — 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 disease management for autoimmune conditions — support, education, community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023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Bridge (LexiBridge)  — 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access for individuals with speech/language needs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7548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Maternal Health Network  — 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Addressing the maternal mortality crisis — Black women are 3x more likely to die from pregnancy complications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54864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Men's Health Hub  — 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health screening, mental health support, and preventive care for Black men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Collaborative Advocate Foundation | thrivingcommunitiesforall.com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VETERANS &amp; JUSTICE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743200" cy="0"/>
          </a:xfrm>
          <a:prstGeom prst="line">
            <a:avLst/>
          </a:prstGeom>
          <a:noFill/>
          <a:ln w="381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"As a veteran, I know what it means to transition — and I built this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so no one has to do it alone." — Dr. Terry Flood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5212080" cy="2286000"/>
          </a:xfrm>
          <a:prstGeom prst="roundRect">
            <a:avLst>
              <a:gd name="adj" fmla="val 6000"/>
            </a:avLst>
          </a:prstGeom>
          <a:solidFill>
            <a:srgbClr val="243555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945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Transition (M2C)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Military skill translation to civilian careers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063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Employer matching based on MOS/rate codes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383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Credential mapping — military training to certifications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703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Peer mentoring from fellow veterans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023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Benefits navigation and VA resource connection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2103120"/>
            <a:ext cx="5212080" cy="2286000"/>
          </a:xfrm>
          <a:prstGeom prst="roundRect">
            <a:avLst>
              <a:gd name="adj" fmla="val 6000"/>
            </a:avLst>
          </a:prstGeom>
          <a:solidFill>
            <a:srgbClr val="243555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1945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Justice Command Center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09360" y="2743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Tract-level crime migration analysis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3063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"Crime migrates with gentrification" — proven by data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3383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Reentry pathways for justice-involved adults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3703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Buffalo East Side, Wilmington, Austin data stories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4023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Recidivism reduction through wraparound services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754880"/>
            <a:ext cx="10698480" cy="1097280"/>
          </a:xfrm>
          <a:prstGeom prst="roundRect">
            <a:avLst>
              <a:gd name="adj" fmla="val 12500"/>
            </a:avLst>
          </a:prstGeom>
          <a:solidFill>
            <a:srgbClr val="243555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846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LifeBridge — Community Reintegration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5212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returning citizens to housing, employment, healthcare, and mentoring through the same integrated ecosystem. No more falling through cracks between siloed agencies.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Collaborative Advocate Foundation | thrivingcommunitiesforall.com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— NOT GUESSWORK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743200" cy="0"/>
          </a:xfrm>
          <a:prstGeom prst="line">
            <a:avLst/>
          </a:prstGeom>
          <a:noFill/>
          <a:ln w="381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don't guess where the need is. We prove it.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0972800" cy="1005840"/>
          </a:xfrm>
          <a:prstGeom prst="roundRect">
            <a:avLst>
              <a:gd name="adj" fmla="val 9091"/>
            </a:avLst>
          </a:prstGeom>
          <a:solidFill>
            <a:srgbClr val="F0F2F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874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Census Tract Analysis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240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community we serve is analyzed at the tract level — not county averages that hide disparities. We map poverty, health access, education, employment, and housing block by block.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10972800" cy="1005840"/>
          </a:xfrm>
          <a:prstGeom prst="roundRect">
            <a:avLst>
              <a:gd name="adj" fmla="val 9091"/>
            </a:avLst>
          </a:prstGeom>
          <a:solidFill>
            <a:srgbClr val="F0F2F5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063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Science (RPLICE)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3429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CFIR 2.0 and RE-AIM frameworks ensure programs don't just exist — they actually work in the communities they serve. Built-in fidelity monitoring from Day 1.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206240"/>
            <a:ext cx="10972800" cy="1005840"/>
          </a:xfrm>
          <a:prstGeom prst="roundRect">
            <a:avLst>
              <a:gd name="adj" fmla="val 9091"/>
            </a:avLst>
          </a:prstGeom>
          <a:solidFill>
            <a:srgbClr val="F0F2F5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251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Platform Analytics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4617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platforms generating live data on engagement, outcomes, completion rates, and community impact. Not quarterly reports — real-time dashboards.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5394960"/>
            <a:ext cx="10972800" cy="1005840"/>
          </a:xfrm>
          <a:prstGeom prst="roundRect">
            <a:avLst>
              <a:gd name="adj" fmla="val 9091"/>
            </a:avLst>
          </a:prstGeom>
          <a:solidFill>
            <a:srgbClr val="F0F2F5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440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Gentrification Corridor Mapping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5806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research showing how crime, poverty, and displacement migrate as neighborhoods gentrify — backed by Census data from Buffalo, Wilmington, and Austin.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Collaborative Advocate Foundation | thrivingcommunitiesforall.com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IMPACT — PFLUGERVILLE &amp; CENTRAL TEXAS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743200" cy="0"/>
          </a:xfrm>
          <a:prstGeom prst="line">
            <a:avLst/>
          </a:prstGeom>
          <a:noFill/>
          <a:ln w="381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972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"Pflugerville isn't just where we live — it's where we build.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platform, every line of code, every job placement comes from right here."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2103120" cy="594360"/>
          </a:xfrm>
          <a:prstGeom prst="roundRect">
            <a:avLst>
              <a:gd name="adj" fmla="val 12308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1168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Area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0" y="201168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Travis, Williamson, Hays, Bastrop, Caldwell counties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2103120" cy="594360"/>
          </a:xfrm>
          <a:prstGeom prst="roundRect">
            <a:avLst>
              <a:gd name="adj" fmla="val 12308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7432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CHW Pipeline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274320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Community Health Workers to serve underserved neighborhoods — expanding healthcare where clinics can't reach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2103120" cy="594360"/>
          </a:xfrm>
          <a:prstGeom prst="roundRect">
            <a:avLst>
              <a:gd name="adj" fmla="val 12308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4747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Youth Workforce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347472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pathways aligned to Austin's growth sectors: Healthcare (+12%), IT (+15%), Construction (+9%), Manufacturing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206240"/>
            <a:ext cx="2103120" cy="594360"/>
          </a:xfrm>
          <a:prstGeom prst="roundRect">
            <a:avLst>
              <a:gd name="adj" fmla="val 12308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2062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Veteran Services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0" y="420624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Military-to-civilian transition support for Central Texas veterans — Fort Cavazos, Camp Mabry, and surrounding communities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937760"/>
            <a:ext cx="2103120" cy="594360"/>
          </a:xfrm>
          <a:prstGeom prst="roundRect">
            <a:avLst>
              <a:gd name="adj" fmla="val 12308"/>
            </a:avLst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9377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Justice Reform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0" y="493776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Reentry pathways for Travis County's ~40,000 annual criminal cases — mentoring, employment, housing, treatment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5669280"/>
            <a:ext cx="2103120" cy="594360"/>
          </a:xfrm>
          <a:prstGeom prst="roundRect">
            <a:avLst>
              <a:gd name="adj" fmla="val 12308"/>
            </a:avLst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566928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Development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0" y="566928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Minority business incubation through MCE — procurement readiness, certification support, contracting pipelines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Collaborative Advocate Foundation | thrivingcommunitiesforall.com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 &amp; SUSTAINABILITY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743200" cy="0"/>
          </a:xfrm>
          <a:prstGeom prst="line">
            <a:avLst/>
          </a:prstGeom>
          <a:noFill/>
          <a:ln w="381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Grant Pipeline: $3.5M+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109728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2743200"/>
                <a:gridCol w="3657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Amount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St. David's Health Equity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 to $1M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DOJ Second Chance Act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 to $1M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Due May 11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SSG Fox VA Grant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$750K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Rare Impact Fund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$250K-$500K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Due April 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Austin FC Dream Starter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Due April 13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TX Capital Foundation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$50K-$100K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Preparing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WIOA Title I Youth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$200K-$500K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Rolling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Revenue Streams — Not Dependent on Any Single Source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31520" y="5760720"/>
            <a:ext cx="3200400" cy="640080"/>
          </a:xfrm>
          <a:prstGeom prst="roundRect">
            <a:avLst>
              <a:gd name="adj" fmla="val 14286"/>
            </a:avLst>
          </a:prstGeom>
          <a:solidFill>
            <a:srgbClr val="243555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57607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TCAF 501(c)(3)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Grants &amp; Programs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06240" y="5760720"/>
            <a:ext cx="3200400" cy="640080"/>
          </a:xfrm>
          <a:prstGeom prst="roundRect">
            <a:avLst>
              <a:gd name="adj" fmla="val 14286"/>
            </a:avLst>
          </a:prstGeom>
          <a:solidFill>
            <a:srgbClr val="243555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06240" y="57607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 LLC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Consulting &amp; Implementation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680960" y="5760720"/>
            <a:ext cx="3200400" cy="640080"/>
          </a:xfrm>
          <a:prstGeom prst="roundRect">
            <a:avLst>
              <a:gd name="adj" fmla="val 14286"/>
            </a:avLst>
          </a:prstGeom>
          <a:solidFill>
            <a:srgbClr val="243555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80960" y="57607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M&amp;T Consulting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Advisory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Collaborative Advocate Foundation | thrivingcommunitiesforall.com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IN 7 ACADEMIC DISCIPLINES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743200" cy="0"/>
          </a:xfrm>
          <a:prstGeom prst="line">
            <a:avLst/>
          </a:prstGeom>
          <a:noFill/>
          <a:ln w="38100">
            <a:solidFill>
              <a:srgbClr val="D4A84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2560320" cy="2103120"/>
          </a:xfrm>
          <a:prstGeom prst="roundRect">
            <a:avLst>
              <a:gd name="adj" fmla="val 6522"/>
            </a:avLst>
          </a:prstGeom>
          <a:solidFill>
            <a:srgbClr val="F0F2F5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2560320" cy="731520"/>
          </a:xfrm>
          <a:prstGeom prst="roundRect">
            <a:avLst>
              <a:gd name="adj" fmla="val 18750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1031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CFIR 2.0 &amp; RE-AIM frameworks ensure programs work in real communities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280160"/>
            <a:ext cx="2560320" cy="2103120"/>
          </a:xfrm>
          <a:prstGeom prst="roundRect">
            <a:avLst>
              <a:gd name="adj" fmla="val 6522"/>
            </a:avLst>
          </a:prstGeom>
          <a:solidFill>
            <a:srgbClr val="F0F2F5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280160"/>
            <a:ext cx="2560320" cy="731520"/>
          </a:xfrm>
          <a:prstGeom prst="roundRect">
            <a:avLst>
              <a:gd name="adj" fmla="val 18750"/>
            </a:avLst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2801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Criminal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21031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Tract-level crime analysis, reentry pathways, recidivism reduction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560320" cy="2103120"/>
          </a:xfrm>
          <a:prstGeom prst="roundRect">
            <a:avLst>
              <a:gd name="adj" fmla="val 6522"/>
            </a:avLst>
          </a:prstGeom>
          <a:solidFill>
            <a:srgbClr val="F0F2F5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280160"/>
            <a:ext cx="2560320" cy="731520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2801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63640" y="21031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 development, staffing models, organizational capacity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961120" y="1280160"/>
            <a:ext cx="2560320" cy="2103120"/>
          </a:xfrm>
          <a:prstGeom prst="roundRect">
            <a:avLst>
              <a:gd name="adj" fmla="val 6522"/>
            </a:avLst>
          </a:prstGeom>
          <a:solidFill>
            <a:srgbClr val="F0F2F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61120" y="1280160"/>
            <a:ext cx="2560320" cy="731520"/>
          </a:xfrm>
          <a:prstGeom prst="roundRect">
            <a:avLst>
              <a:gd name="adj" fmla="val 18750"/>
            </a:avLst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8961120" y="12801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I-O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Psychology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098280" y="21031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assessment, job matching, workplace performance optimization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2560320" cy="2103120"/>
          </a:xfrm>
          <a:prstGeom prst="roundRect">
            <a:avLst>
              <a:gd name="adj" fmla="val 6522"/>
            </a:avLst>
          </a:prstGeom>
          <a:solidFill>
            <a:srgbClr val="F0F2F5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40480"/>
            <a:ext cx="2560320" cy="731520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840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" y="466344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K-12 through adult learning, credentialing, career pathway design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3840480"/>
            <a:ext cx="2560320" cy="2103120"/>
          </a:xfrm>
          <a:prstGeom prst="roundRect">
            <a:avLst>
              <a:gd name="adj" fmla="val 6522"/>
            </a:avLst>
          </a:prstGeom>
          <a:solidFill>
            <a:srgbClr val="F0F2F5"/>
          </a:solidFill>
          <a:ln w="25400">
            <a:solidFill>
              <a:srgbClr val="F43F5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3840480"/>
            <a:ext cx="2560320" cy="731520"/>
          </a:xfrm>
          <a:prstGeom prst="roundRect">
            <a:avLst>
              <a:gd name="adj" fmla="val 18750"/>
            </a:avLst>
          </a:prstGeom>
          <a:solidFill>
            <a:srgbClr val="F43F5E"/>
          </a:solidFill>
          <a:ln/>
        </p:spPr>
      </p:sp>
      <p:sp>
        <p:nvSpPr>
          <p:cNvPr id="28" name="Text 26"/>
          <p:cNvSpPr/>
          <p:nvPr/>
        </p:nvSpPr>
        <p:spPr>
          <a:xfrm>
            <a:off x="3291840" y="3840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29000" y="466344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Census analysis, community assessment, stakeholder engagement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3840480"/>
            <a:ext cx="2560320" cy="2103120"/>
          </a:xfrm>
          <a:prstGeom prst="roundRect">
            <a:avLst>
              <a:gd name="adj" fmla="val 6522"/>
            </a:avLst>
          </a:prstGeom>
          <a:solidFill>
            <a:srgbClr val="F0F2F5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0" y="3840480"/>
            <a:ext cx="2560320" cy="731520"/>
          </a:xfrm>
          <a:prstGeom prst="roundRect">
            <a:avLst>
              <a:gd name="adj" fmla="val 18750"/>
            </a:avLst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6126480" y="3840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&amp;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Health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63640" y="466344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CHW training, health screening, SDoH, chronic disease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Collaborative Advocate Foundation | thrivingcommunitiesforall.com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TCAF STANDS OUT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743200" cy="0"/>
          </a:xfrm>
          <a:prstGeom prst="line">
            <a:avLst/>
          </a:prstGeom>
          <a:noFill/>
          <a:ln w="38100">
            <a:solidFill>
              <a:srgbClr val="D4A84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1E305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disconnected tools,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spreadsheets, separate systems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212080" y="11887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188720"/>
            <a:ext cx="5029200" cy="822960"/>
          </a:xfrm>
          <a:prstGeom prst="roundRect">
            <a:avLst>
              <a:gd name="adj" fmla="val 8889"/>
            </a:avLst>
          </a:prstGeom>
          <a:solidFill>
            <a:srgbClr val="243555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2344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integrated platforms —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ecosystem, zero gaps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1E305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2402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plans and proposals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("we will build...")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12080" y="219456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194560"/>
            <a:ext cx="5029200" cy="822960"/>
          </a:xfrm>
          <a:prstGeom prst="roundRect">
            <a:avLst>
              <a:gd name="adj" fmla="val 8889"/>
            </a:avLst>
          </a:prstGeom>
          <a:solidFill>
            <a:srgbClr val="243555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2402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live, working software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visit TODAY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1E305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4612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County-level averages that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hide real disparities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12080" y="320040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200400"/>
            <a:ext cx="5029200" cy="822960"/>
          </a:xfrm>
          <a:prstGeom prst="roundRect">
            <a:avLst>
              <a:gd name="adj" fmla="val 8889"/>
            </a:avLst>
          </a:prstGeom>
          <a:solidFill>
            <a:srgbClr val="243555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2461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Census tract-level analysis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reveals the truth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1E305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25196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Single-focus programs 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workforce OR just health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12080" y="42062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4206240"/>
            <a:ext cx="5029200" cy="822960"/>
          </a:xfrm>
          <a:prstGeom prst="roundRect">
            <a:avLst>
              <a:gd name="adj" fmla="val 8889"/>
            </a:avLst>
          </a:prstGeom>
          <a:solidFill>
            <a:srgbClr val="243555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42519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Wraparound ecosystem —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 + health + education + justice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521208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1E305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2578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Well-intentioned but lacking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rigor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12080" y="52120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5212080"/>
            <a:ext cx="5029200" cy="822960"/>
          </a:xfrm>
          <a:prstGeom prst="roundRect">
            <a:avLst>
              <a:gd name="adj" fmla="val 8889"/>
            </a:avLst>
          </a:prstGeom>
          <a:solidFill>
            <a:srgbClr val="243555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52578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academic disciplines,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veteran leadership, lived experience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Collaborative Advocate Foundation | thrivingcommunitiesforall.com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CAN HELP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743200" cy="0"/>
          </a:xfrm>
          <a:prstGeom prst="line">
            <a:avLst/>
          </a:prstGeom>
          <a:noFill/>
          <a:ln w="38100">
            <a:solidFill>
              <a:srgbClr val="D4A84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10972800" cy="1097280"/>
          </a:xfrm>
          <a:prstGeom prst="roundRect">
            <a:avLst>
              <a:gd name="adj" fmla="val 8333"/>
            </a:avLst>
          </a:prstGeom>
          <a:solidFill>
            <a:srgbClr val="F0F2F5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VETERANS COMMISSION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0" y="12801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letter of support for our DOJ Second Chance Act application — bringing up to $1M in federal reentry funding to Central Texas. Your guidance on better serving Austin-area veterans.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10972800" cy="1097280"/>
          </a:xfrm>
          <a:prstGeom prst="roundRect">
            <a:avLst>
              <a:gd name="adj" fmla="val 8333"/>
            </a:avLst>
          </a:prstGeom>
          <a:solidFill>
            <a:srgbClr val="F0F2F5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46888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4688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ADVISORY BOARD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25603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how TCAF's data tools and community health platforms can support the Board's equity recommendations. Consider Dr. Flood for a board seat — this mission is his life's work.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10972800" cy="1097280"/>
          </a:xfrm>
          <a:prstGeom prst="roundRect">
            <a:avLst>
              <a:gd name="adj" fmla="val 8333"/>
            </a:avLst>
          </a:prstGeom>
          <a:solidFill>
            <a:srgbClr val="F0F2F5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74904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7490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COUNCIL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38404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letter of support that tells funders Pflugerville stands behind TCAF. This helps us bring millions in grant funding into our community — workforce training, health access, youth programs.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029200"/>
            <a:ext cx="10972800" cy="1097280"/>
          </a:xfrm>
          <a:prstGeom prst="roundRect">
            <a:avLst>
              <a:gd name="adj" fmla="val 8333"/>
            </a:avLst>
          </a:prstGeom>
          <a:solidFill>
            <a:srgbClr val="F0F2F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502920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50292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PARTNERS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0" y="51206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you're an employer looking for trained workers, a nonprofit seeking partnership, or a community member who wants to get involved — we're your neighbors. Let's build together.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TOGETHER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3657600" y="2011680"/>
            <a:ext cx="45720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Terry Flood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  |  U.S. Army Veteran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931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mr.terryflood@gmail.com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4343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thrivingcommunitiesforall.com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17912 Stefano Drive, Pflugerville, TX 78660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5166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Collaborative Advocate Foundation  |  EIN 41-3618003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0" y="5669280"/>
            <a:ext cx="6400800" cy="640080"/>
          </a:xfrm>
          <a:prstGeom prst="roundRect">
            <a:avLst>
              <a:gd name="adj" fmla="val 14286"/>
            </a:avLst>
          </a:prstGeom>
          <a:solidFill>
            <a:srgbClr val="243555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56692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App: $MRTDFLOOD   |   PayPal: paypal.me/TERRYFLOODCEO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The Collaborative Advocate Foundation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Pflugerville's Future — A 24-Platform Ecosystem</dc:title>
  <dc:subject>TCAF Community Presentation</dc:subject>
  <dc:creator>Dr. Terry Flood</dc:creator>
  <cp:lastModifiedBy>Dr. Terry Flood</cp:lastModifiedBy>
  <cp:revision>1</cp:revision>
  <dcterms:created xsi:type="dcterms:W3CDTF">2026-03-31T23:38:45Z</dcterms:created>
  <dcterms:modified xsi:type="dcterms:W3CDTF">2026-03-31T23:38:45Z</dcterms:modified>
</cp:coreProperties>
</file>